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dbb8be09a4f85" /><Relationship Type="http://schemas.openxmlformats.org/officeDocument/2006/relationships/extended-properties" Target="/docProps/app.xml" Id="R1610efdf2a0d46e3" /><Relationship Type="http://schemas.openxmlformats.org/officeDocument/2006/relationships/officeDocument" Target="/ppt/presentation.xml" Id="R57bef200016b46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ea48476834584"/>
  </p:sldMasterIdLst>
  <p:notesMasterIdLst>
    <p:notesMasterId xmlns:r="http://schemas.openxmlformats.org/officeDocument/2006/relationships" r:id="Ra063ebf6523c4511"/>
  </p:notesMasterIdLst>
  <p:sldIdLst>
    <p:sldId xmlns:r="http://schemas.openxmlformats.org/officeDocument/2006/relationships" id="256" r:id="R5111441f0ec841d4"/>
    <p:sldId xmlns:r="http://schemas.openxmlformats.org/officeDocument/2006/relationships" id="257" r:id="R067f61c22cdb4e8e"/>
    <p:sldId xmlns:r="http://schemas.openxmlformats.org/officeDocument/2006/relationships" id="258" r:id="Rfe327523a8c04338"/>
    <p:sldId xmlns:r="http://schemas.openxmlformats.org/officeDocument/2006/relationships" id="259" r:id="Ref6aad93ae854df9"/>
    <p:sldId xmlns:r="http://schemas.openxmlformats.org/officeDocument/2006/relationships" id="260" r:id="Red96048ef8994c8e"/>
    <p:sldId xmlns:r="http://schemas.openxmlformats.org/officeDocument/2006/relationships" id="261" r:id="Rc156cd384c204a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779d4d3b214f73" /><Relationship Type="http://schemas.openxmlformats.org/officeDocument/2006/relationships/slideMaster" Target="/ppt/slideMasters/slideMaster1.xml" Id="Rd4bea48476834584" /><Relationship Type="http://schemas.openxmlformats.org/officeDocument/2006/relationships/notesMaster" Target="/ppt/notesMasters/notesMaster1.xml" Id="Ra063ebf6523c4511" /><Relationship Type="http://schemas.openxmlformats.org/officeDocument/2006/relationships/presProps" Target="/ppt/presProps.xml" Id="Rcac02972618140b2" /><Relationship Type="http://schemas.openxmlformats.org/officeDocument/2006/relationships/viewProps" Target="/ppt/viewProps.xml" Id="R3374b7709707455f" /><Relationship Type="http://schemas.openxmlformats.org/officeDocument/2006/relationships/tableStyles" Target="/ppt/tableStyles.xml" Id="R417211b8736f4a5b" /><Relationship Type="http://schemas.openxmlformats.org/officeDocument/2006/relationships/slide" Target="/ppt/slides/slide1.xml" Id="R5111441f0ec841d4" /><Relationship Type="http://schemas.openxmlformats.org/officeDocument/2006/relationships/slide" Target="/ppt/slides/slide2.xml" Id="R067f61c22cdb4e8e" /><Relationship Type="http://schemas.openxmlformats.org/officeDocument/2006/relationships/slide" Target="/ppt/slides/slide3.xml" Id="Rfe327523a8c04338" /><Relationship Type="http://schemas.openxmlformats.org/officeDocument/2006/relationships/slide" Target="/ppt/slides/slide4.xml" Id="Ref6aad93ae854df9" /><Relationship Type="http://schemas.openxmlformats.org/officeDocument/2006/relationships/slide" Target="/ppt/slides/slide5.xml" Id="Red96048ef8994c8e" /><Relationship Type="http://schemas.openxmlformats.org/officeDocument/2006/relationships/slide" Target="/ppt/slides/slide6.xml" Id="Rc156cd384c20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a86440c7f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d7516b05ec4724" /><Relationship Type="http://schemas.openxmlformats.org/officeDocument/2006/relationships/notesMaster" Target="/ppt/notesMasters/notesMaster1.xml" Id="R76185097878c4d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57b734bb24eca" /><Relationship Type="http://schemas.openxmlformats.org/officeDocument/2006/relationships/notesMaster" Target="/ppt/notesMasters/notesMaster1.xml" Id="R0d56acb40e49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070544d27439d" /><Relationship Type="http://schemas.openxmlformats.org/officeDocument/2006/relationships/notesMaster" Target="/ppt/notesMasters/notesMaster1.xml" Id="Reb645e31a42d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0acd9357d04a58" /><Relationship Type="http://schemas.openxmlformats.org/officeDocument/2006/relationships/notesMaster" Target="/ppt/notesMasters/notesMaster1.xml" Id="R1fb2154ed606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63eb0b2c7f4937" /><Relationship Type="http://schemas.openxmlformats.org/officeDocument/2006/relationships/notesMaster" Target="/ppt/notesMasters/notesMaster1.xml" Id="R417cc0e9f84c4c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1f136769a94dfd" /><Relationship Type="http://schemas.openxmlformats.org/officeDocument/2006/relationships/notesMaster" Target="/ppt/notesMasters/notesMaster1.xml" Id="Rf34a34859546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Section divider created for the revised learning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User-supplied diffusion image: https://miro.medium.com/v2/resize:fit:1400/1*yvClU5LgylulNWLPNpOCfA.png</a:t>
            </a:r>
          </a:p>
          <a:p xmlns:a="http://schemas.openxmlformats.org/drawingml/2006/main">
            <a:pPr>
              <a:buNone/>
            </a:pPr>
            <a:r>
              <a:t>Ho et al., 2020, 'Denoising Diffusion Probabilistic Models': https://arxiv.org/abs/2006.11239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[Sources]</a:t>
            </a:r>
          </a:p>
          <a:p xmlns:a="http://schemas.openxmlformats.org/drawingml/2006/main">
            <a:pPr>
              <a:buNone/>
            </a:pPr>
            <a:r>
              <a:t>Mercury family overview: https://www.inceptionlabs.ai/blog/introducing-mercury</a:t>
            </a:r>
          </a:p>
          <a:p xmlns:a="http://schemas.openxmlformats.org/drawingml/2006/main">
            <a:pPr>
              <a:buNone/>
            </a:pPr>
            <a:r>
              <a:t>Educational framing of diffusion-LM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Autoregressive Model(자기회귀 모델)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Prefix는 시퀀스의 앞부분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공통 앞부분을 합쳐 저장하는 트리 구조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예:</a:t>
            </a:r>
          </a:p>
          <a:p xmlns:a="http://schemas.openxmlformats.org/drawingml/2006/main">
            <a:pPr>
              <a:buNone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A: System Prompt + 질문1
B: System Prompt + 질문2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두 요청의 공통 prefix는 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이를 다음처럼 저장합니다.</a:t>
            </a:r>
          </a:p>
          <a:p xmlns:a="http://schemas.openxmlformats.org/drawingml/2006/main">
            <a:pPr>
              <a:buNone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
├─ 질문1
└─ 질문2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공통 구간의 KV 캐시는 한 번만 저장하고, 달라지는 지점부터 분기합니다. 즉,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중복되는 앞부분을 트리의 공통 경로로 공유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합니다.</a:t>
            </a:r>
          </a:p>
          <a:p xmlns:a="http://schemas.openxmlformats.org/drawingml/2006/main">
            <a:r>
              <a:t>
[Sources]
- https://github.com/sgl-project/sglang (feature overview; accessed 2026-08-03)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Prefix는 시퀀스의 앞부분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공통 앞부분을 합쳐 저장하는 트리 구조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예:</a:t>
            </a:r>
          </a:p>
          <a:p xmlns:a="http://schemas.openxmlformats.org/drawingml/2006/main">
            <a:pPr>
              <a:buNone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A: System Prompt + 질문1</a:t>
            </a:r>
            <a:br/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B: System Prompt + 질문2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두 요청의 공통 prefix는 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입니다.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Radix Tree는 이를 다음처럼 저장합니다.</a:t>
            </a:r>
          </a:p>
          <a:p xmlns:a="http://schemas.openxmlformats.org/drawingml/2006/main">
            <a:pPr>
              <a:buNone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System Prompt</a:t>
            </a:r>
            <a:br/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├─ 질문1</a:t>
            </a:r>
            <a:br/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└─ 질문2</a:t>
            </a:r>
          </a:p>
          <a:p xmlns:a="http://schemas.openxmlformats.org/drawingml/2006/main">
            <a:pPr>
              <a:buNone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공통 구간의 KV 캐시는 한 번만 저장하고, 달라지는 지점부터 분기합니다. 즉,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중복되는 앞부분을 트리의 공통 경로로 공유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528e3de8c40f7" /><Relationship Type="http://schemas.openxmlformats.org/officeDocument/2006/relationships/image" Target="/ppt/media/image.png" Id="Rca0ded1da33b4a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06baeba2f46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94832d23741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03e4138853464c" /><Relationship Type="http://schemas.openxmlformats.org/officeDocument/2006/relationships/image" Target="/ppt/media/image.png" Id="R4b22e399e60f46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5965391b24b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d6fe2fef84d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55bfc28c440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7a27b24aa4fbf" /><Relationship Type="http://schemas.openxmlformats.org/officeDocument/2006/relationships/image" Target="/ppt/media/image.png" Id="R8b09b03d4a0f47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c15fb939047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e966515a047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5d1a8bfa5443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9dfa8dcbc4720" /></Relationships>
</file>

<file path=ppt/slideLayouts/slideLayout1.xml><?xml version="1.0" encoding="utf-8"?>
<p:sldLayout xmlns:p="http://schemas.openxmlformats.org/presentationml/2006/main" showMasterSp="1" showMasterPhAnim="0" matchingName="" type="title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40359416" name="Picture 211669505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0ded1da33b4a23">
            <a:alphaModFix amt="30000"/>
          </a:blip>
          <a:stretch xmlns:a="http://schemas.openxmlformats.org/drawingml/2006/main"/>
        </p:blipFill>
        <p:spPr>
          <a:xfrm xmlns:a="http://schemas.openxmlformats.org/drawingml/2006/main">
            <a:off x="-3046" y="9144"/>
            <a:ext cx="12198094" cy="6848854"/>
          </a:xfrm>
          <a:prstGeom xmlns:a="http://schemas.openxmlformats.org/drawingml/2006/main" prst="rect">
            <a:avLst/>
          </a:prstGeom>
        </p:spPr>
      </p:pic>
      <p:sp>
        <p:nvSpPr>
          <p:cNvPr id="626172637" name="Rectangle 376226509">
            <a:extLst xmlns:a="http://schemas.openxmlformats.org/drawingml/2006/main">
              <a:ext uri="{FF2B5EF4-FFF2-40B4-BE49-F238E27FC236}">
                <a16:creationId xmlns:a16="http://schemas.microsoft.com/office/drawing/2014/main" id="{35FBEB62-F7C1-4BC8-9027-63EE4F7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" y="4051"/>
            <a:ext cx="12179837" cy="6849891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7827456" name="Title 1">
            <a:extLst xmlns:a="http://schemas.openxmlformats.org/drawingml/2006/main">
              <a:ext uri="{FF2B5EF4-FFF2-40B4-BE49-F238E27FC236}">
                <a16:creationId xmlns:a16="http://schemas.microsoft.com/office/drawing/2014/main" id="{C0A77CE6-781E-40DC-ADE0-7EE42A377A6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3999" y="1122363"/>
            <a:ext cx="9144000" cy="2387599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817651568" name="Subtitle 2">
            <a:extLst xmlns:a="http://schemas.openxmlformats.org/drawingml/2006/main">
              <a:ext uri="{FF2B5EF4-FFF2-40B4-BE49-F238E27FC236}">
                <a16:creationId xmlns:a16="http://schemas.microsoft.com/office/drawing/2014/main" id="{C111DD0F-9D99-4148-A346-E71293FE00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7048" y="3602734"/>
            <a:ext cx="9144000" cy="1655760"/>
          </a:xfrm>
        </p:spPr>
        <p:txBody>
          <a:bodyPr xmlns:a="http://schemas.openxmlformats.org/drawingml/2006/main" vert="horz" wrap="square" lIns="91440" tIns="274318" rIns="91440" bIns="45720" anchor="t">
            <a:normAutofit/>
          </a:bodyPr>
          <a:lstStyle xmlns:a="http://schemas.openxmlformats.org/drawingml/2006/main"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subtitle style</a:t>
            </a:r>
          </a:p>
        </p:txBody>
      </p:sp>
      <p:sp>
        <p:nvSpPr>
          <p:cNvPr id="204035941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E9AB96-B512-425B-8E49-D53934AF78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45479105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B76590-F383-4AF1-A1D2-65CFB85EA6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7061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050537A-F76A-45A3-B999-B2991361F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775318251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E754C359-45A8-43A2-9984-4B18028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0597" y="3530036"/>
            <a:ext cx="5040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type="obj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2721294" name="Title 1">
            <a:extLst xmlns:a="http://schemas.openxmlformats.org/drawingml/2006/main">
              <a:ext uri="{FF2B5EF4-FFF2-40B4-BE49-F238E27FC236}">
                <a16:creationId xmlns:a16="http://schemas.microsoft.com/office/drawing/2014/main" id="{1C05256C-6195-4081-AB81-08D184951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97" y="365123"/>
            <a:ext cx="10515600" cy="1121577"/>
          </a:xfrm>
        </p:spPr>
        <p:txBody>
          <a:bodyPr xmlns:a="http://schemas.openxmlformats.org/drawingml/2006/main" vert="horz" wrap="square" lIns="91440" tIns="45720" rIns="91440" bIns="45720" anchor="b">
            <a:normAutofit/>
          </a:bodyPr>
          <a:lstStyle xmlns:a="http://schemas.openxmlformats.org/drawingml/2006/main"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24826907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171F9B-E2C7-4F29-A1EE-A7D3BEBDF5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7449072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924A5B-8396-4CFE-850B-89CBBD0A21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68620545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9F663A-D7AD-4CC6-B1F9-36FAE32118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3148506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17B58B-2A61-4CA6-9476-E4160ED058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1657955662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D325E154-FF6C-4E7D-AE69-84E7A95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74" y="1486702"/>
            <a:ext cx="2776433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type="obj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637560" name="Title 1">
            <a:extLst xmlns:a="http://schemas.openxmlformats.org/drawingml/2006/main">
              <a:ext uri="{FF2B5EF4-FFF2-40B4-BE49-F238E27FC236}">
                <a16:creationId xmlns:a16="http://schemas.microsoft.com/office/drawing/2014/main" id="{205427CB-CF55-4B1D-821D-E047D45DA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97" y="365123"/>
            <a:ext cx="10515600" cy="1121577"/>
          </a:xfrm>
        </p:spPr>
        <p:txBody>
          <a:bodyPr xmlns:a="http://schemas.openxmlformats.org/drawingml/2006/main" vert="horz" wrap="square" lIns="91440" tIns="45720" rIns="91440" bIns="45720" anchor="b">
            <a:normAutofit/>
          </a:bodyPr>
          <a:lstStyle xmlns:a="http://schemas.openxmlformats.org/drawingml/2006/main"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79552079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22D2A2F-2F0E-4672-BE03-6275A80B50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60453465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F219FD-2A6D-4367-9AC7-FE507AF818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7B14398F-3795-7DE0-858E-3925D44B3378}" type="datetimeFigureOut">
              <a:t>2026/7/31</a:t>
            </a:fld>
          </a:p>
        </p:txBody>
      </p:sp>
      <p:sp>
        <p:nvSpPr>
          <p:cNvPr id="104983492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9E6642-DDFE-4636-ABB5-D75CA6503F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960267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E10E2B-CFAF-463B-9725-3A084BC76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3D9411B4-B34A-E1DB-16D9-0D265777C9EB}" type="slidenum">
              <a:t>‹#›</a:t>
            </a:fld>
          </a:p>
        </p:txBody>
      </p:sp>
      <p:sp>
        <p:nvSpPr>
          <p:cNvPr id="1207029125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2FC988E2-430D-4F2B-8082-EF2EA2F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7" y="1486702"/>
            <a:ext cx="105156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type="secHead" preserve="1" userDrawn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34899392" name="Picture 183529297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22e399e60f46bb">
            <a:alphaModFix amt="30000"/>
          </a:blip>
          <a:stretch xmlns:a="http://schemas.openxmlformats.org/drawingml/2006/main"/>
        </p:blipFill>
        <p:spPr>
          <a:xfrm xmlns:a="http://schemas.openxmlformats.org/drawingml/2006/main">
            <a:off x="20621" y="8104"/>
            <a:ext cx="12216845" cy="6858000"/>
          </a:xfrm>
          <a:prstGeom xmlns:a="http://schemas.openxmlformats.org/drawingml/2006/main" prst="rect">
            <a:avLst/>
          </a:prstGeom>
        </p:spPr>
      </p:pic>
      <p:sp>
        <p:nvSpPr>
          <p:cNvPr id="1596238664" name="Title 1">
            <a:extLst xmlns:a="http://schemas.openxmlformats.org/drawingml/2006/main">
              <a:ext uri="{FF2B5EF4-FFF2-40B4-BE49-F238E27FC236}">
                <a16:creationId xmlns:a16="http://schemas.microsoft.com/office/drawing/2014/main" id="{446A4E03-16B9-4C35-B100-CC7039A21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8" y="1399140"/>
            <a:ext cx="10515600" cy="2852736"/>
          </a:xfr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6000"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87143114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8DF7FD-B32D-43E8-B78F-AA5A57A4D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48" y="4278863"/>
            <a:ext cx="10515600" cy="150018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0475854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180FA3-61C5-44DC-B432-FC69DD213B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90267598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A7CD1-2DC3-4E7F-BD24-DBBC30C8AF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22275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CFEF27-9C58-45C9-B235-5D228C82FC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2134899390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0B28E6A8-43EB-4B40-A18E-05449F9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884" y="6017640"/>
            <a:ext cx="1221377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type="twoObj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5789160" name="Title 1">
            <a:extLst xmlns:a="http://schemas.openxmlformats.org/drawingml/2006/main">
              <a:ext uri="{FF2B5EF4-FFF2-40B4-BE49-F238E27FC236}">
                <a16:creationId xmlns:a16="http://schemas.microsoft.com/office/drawing/2014/main" id="{A093719A-0959-420E-A432-4866EDB55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19882835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1FA1C3-0456-4960-B902-7BD48906BD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8" y="1825624"/>
            <a:ext cx="5181599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145180621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353D64-754D-49FC-B69B-35FB586746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4"/>
            <a:ext cx="5181599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84205983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EA07FA-B13A-4D8C-AB10-B1C4985F11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847092713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73AC29-08B8-4359-9A79-0C6E50FDD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1436634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DE0B070-44CF-43A8-AD64-3990F0FAB5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355831322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3B39E3A2-63F9-4705-BBD9-B624FC39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" y="6121172"/>
            <a:ext cx="12213769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type="twoTxTwoObj" preserve="1" userDrawn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1572723" name="Title 1">
            <a:extLst xmlns:a="http://schemas.openxmlformats.org/drawingml/2006/main">
              <a:ext uri="{FF2B5EF4-FFF2-40B4-BE49-F238E27FC236}">
                <a16:creationId xmlns:a16="http://schemas.microsoft.com/office/drawing/2014/main" id="{83348D3A-6303-4009-8AA3-A020F4CCA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7" y="365124"/>
            <a:ext cx="10515600" cy="1325562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79879077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9A3853-4DC9-4D75-97B7-319D5DD66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6" y="1690686"/>
            <a:ext cx="5157784" cy="814385"/>
          </a:xfrm>
        </p:spPr>
        <p:txBody>
          <a:bodyPr xmlns:a="http://schemas.openxmlformats.org/drawingml/2006/main" vert="horz" wrap="square" lIns="182880" tIns="182880" rIns="182880" bIns="91440" anchor="ctr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967531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6AD16-88B3-40CE-8ECB-9FD9D07D86E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7" y="2505073"/>
            <a:ext cx="5157785" cy="3684587"/>
          </a:xfrm>
        </p:spPr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8627756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70DFF0-9B3B-4042-AFA8-82BFC177A6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198" y="1690686"/>
            <a:ext cx="5183186" cy="814385"/>
          </a:xfrm>
        </p:spPr>
        <p:txBody>
          <a:bodyPr xmlns:a="http://schemas.openxmlformats.org/drawingml/2006/main" vert="horz" wrap="square" lIns="182880" tIns="182880" rIns="182880" bIns="91440" anchor="ctr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0606590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3B40030-BB8D-41CF-B8C9-4B714C64DC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3"/>
            <a:ext cx="5183187" cy="3684587"/>
          </a:xfrm>
        </p:spPr>
        <p:txBody>
          <a:bodyPr xmlns:a="http://schemas.openxmlformats.org/drawingml/2006/main"/>
          <a:lstStyle xmlns:a="http://schemas.openxmlformats.org/drawingml/2006/main"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04407426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B799FDC-B4FD-4040-8A57-697AA91FFC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23200054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D7A5297-C6D4-4D29-A0EE-84BE88542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3050817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5CC6CD0-B208-49FE-B94F-8A8BA42CB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1080794548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06F629FB-DF54-47B3-8586-BB592A8E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779" y="1690686"/>
            <a:ext cx="7530436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type="picTx" preserve="1" userDrawn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0448115" name="Title 1">
            <a:extLst xmlns:a="http://schemas.openxmlformats.org/drawingml/2006/main">
              <a:ext uri="{FF2B5EF4-FFF2-40B4-BE49-F238E27FC236}">
                <a16:creationId xmlns:a16="http://schemas.microsoft.com/office/drawing/2014/main" id="{97883454-90DD-4DA0-A7DB-3598AD833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7" y="457200"/>
            <a:ext cx="3932236" cy="1600200"/>
          </a:xfr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2433812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DB91E89-CCD7-43D5-A67C-B88A4CE56C2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6" y="457198"/>
            <a:ext cx="6172200" cy="5403847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icon to add picture</a:t>
            </a:r>
          </a:p>
        </p:txBody>
      </p:sp>
      <p:sp>
        <p:nvSpPr>
          <p:cNvPr id="64808948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799DF0-D8AC-4DF8-9A02-E044079F1D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7" y="2057400"/>
            <a:ext cx="3932236" cy="3811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821040662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412BE73-5C4A-416E-926D-D2987003B8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09664423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AC5B471-EAC9-47E4-9336-B93DBFED33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678558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1641E0D-9879-4E58-9601-B344D0F1E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  <p:sp>
        <p:nvSpPr>
          <p:cNvPr id="585753086" name="Rectangle 640957806">
            <a:extLst xmlns:a="http://schemas.openxmlformats.org/drawingml/2006/main">
              <a:ext uri="{FF2B5EF4-FFF2-40B4-BE49-F238E27FC236}">
                <a16:creationId xmlns:a16="http://schemas.microsoft.com/office/drawing/2014/main" id="{B34C3CAF-FB40-4D90-95E3-66E1952C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97" y="1984248"/>
            <a:ext cx="3933823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titleOnly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17241306" name="Picture 7522556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09b03d4a0f4757">
            <a:alphaModFix amt="30000"/>
          </a:blip>
          <a:stretch xmlns:a="http://schemas.openxmlformats.org/drawingml/2006/main"/>
        </p:blipFill>
        <p:spPr>
          <a:xfrm xmlns:a="http://schemas.openxmlformats.org/drawingml/2006/main">
            <a:off x="20620" y="8103"/>
            <a:ext cx="12216844" cy="6858000"/>
          </a:xfrm>
          <a:prstGeom xmlns:a="http://schemas.openxmlformats.org/drawingml/2006/main" prst="rect">
            <a:avLst/>
          </a:prstGeom>
        </p:spPr>
      </p:pic>
      <p:sp>
        <p:nvSpPr>
          <p:cNvPr id="1244582760" name="Title 1">
            <a:extLst xmlns:a="http://schemas.openxmlformats.org/drawingml/2006/main">
              <a:ext uri="{FF2B5EF4-FFF2-40B4-BE49-F238E27FC236}">
                <a16:creationId xmlns:a16="http://schemas.microsoft.com/office/drawing/2014/main" id="{2BF6A843-F278-4258-9349-D1898ED02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97" y="2455619"/>
            <a:ext cx="10515600" cy="1325561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  <a:lvl6pPr algn="ctr">
              <a:buNone/>
              <a:defRPr>
                <a:solidFill>
                  <a:schemeClr val="bg1"/>
                </a:solidFill>
              </a:defRPr>
            </a:lvl6pPr>
            <a:lvl7pPr algn="ctr">
              <a:buNone/>
              <a:defRPr>
                <a:solidFill>
                  <a:schemeClr val="bg1"/>
                </a:solidFill>
              </a:defRPr>
            </a:lvl7pPr>
            <a:lvl8pPr algn="ctr">
              <a:buNone/>
              <a:defRPr>
                <a:solidFill>
                  <a:schemeClr val="bg1"/>
                </a:solidFill>
              </a:defRPr>
            </a:lvl8pPr>
            <a:lvl9pPr algn="ctr">
              <a:buNone/>
              <a:defRPr>
                <a:solidFill>
                  <a:schemeClr val="bg1"/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28917142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DD066F5-5789-428A-9422-FB8ED2C114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31724130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846365-841C-4779-AE7D-94403DEA2D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93550938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61B369-6ED7-4C9F-BF9B-B8CB16AA9A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blank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4459747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8E02190-8483-45C2-A8AC-A2C062601E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799906088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97FCC89-EAB8-4068-83CF-241750DD5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8118100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756E590-8D55-4E6B-93F1-C019752997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type="objTx" preserve="1" userDrawn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2922319" name="Title 1">
            <a:extLst xmlns:a="http://schemas.openxmlformats.org/drawingml/2006/main">
              <a:ext uri="{FF2B5EF4-FFF2-40B4-BE49-F238E27FC236}">
                <a16:creationId xmlns:a16="http://schemas.microsoft.com/office/drawing/2014/main" id="{E8A642E3-0426-4692-A1EE-859B124204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7" y="457200"/>
            <a:ext cx="3932236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40184418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01DB25-CCA9-49D2-9D63-1134E9A794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7" y="987424"/>
            <a:ext cx="6172200" cy="487362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055377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D4D7C3-6EBB-443A-9A6A-9E2132CA70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7" y="2057400"/>
            <a:ext cx="3932236" cy="3811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146875341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93F9D2-FB74-404E-8FF5-1D811916DB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64617992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27BB29-BA39-4A79-BBF8-F690714EA4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74235041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70CB47-6693-4B7B-9441-8C006F3EC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type="vertTx" preserve="1" userDrawn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5219238" name="Title 1">
            <a:extLst xmlns:a="http://schemas.openxmlformats.org/drawingml/2006/main">
              <a:ext uri="{FF2B5EF4-FFF2-40B4-BE49-F238E27FC236}">
                <a16:creationId xmlns:a16="http://schemas.microsoft.com/office/drawing/2014/main" id="{BCBD1044-81DC-44FE-8AE9-B72DF98B18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83304786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153010-DA91-43CD-970B-D42DAECE07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56850069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CE109B-7FE1-4D96-802B-45BA35288C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34217810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FB82A1-1CBB-4FC1-A73B-BC69B7ADC1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907229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AC6F2F-968D-42D3-863A-BEB3FDF4B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type="vertTitleAndTx" preserve="1" userDrawn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419687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840A85C-5BA0-4D7C-9007-2977ADDEE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899" y="365124"/>
            <a:ext cx="26289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148339463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742F3D3-4F69-4ABB-95A8-DDF5EE8997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198" y="365124"/>
            <a:ext cx="7734299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1803173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DA49F3-7FD6-4038-97C4-817E63152A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41740405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C2EE83-C881-4315-AAC3-73CC99D60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702712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A103B6-EC11-405C-A16F-74314A5C44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8efd1e78f4963" /><Relationship Type="http://schemas.openxmlformats.org/officeDocument/2006/relationships/slideLayout" Target="/ppt/slideLayouts/slideLayout1.xml" Id="R1341fd473dc84562" /><Relationship Type="http://schemas.openxmlformats.org/officeDocument/2006/relationships/slideLayout" Target="/ppt/slideLayouts/slideLayout2.xml" Id="R8f773aa8ea3442a8" /><Relationship Type="http://schemas.openxmlformats.org/officeDocument/2006/relationships/slideLayout" Target="/ppt/slideLayouts/slideLayout3.xml" Id="R49424a19afa14206" /><Relationship Type="http://schemas.openxmlformats.org/officeDocument/2006/relationships/slideLayout" Target="/ppt/slideLayouts/slideLayout4.xml" Id="Rb9f20dfc719344b4" /><Relationship Type="http://schemas.openxmlformats.org/officeDocument/2006/relationships/slideLayout" Target="/ppt/slideLayouts/slideLayout5.xml" Id="R825b6d239dfe43f0" /><Relationship Type="http://schemas.openxmlformats.org/officeDocument/2006/relationships/slideLayout" Target="/ppt/slideLayouts/slideLayout6.xml" Id="R5233de4e87e246f3" /><Relationship Type="http://schemas.openxmlformats.org/officeDocument/2006/relationships/slideLayout" Target="/ppt/slideLayouts/slideLayout7.xml" Id="R444fdbff17984c6d" /><Relationship Type="http://schemas.openxmlformats.org/officeDocument/2006/relationships/slideLayout" Target="/ppt/slideLayouts/slideLayout8.xml" Id="Rba20a2f328b04678" /><Relationship Type="http://schemas.openxmlformats.org/officeDocument/2006/relationships/slideLayout" Target="/ppt/slideLayouts/slideLayout9.xml" Id="R303cbcd99d21488a" /><Relationship Type="http://schemas.openxmlformats.org/officeDocument/2006/relationships/slideLayout" Target="/ppt/slideLayouts/slideLayout10.xml" Id="Rf35538e163e6449c" /><Relationship Type="http://schemas.openxmlformats.org/officeDocument/2006/relationships/slideLayout" Target="/ppt/slideLayouts/slideLayout11.xml" Id="R1a70fcd9eb214ef3" /><Relationship Type="http://schemas.openxmlformats.org/officeDocument/2006/relationships/slideLayout" Target="/ppt/slideLayouts/slideLayout12.xml" Id="R7e5eaadc42924be3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785599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91AC14-8CF1-4261-966B-DDACEF4579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198" y="365124"/>
            <a:ext cx="10515600" cy="1325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86752847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253C40-4B95-4914-AA23-8563503A89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1248" y="1828800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182880" tIns="182880" rIns="182880" bIns="91440" anchor="t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01244690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1FF8F4-9C36-4144-9E75-C79BA45DCF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198" y="6356349"/>
            <a:ext cx="2743200" cy="3651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CC18F51-09EC-435C-A3BA-64A766E099C0}" type="datetimeFigureOut">
              <a:t>2026/7/31</a:t>
            </a:fld>
          </a:p>
        </p:txBody>
      </p:sp>
      <p:sp>
        <p:nvSpPr>
          <p:cNvPr id="124784677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723B4C-993F-4B67-95A7-6A66F76554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598" y="6356349"/>
            <a:ext cx="4114800" cy="3651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663907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BF4085-DFDE-42F3-9ECD-EAA65E18887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599" y="6356349"/>
            <a:ext cx="2743200" cy="3651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8395586-F03A-48D1-94DF-16B239DF4FB5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41fd473dc84562"/>
    <p:sldLayoutId xmlns:r="http://schemas.openxmlformats.org/officeDocument/2006/relationships" id="2147483650" r:id="R8f773aa8ea3442a8"/>
    <p:sldLayoutId xmlns:r="http://schemas.openxmlformats.org/officeDocument/2006/relationships" id="2147483651" r:id="R49424a19afa14206"/>
    <p:sldLayoutId xmlns:r="http://schemas.openxmlformats.org/officeDocument/2006/relationships" id="2147483652" r:id="Rb9f20dfc719344b4"/>
    <p:sldLayoutId xmlns:r="http://schemas.openxmlformats.org/officeDocument/2006/relationships" id="2147483653" r:id="R825b6d239dfe43f0"/>
    <p:sldLayoutId xmlns:r="http://schemas.openxmlformats.org/officeDocument/2006/relationships" id="2147483654" r:id="R5233de4e87e246f3"/>
    <p:sldLayoutId xmlns:r="http://schemas.openxmlformats.org/officeDocument/2006/relationships" id="2147483655" r:id="R444fdbff17984c6d"/>
    <p:sldLayoutId xmlns:r="http://schemas.openxmlformats.org/officeDocument/2006/relationships" id="2147483656" r:id="Rba20a2f328b04678"/>
    <p:sldLayoutId xmlns:r="http://schemas.openxmlformats.org/officeDocument/2006/relationships" id="2147483657" r:id="R303cbcd99d21488a"/>
    <p:sldLayoutId xmlns:r="http://schemas.openxmlformats.org/officeDocument/2006/relationships" id="2147483658" r:id="Rf35538e163e6449c"/>
    <p:sldLayoutId xmlns:r="http://schemas.openxmlformats.org/officeDocument/2006/relationships" id="2147483659" r:id="R1a70fcd9eb214ef3"/>
    <p:sldLayoutId xmlns:r="http://schemas.openxmlformats.org/officeDocument/2006/relationships" id="2147483660" r:id="R7e5eaadc42924be3"/>
  </p:sldLayoutIdLst>
  <p:txStyles>
    <p:titleStyle>
      <a:lvl1pPr xmlns:a="http://schemas.openxmlformats.org/drawingml/2006/main"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448698d914966" /><Relationship Type="http://schemas.openxmlformats.org/officeDocument/2006/relationships/notesSlide" Target="/ppt/notesSlides/notesSlide1.xml" Id="Rc76ae94f74bf43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afbd662014142" /><Relationship Type="http://schemas.openxmlformats.org/officeDocument/2006/relationships/image" Target="/ppt/media/image2.png" Id="R04f552f2c31e4d4c" /><Relationship Type="http://schemas.openxmlformats.org/officeDocument/2006/relationships/notesSlide" Target="/ppt/notesSlides/notesSlide2.xml" Id="R7c2339bba61a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ea6460cfb4d23" /><Relationship Type="http://schemas.openxmlformats.org/officeDocument/2006/relationships/notesSlide" Target="/ppt/notesSlides/notesSlide3.xml" Id="Rf5c924fb6560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833a86d9b45b7" /><Relationship Type="http://schemas.openxmlformats.org/officeDocument/2006/relationships/image" Target="/ppt/media/image3.png" Id="R7e65b308066342e2" /><Relationship Type="http://schemas.openxmlformats.org/officeDocument/2006/relationships/notesSlide" Target="/ppt/notesSlides/notesSlide4.xml" Id="Redb809714e4042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0d57af4ca4073" /><Relationship Type="http://schemas.openxmlformats.org/officeDocument/2006/relationships/image" Target="/ppt/media/image4.png" Id="R7b6bee6f245c4bf1" /><Relationship Type="http://schemas.openxmlformats.org/officeDocument/2006/relationships/notesSlide" Target="/ppt/notesSlides/notesSlide5.xml" Id="Rc78caba1872a44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3fced96614c07" /><Relationship Type="http://schemas.openxmlformats.org/officeDocument/2006/relationships/image" Target="/ppt/media/image5.png" Id="R643170fcc039407d" /><Relationship Type="http://schemas.openxmlformats.org/officeDocument/2006/relationships/notesSlide" Target="/ppt/notesSlides/notesSlide6.xml" Id="Re975061c27bd4929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311374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AEAA012-CA4D-4EBA-8C93-ACEBAB1B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49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</a:p>
        </p:txBody>
      </p:sp>
    </p:spTree>
    <p:extLst>
      <p:ext uri="{BB962C8B-B14F-4D97-AF65-F5344CB8AC3E}">
        <p14:creationId xmlns:p14="http://schemas.microsoft.com/office/powerpoint/2010/main" val="1184979094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6469796" name="Rectangle 935271156">
            <a:extLst xmlns:a="http://schemas.openxmlformats.org/drawingml/2006/main">
              <a:ext uri="{FF2B5EF4-FFF2-40B4-BE49-F238E27FC236}">
                <a16:creationId xmlns:a16="http://schemas.microsoft.com/office/drawing/2014/main" id="{FD4EC599-39D8-4AAD-8BEF-21B06856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323849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Diffusion</a:t>
            </a:r>
          </a:p>
        </p:txBody>
      </p:sp>
      <p:sp>
        <p:nvSpPr>
          <p:cNvPr id="362276889" name="Rectangle 251777344">
            <a:extLst xmlns:a="http://schemas.openxmlformats.org/drawingml/2006/main">
              <a:ext uri="{FF2B5EF4-FFF2-40B4-BE49-F238E27FC236}">
                <a16:creationId xmlns:a16="http://schemas.microsoft.com/office/drawing/2014/main" id="{3C4E0A2A-0E58-4BA8-A61A-61619BA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590548"/>
            <a:ext cx="10287000" cy="5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Diffusion learns to reverse noise</a:t>
            </a:r>
          </a:p>
        </p:txBody>
      </p:sp>
      <p:sp>
        <p:nvSpPr>
          <p:cNvPr id="1162692205" name="Rectangle: Rounded Corners 1456392341">
            <a:extLst xmlns:a="http://schemas.openxmlformats.org/drawingml/2006/main">
              <a:ext uri="{FF2B5EF4-FFF2-40B4-BE49-F238E27FC236}">
                <a16:creationId xmlns:a16="http://schemas.microsoft.com/office/drawing/2014/main" id="{3FEDD749-1155-4859-8F93-BADFDB16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9" y="1466848"/>
            <a:ext cx="10782299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77297960" name="Rectangle 1495975732">
            <a:extLst xmlns:a="http://schemas.openxmlformats.org/drawingml/2006/main">
              <a:ext uri="{FF2B5EF4-FFF2-40B4-BE49-F238E27FC236}">
                <a16:creationId xmlns:a16="http://schemas.microsoft.com/office/drawing/2014/main" id="{ED8D3B22-ABD7-4DD8-A037-521885A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4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85</a:t>
            </a:r>
          </a:p>
        </p:txBody>
      </p:sp>
      <p:pic>
        <p:nvPicPr>
          <p:cNvPr id="2066469802" name="Picture 14959757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f552f2c31e4d4c"/>
          <a:srcRect xmlns:a="http://schemas.openxmlformats.org/drawingml/2006/main" l="0" t="15961" r="0" b="15959"/>
          <a:stretch xmlns:a="http://schemas.openxmlformats.org/drawingml/2006/main"/>
        </p:blipFill>
        <p:spPr>
          <a:xfrm xmlns:a="http://schemas.openxmlformats.org/drawingml/2006/main">
            <a:off x="1000125" y="1695449"/>
            <a:ext cx="10191750" cy="3905249"/>
          </a:xfrm>
          <a:prstGeom xmlns:a="http://schemas.openxmlformats.org/drawingml/2006/main" prst="rect">
            <a:avLst/>
          </a:prstGeom>
        </p:spPr>
      </p:pic>
      <p:sp>
        <p:nvSpPr>
          <p:cNvPr id="1720582618" name="diffusion-forward-label">
            <a:extLst xmlns:a="http://schemas.openxmlformats.org/drawingml/2006/main">
              <a:ext uri="{FF2B5EF4-FFF2-40B4-BE49-F238E27FC236}">
                <a16:creationId xmlns:a16="http://schemas.microsoft.com/office/drawing/2014/main" id="{E53C6499-CF23-4DCA-B5D0-05ABC7AC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Forward: gradually add noise →</a:t>
            </a:r>
          </a:p>
        </p:txBody>
      </p:sp>
      <p:sp>
        <p:nvSpPr>
          <p:cNvPr id="400867242" name="diffusion-reverse-label">
            <a:extLst xmlns:a="http://schemas.openxmlformats.org/drawingml/2006/main">
              <a:ext uri="{FF2B5EF4-FFF2-40B4-BE49-F238E27FC236}">
                <a16:creationId xmlns:a16="http://schemas.microsoft.com/office/drawing/2014/main" id="{DD867237-6D7D-4DD8-9E5B-92EF409B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49" y="5467349"/>
            <a:ext cx="4381499" cy="380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← Generation: predict and remove noise step by step</a:t>
            </a:r>
          </a:p>
        </p:txBody>
      </p:sp>
    </p:spTree>
    <p:extLst>
      <p:ext uri="{BB962C8B-B14F-4D97-AF65-F5344CB8AC3E}">
        <p14:creationId xmlns:p14="http://schemas.microsoft.com/office/powerpoint/2010/main" val="1973512074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6402274" name="Rectangle 550399601">
            <a:extLst xmlns:a="http://schemas.openxmlformats.org/drawingml/2006/main">
              <a:ext uri="{FF2B5EF4-FFF2-40B4-BE49-F238E27FC236}">
                <a16:creationId xmlns:a16="http://schemas.microsoft.com/office/drawing/2014/main" id="{899D5FBB-8EEC-4C27-8C76-B3B1A50B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323849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</a:p>
        </p:txBody>
      </p:sp>
      <p:sp>
        <p:nvSpPr>
          <p:cNvPr id="1873611666" name="Rectangle 882538346">
            <a:extLst xmlns:a="http://schemas.openxmlformats.org/drawingml/2006/main">
              <a:ext uri="{FF2B5EF4-FFF2-40B4-BE49-F238E27FC236}">
                <a16:creationId xmlns:a16="http://schemas.microsoft.com/office/drawing/2014/main" id="{5A6208B6-CA75-412E-83B0-6E2BFF7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590548"/>
            <a:ext cx="10287000" cy="5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Mercury models use diffusion-style parallel refinement</a:t>
            </a:r>
          </a:p>
        </p:txBody>
      </p:sp>
      <p:sp>
        <p:nvSpPr>
          <p:cNvPr id="1921495570" name="Rectangle: Rounded Corners 1990867235">
            <a:extLst xmlns:a="http://schemas.openxmlformats.org/drawingml/2006/main">
              <a:ext uri="{FF2B5EF4-FFF2-40B4-BE49-F238E27FC236}">
                <a16:creationId xmlns:a16="http://schemas.microsoft.com/office/drawing/2014/main" id="{60FC7FA1-B6CD-41D2-9761-A1E1A251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9" y="1466848"/>
            <a:ext cx="10782299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47485708" name="Rectangle 9623160">
            <a:extLst xmlns:a="http://schemas.openxmlformats.org/drawingml/2006/main">
              <a:ext uri="{FF2B5EF4-FFF2-40B4-BE49-F238E27FC236}">
                <a16:creationId xmlns:a16="http://schemas.microsoft.com/office/drawing/2014/main" id="{AA4096CB-F878-4B59-8C1C-C435D63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49" y="2286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667085"/>
                </a:solidFill>
              </a:defRPr>
            </a:pPr>
            <a:r>
              <a:rPr sz="1650" b="1">
                <a:solidFill>
                  <a:srgbClr val="667085"/>
                </a:solidFill>
              </a:rPr>
              <a:t>noise</a:t>
            </a:r>
          </a:p>
        </p:txBody>
      </p:sp>
      <p:sp>
        <p:nvSpPr>
          <p:cNvPr id="287887126" name="Rectangle: Rounded Corners 114855872">
            <a:extLst xmlns:a="http://schemas.openxmlformats.org/drawingml/2006/main">
              <a:ext uri="{FF2B5EF4-FFF2-40B4-BE49-F238E27FC236}">
                <a16:creationId xmlns:a16="http://schemas.microsoft.com/office/drawing/2014/main" id="{F77CFC32-29EC-41B1-960F-4ADA1B5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4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2094620654" name="Rectangle: Rounded Corners 734158913">
            <a:extLst xmlns:a="http://schemas.openxmlformats.org/drawingml/2006/main">
              <a:ext uri="{FF2B5EF4-FFF2-40B4-BE49-F238E27FC236}">
                <a16:creationId xmlns:a16="http://schemas.microsoft.com/office/drawing/2014/main" id="{56E12F0F-AB06-4BA0-A3F8-B7D2D952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99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1238348596" name="Rectangle: Rounded Corners 1596678256">
            <a:extLst xmlns:a="http://schemas.openxmlformats.org/drawingml/2006/main">
              <a:ext uri="{FF2B5EF4-FFF2-40B4-BE49-F238E27FC236}">
                <a16:creationId xmlns:a16="http://schemas.microsoft.com/office/drawing/2014/main" id="{6DA2F7AF-6AAB-4337-87DC-A7AB8494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4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1220896780" name="Rectangle: Rounded Corners 2059288131">
            <a:extLst xmlns:a="http://schemas.openxmlformats.org/drawingml/2006/main">
              <a:ext uri="{FF2B5EF4-FFF2-40B4-BE49-F238E27FC236}">
                <a16:creationId xmlns:a16="http://schemas.microsoft.com/office/drawing/2014/main" id="{0DD37101-41FC-47B3-840A-0F2C6E6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49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795864503" name="Rectangle: Rounded Corners 1010991302">
            <a:extLst xmlns:a="http://schemas.openxmlformats.org/drawingml/2006/main">
              <a:ext uri="{FF2B5EF4-FFF2-40B4-BE49-F238E27FC236}">
                <a16:creationId xmlns:a16="http://schemas.microsoft.com/office/drawing/2014/main" id="{BE9EEF6F-E5C4-4210-9032-CBD5395C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85923669" name="Rectangle: Rounded Corners 1730168992">
            <a:extLst xmlns:a="http://schemas.openxmlformats.org/drawingml/2006/main">
              <a:ext uri="{FF2B5EF4-FFF2-40B4-BE49-F238E27FC236}">
                <a16:creationId xmlns:a16="http://schemas.microsoft.com/office/drawing/2014/main" id="{471BBA9D-C200-4C68-BFD7-E964C12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200186679" name="Straight Connector 427538637">
            <a:extLst xmlns:a="http://schemas.openxmlformats.org/drawingml/2006/main">
              <a:ext uri="{FF2B5EF4-FFF2-40B4-BE49-F238E27FC236}">
                <a16:creationId xmlns:a16="http://schemas.microsoft.com/office/drawing/2014/main" id="{3C44AE8E-5896-48F3-9C08-1710D6EB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99" y="2819399"/>
            <a:ext cx="9524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31224525" name="Rectangle 317775176">
            <a:extLst xmlns:a="http://schemas.openxmlformats.org/drawingml/2006/main">
              <a:ext uri="{FF2B5EF4-FFF2-40B4-BE49-F238E27FC236}">
                <a16:creationId xmlns:a16="http://schemas.microsoft.com/office/drawing/2014/main" id="{367CD410-B626-4A96-8F0E-0EC7AAB4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49" y="3314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step 1</a:t>
            </a:r>
          </a:p>
        </p:txBody>
      </p:sp>
      <p:sp>
        <p:nvSpPr>
          <p:cNvPr id="1390237313" name="Rectangle: Rounded Corners 947755655">
            <a:extLst xmlns:a="http://schemas.openxmlformats.org/drawingml/2006/main">
              <a:ext uri="{FF2B5EF4-FFF2-40B4-BE49-F238E27FC236}">
                <a16:creationId xmlns:a16="http://schemas.microsoft.com/office/drawing/2014/main" id="{2E8548FB-C13D-42A5-B914-A1A386E6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4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</a:p>
        </p:txBody>
      </p:sp>
      <p:sp>
        <p:nvSpPr>
          <p:cNvPr id="704700267" name="Rectangle: Rounded Corners 1310797679">
            <a:extLst xmlns:a="http://schemas.openxmlformats.org/drawingml/2006/main">
              <a:ext uri="{FF2B5EF4-FFF2-40B4-BE49-F238E27FC236}">
                <a16:creationId xmlns:a16="http://schemas.microsoft.com/office/drawing/2014/main" id="{517B4C4C-6A14-45E3-BFB5-114F288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99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685209410" name="Rectangle: Rounded Corners 1996140323">
            <a:extLst xmlns:a="http://schemas.openxmlformats.org/drawingml/2006/main">
              <a:ext uri="{FF2B5EF4-FFF2-40B4-BE49-F238E27FC236}">
                <a16:creationId xmlns:a16="http://schemas.microsoft.com/office/drawing/2014/main" id="{7ECF32A4-C4F7-40F2-86AB-FB4F21D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4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</a:p>
        </p:txBody>
      </p:sp>
      <p:sp>
        <p:nvSpPr>
          <p:cNvPr id="75591255" name="Rectangle: Rounded Corners 242163070">
            <a:extLst xmlns:a="http://schemas.openxmlformats.org/drawingml/2006/main">
              <a:ext uri="{FF2B5EF4-FFF2-40B4-BE49-F238E27FC236}">
                <a16:creationId xmlns:a16="http://schemas.microsoft.com/office/drawing/2014/main" id="{1522FD9A-0194-48F1-B202-429DA28C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49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1386622200" name="Rectangle: Rounded Corners 787924439">
            <a:extLst xmlns:a="http://schemas.openxmlformats.org/drawingml/2006/main">
              <a:ext uri="{FF2B5EF4-FFF2-40B4-BE49-F238E27FC236}">
                <a16:creationId xmlns:a16="http://schemas.microsoft.com/office/drawing/2014/main" id="{410AEAC7-2267-4074-9F75-5441C6F6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1618184150" name="Rectangle: Rounded Corners 2036973233">
            <a:extLst xmlns:a="http://schemas.openxmlformats.org/drawingml/2006/main">
              <a:ext uri="{FF2B5EF4-FFF2-40B4-BE49-F238E27FC236}">
                <a16:creationId xmlns:a16="http://schemas.microsoft.com/office/drawing/2014/main" id="{3AC78AAC-F6AC-4437-9897-FFC3426B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48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</a:p>
        </p:txBody>
      </p:sp>
      <p:sp>
        <p:nvSpPr>
          <p:cNvPr id="1158718321" name="Straight Connector 2017847098">
            <a:extLst xmlns:a="http://schemas.openxmlformats.org/drawingml/2006/main">
              <a:ext uri="{FF2B5EF4-FFF2-40B4-BE49-F238E27FC236}">
                <a16:creationId xmlns:a16="http://schemas.microsoft.com/office/drawing/2014/main" id="{EEE12875-30EF-465A-8DC4-338BDDE8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99" y="3848099"/>
            <a:ext cx="9524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8600340" name="Rectangle 420069148">
            <a:extLst xmlns:a="http://schemas.openxmlformats.org/drawingml/2006/main">
              <a:ext uri="{FF2B5EF4-FFF2-40B4-BE49-F238E27FC236}">
                <a16:creationId xmlns:a16="http://schemas.microsoft.com/office/drawing/2014/main" id="{F55A96B3-F3D1-4222-B5A0-9B550EA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49" y="4343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0B981"/>
                </a:solidFill>
              </a:defRPr>
            </a:pPr>
            <a:r>
              <a:rPr sz="1650" b="1">
                <a:solidFill>
                  <a:srgbClr val="10B981"/>
                </a:solidFill>
              </a:rPr>
              <a:t>step 2</a:t>
            </a:r>
          </a:p>
        </p:txBody>
      </p:sp>
      <p:sp>
        <p:nvSpPr>
          <p:cNvPr id="1397429586" name="Rectangle: Rounded Corners 1532010383">
            <a:extLst xmlns:a="http://schemas.openxmlformats.org/drawingml/2006/main">
              <a:ext uri="{FF2B5EF4-FFF2-40B4-BE49-F238E27FC236}">
                <a16:creationId xmlns:a16="http://schemas.microsoft.com/office/drawing/2014/main" id="{FE5116A7-2A8E-4506-A2A1-9302C686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4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</a:p>
        </p:txBody>
      </p:sp>
      <p:sp>
        <p:nvSpPr>
          <p:cNvPr id="1503606284" name="Rectangle: Rounded Corners 1983276117">
            <a:extLst xmlns:a="http://schemas.openxmlformats.org/drawingml/2006/main">
              <a:ext uri="{FF2B5EF4-FFF2-40B4-BE49-F238E27FC236}">
                <a16:creationId xmlns:a16="http://schemas.microsoft.com/office/drawing/2014/main" id="{9F3154D3-90D8-4481-954D-5CC1F76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99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</a:p>
        </p:txBody>
      </p:sp>
      <p:sp>
        <p:nvSpPr>
          <p:cNvPr id="1181661741" name="Rectangle: Rounded Corners 1047163946">
            <a:extLst xmlns:a="http://schemas.openxmlformats.org/drawingml/2006/main">
              <a:ext uri="{FF2B5EF4-FFF2-40B4-BE49-F238E27FC236}">
                <a16:creationId xmlns:a16="http://schemas.microsoft.com/office/drawing/2014/main" id="{DBC88E8F-1B03-4922-9A5C-1D4E8EE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4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</a:p>
        </p:txBody>
      </p:sp>
      <p:sp>
        <p:nvSpPr>
          <p:cNvPr id="1303853982" name="Rectangle: Rounded Corners 523171807">
            <a:extLst xmlns:a="http://schemas.openxmlformats.org/drawingml/2006/main">
              <a:ext uri="{FF2B5EF4-FFF2-40B4-BE49-F238E27FC236}">
                <a16:creationId xmlns:a16="http://schemas.microsoft.com/office/drawing/2014/main" id="{5BDC80E5-8163-4B49-86C9-77AB641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49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</a:p>
        </p:txBody>
      </p:sp>
      <p:sp>
        <p:nvSpPr>
          <p:cNvPr id="963757133" name="Rectangle: Rounded Corners 752356456">
            <a:extLst xmlns:a="http://schemas.openxmlformats.org/drawingml/2006/main">
              <a:ext uri="{FF2B5EF4-FFF2-40B4-BE49-F238E27FC236}">
                <a16:creationId xmlns:a16="http://schemas.microsoft.com/office/drawing/2014/main" id="{C040D4D3-B479-463F-B1FF-28088289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[MASK]</a:t>
            </a:r>
          </a:p>
        </p:txBody>
      </p:sp>
      <p:sp>
        <p:nvSpPr>
          <p:cNvPr id="1628194907" name="Rectangle: Rounded Corners 816374805">
            <a:extLst xmlns:a="http://schemas.openxmlformats.org/drawingml/2006/main">
              <a:ext uri="{FF2B5EF4-FFF2-40B4-BE49-F238E27FC236}">
                <a16:creationId xmlns:a16="http://schemas.microsoft.com/office/drawing/2014/main" id="{5B995574-12F3-4AEC-B38B-4CF7A029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81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</a:p>
        </p:txBody>
      </p:sp>
      <p:sp>
        <p:nvSpPr>
          <p:cNvPr id="1592909743" name="Straight Connector 1386166301">
            <a:extLst xmlns:a="http://schemas.openxmlformats.org/drawingml/2006/main">
              <a:ext uri="{FF2B5EF4-FFF2-40B4-BE49-F238E27FC236}">
                <a16:creationId xmlns:a16="http://schemas.microsoft.com/office/drawing/2014/main" id="{AB059241-ACD4-4779-B1E1-E48B02BB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499" y="4876799"/>
            <a:ext cx="9524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8120721" name="Rectangle 1180679312">
            <a:extLst xmlns:a="http://schemas.openxmlformats.org/drawingml/2006/main">
              <a:ext uri="{FF2B5EF4-FFF2-40B4-BE49-F238E27FC236}">
                <a16:creationId xmlns:a16="http://schemas.microsoft.com/office/drawing/2014/main" id="{AE9A2E2D-7F14-4644-AE67-3C97CAD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49" y="5372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text</a:t>
            </a:r>
          </a:p>
        </p:txBody>
      </p:sp>
      <p:sp>
        <p:nvSpPr>
          <p:cNvPr id="418632996" name="Rectangle: Rounded Corners 1119801345">
            <a:extLst xmlns:a="http://schemas.openxmlformats.org/drawingml/2006/main">
              <a:ext uri="{FF2B5EF4-FFF2-40B4-BE49-F238E27FC236}">
                <a16:creationId xmlns:a16="http://schemas.microsoft.com/office/drawing/2014/main" id="{FCC8509F-D34E-404C-97EB-CE232D34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4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The</a:t>
            </a:r>
          </a:p>
        </p:txBody>
      </p:sp>
      <p:sp>
        <p:nvSpPr>
          <p:cNvPr id="1670907522" name="Rectangle: Rounded Corners 563472098">
            <a:extLst xmlns:a="http://schemas.openxmlformats.org/drawingml/2006/main">
              <a:ext uri="{FF2B5EF4-FFF2-40B4-BE49-F238E27FC236}">
                <a16:creationId xmlns:a16="http://schemas.microsoft.com/office/drawing/2014/main" id="{ADDE7BA9-ACAB-48F9-9CE4-2A0257B8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499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model</a:t>
            </a:r>
          </a:p>
        </p:txBody>
      </p:sp>
      <p:sp>
        <p:nvSpPr>
          <p:cNvPr id="705303124" name="Rectangle: Rounded Corners 1869507790">
            <a:extLst xmlns:a="http://schemas.openxmlformats.org/drawingml/2006/main">
              <a:ext uri="{FF2B5EF4-FFF2-40B4-BE49-F238E27FC236}">
                <a16:creationId xmlns:a16="http://schemas.microsoft.com/office/drawing/2014/main" id="{4888C92B-F889-435D-B116-297EE01D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4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learns</a:t>
            </a:r>
          </a:p>
        </p:txBody>
      </p:sp>
      <p:sp>
        <p:nvSpPr>
          <p:cNvPr id="585360169" name="Rectangle: Rounded Corners 2113559938">
            <a:extLst xmlns:a="http://schemas.openxmlformats.org/drawingml/2006/main">
              <a:ext uri="{FF2B5EF4-FFF2-40B4-BE49-F238E27FC236}">
                <a16:creationId xmlns:a16="http://schemas.microsoft.com/office/drawing/2014/main" id="{7BADE5F5-A7F3-4B2F-B7DB-BC82F6A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49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from</a:t>
            </a:r>
          </a:p>
        </p:txBody>
      </p:sp>
      <p:sp>
        <p:nvSpPr>
          <p:cNvPr id="178700370" name="Rectangle: Rounded Corners 274418513">
            <a:extLst xmlns:a="http://schemas.openxmlformats.org/drawingml/2006/main">
              <a:ext uri="{FF2B5EF4-FFF2-40B4-BE49-F238E27FC236}">
                <a16:creationId xmlns:a16="http://schemas.microsoft.com/office/drawing/2014/main" id="{E3CD568F-C566-4B39-AA23-6AAF439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data</a:t>
            </a:r>
          </a:p>
        </p:txBody>
      </p:sp>
      <p:sp>
        <p:nvSpPr>
          <p:cNvPr id="1293060796" name="Rectangle: Rounded Corners 1941550636">
            <a:extLst xmlns:a="http://schemas.openxmlformats.org/drawingml/2006/main">
              <a:ext uri="{FF2B5EF4-FFF2-40B4-BE49-F238E27FC236}">
                <a16:creationId xmlns:a16="http://schemas.microsoft.com/office/drawing/2014/main" id="{CBD8A546-F3D6-4980-BE46-ABA08888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76849"/>
            <a:ext cx="819149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0F19"/>
                </a:solidFill>
              </a:defRPr>
            </a:pPr>
            <a:r>
              <a:rPr sz="1500" b="1">
                <a:solidFill>
                  <a:srgbClr val="0B0F19"/>
                </a:solidFill>
              </a:rPr>
              <a:t>.</a:t>
            </a:r>
          </a:p>
        </p:txBody>
      </p:sp>
      <p:sp>
        <p:nvSpPr>
          <p:cNvPr id="233908857" name="Rectangle 1798355039">
            <a:extLst xmlns:a="http://schemas.openxmlformats.org/drawingml/2006/main">
              <a:ext uri="{FF2B5EF4-FFF2-40B4-BE49-F238E27FC236}">
                <a16:creationId xmlns:a16="http://schemas.microsoft.com/office/drawing/2014/main" id="{94E86D1C-63D4-4B8D-A11A-2A0B5E96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04974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not always left-to-right</a:t>
            </a:r>
          </a:p>
        </p:txBody>
      </p:sp>
      <p:sp>
        <p:nvSpPr>
          <p:cNvPr id="1687953148" name="Rectangle 1161886986">
            <a:extLst xmlns:a="http://schemas.openxmlformats.org/drawingml/2006/main">
              <a:ext uri="{FF2B5EF4-FFF2-40B4-BE49-F238E27FC236}">
                <a16:creationId xmlns:a16="http://schemas.microsoft.com/office/drawing/2014/main" id="{58FF3F6A-7BDF-4AF3-8D01-F9AB5D2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4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</a:p>
        </p:txBody>
      </p:sp>
      <p:sp>
        <p:nvSpPr>
          <p:cNvPr id="1097740884" name="mercury-example-divider">
            <a:extLst xmlns:a="http://schemas.openxmlformats.org/drawingml/2006/main">
              <a:ext uri="{FF2B5EF4-FFF2-40B4-BE49-F238E27FC236}">
                <a16:creationId xmlns:a16="http://schemas.microsoft.com/office/drawing/2014/main" id="{E36369B0-A9E2-4795-9F43-DF2161E0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49"/>
            <a:ext cx="9524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2675732" name="mercury-example-label">
            <a:extLst xmlns:a="http://schemas.openxmlformats.org/drawingml/2006/main">
              <a:ext uri="{FF2B5EF4-FFF2-40B4-BE49-F238E27FC236}">
                <a16:creationId xmlns:a16="http://schemas.microsoft.com/office/drawing/2014/main" id="{C319E8A4-75F2-4967-912F-9041D5B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799" y="2362198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MERCURY 2</a:t>
            </a:r>
          </a:p>
        </p:txBody>
      </p:sp>
      <p:sp>
        <p:nvSpPr>
          <p:cNvPr id="1343190261" name="">
            <a:extLst xmlns:a="http://schemas.openxmlformats.org/drawingml/2006/main">
              <a:ext uri="{FF2B5EF4-FFF2-40B4-BE49-F238E27FC236}">
                <a16:creationId xmlns:a16="http://schemas.microsoft.com/office/drawing/2014/main" id="{6A64B70A-D6A1-4D20-ABA6-85EC4AEA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423" y="2710453"/>
            <a:ext cx="2455084" cy="251819"/>
          </a:xfrm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050" b="0" i="0" u="none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https://chat.inceptionlabs.ai/</a:t>
            </a:r>
          </a:p>
        </p:txBody>
      </p:sp>
    </p:spTree>
    <p:extLst>
      <p:ext uri="{BB962C8B-B14F-4D97-AF65-F5344CB8AC3E}">
        <p14:creationId xmlns:p14="http://schemas.microsoft.com/office/powerpoint/2010/main" val="1755340982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6740098" name="Rectangle 1487198538">
            <a:extLst xmlns:a="http://schemas.openxmlformats.org/drawingml/2006/main">
              <a:ext uri="{FF2B5EF4-FFF2-40B4-BE49-F238E27FC236}">
                <a16:creationId xmlns:a16="http://schemas.microsoft.com/office/drawing/2014/main" id="{025D8FB9-2D69-4A11-A956-6E9763BC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323849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Faster inference</a:t>
            </a:r>
          </a:p>
        </p:txBody>
      </p:sp>
      <p:sp>
        <p:nvSpPr>
          <p:cNvPr id="2006242899" name="Rectangle 1518038747">
            <a:extLst xmlns:a="http://schemas.openxmlformats.org/drawingml/2006/main">
              <a:ext uri="{FF2B5EF4-FFF2-40B4-BE49-F238E27FC236}">
                <a16:creationId xmlns:a16="http://schemas.microsoft.com/office/drawing/2014/main" id="{ACF5AD9B-BC5E-4B77-A09A-25CD7A4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590548"/>
            <a:ext cx="10287000" cy="59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0F19"/>
                </a:solidFill>
              </a:defRPr>
            </a:pPr>
            <a:r>
              <a:rPr sz="3000" b="1">
                <a:solidFill>
                  <a:srgbClr val="0B0F19"/>
                </a:solidFill>
              </a:rPr>
              <a:t>Speculative decoding uses a draft-and-verify loop</a:t>
            </a:r>
          </a:p>
        </p:txBody>
      </p:sp>
      <p:sp>
        <p:nvSpPr>
          <p:cNvPr id="28721548" name="Rectangle: Rounded Corners 1531743003">
            <a:extLst xmlns:a="http://schemas.openxmlformats.org/drawingml/2006/main">
              <a:ext uri="{FF2B5EF4-FFF2-40B4-BE49-F238E27FC236}">
                <a16:creationId xmlns:a16="http://schemas.microsoft.com/office/drawing/2014/main" id="{911C89BF-CD06-4CB5-854A-4404ACB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9" y="1466848"/>
            <a:ext cx="10782299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760593" name="Rectangle 918919992">
            <a:extLst xmlns:a="http://schemas.openxmlformats.org/drawingml/2006/main">
              <a:ext uri="{FF2B5EF4-FFF2-40B4-BE49-F238E27FC236}">
                <a16:creationId xmlns:a16="http://schemas.microsoft.com/office/drawing/2014/main" id="{088FAA17-78E1-4856-A844-82E148D3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4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87</a:t>
            </a:r>
          </a:p>
        </p:txBody>
      </p:sp>
      <p:sp>
        <p:nvSpPr>
          <p:cNvPr id="871336739" name="">
            <a:extLst xmlns:a="http://schemas.openxmlformats.org/drawingml/2006/main">
              <a:ext uri="{FF2B5EF4-FFF2-40B4-BE49-F238E27FC236}">
                <a16:creationId xmlns:a16="http://schemas.microsoft.com/office/drawing/2014/main" id="{43F8C5A3-7A1D-4BB1-85A1-6B43B30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85570" y="5490366"/>
            <a:ext cx="3510172" cy="3657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 u="non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https://arxiv.org/html/2510.02358v1</a:t>
            </a:r>
          </a:p>
        </p:txBody>
      </p:sp>
      <p:pic>
        <p:nvPicPr>
          <p:cNvPr id="2086740105" name="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65b308066342e2"/>
          <a:stretch xmlns:a="http://schemas.openxmlformats.org/drawingml/2006/main"/>
        </p:blipFill>
        <p:spPr>
          <a:xfrm xmlns:a="http://schemas.openxmlformats.org/drawingml/2006/main" flipH="0" flipV="0">
            <a:off x="1145526" y="1921388"/>
            <a:ext cx="9900947" cy="31837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78239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753788" name="Rectangle 550399601">
            <a:extLst xmlns:a="http://schemas.openxmlformats.org/drawingml/2006/main">
              <a:ext uri="{FF2B5EF4-FFF2-40B4-BE49-F238E27FC236}">
                <a16:creationId xmlns:a16="http://schemas.microsoft.com/office/drawing/2014/main" id="{255DF589-3CB7-4BE7-B02B-908AC76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23848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</a:p>
        </p:txBody>
      </p:sp>
      <p:sp>
        <p:nvSpPr>
          <p:cNvPr id="1059983673" name="Rectangle 882538346">
            <a:extLst xmlns:a="http://schemas.openxmlformats.org/drawingml/2006/main">
              <a:ext uri="{FF2B5EF4-FFF2-40B4-BE49-F238E27FC236}">
                <a16:creationId xmlns:a16="http://schemas.microsoft.com/office/drawing/2014/main" id="{2808E366-1AFA-4D34-9853-8F3A820A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590547"/>
            <a:ext cx="10287000" cy="590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 optimizes the serving stack</a:t>
            </a:r>
          </a:p>
        </p:txBody>
      </p:sp>
      <p:sp>
        <p:nvSpPr>
          <p:cNvPr id="2036466969" name="Rectangle: Rounded Corners 1990867235">
            <a:extLst xmlns:a="http://schemas.openxmlformats.org/drawingml/2006/main">
              <a:ext uri="{FF2B5EF4-FFF2-40B4-BE49-F238E27FC236}">
                <a16:creationId xmlns:a16="http://schemas.microsoft.com/office/drawing/2014/main" id="{69E421C1-8445-4091-951A-C02A0EA2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8" y="1466847"/>
            <a:ext cx="10782299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41413395" name="Rectangle 1161886986">
            <a:extLst xmlns:a="http://schemas.openxmlformats.org/drawingml/2006/main">
              <a:ext uri="{FF2B5EF4-FFF2-40B4-BE49-F238E27FC236}">
                <a16:creationId xmlns:a16="http://schemas.microsoft.com/office/drawing/2014/main" id="{665990A2-76DC-43F5-8FD4-FFCB119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4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</a:p>
        </p:txBody>
      </p:sp>
      <p:pic>
        <p:nvPicPr>
          <p:cNvPr id="2036466976" name="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b6bee6f245c4bf1"/>
          <a:stretch xmlns:a="http://schemas.openxmlformats.org/drawingml/2006/main"/>
        </p:blipFill>
        <p:spPr>
          <a:xfrm xmlns:a="http://schemas.openxmlformats.org/drawingml/2006/main" flipH="0" flipV="0">
            <a:off x="1090312" y="1987659"/>
            <a:ext cx="3980089" cy="1211331"/>
          </a:xfrm>
          <a:prstGeom xmlns:a="http://schemas.openxmlformats.org/drawingml/2006/main" prst="rect">
            <a:avLst/>
          </a:prstGeom>
        </p:spPr>
      </p:pic>
      <p:sp>
        <p:nvSpPr>
          <p:cNvPr id="2036466971" name="SGLang optimization summary">
            <a:extLst xmlns:a="http://schemas.openxmlformats.org/drawingml/2006/main">
              <a:ext uri="{FF2B5EF4-FFF2-40B4-BE49-F238E27FC236}">
                <a16:creationId xmlns:a16="http://schemas.microsoft.com/office/drawing/2014/main" id="{C858E4F8-5537-44B1-B265-452DFD5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Prefix reuse</a:t>
            </a:r>
          </a:p>
          <a:p xmlns:a="http://schemas.openxmlformats.org/drawingml/2006/main">
            <a:pPr algn="l">
              <a:def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Continuous batching</a:t>
            </a:r>
          </a:p>
          <a:p xmlns:a="http://schemas.openxmlformats.org/drawingml/2006/main">
            <a:pPr algn="l">
              <a:def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Speculative decoding</a:t>
            </a:r>
          </a:p>
        </p:txBody>
      </p:sp>
    </p:spTree>
    <p:extLst>
      <p:ext uri="{BB962C8B-B14F-4D97-AF65-F5344CB8AC3E}">
        <p14:creationId xmlns:p14="http://schemas.microsoft.com/office/powerpoint/2010/main" val="1672732331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702783" name="Rectangle 550399601">
            <a:extLst xmlns:a="http://schemas.openxmlformats.org/drawingml/2006/main">
              <a:ext uri="{FF2B5EF4-FFF2-40B4-BE49-F238E27FC236}">
                <a16:creationId xmlns:a16="http://schemas.microsoft.com/office/drawing/2014/main" id="{8C0D4983-86C1-4997-B481-D4DBBD38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323847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Future of LLM</a:t>
            </a:r>
          </a:p>
        </p:txBody>
      </p:sp>
      <p:sp>
        <p:nvSpPr>
          <p:cNvPr id="1234509221" name="Rectangle 882538346">
            <a:extLst xmlns:a="http://schemas.openxmlformats.org/drawingml/2006/main">
              <a:ext uri="{FF2B5EF4-FFF2-40B4-BE49-F238E27FC236}">
                <a16:creationId xmlns:a16="http://schemas.microsoft.com/office/drawing/2014/main" id="{A3C58091-3C33-44C4-8703-4AF8495F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7" y="590546"/>
            <a:ext cx="10287000" cy="590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SGLang cuts runtime by nearly half</a:t>
            </a:r>
          </a:p>
        </p:txBody>
      </p:sp>
      <p:sp>
        <p:nvSpPr>
          <p:cNvPr id="2033390201" name="Rectangle: Rounded Corners 1990867235">
            <a:extLst xmlns:a="http://schemas.openxmlformats.org/drawingml/2006/main">
              <a:ext uri="{FF2B5EF4-FFF2-40B4-BE49-F238E27FC236}">
                <a16:creationId xmlns:a16="http://schemas.microsoft.com/office/drawing/2014/main" id="{A8B6DF33-EA03-409A-9F63-1FA5561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47" y="1466847"/>
            <a:ext cx="10782299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3549066" name="Rectangle 1161886986">
            <a:extLst xmlns:a="http://schemas.openxmlformats.org/drawingml/2006/main">
              <a:ext uri="{FF2B5EF4-FFF2-40B4-BE49-F238E27FC236}">
                <a16:creationId xmlns:a16="http://schemas.microsoft.com/office/drawing/2014/main" id="{4ACA2F49-42B4-46D2-9551-EED8D833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47624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86</a:t>
            </a:r>
          </a:p>
        </p:txBody>
      </p:sp>
      <p:pic>
        <p:nvPicPr>
          <p:cNvPr id="2033390207" name="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170fcc039407d"/>
          <a:stretch xmlns:a="http://schemas.openxmlformats.org/drawingml/2006/main"/>
        </p:blipFill>
        <p:spPr>
          <a:xfrm xmlns:a="http://schemas.openxmlformats.org/drawingml/2006/main" flipH="0" flipV="0">
            <a:off x="1384373" y="1602919"/>
            <a:ext cx="8737445" cy="42427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9480"/>
      </p:ext>
    </p:extLst>
  </p:cSld>
</p:sld>
</file>

<file path=ppt/theme/theme1.xml><?xml version="1.0" encoding="utf-8"?>
<a:theme xmlns:a="http://schemas.openxmlformats.org/drawing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2026-08-02T21:19:38.8410000Z</dcterms:created>
  <dcterms:modified xsi:type="dcterms:W3CDTF">2026-08-02T21:19:38.8410000Z</dcterms:modified>
</coreProperties>
</file>