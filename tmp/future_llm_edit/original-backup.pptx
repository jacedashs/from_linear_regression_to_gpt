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1"/>
          <a:sy n="1" d="1"/>
        </p:scale>
        <p:origin x="0" y="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291634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022774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326569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57429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147953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675110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22591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281278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Section divider created for the revised learning sequence.</a:t>
            </a:r>
            <a:endParaRPr/>
          </a:p>
        </p:txBody>
      </p:sp>
      <p:sp>
        <p:nvSpPr>
          <p:cNvPr id="48495821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95625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5798731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User-supplied diffusion image: https://miro.medium.com/v2/resize:fit:1400/1*yvClU5LgylulNWLPNpOCfA.png</a:t>
            </a:r>
            <a:endParaRPr/>
          </a:p>
          <a:p>
            <a:pPr>
              <a:buNone/>
              <a:defRPr/>
            </a:pPr>
            <a:r>
              <a:rPr/>
              <a:t>Ho et al., 2020, 'Denoising Diffusion Probabilistic Models': https://arxiv.org/abs/2006.11239</a:t>
            </a:r>
            <a:endParaRPr/>
          </a:p>
        </p:txBody>
      </p:sp>
      <p:sp>
        <p:nvSpPr>
          <p:cNvPr id="50213136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58269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191387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Mercury family overview: https://www.inceptionlabs.ai/blog/introducing-mercury</a:t>
            </a:r>
            <a:endParaRPr/>
          </a:p>
          <a:p>
            <a:pPr>
              <a:buNone/>
              <a:defRPr/>
            </a:pPr>
            <a:r>
              <a:rPr/>
              <a:t>Educational framing of diffusion-LM generation.</a:t>
            </a:r>
            <a:endParaRPr/>
          </a:p>
        </p:txBody>
      </p:sp>
      <p:sp>
        <p:nvSpPr>
          <p:cNvPr id="172760228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13477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97885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</a:t>
            </a:r>
            <a:r>
              <a:rPr lang="ko-KR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Autoregressive Model(자기회귀 모델)</a:t>
            </a:r>
            <a:endParaRPr/>
          </a:p>
        </p:txBody>
      </p:sp>
      <p:sp>
        <p:nvSpPr>
          <p:cNvPr id="68117828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62761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25050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Prefix는 시퀀스의 앞부분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Radix Tree는 공통 앞부분을 합쳐 저장하는 트리 구조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입니다.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예:</a:t>
            </a:r>
            <a:endParaRPr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A: System Prompt + 질문1
B: System Prompt + 질문2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두 요청의 공통 prefix는 </a:t>
            </a: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System Prompt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입니다.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Radix Tree는 이를 다음처럼 저장합니다.</a:t>
            </a:r>
            <a:endParaRPr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System Prompt
├─ 질문1
└─ 질문2</a:t>
            </a:r>
            <a:endParaRPr/>
          </a:p>
          <a:p>
            <a:pPr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공통 구간의 KV 캐시는 한 번만 저장하고, 달라지는 지점부터 분기합니다. 즉,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중복되는 앞부분을 트리의 공통 경로로 공유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합니다.</a:t>
            </a:r>
            <a:endParaRPr/>
          </a:p>
        </p:txBody>
      </p:sp>
      <p:sp>
        <p:nvSpPr>
          <p:cNvPr id="183066687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9017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80452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Prefix는 시퀀스의 앞부분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Radix Tree는 공통 앞부분을 합쳐 저장하는 트리 구조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입니다.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예:</a:t>
            </a:r>
            <a:endParaRPr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A: System Prompt + 질문1</a:t>
            </a:r>
            <a:b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</a:b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B: System Prompt + 질문2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두 요청의 공통 prefix는 </a:t>
            </a: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System Prompt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입니다.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Radix Tree는 이를 다음처럼 저장합니다.</a:t>
            </a:r>
            <a:endParaRPr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System Prompt</a:t>
            </a:r>
            <a:b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</a:b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├─ 질문1</a:t>
            </a:r>
            <a:b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</a:b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└─ 질문2</a:t>
            </a:r>
            <a:endParaRPr/>
          </a:p>
          <a:p>
            <a:pPr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공통 구간의 KV 캐시는 한 번만 저장하고, 달라지는 지점부터 분기합니다. 즉,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중복되는 앞부분을 트리의 공통 경로로 공유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합니다.</a:t>
            </a:r>
            <a:endParaRPr/>
          </a:p>
        </p:txBody>
      </p:sp>
      <p:sp>
        <p:nvSpPr>
          <p:cNvPr id="171864657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5075463" name="Picture 2116695055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-3046" y="9144"/>
            <a:ext cx="12198094" cy="6848854"/>
          </a:xfrm>
          <a:prstGeom prst="rect">
            <a:avLst/>
          </a:prstGeom>
        </p:spPr>
      </p:pic>
      <p:sp>
        <p:nvSpPr>
          <p:cNvPr id="626172637" name="Rectangle 376226509"/>
          <p:cNvSpPr>
            <a:spLocks noGrp="1"/>
          </p:cNvSpPr>
          <p:nvPr/>
        </p:nvSpPr>
        <p:spPr bwMode="auto">
          <a:xfrm>
            <a:off x="6079" y="4051"/>
            <a:ext cx="12179837" cy="6849891"/>
          </a:xfrm>
          <a:prstGeom prst="rect">
            <a:avLst/>
          </a:prstGeom>
          <a:gradFill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597827456" name="Title 1"/>
          <p:cNvSpPr>
            <a:spLocks noGrp="1"/>
          </p:cNvSpPr>
          <p:nvPr>
            <p:ph type="ctrTitle" idx="0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1765156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7048" y="3602734"/>
            <a:ext cx="9144000" cy="1655760"/>
          </a:xfrm>
        </p:spPr>
        <p:txBody>
          <a:bodyPr vert="horz" wrap="square" lIns="91440" tIns="274318" rIns="91440" bIns="45720" anchor="t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buNone/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040359414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454791058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591706123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775318251" name="Rectangle 640957806"/>
          <p:cNvSpPr>
            <a:spLocks noGrp="1"/>
          </p:cNvSpPr>
          <p:nvPr/>
        </p:nvSpPr>
        <p:spPr bwMode="auto">
          <a:xfrm>
            <a:off x="3570597" y="3530036"/>
            <a:ext cx="50400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721294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365123"/>
            <a:ext cx="10515600" cy="1121577"/>
          </a:xfrm>
        </p:spPr>
        <p:txBody>
          <a:bodyPr vert="horz" wrap="square" lIns="91440" tIns="45720" rIns="91440" bIns="45720" anchor="b">
            <a:normAutofit/>
          </a:bodyPr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482690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74490722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686205451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431485068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657955662" name="Rectangle 640957806"/>
          <p:cNvSpPr>
            <a:spLocks noGrp="1"/>
          </p:cNvSpPr>
          <p:nvPr/>
        </p:nvSpPr>
        <p:spPr bwMode="auto">
          <a:xfrm>
            <a:off x="4703774" y="1486702"/>
            <a:ext cx="277643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37560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365123"/>
            <a:ext cx="10515600" cy="1121577"/>
          </a:xfrm>
        </p:spPr>
        <p:txBody>
          <a:bodyPr vert="horz" wrap="square" lIns="91440" tIns="45720" rIns="91440" bIns="45720" anchor="b">
            <a:normAutofit/>
          </a:bodyPr>
          <a:lstStyle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95520793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04534659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7B14398F-3795-7DE0-858E-3925D44B3378}" type="datetimeFigureOut">
              <a:rPr/>
              <a:t>2026/7/31</a:t>
            </a:fld>
            <a:endParaRPr/>
          </a:p>
        </p:txBody>
      </p:sp>
      <p:sp>
        <p:nvSpPr>
          <p:cNvPr id="1049834927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989602677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3D9411B4-B34A-E1DB-16D9-0D265777C9EB}" type="slidenum">
              <a:rPr/>
              <a:t>‹#›</a:t>
            </a:fld>
            <a:endParaRPr/>
          </a:p>
        </p:txBody>
      </p:sp>
      <p:sp>
        <p:nvSpPr>
          <p:cNvPr id="1207029125" name="Rectangle 640957806"/>
          <p:cNvSpPr>
            <a:spLocks noGrp="1"/>
          </p:cNvSpPr>
          <p:nvPr/>
        </p:nvSpPr>
        <p:spPr bwMode="auto">
          <a:xfrm>
            <a:off x="838197" y="1486702"/>
            <a:ext cx="105156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6760338" name="Picture 1835292972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20621" y="8104"/>
            <a:ext cx="12216845" cy="6858000"/>
          </a:xfrm>
          <a:prstGeom prst="rect">
            <a:avLst/>
          </a:prstGeom>
        </p:spPr>
      </p:pic>
      <p:sp>
        <p:nvSpPr>
          <p:cNvPr id="1596238664" name="Title 1"/>
          <p:cNvSpPr>
            <a:spLocks noGrp="1"/>
          </p:cNvSpPr>
          <p:nvPr>
            <p:ph type="title" idx="0"/>
          </p:nvPr>
        </p:nvSpPr>
        <p:spPr bwMode="auto">
          <a:xfrm>
            <a:off x="831848" y="1399140"/>
            <a:ext cx="10515600" cy="2852736"/>
          </a:xfrm>
        </p:spPr>
        <p:txBody>
          <a:bodyPr vert="horz" wrap="square" lIns="91440" tIns="45720" rIns="91440" bIns="45720"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14311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8" y="4278863"/>
            <a:ext cx="10515600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04758546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902675982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632227511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134899390" name="Rectangle 640957806"/>
          <p:cNvSpPr>
            <a:spLocks noGrp="1"/>
          </p:cNvSpPr>
          <p:nvPr/>
        </p:nvSpPr>
        <p:spPr bwMode="auto">
          <a:xfrm>
            <a:off x="-10884" y="6017640"/>
            <a:ext cx="1221377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789160" name="Title 1"/>
          <p:cNvSpPr>
            <a:spLocks noGrp="1"/>
          </p:cNvSpPr>
          <p:nvPr>
            <p:ph type="title" idx="0"/>
          </p:nvPr>
        </p:nvSpPr>
        <p:spPr bwMode="auto"/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98828351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45180621" name="Content Placeholder 3"/>
          <p:cNvSpPr>
            <a:spLocks noGrp="1"/>
          </p:cNvSpPr>
          <p:nvPr>
            <p:ph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84205983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847092713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971436634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355831322" name="Rectangle 640957806"/>
          <p:cNvSpPr>
            <a:spLocks noGrp="1"/>
          </p:cNvSpPr>
          <p:nvPr/>
        </p:nvSpPr>
        <p:spPr bwMode="auto">
          <a:xfrm>
            <a:off x="2070" y="6121172"/>
            <a:ext cx="12213769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572723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987907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6" y="1690686"/>
            <a:ext cx="5157784" cy="814385"/>
          </a:xfrm>
        </p:spPr>
        <p:txBody>
          <a:bodyPr vert="horz" wrap="square" lIns="182880" tIns="182880" rIns="182880" bIns="91440" anchor="ctr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0967531" name="Content Placeholder 3"/>
          <p:cNvSpPr>
            <a:spLocks noGrp="1"/>
          </p:cNvSpPr>
          <p:nvPr>
            <p:ph idx="2"/>
          </p:nvPr>
        </p:nvSpPr>
        <p:spPr bwMode="auto">
          <a:xfrm>
            <a:off x="839787" y="2505073"/>
            <a:ext cx="5157785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86277566" name="Text Placeholder 4"/>
          <p:cNvSpPr>
            <a:spLocks noGrp="1"/>
          </p:cNvSpPr>
          <p:nvPr>
            <p:ph type="body" idx="3"/>
          </p:nvPr>
        </p:nvSpPr>
        <p:spPr bwMode="auto">
          <a:xfrm>
            <a:off x="6172198" y="1690686"/>
            <a:ext cx="5183186" cy="814385"/>
          </a:xfrm>
        </p:spPr>
        <p:txBody>
          <a:bodyPr vert="horz" wrap="square" lIns="182880" tIns="182880" rIns="182880" bIns="91440" anchor="ctr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06065908" name="Content Placeholder 5"/>
          <p:cNvSpPr>
            <a:spLocks noGrp="1"/>
          </p:cNvSpPr>
          <p:nvPr>
            <p:ph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4407426" name="Date Placeholder 6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232000548" name="Footer Placeholder 7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393050817" name="Slide Number Placeholder 8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080794548" name="Rectangle 640957806"/>
          <p:cNvSpPr>
            <a:spLocks noGrp="1"/>
          </p:cNvSpPr>
          <p:nvPr/>
        </p:nvSpPr>
        <p:spPr bwMode="auto">
          <a:xfrm>
            <a:off x="2330779" y="1690686"/>
            <a:ext cx="7530436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448115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457200"/>
            <a:ext cx="3932236" cy="1600200"/>
          </a:xfrm>
        </p:spPr>
        <p:txBody>
          <a:bodyPr vert="horz" wrap="square" lIns="91440" tIns="45720" rIns="91440" bIns="45720" anchor="ctr">
            <a:normAutofit/>
          </a:bodyPr>
          <a:lstStyle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433812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6" y="457198"/>
            <a:ext cx="6172200" cy="54038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648089486" name="Text Placeholder 3"/>
          <p:cNvSpPr>
            <a:spLocks noGrp="1"/>
          </p:cNvSpPr>
          <p:nvPr>
            <p:ph type="body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21040662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096644236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571678558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585753086" name="Rectangle 640957806"/>
          <p:cNvSpPr>
            <a:spLocks noGrp="1"/>
          </p:cNvSpPr>
          <p:nvPr/>
        </p:nvSpPr>
        <p:spPr bwMode="auto">
          <a:xfrm>
            <a:off x="838197" y="1984248"/>
            <a:ext cx="393382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8382911" name="Picture 752255626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20620" y="8103"/>
            <a:ext cx="12216844" cy="6858000"/>
          </a:xfrm>
          <a:prstGeom prst="rect">
            <a:avLst/>
          </a:prstGeom>
        </p:spPr>
      </p:pic>
      <p:sp>
        <p:nvSpPr>
          <p:cNvPr id="1244582760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2455619"/>
            <a:ext cx="10515600" cy="1325561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  <a:lvl6pPr algn="ctr">
              <a:buNone/>
              <a:defRPr>
                <a:solidFill>
                  <a:schemeClr val="bg1"/>
                </a:solidFill>
              </a:defRPr>
            </a:lvl6pPr>
            <a:lvl7pPr algn="ctr">
              <a:buNone/>
              <a:defRPr>
                <a:solidFill>
                  <a:schemeClr val="bg1"/>
                </a:solidFill>
              </a:defRPr>
            </a:lvl7pPr>
            <a:lvl8pPr algn="ctr">
              <a:buNone/>
              <a:defRPr>
                <a:solidFill>
                  <a:schemeClr val="bg1"/>
                </a:solidFill>
              </a:defRPr>
            </a:lvl8pPr>
            <a:lvl9pPr algn="ctr"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8917142" name="Date Placeholder 2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317241304" name="Footer Placeholder 3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693550938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59747" name="Date Placeholder 1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799906088" name="Footer Placeholder 2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381181008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922319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01844188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0553771" name="Text Placeholder 3"/>
          <p:cNvSpPr>
            <a:spLocks noGrp="1"/>
          </p:cNvSpPr>
          <p:nvPr>
            <p:ph type="body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46875341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646179926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074235041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219238" name="Title 1"/>
          <p:cNvSpPr>
            <a:spLocks noGrp="1"/>
          </p:cNvSpPr>
          <p:nvPr>
            <p:ph type="title" idx="0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33047863" name="Vertical Text Placeholder 2"/>
          <p:cNvSpPr>
            <a:spLocks noGrp="1"/>
          </p:cNvSpPr>
          <p:nvPr>
            <p:ph type="body" idx="1"/>
          </p:nvPr>
        </p:nvSpPr>
        <p:spPr bwMode="auto"/>
        <p:txBody>
          <a:bodyPr vert="eaVert"/>
          <a:lstStyle/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56850069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342178108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539072299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19687" name="Vertical Title 1"/>
          <p:cNvSpPr>
            <a:spLocks noGrp="1"/>
          </p:cNvSpPr>
          <p:nvPr>
            <p:ph type="title" idx="0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83394633" name="Vertical 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8031737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417404055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797027126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855994" name="Title Placeholder 1"/>
          <p:cNvSpPr>
            <a:spLocks noGrp="1"/>
          </p:cNvSpPr>
          <p:nvPr>
            <p:ph type="title" idx="0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b="1"/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75284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41248" y="1828800"/>
            <a:ext cx="10515600" cy="4351338"/>
          </a:xfrm>
          <a:prstGeom prst="rect">
            <a:avLst/>
          </a:prstGeom>
        </p:spPr>
        <p:txBody>
          <a:bodyPr vert="horz" wrap="square" lIns="182880" tIns="182880" rIns="182880" bIns="91440" anchor="t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12446901" name="Date Placeholder 3"/>
          <p:cNvSpPr>
            <a:spLocks noGrp="1"/>
          </p:cNvSpPr>
          <p:nvPr>
            <p:ph type="dt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247846778" name="Footer Placeholder 4"/>
          <p:cNvSpPr>
            <a:spLocks noGrp="1"/>
          </p:cNvSpPr>
          <p:nvPr>
            <p:ph type="ft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966390714" name="Slide Number Placeholder 5"/>
          <p:cNvSpPr>
            <a:spLocks noGrp="1"/>
          </p:cNvSpPr>
          <p:nvPr>
            <p:ph type="sldNum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113742" name="section-title"/>
          <p:cNvSpPr>
            <a:spLocks noGrp="1"/>
          </p:cNvSpPr>
          <p:nvPr/>
        </p:nvSpPr>
        <p:spPr bwMode="auto">
          <a:xfrm>
            <a:off x="857250" y="2876549"/>
            <a:ext cx="1047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4050" b="1" i="0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 i="0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469796" name="Rectangle 935271156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Diffusion</a:t>
            </a:r>
            <a:endParaRPr/>
          </a:p>
        </p:txBody>
      </p:sp>
      <p:sp>
        <p:nvSpPr>
          <p:cNvPr id="362276889" name="Rectangle 251777344"/>
          <p:cNvSpPr>
            <a:spLocks noGrp="1"/>
          </p:cNvSpPr>
          <p:nvPr/>
        </p:nvSpPr>
        <p:spPr bwMode="auto">
          <a:xfrm>
            <a:off x="609599" y="590548"/>
            <a:ext cx="102870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Diffusion learns to reverse noise</a:t>
            </a:r>
            <a:endParaRPr/>
          </a:p>
        </p:txBody>
      </p:sp>
      <p:sp>
        <p:nvSpPr>
          <p:cNvPr id="1162692205" name="Rectangle: Rounded Corners 1456392341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877297960" name="Rectangle 1495975732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85</a:t>
            </a:r>
            <a:endParaRPr/>
          </a:p>
        </p:txBody>
      </p:sp>
      <p:pic>
        <p:nvPicPr>
          <p:cNvPr id="1255303549" name="Picture 1495975738"/>
          <p:cNvPicPr>
            <a:picLocks noChangeAspect="1"/>
          </p:cNvPicPr>
          <p:nvPr/>
        </p:nvPicPr>
        <p:blipFill rotWithShape="1">
          <a:blip r:embed="rId3"/>
          <a:srcRect l="0" t="15961" r="0" b="15959"/>
          <a:stretch/>
        </p:blipFill>
        <p:spPr bwMode="auto">
          <a:xfrm>
            <a:off x="1000125" y="1695449"/>
            <a:ext cx="10191750" cy="3905249"/>
          </a:xfrm>
          <a:prstGeom prst="rect">
            <a:avLst/>
          </a:prstGeom>
        </p:spPr>
      </p:pic>
      <p:sp>
        <p:nvSpPr>
          <p:cNvPr id="1720582618" name="diffusion-forward-label"/>
          <p:cNvSpPr>
            <a:spLocks noGrp="1"/>
          </p:cNvSpPr>
          <p:nvPr/>
        </p:nvSpPr>
        <p:spPr bwMode="auto">
          <a:xfrm>
            <a:off x="1571625" y="16002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Forward: gradually add noise →</a:t>
            </a:r>
            <a:endParaRPr/>
          </a:p>
        </p:txBody>
      </p:sp>
      <p:sp>
        <p:nvSpPr>
          <p:cNvPr id="400867242" name="diffusion-reverse-label"/>
          <p:cNvSpPr>
            <a:spLocks noGrp="1"/>
          </p:cNvSpPr>
          <p:nvPr/>
        </p:nvSpPr>
        <p:spPr bwMode="auto">
          <a:xfrm>
            <a:off x="6381749" y="5467349"/>
            <a:ext cx="4381499" cy="380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← Generation: predict and remove noise step by step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402274" name="Rectangle 55039960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  <a:endParaRPr/>
          </a:p>
        </p:txBody>
      </p:sp>
      <p:sp>
        <p:nvSpPr>
          <p:cNvPr id="1873611666" name="Rectangle 882538346"/>
          <p:cNvSpPr>
            <a:spLocks noGrp="1"/>
          </p:cNvSpPr>
          <p:nvPr/>
        </p:nvSpPr>
        <p:spPr bwMode="auto">
          <a:xfrm>
            <a:off x="609599" y="590548"/>
            <a:ext cx="102870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Mercury models use diffusion-style parallel refinement</a:t>
            </a:r>
            <a:endParaRPr/>
          </a:p>
        </p:txBody>
      </p:sp>
      <p:sp>
        <p:nvSpPr>
          <p:cNvPr id="1921495570" name="Rectangle: Rounded Corners 1990867235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647485708" name="Rectangle 9623160"/>
          <p:cNvSpPr>
            <a:spLocks noGrp="1"/>
          </p:cNvSpPr>
          <p:nvPr/>
        </p:nvSpPr>
        <p:spPr bwMode="auto">
          <a:xfrm>
            <a:off x="1123949" y="22860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667085"/>
                </a:solidFill>
              </a:defRPr>
            </a:pPr>
            <a:r>
              <a:rPr sz="1650" b="1">
                <a:solidFill>
                  <a:srgbClr val="667085"/>
                </a:solidFill>
              </a:rPr>
              <a:t>noise</a:t>
            </a:r>
            <a:endParaRPr/>
          </a:p>
        </p:txBody>
      </p:sp>
      <p:sp>
        <p:nvSpPr>
          <p:cNvPr id="287887126" name="Rectangle: Rounded Corners 114855872"/>
          <p:cNvSpPr>
            <a:spLocks noGrp="1"/>
          </p:cNvSpPr>
          <p:nvPr/>
        </p:nvSpPr>
        <p:spPr bwMode="auto">
          <a:xfrm>
            <a:off x="2619374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2094620654" name="Rectangle: Rounded Corners 734158913"/>
          <p:cNvSpPr>
            <a:spLocks noGrp="1"/>
          </p:cNvSpPr>
          <p:nvPr/>
        </p:nvSpPr>
        <p:spPr bwMode="auto">
          <a:xfrm>
            <a:off x="3619499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238348596" name="Rectangle: Rounded Corners 1596678256"/>
          <p:cNvSpPr>
            <a:spLocks noGrp="1"/>
          </p:cNvSpPr>
          <p:nvPr/>
        </p:nvSpPr>
        <p:spPr bwMode="auto">
          <a:xfrm>
            <a:off x="4619624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220896780" name="Rectangle: Rounded Corners 2059288131"/>
          <p:cNvSpPr>
            <a:spLocks noGrp="1"/>
          </p:cNvSpPr>
          <p:nvPr/>
        </p:nvSpPr>
        <p:spPr bwMode="auto">
          <a:xfrm>
            <a:off x="5619749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795864503" name="Rectangle: Rounded Corners 1010991302"/>
          <p:cNvSpPr>
            <a:spLocks noGrp="1"/>
          </p:cNvSpPr>
          <p:nvPr/>
        </p:nvSpPr>
        <p:spPr bwMode="auto">
          <a:xfrm>
            <a:off x="6619875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85923669" name="Rectangle: Rounded Corners 1730168992"/>
          <p:cNvSpPr>
            <a:spLocks noGrp="1"/>
          </p:cNvSpPr>
          <p:nvPr/>
        </p:nvSpPr>
        <p:spPr bwMode="auto">
          <a:xfrm>
            <a:off x="7620000" y="21907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200186679" name="Straight Connector 427538637"/>
          <p:cNvSpPr>
            <a:spLocks noGrp="1"/>
          </p:cNvSpPr>
          <p:nvPr/>
        </p:nvSpPr>
        <p:spPr bwMode="auto">
          <a:xfrm>
            <a:off x="5524499" y="2819399"/>
            <a:ext cx="9524" cy="285750"/>
          </a:xfrm>
          <a:prstGeom prst="line">
            <a:avLst/>
          </a:prstGeom>
          <a:noFill/>
          <a:ln w="23813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931224525" name="Rectangle 317775176"/>
          <p:cNvSpPr>
            <a:spLocks noGrp="1"/>
          </p:cNvSpPr>
          <p:nvPr/>
        </p:nvSpPr>
        <p:spPr bwMode="auto">
          <a:xfrm>
            <a:off x="1123949" y="33147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step 1</a:t>
            </a:r>
            <a:endParaRPr/>
          </a:p>
        </p:txBody>
      </p:sp>
      <p:sp>
        <p:nvSpPr>
          <p:cNvPr id="1390237313" name="Rectangle: Rounded Corners 947755655"/>
          <p:cNvSpPr>
            <a:spLocks noGrp="1"/>
          </p:cNvSpPr>
          <p:nvPr/>
        </p:nvSpPr>
        <p:spPr bwMode="auto">
          <a:xfrm>
            <a:off x="2619374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  <a:endParaRPr/>
          </a:p>
        </p:txBody>
      </p:sp>
      <p:sp>
        <p:nvSpPr>
          <p:cNvPr id="704700267" name="Rectangle: Rounded Corners 1310797679"/>
          <p:cNvSpPr>
            <a:spLocks noGrp="1"/>
          </p:cNvSpPr>
          <p:nvPr/>
        </p:nvSpPr>
        <p:spPr bwMode="auto">
          <a:xfrm>
            <a:off x="3619499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685209410" name="Rectangle: Rounded Corners 1996140323"/>
          <p:cNvSpPr>
            <a:spLocks noGrp="1"/>
          </p:cNvSpPr>
          <p:nvPr/>
        </p:nvSpPr>
        <p:spPr bwMode="auto">
          <a:xfrm>
            <a:off x="4619624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  <a:endParaRPr/>
          </a:p>
        </p:txBody>
      </p:sp>
      <p:sp>
        <p:nvSpPr>
          <p:cNvPr id="75591255" name="Rectangle: Rounded Corners 242163070"/>
          <p:cNvSpPr>
            <a:spLocks noGrp="1"/>
          </p:cNvSpPr>
          <p:nvPr/>
        </p:nvSpPr>
        <p:spPr bwMode="auto">
          <a:xfrm>
            <a:off x="5619749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386622200" name="Rectangle: Rounded Corners 787924439"/>
          <p:cNvSpPr>
            <a:spLocks noGrp="1"/>
          </p:cNvSpPr>
          <p:nvPr/>
        </p:nvSpPr>
        <p:spPr bwMode="auto">
          <a:xfrm>
            <a:off x="6619875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618184150" name="Rectangle: Rounded Corners 2036973233"/>
          <p:cNvSpPr>
            <a:spLocks noGrp="1"/>
          </p:cNvSpPr>
          <p:nvPr/>
        </p:nvSpPr>
        <p:spPr bwMode="auto">
          <a:xfrm>
            <a:off x="7620000" y="3219448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  <a:endParaRPr/>
          </a:p>
        </p:txBody>
      </p:sp>
      <p:sp>
        <p:nvSpPr>
          <p:cNvPr id="1158718321" name="Straight Connector 2017847098"/>
          <p:cNvSpPr>
            <a:spLocks noGrp="1"/>
          </p:cNvSpPr>
          <p:nvPr/>
        </p:nvSpPr>
        <p:spPr bwMode="auto">
          <a:xfrm>
            <a:off x="5524499" y="3848099"/>
            <a:ext cx="9524" cy="285750"/>
          </a:xfrm>
          <a:prstGeom prst="line">
            <a:avLst/>
          </a:prstGeom>
          <a:noFill/>
          <a:ln w="23813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208600340" name="Rectangle 420069148"/>
          <p:cNvSpPr>
            <a:spLocks noGrp="1"/>
          </p:cNvSpPr>
          <p:nvPr/>
        </p:nvSpPr>
        <p:spPr bwMode="auto">
          <a:xfrm>
            <a:off x="1123949" y="43434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10B981"/>
                </a:solidFill>
              </a:defRPr>
            </a:pPr>
            <a:r>
              <a:rPr sz="1650" b="1">
                <a:solidFill>
                  <a:srgbClr val="10B981"/>
                </a:solidFill>
              </a:rPr>
              <a:t>step 2</a:t>
            </a:r>
            <a:endParaRPr/>
          </a:p>
        </p:txBody>
      </p:sp>
      <p:sp>
        <p:nvSpPr>
          <p:cNvPr id="1397429586" name="Rectangle: Rounded Corners 1532010383"/>
          <p:cNvSpPr>
            <a:spLocks noGrp="1"/>
          </p:cNvSpPr>
          <p:nvPr/>
        </p:nvSpPr>
        <p:spPr bwMode="auto">
          <a:xfrm>
            <a:off x="2619374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  <a:endParaRPr/>
          </a:p>
        </p:txBody>
      </p:sp>
      <p:sp>
        <p:nvSpPr>
          <p:cNvPr id="1503606284" name="Rectangle: Rounded Corners 1983276117"/>
          <p:cNvSpPr>
            <a:spLocks noGrp="1"/>
          </p:cNvSpPr>
          <p:nvPr/>
        </p:nvSpPr>
        <p:spPr bwMode="auto">
          <a:xfrm>
            <a:off x="3619499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model</a:t>
            </a:r>
            <a:endParaRPr/>
          </a:p>
        </p:txBody>
      </p:sp>
      <p:sp>
        <p:nvSpPr>
          <p:cNvPr id="1181661741" name="Rectangle: Rounded Corners 1047163946"/>
          <p:cNvSpPr>
            <a:spLocks noGrp="1"/>
          </p:cNvSpPr>
          <p:nvPr/>
        </p:nvSpPr>
        <p:spPr bwMode="auto">
          <a:xfrm>
            <a:off x="4619624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  <a:endParaRPr/>
          </a:p>
        </p:txBody>
      </p:sp>
      <p:sp>
        <p:nvSpPr>
          <p:cNvPr id="1303853982" name="Rectangle: Rounded Corners 523171807"/>
          <p:cNvSpPr>
            <a:spLocks noGrp="1"/>
          </p:cNvSpPr>
          <p:nvPr/>
        </p:nvSpPr>
        <p:spPr bwMode="auto">
          <a:xfrm>
            <a:off x="5619749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from</a:t>
            </a:r>
            <a:endParaRPr/>
          </a:p>
        </p:txBody>
      </p:sp>
      <p:sp>
        <p:nvSpPr>
          <p:cNvPr id="963757133" name="Rectangle: Rounded Corners 752356456"/>
          <p:cNvSpPr>
            <a:spLocks noGrp="1"/>
          </p:cNvSpPr>
          <p:nvPr/>
        </p:nvSpPr>
        <p:spPr bwMode="auto">
          <a:xfrm>
            <a:off x="6619875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  <a:endParaRPr/>
          </a:p>
        </p:txBody>
      </p:sp>
      <p:sp>
        <p:nvSpPr>
          <p:cNvPr id="1628194907" name="Rectangle: Rounded Corners 816374805"/>
          <p:cNvSpPr>
            <a:spLocks noGrp="1"/>
          </p:cNvSpPr>
          <p:nvPr/>
        </p:nvSpPr>
        <p:spPr bwMode="auto">
          <a:xfrm>
            <a:off x="7620000" y="42481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  <a:endParaRPr/>
          </a:p>
        </p:txBody>
      </p:sp>
      <p:sp>
        <p:nvSpPr>
          <p:cNvPr id="1592909743" name="Straight Connector 1386166301"/>
          <p:cNvSpPr>
            <a:spLocks noGrp="1"/>
          </p:cNvSpPr>
          <p:nvPr/>
        </p:nvSpPr>
        <p:spPr bwMode="auto">
          <a:xfrm>
            <a:off x="5524499" y="4876799"/>
            <a:ext cx="9524" cy="285750"/>
          </a:xfrm>
          <a:prstGeom prst="line">
            <a:avLst/>
          </a:prstGeom>
          <a:noFill/>
          <a:ln w="23813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858120721" name="Rectangle 1180679312"/>
          <p:cNvSpPr>
            <a:spLocks noGrp="1"/>
          </p:cNvSpPr>
          <p:nvPr/>
        </p:nvSpPr>
        <p:spPr bwMode="auto">
          <a:xfrm>
            <a:off x="1123949" y="53721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text</a:t>
            </a:r>
            <a:endParaRPr/>
          </a:p>
        </p:txBody>
      </p:sp>
      <p:sp>
        <p:nvSpPr>
          <p:cNvPr id="418632996" name="Rectangle: Rounded Corners 1119801345"/>
          <p:cNvSpPr>
            <a:spLocks noGrp="1"/>
          </p:cNvSpPr>
          <p:nvPr/>
        </p:nvSpPr>
        <p:spPr bwMode="auto">
          <a:xfrm>
            <a:off x="2619374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  <a:endParaRPr/>
          </a:p>
        </p:txBody>
      </p:sp>
      <p:sp>
        <p:nvSpPr>
          <p:cNvPr id="1670907522" name="Rectangle: Rounded Corners 563472098"/>
          <p:cNvSpPr>
            <a:spLocks noGrp="1"/>
          </p:cNvSpPr>
          <p:nvPr/>
        </p:nvSpPr>
        <p:spPr bwMode="auto">
          <a:xfrm>
            <a:off x="3619499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model</a:t>
            </a:r>
            <a:endParaRPr/>
          </a:p>
        </p:txBody>
      </p:sp>
      <p:sp>
        <p:nvSpPr>
          <p:cNvPr id="705303124" name="Rectangle: Rounded Corners 1869507790"/>
          <p:cNvSpPr>
            <a:spLocks noGrp="1"/>
          </p:cNvSpPr>
          <p:nvPr/>
        </p:nvSpPr>
        <p:spPr bwMode="auto">
          <a:xfrm>
            <a:off x="4619624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  <a:endParaRPr/>
          </a:p>
        </p:txBody>
      </p:sp>
      <p:sp>
        <p:nvSpPr>
          <p:cNvPr id="585360169" name="Rectangle: Rounded Corners 2113559938"/>
          <p:cNvSpPr>
            <a:spLocks noGrp="1"/>
          </p:cNvSpPr>
          <p:nvPr/>
        </p:nvSpPr>
        <p:spPr bwMode="auto">
          <a:xfrm>
            <a:off x="5619749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from</a:t>
            </a:r>
            <a:endParaRPr/>
          </a:p>
        </p:txBody>
      </p:sp>
      <p:sp>
        <p:nvSpPr>
          <p:cNvPr id="178700370" name="Rectangle: Rounded Corners 274418513"/>
          <p:cNvSpPr>
            <a:spLocks noGrp="1"/>
          </p:cNvSpPr>
          <p:nvPr/>
        </p:nvSpPr>
        <p:spPr bwMode="auto">
          <a:xfrm>
            <a:off x="6619875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data</a:t>
            </a:r>
            <a:endParaRPr/>
          </a:p>
        </p:txBody>
      </p:sp>
      <p:sp>
        <p:nvSpPr>
          <p:cNvPr id="1293060796" name="Rectangle: Rounded Corners 1941550636"/>
          <p:cNvSpPr>
            <a:spLocks noGrp="1"/>
          </p:cNvSpPr>
          <p:nvPr/>
        </p:nvSpPr>
        <p:spPr bwMode="auto">
          <a:xfrm>
            <a:off x="7620000" y="5276849"/>
            <a:ext cx="819149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  <a:endParaRPr/>
          </a:p>
        </p:txBody>
      </p:sp>
      <p:sp>
        <p:nvSpPr>
          <p:cNvPr id="233908857" name="Rectangle 1798355039"/>
          <p:cNvSpPr>
            <a:spLocks noGrp="1"/>
          </p:cNvSpPr>
          <p:nvPr/>
        </p:nvSpPr>
        <p:spPr bwMode="auto">
          <a:xfrm>
            <a:off x="7562850" y="1704974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not always left-to-right</a:t>
            </a:r>
            <a:endParaRPr/>
          </a:p>
        </p:txBody>
      </p:sp>
      <p:sp>
        <p:nvSpPr>
          <p:cNvPr id="1687953148" name="Rectangle 1161886986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  <a:endParaRPr/>
          </a:p>
        </p:txBody>
      </p:sp>
      <p:sp>
        <p:nvSpPr>
          <p:cNvPr id="1097740884" name="mercury-example-divider"/>
          <p:cNvSpPr>
            <a:spLocks noGrp="1"/>
          </p:cNvSpPr>
          <p:nvPr/>
        </p:nvSpPr>
        <p:spPr bwMode="auto">
          <a:xfrm>
            <a:off x="8763000" y="2266949"/>
            <a:ext cx="9524" cy="2857500"/>
          </a:xfrm>
          <a:prstGeom prst="line">
            <a:avLst/>
          </a:prstGeom>
          <a:noFill/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612675732" name="mercury-example-label"/>
          <p:cNvSpPr>
            <a:spLocks noGrp="1"/>
          </p:cNvSpPr>
          <p:nvPr/>
        </p:nvSpPr>
        <p:spPr bwMode="auto">
          <a:xfrm>
            <a:off x="9067799" y="2362198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MERCURY 2</a:t>
            </a:r>
            <a:endParaRPr/>
          </a:p>
        </p:txBody>
      </p:sp>
      <p:sp>
        <p:nvSpPr>
          <p:cNvPr id="1343190261" name=""/>
          <p:cNvSpPr/>
          <p:nvPr/>
        </p:nvSpPr>
        <p:spPr bwMode="auto">
          <a:xfrm>
            <a:off x="9032423" y="2710453"/>
            <a:ext cx="2455084" cy="2518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050" b="0" i="0" u="none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https://chat.inceptionlabs.ai/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740098" name="Rectangle 1487198538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Faster inference</a:t>
            </a:r>
            <a:endParaRPr/>
          </a:p>
        </p:txBody>
      </p:sp>
      <p:sp>
        <p:nvSpPr>
          <p:cNvPr id="2006242899" name="Rectangle 1518038747"/>
          <p:cNvSpPr>
            <a:spLocks noGrp="1"/>
          </p:cNvSpPr>
          <p:nvPr/>
        </p:nvSpPr>
        <p:spPr bwMode="auto">
          <a:xfrm>
            <a:off x="609599" y="590548"/>
            <a:ext cx="102870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Speculative decoding uses a draft-and-verify loop</a:t>
            </a:r>
            <a:endParaRPr/>
          </a:p>
        </p:txBody>
      </p:sp>
      <p:sp>
        <p:nvSpPr>
          <p:cNvPr id="28721548" name="Rectangle: Rounded Corners 1531743003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409760593" name="Rectangle 918919992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87</a:t>
            </a:r>
            <a:endParaRPr/>
          </a:p>
        </p:txBody>
      </p:sp>
      <p:sp>
        <p:nvSpPr>
          <p:cNvPr id="871336739" name=""/>
          <p:cNvSpPr txBox="1"/>
          <p:nvPr/>
        </p:nvSpPr>
        <p:spPr bwMode="auto">
          <a:xfrm rot="0" flipH="0" flipV="0">
            <a:off x="7785570" y="5490366"/>
            <a:ext cx="351017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https://arxiv.org/html/2510.02358v1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2287357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45526" y="1921388"/>
            <a:ext cx="9900947" cy="3183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53788" name="Rectangle 550399601"/>
          <p:cNvSpPr>
            <a:spLocks noGrp="1"/>
          </p:cNvSpPr>
          <p:nvPr/>
        </p:nvSpPr>
        <p:spPr bwMode="auto">
          <a:xfrm>
            <a:off x="609598" y="323848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  <a:endParaRPr/>
          </a:p>
        </p:txBody>
      </p:sp>
      <p:sp>
        <p:nvSpPr>
          <p:cNvPr id="1059983673" name="Rectangle 882538346"/>
          <p:cNvSpPr>
            <a:spLocks noGrp="1"/>
          </p:cNvSpPr>
          <p:nvPr/>
        </p:nvSpPr>
        <p:spPr bwMode="auto">
          <a:xfrm>
            <a:off x="609598" y="590547"/>
            <a:ext cx="10287000" cy="5905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ko-KR"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sglang</a:t>
            </a:r>
            <a:endParaRPr/>
          </a:p>
        </p:txBody>
      </p:sp>
      <p:sp>
        <p:nvSpPr>
          <p:cNvPr id="2036466969" name="Rectangle: Rounded Corners 1990867235"/>
          <p:cNvSpPr>
            <a:spLocks noGrp="1"/>
          </p:cNvSpPr>
          <p:nvPr/>
        </p:nvSpPr>
        <p:spPr bwMode="auto">
          <a:xfrm>
            <a:off x="704848" y="1466847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841413395" name="Rectangle 1161886986"/>
          <p:cNvSpPr>
            <a:spLocks noGrp="1"/>
          </p:cNvSpPr>
          <p:nvPr/>
        </p:nvSpPr>
        <p:spPr bwMode="auto">
          <a:xfrm>
            <a:off x="11106150" y="6286500"/>
            <a:ext cx="4762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  <a:endParaRPr/>
          </a:p>
        </p:txBody>
      </p:sp>
      <p:pic>
        <p:nvPicPr>
          <p:cNvPr id="12622064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90312" y="1987659"/>
            <a:ext cx="3980089" cy="1211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702783" name="Rectangle 550399601"/>
          <p:cNvSpPr>
            <a:spLocks noGrp="1"/>
          </p:cNvSpPr>
          <p:nvPr/>
        </p:nvSpPr>
        <p:spPr bwMode="auto">
          <a:xfrm>
            <a:off x="609597" y="323847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  <a:endParaRPr/>
          </a:p>
        </p:txBody>
      </p:sp>
      <p:sp>
        <p:nvSpPr>
          <p:cNvPr id="1234509221" name="Rectangle 882538346"/>
          <p:cNvSpPr>
            <a:spLocks noGrp="1"/>
          </p:cNvSpPr>
          <p:nvPr/>
        </p:nvSpPr>
        <p:spPr bwMode="auto">
          <a:xfrm>
            <a:off x="609597" y="590546"/>
            <a:ext cx="10287000" cy="5905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ko-KR"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sglang</a:t>
            </a:r>
            <a:endParaRPr/>
          </a:p>
        </p:txBody>
      </p:sp>
      <p:sp>
        <p:nvSpPr>
          <p:cNvPr id="2033390201" name="Rectangle: Rounded Corners 1990867235"/>
          <p:cNvSpPr>
            <a:spLocks noGrp="1"/>
          </p:cNvSpPr>
          <p:nvPr/>
        </p:nvSpPr>
        <p:spPr bwMode="auto">
          <a:xfrm>
            <a:off x="704847" y="1466847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443549066" name="Rectangle 1161886986"/>
          <p:cNvSpPr>
            <a:spLocks noGrp="1"/>
          </p:cNvSpPr>
          <p:nvPr/>
        </p:nvSpPr>
        <p:spPr bwMode="auto">
          <a:xfrm>
            <a:off x="11106150" y="6286500"/>
            <a:ext cx="476247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  <a:endParaRPr/>
          </a:p>
        </p:txBody>
      </p:sp>
      <p:pic>
        <p:nvPicPr>
          <p:cNvPr id="2994147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84373" y="1602919"/>
            <a:ext cx="8737445" cy="42427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6</cp:revision>
  <dcterms:modified xsi:type="dcterms:W3CDTF">2026-08-02T21:13:41Z</dcterms:modified>
</cp:coreProperties>
</file>