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theme/theme2.xml" ContentType="application/vnd.openxmlformats-officedocument.theme+xml"/>
  <Override PartName="/ppt/slideLayouts/slideLayout10.xml" ContentType="application/vnd.openxmlformats-officedocument.presentationml.slideLayout+xml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notesSlides/notesSlide15.xml" ContentType="application/vnd.openxmlformats-officedocument.presentationml.notesSlide+xml"/>
  <Override PartName="/ppt/slides/slide15.xml" ContentType="application/vnd.openxmlformats-officedocument.presentationml.slide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6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20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" d="1"/>
          <a:sy n="1" d="1"/>
        </p:scale>
        <p:origin x="0" y="0"/>
      </p:cViewPr>
      <p:guideLst>
        <p:guide pos="3840"/>
        <p:guide pos="2160" orient="horz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 /><Relationship Id="rId22" Type="http://schemas.openxmlformats.org/officeDocument/2006/relationships/tableStyles" Target="tableStyles.xml" /><Relationship Id="rId23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68551302" name="Header Placeholder"/>
          <p:cNvSpPr/>
          <p:nvPr>
            <p:ph type="hdr" sz="quarter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2585666" name="Date Placeholder"/>
          <p:cNvSpPr/>
          <p:nvPr>
            <p:ph type="dt" sz="quarter" idx="1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13195623" name="Slide Image Placeholder"/>
          <p:cNvSpPr/>
          <p:nvPr>
            <p:ph type="sldImg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20859381" name="Notes Placeholder"/>
          <p:cNvSpPr/>
          <p:nvPr>
            <p:ph type="body" sz="quarter" idx="3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49957818" name="Footer Placeholder"/>
          <p:cNvSpPr/>
          <p:nvPr>
            <p:ph type="ftr" sz="quarter" idx="4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36926003" name="Slide Number Placeholder"/>
          <p:cNvSpPr/>
          <p:nvPr>
            <p:ph type="sldNum" sz="quarter" idx="5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/>
    </a:lvl1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 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 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 ?>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4499914" name="Slide Image Placeholder 1"/>
          <p:cNvSpPr>
            <a:spLocks noGrp="1"/>
          </p:cNvSpPr>
          <p:nvPr>
            <p:ph type="sldImg" idx="0"/>
          </p:nvPr>
        </p:nvSpPr>
        <p:spPr bwMode="auto"/>
      </p:sp>
      <p:sp>
        <p:nvSpPr>
          <p:cNvPr id="26416766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buNone/>
              <a:defRPr/>
            </a:pPr>
            <a:r>
              <a:rPr/>
              <a:t>[Sources]</a:t>
            </a:r>
            <a:endParaRPr/>
          </a:p>
          <a:p>
            <a:pPr>
              <a:buNone/>
              <a:defRPr/>
            </a:pPr>
            <a:r>
              <a:rPr/>
              <a:t>Section divider created for the revised learning sequence.</a:t>
            </a:r>
            <a:endParaRPr/>
          </a:p>
        </p:txBody>
      </p:sp>
      <p:sp>
        <p:nvSpPr>
          <p:cNvPr id="768979183" name="Slide Number Placeholder 3"/>
          <p:cNvSpPr>
            <a:spLocks noGrp="1"/>
          </p:cNvSpPr>
          <p:nvPr>
            <p:ph type="sldNum" idx="5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7161194" name="Slide Image Placeholder 1"/>
          <p:cNvSpPr>
            <a:spLocks noGrp="1"/>
          </p:cNvSpPr>
          <p:nvPr>
            <p:ph type="sldImg" idx="0"/>
          </p:nvPr>
        </p:nvSpPr>
        <p:spPr bwMode="auto"/>
      </p:sp>
      <p:sp>
        <p:nvSpPr>
          <p:cNvPr id="149752327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buNone/>
              <a:defRPr/>
            </a:pPr>
            <a:r>
              <a:rPr/>
              <a:t>[Sources]</a:t>
            </a:r>
            <a:endParaRPr/>
          </a:p>
          <a:p>
            <a:pPr>
              <a:buNone/>
              <a:defRPr/>
            </a:pPr>
            <a:r>
              <a:rPr/>
              <a:t>- OWASP LLM02 Sensitive Information Disclosure: https://genai.owasp.org/llmrisk/llm02-sensitive-information-disclosure/</a:t>
            </a:r>
            <a:endParaRPr/>
          </a:p>
          <a:p>
            <a:pPr>
              <a:buNone/>
              <a:defRPr/>
            </a:pPr>
            <a:r>
              <a:rPr/>
              <a:t>- NIST AI 600-1: https://nvlpubs.nist.gov/nistpubs/ai/NIST.AI.600-1.pdf</a:t>
            </a:r>
            <a:endParaRPr/>
          </a:p>
        </p:txBody>
      </p:sp>
      <p:sp>
        <p:nvSpPr>
          <p:cNvPr id="2026525031" name="Slide Number Placeholder 3"/>
          <p:cNvSpPr>
            <a:spLocks noGrp="1"/>
          </p:cNvSpPr>
          <p:nvPr>
            <p:ph type="sldNum" idx="5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69821148" name="Slide Image Placeholder 1"/>
          <p:cNvSpPr>
            <a:spLocks noGrp="1"/>
          </p:cNvSpPr>
          <p:nvPr>
            <p:ph type="sldImg" idx="0"/>
          </p:nvPr>
        </p:nvSpPr>
        <p:spPr bwMode="auto"/>
      </p:sp>
      <p:sp>
        <p:nvSpPr>
          <p:cNvPr id="125434154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buNone/>
              <a:defRPr/>
            </a:pPr>
            <a:r>
              <a:rPr/>
              <a:t>[Sources]</a:t>
            </a:r>
            <a:endParaRPr/>
          </a:p>
          <a:p>
            <a:pPr>
              <a:buNone/>
              <a:defRPr/>
            </a:pPr>
            <a:r>
              <a:rPr/>
              <a:t>- OWASP Top 10 for LLM Applications 2025: https://genai.owasp.org/llm-top-10/</a:t>
            </a:r>
            <a:endParaRPr/>
          </a:p>
          <a:p>
            <a:pPr>
              <a:buNone/>
              <a:defRPr/>
            </a:pPr>
            <a:r>
              <a:rPr/>
              <a:t>- NIST AI 600-1: https://nvlpubs.nist.gov/nistpubs/ai/NIST.AI.600-1.pdf</a:t>
            </a:r>
            <a:endParaRPr/>
          </a:p>
        </p:txBody>
      </p:sp>
      <p:sp>
        <p:nvSpPr>
          <p:cNvPr id="456026013" name="Slide Number Placeholder 3"/>
          <p:cNvSpPr>
            <a:spLocks noGrp="1"/>
          </p:cNvSpPr>
          <p:nvPr>
            <p:ph type="sldNum" idx="5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92746763" name="Slide Image Placeholder 1"/>
          <p:cNvSpPr>
            <a:spLocks noGrp="1"/>
          </p:cNvSpPr>
          <p:nvPr>
            <p:ph type="sldImg" idx="0"/>
          </p:nvPr>
        </p:nvSpPr>
        <p:spPr bwMode="auto"/>
      </p:sp>
      <p:sp>
        <p:nvSpPr>
          <p:cNvPr id="15349391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buNone/>
              <a:defRPr/>
            </a:pPr>
            <a:r>
              <a:rPr/>
              <a:t>[Sources]</a:t>
            </a:r>
            <a:endParaRPr/>
          </a:p>
          <a:p>
            <a:pPr>
              <a:buNone/>
              <a:defRPr/>
            </a:pPr>
            <a:r>
              <a:rPr/>
              <a:t>- OWASP Top 10 for LLM Applications 2025: https://owasp.org/www-project-top-10-for-large-language-model-applications/assets/PDF/OWASP-Top-10-for-LLMs-v2025.pdf</a:t>
            </a:r>
            <a:endParaRPr/>
          </a:p>
          <a:p>
            <a:pPr>
              <a:buNone/>
              <a:defRPr/>
            </a:pPr>
            <a:r>
              <a:rPr/>
              <a:t>- NIST AI 600-1: https://nvlpubs.nist.gov/nistpubs/ai/NIST.AI.600-1.pdf</a:t>
            </a:r>
            <a:endParaRPr/>
          </a:p>
          <a:p>
            <a:pPr>
              <a:buNone/>
              <a:defRPr/>
            </a:pPr>
            <a:r>
              <a:rPr/>
              <a:t>- MITRE ATLAS: https://atlas.mitre.org/</a:t>
            </a:r>
            <a:endParaRPr/>
          </a:p>
        </p:txBody>
      </p:sp>
      <p:sp>
        <p:nvSpPr>
          <p:cNvPr id="199893443" name="Slide Number Placeholder 3"/>
          <p:cNvSpPr>
            <a:spLocks noGrp="1"/>
          </p:cNvSpPr>
          <p:nvPr>
            <p:ph type="sldNum" idx="5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3621932" name="Slide Image Placeholder 1"/>
          <p:cNvSpPr>
            <a:spLocks noGrp="1"/>
          </p:cNvSpPr>
          <p:nvPr>
            <p:ph type="sldImg" idx="0"/>
          </p:nvPr>
        </p:nvSpPr>
        <p:spPr bwMode="auto"/>
      </p:sp>
      <p:sp>
        <p:nvSpPr>
          <p:cNvPr id="124258732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buNone/>
              <a:defRPr/>
            </a:pPr>
            <a:r>
              <a:rPr/>
              <a:t>[Sources]</a:t>
            </a:r>
            <a:endParaRPr/>
          </a:p>
          <a:p>
            <a:pPr>
              <a:buNone/>
              <a:defRPr/>
            </a:pPr>
            <a:r>
              <a:rPr/>
              <a:t>- OWASP LLM09:2025 Misinformation: https://genai.owasp.org/llmrisk/llm092025-misinformation/</a:t>
            </a:r>
            <a:endParaRPr/>
          </a:p>
          <a:p>
            <a:pPr>
              <a:buNone/>
              <a:defRPr/>
            </a:pPr>
            <a:r>
              <a:rPr/>
              <a:t>- NIST AI 600-1: https://nvlpubs.nist.gov/nistpubs/ai/NIST.AI.600-1.pdf</a:t>
            </a:r>
            <a:endParaRPr/>
          </a:p>
        </p:txBody>
      </p:sp>
      <p:sp>
        <p:nvSpPr>
          <p:cNvPr id="1946333948" name="Slide Number Placeholder 3"/>
          <p:cNvSpPr>
            <a:spLocks noGrp="1"/>
          </p:cNvSpPr>
          <p:nvPr>
            <p:ph type="sldNum" idx="5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3624447" name="Slide Image Placeholder 1"/>
          <p:cNvSpPr>
            <a:spLocks noGrp="1"/>
          </p:cNvSpPr>
          <p:nvPr>
            <p:ph type="sldImg" idx="0"/>
          </p:nvPr>
        </p:nvSpPr>
        <p:spPr bwMode="auto"/>
      </p:sp>
      <p:sp>
        <p:nvSpPr>
          <p:cNvPr id="35297246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buNone/>
              <a:defRPr/>
            </a:pPr>
            <a:r>
              <a:rPr/>
              <a:t>[Sources]</a:t>
            </a:r>
            <a:endParaRPr/>
          </a:p>
          <a:p>
            <a:pPr>
              <a:buNone/>
              <a:defRPr/>
            </a:pPr>
            <a:r>
              <a:rPr/>
              <a:t>- OWASP LLM01 Prompt Injection: https://genai.owasp.org/llmrisk/llm01-prompt-injection/</a:t>
            </a:r>
            <a:endParaRPr/>
          </a:p>
          <a:p>
            <a:pPr>
              <a:buNone/>
              <a:defRPr/>
            </a:pPr>
            <a:r>
              <a:rPr/>
              <a:t>- OpenAI, Designing agents to resist prompt injection: https://openai.com/index/designing-agents-to-resist-prompt-injection/</a:t>
            </a:r>
            <a:endParaRPr/>
          </a:p>
        </p:txBody>
      </p:sp>
      <p:sp>
        <p:nvSpPr>
          <p:cNvPr id="1379866622" name="Slide Number Placeholder 3"/>
          <p:cNvSpPr>
            <a:spLocks noGrp="1"/>
          </p:cNvSpPr>
          <p:nvPr>
            <p:ph type="sldNum" idx="5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21026774" name="Slide Image Placeholder 1"/>
          <p:cNvSpPr>
            <a:spLocks noGrp="1"/>
          </p:cNvSpPr>
          <p:nvPr>
            <p:ph type="sldImg" idx="0"/>
          </p:nvPr>
        </p:nvSpPr>
        <p:spPr bwMode="auto"/>
      </p:sp>
      <p:sp>
        <p:nvSpPr>
          <p:cNvPr id="113400189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buNone/>
              <a:defRPr/>
            </a:pPr>
            <a:r>
              <a:rPr/>
              <a:t>[Sources]</a:t>
            </a:r>
            <a:endParaRPr/>
          </a:p>
          <a:p>
            <a:pPr>
              <a:buNone/>
              <a:defRPr/>
            </a:pPr>
            <a:r>
              <a:rPr/>
              <a:t>- OWASP LLM06:2025 Excessive Agency: https://genai.owasp.org/llmrisk/llm062025-excessive-agency/</a:t>
            </a:r>
            <a:endParaRPr/>
          </a:p>
          <a:p>
            <a:pPr>
              <a:buNone/>
              <a:defRPr/>
            </a:pPr>
            <a:r>
              <a:rPr/>
              <a:t>- MITRE SAFE-AI: https://atlas.mitre.org/pdf-files/SAFEAI_Full_Report.pdf</a:t>
            </a:r>
            <a:endParaRPr/>
          </a:p>
        </p:txBody>
      </p:sp>
      <p:sp>
        <p:nvSpPr>
          <p:cNvPr id="1187032015" name="Slide Number Placeholder 3"/>
          <p:cNvSpPr>
            <a:spLocks noGrp="1"/>
          </p:cNvSpPr>
          <p:nvPr>
            <p:ph type="sldNum" idx="5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32235400" name="Slide Image Placeholder 1"/>
          <p:cNvSpPr>
            <a:spLocks noGrp="1"/>
          </p:cNvSpPr>
          <p:nvPr>
            <p:ph type="sldImg" idx="0"/>
          </p:nvPr>
        </p:nvSpPr>
        <p:spPr bwMode="auto"/>
      </p:sp>
      <p:sp>
        <p:nvSpPr>
          <p:cNvPr id="106384811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buNone/>
              <a:defRPr/>
            </a:pPr>
            <a:r>
              <a:rPr/>
              <a:t>[Sources]</a:t>
            </a:r>
            <a:endParaRPr/>
          </a:p>
          <a:p>
            <a:pPr>
              <a:buNone/>
              <a:defRPr/>
            </a:pPr>
            <a:r>
              <a:rPr/>
              <a:t>- OpenAI, GPT-4 System Card, 2023: https://cdn.openai.com/papers/gpt-4-system-card.pdf</a:t>
            </a:r>
            <a:endParaRPr/>
          </a:p>
          <a:p>
            <a:pPr>
              <a:buNone/>
              <a:defRPr/>
            </a:pPr>
            <a:r>
              <a:rPr/>
              <a:t>- OpenAI, o1 System Card, 2024: https://cdn.openai.com/o1-system-card-20241205.pdf</a:t>
            </a:r>
            <a:endParaRPr/>
          </a:p>
          <a:p>
            <a:pPr>
              <a:buNone/>
              <a:defRPr/>
            </a:pPr>
            <a:r>
              <a:rPr/>
              <a:t>- Apollo Research, In-context scheming: https://www.apolloresearch.ai/science/frontier-models-are-capable-of-incontext-scheming/</a:t>
            </a:r>
            <a:endParaRPr/>
          </a:p>
          <a:p>
            <a:pPr>
              <a:buNone/>
              <a:defRPr/>
            </a:pPr>
            <a:r>
              <a:rPr/>
              <a:t>- Anthropic, Claude 4 System Card, 2025: https://www.anthropic.com/claude-4-system-card</a:t>
            </a:r>
            <a:endParaRPr/>
          </a:p>
          <a:p>
            <a:pPr>
              <a:buNone/>
              <a:defRPr/>
            </a:pPr>
            <a:r>
              <a:rPr/>
              <a:t>- Anthropic, Agentic Misalignment: https://www.anthropic.com/research/agentic-misalignment</a:t>
            </a:r>
            <a:endParaRPr/>
          </a:p>
          <a:p>
            <a:pPr>
              <a:buNone/>
              <a:defRPr/>
            </a:pPr>
            <a:r>
              <a:rPr/>
              <a:t>- OpenAI, Model Evaluation Security Incident, July 2026: https://openai.com/index/hugging-face-model-evaluation-security-incident/</a:t>
            </a:r>
            <a:endParaRPr/>
          </a:p>
          <a:p>
            <a:pPr>
              <a:buNone/>
              <a:defRPr/>
            </a:pPr>
            <a:r>
              <a:rPr/>
              <a:t>- Hugging Face, Security Incident July 2026: https://huggingface.co/blog/security-incident-july-2026</a:t>
            </a:r>
            <a:endParaRPr/>
          </a:p>
          <a:p>
            <a:pPr>
              <a:buNone/>
              <a:defRPr/>
            </a:pPr>
            <a:r>
              <a:rPr/>
              <a:t>- Hugging Face, Agent Intrusion Technical Timeline: https://huggingface.co/blog/agent-intrusion-technical-timeline</a:t>
            </a:r>
            <a:endParaRPr/>
          </a:p>
          <a:p>
            <a:pPr>
              <a:buNone/>
              <a:defRPr/>
            </a:pPr>
            <a:r>
              <a:rPr/>
              <a:t>- Anthropic, Cybersecurity Evaluation Incidents, 2026: https://www.anthropic.com/news/investigating-incidents-cybersecurity-evals</a:t>
            </a:r>
            <a:endParaRPr/>
          </a:p>
          <a:p>
            <a:pPr>
              <a:buNone/>
              <a:defRPr/>
            </a:pPr>
            <a:r>
              <a:rPr/>
              <a:t>- OpenAI, Safety and Alignment in an Era of Long-Horizon Models, 2026: https://openai.com/index/safety-alignment-long-horizon-models/</a:t>
            </a:r>
            <a:endParaRPr/>
          </a:p>
        </p:txBody>
      </p:sp>
      <p:sp>
        <p:nvSpPr>
          <p:cNvPr id="1794181233" name="Slide Number Placeholder 3"/>
          <p:cNvSpPr>
            <a:spLocks noGrp="1"/>
          </p:cNvSpPr>
          <p:nvPr>
            <p:ph type="sldNum" idx="5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22523532" name="Slide Image Placeholder 1"/>
          <p:cNvSpPr>
            <a:spLocks noGrp="1"/>
          </p:cNvSpPr>
          <p:nvPr>
            <p:ph type="sldImg" idx="0"/>
          </p:nvPr>
        </p:nvSpPr>
        <p:spPr bwMode="auto"/>
      </p:sp>
      <p:sp>
        <p:nvSpPr>
          <p:cNvPr id="51179185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buNone/>
              <a:defRPr/>
            </a:pPr>
            <a:r>
              <a:rPr/>
              <a:t>[Sources]</a:t>
            </a:r>
            <a:endParaRPr/>
          </a:p>
          <a:p>
            <a:pPr>
              <a:buNone/>
              <a:defRPr/>
            </a:pPr>
            <a:r>
              <a:rPr/>
              <a:t>- OpenAI, GPT-4 System Card, 2023: https://cdn.openai.com/papers/gpt-4-system-card.pdf</a:t>
            </a:r>
            <a:endParaRPr/>
          </a:p>
          <a:p>
            <a:pPr>
              <a:buNone/>
              <a:defRPr/>
            </a:pPr>
            <a:r>
              <a:rPr/>
              <a:t>- OpenAI, GPT-4 Technical Report: https://cdn.openai.com/papers/gpt-4.pdf</a:t>
            </a:r>
            <a:endParaRPr/>
          </a:p>
        </p:txBody>
      </p:sp>
      <p:sp>
        <p:nvSpPr>
          <p:cNvPr id="1406391755" name="Slide Number Placeholder 3"/>
          <p:cNvSpPr>
            <a:spLocks noGrp="1"/>
          </p:cNvSpPr>
          <p:nvPr>
            <p:ph type="sldNum" idx="5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5653218" name="Slide Image Placeholder 1"/>
          <p:cNvSpPr>
            <a:spLocks noGrp="1"/>
          </p:cNvSpPr>
          <p:nvPr>
            <p:ph type="sldImg" idx="0"/>
          </p:nvPr>
        </p:nvSpPr>
        <p:spPr bwMode="auto"/>
      </p:sp>
      <p:sp>
        <p:nvSpPr>
          <p:cNvPr id="75954754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buNone/>
              <a:defRPr/>
            </a:pPr>
            <a:r>
              <a:rPr/>
              <a:t>[Sources]</a:t>
            </a:r>
            <a:endParaRPr/>
          </a:p>
          <a:p>
            <a:pPr>
              <a:buNone/>
              <a:defRPr/>
            </a:pPr>
            <a:r>
              <a:rPr/>
              <a:t>- OpenAI, o1 System Card, 2024: https://openai.com/index/openai-o1-system-card/</a:t>
            </a:r>
            <a:endParaRPr/>
          </a:p>
          <a:p>
            <a:pPr>
              <a:buNone/>
              <a:defRPr/>
            </a:pPr>
            <a:r>
              <a:rPr/>
              <a:t>- OpenAI, o1 System Card PDF: https://cdn.openai.com/o1-system-card-20241205.pdf</a:t>
            </a:r>
            <a:endParaRPr/>
          </a:p>
          <a:p>
            <a:pPr>
              <a:buNone/>
              <a:defRPr/>
            </a:pPr>
            <a:r>
              <a:rPr/>
              <a:t>- Apollo Research, In-context scheming: https://www.apolloresearch.ai/science/frontier-models-are-capable-of-incontext-scheming/</a:t>
            </a:r>
            <a:endParaRPr/>
          </a:p>
          <a:p>
            <a:pPr>
              <a:buNone/>
              <a:defRPr/>
            </a:pPr>
            <a:r>
              <a:rPr/>
              <a:t>- Apollo Research, Evaluation demo: https://www.apolloresearch.ai/science/demo-example-scheming-reasoning-evaluations/</a:t>
            </a:r>
            <a:endParaRPr/>
          </a:p>
        </p:txBody>
      </p:sp>
      <p:sp>
        <p:nvSpPr>
          <p:cNvPr id="1778997538" name="Slide Number Placeholder 3"/>
          <p:cNvSpPr>
            <a:spLocks noGrp="1"/>
          </p:cNvSpPr>
          <p:nvPr>
            <p:ph type="sldNum" idx="5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97368400" name="Slide Image Placeholder 1"/>
          <p:cNvSpPr>
            <a:spLocks noGrp="1"/>
          </p:cNvSpPr>
          <p:nvPr>
            <p:ph type="sldImg" idx="0"/>
          </p:nvPr>
        </p:nvSpPr>
        <p:spPr bwMode="auto"/>
      </p:sp>
      <p:sp>
        <p:nvSpPr>
          <p:cNvPr id="86247561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buNone/>
              <a:defRPr/>
            </a:pPr>
            <a:r>
              <a:rPr/>
              <a:t>[Sources]</a:t>
            </a:r>
            <a:endParaRPr/>
          </a:p>
          <a:p>
            <a:pPr>
              <a:buNone/>
              <a:defRPr/>
            </a:pPr>
            <a:r>
              <a:rPr/>
              <a:t>- Anthropic, Claude 4 System Card, 2025: https://www.anthropic.com/claude-4-system-card</a:t>
            </a:r>
            <a:endParaRPr/>
          </a:p>
          <a:p>
            <a:pPr>
              <a:buNone/>
              <a:defRPr/>
            </a:pPr>
            <a:r>
              <a:rPr/>
              <a:t>- Anthropic, Agentic Misalignment: https://www.anthropic.com/research/agentic-misalignment</a:t>
            </a:r>
            <a:endParaRPr/>
          </a:p>
          <a:p>
            <a:pPr>
              <a:buNone/>
              <a:defRPr/>
            </a:pPr>
            <a:r>
              <a:rPr/>
              <a:t>- Anthropic, Teaching Claude Why: https://www.anthropic.com/research/teaching-claude-why</a:t>
            </a:r>
            <a:endParaRPr/>
          </a:p>
        </p:txBody>
      </p:sp>
      <p:sp>
        <p:nvSpPr>
          <p:cNvPr id="1119509459" name="Slide Number Placeholder 3"/>
          <p:cNvSpPr>
            <a:spLocks noGrp="1"/>
          </p:cNvSpPr>
          <p:nvPr>
            <p:ph type="sldNum" idx="5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30892672" name="Slide Image Placeholder 1"/>
          <p:cNvSpPr>
            <a:spLocks noGrp="1"/>
          </p:cNvSpPr>
          <p:nvPr>
            <p:ph type="sldImg" idx="0"/>
          </p:nvPr>
        </p:nvSpPr>
        <p:spPr bwMode="auto"/>
      </p:sp>
      <p:sp>
        <p:nvSpPr>
          <p:cNvPr id="3742104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buNone/>
              <a:defRPr/>
            </a:pPr>
            <a:r>
              <a:rPr/>
              <a:t>[Sources]</a:t>
            </a:r>
            <a:endParaRPr/>
          </a:p>
          <a:p>
            <a:pPr>
              <a:buNone/>
              <a:defRPr/>
            </a:pPr>
            <a:r>
              <a:rPr/>
              <a:t>- OpenAI, Model Evaluation Security Incident, July 2026: https://openai.com/index/hugging-face-model-evaluation-security-incident/</a:t>
            </a:r>
            <a:endParaRPr/>
          </a:p>
          <a:p>
            <a:pPr>
              <a:buNone/>
              <a:defRPr/>
            </a:pPr>
            <a:r>
              <a:rPr/>
              <a:t>- Hugging Face, Security Incident July 2026: https://huggingface.co/blog/security-incident-july-2026</a:t>
            </a:r>
            <a:endParaRPr/>
          </a:p>
          <a:p>
            <a:pPr>
              <a:buNone/>
              <a:defRPr/>
            </a:pPr>
            <a:r>
              <a:rPr/>
              <a:t>- Hugging Face, Agent Intrusion Technical Timeline: https://huggingface.co/blog/agent-intrusion-technical-timeline</a:t>
            </a:r>
            <a:endParaRPr/>
          </a:p>
        </p:txBody>
      </p:sp>
      <p:sp>
        <p:nvSpPr>
          <p:cNvPr id="1022958254" name="Slide Number Placeholder 3"/>
          <p:cNvSpPr>
            <a:spLocks noGrp="1"/>
          </p:cNvSpPr>
          <p:nvPr>
            <p:ph type="sldNum" idx="5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20363767" name="Slide Image Placeholder 1"/>
          <p:cNvSpPr>
            <a:spLocks noGrp="1"/>
          </p:cNvSpPr>
          <p:nvPr>
            <p:ph type="sldImg" idx="0"/>
          </p:nvPr>
        </p:nvSpPr>
        <p:spPr bwMode="auto"/>
      </p:sp>
      <p:sp>
        <p:nvSpPr>
          <p:cNvPr id="172722883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buNone/>
              <a:defRPr/>
            </a:pPr>
            <a:r>
              <a:rPr/>
              <a:t>[Sources]</a:t>
            </a:r>
            <a:endParaRPr/>
          </a:p>
          <a:p>
            <a:pPr>
              <a:buNone/>
              <a:defRPr/>
            </a:pPr>
            <a:r>
              <a:rPr/>
              <a:t>- Anthropic, Investigating Three Real-World Incidents in Our Cybersecurity Evaluations, 2026: https://www.anthropic.com/news/investigating-incidents-cybersecurity-evals</a:t>
            </a:r>
            <a:endParaRPr/>
          </a:p>
        </p:txBody>
      </p:sp>
      <p:sp>
        <p:nvSpPr>
          <p:cNvPr id="565459178" name="Slide Number Placeholder 3"/>
          <p:cNvSpPr>
            <a:spLocks noGrp="1"/>
          </p:cNvSpPr>
          <p:nvPr>
            <p:ph type="sldNum" idx="5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44511453" name="Slide Image Placeholder 1"/>
          <p:cNvSpPr>
            <a:spLocks noGrp="1"/>
          </p:cNvSpPr>
          <p:nvPr>
            <p:ph type="sldImg" idx="0"/>
          </p:nvPr>
        </p:nvSpPr>
        <p:spPr bwMode="auto"/>
      </p:sp>
      <p:sp>
        <p:nvSpPr>
          <p:cNvPr id="120038178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buNone/>
              <a:defRPr/>
            </a:pPr>
            <a:r>
              <a:rPr/>
              <a:t>[Sources]</a:t>
            </a:r>
            <a:endParaRPr/>
          </a:p>
          <a:p>
            <a:pPr>
              <a:buNone/>
              <a:defRPr/>
            </a:pPr>
            <a:r>
              <a:rPr/>
              <a:t>- OWASP Top 10 for LLM Applications 2025: https://genai.owasp.org/llm-top-10/</a:t>
            </a:r>
            <a:endParaRPr/>
          </a:p>
          <a:p>
            <a:pPr>
              <a:buNone/>
              <a:defRPr/>
            </a:pPr>
            <a:r>
              <a:rPr/>
              <a:t>- NIST AI 600-1: https://nvlpubs.nist.gov/nistpubs/ai/NIST.AI.600-1.pdf</a:t>
            </a:r>
            <a:endParaRPr/>
          </a:p>
          <a:p>
            <a:pPr>
              <a:buNone/>
              <a:defRPr/>
            </a:pPr>
            <a:r>
              <a:rPr/>
              <a:t>- MITRE ATLAS: https://atlas.mitre.org/</a:t>
            </a:r>
            <a:endParaRPr/>
          </a:p>
        </p:txBody>
      </p:sp>
      <p:sp>
        <p:nvSpPr>
          <p:cNvPr id="195027307" name="Slide Number Placeholder 3"/>
          <p:cNvSpPr>
            <a:spLocks noGrp="1"/>
          </p:cNvSpPr>
          <p:nvPr>
            <p:ph type="sldNum" idx="5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2518533" name="Slide Image Placeholder 1"/>
          <p:cNvSpPr>
            <a:spLocks noGrp="1"/>
          </p:cNvSpPr>
          <p:nvPr>
            <p:ph type="sldImg" idx="0"/>
          </p:nvPr>
        </p:nvSpPr>
        <p:spPr bwMode="auto"/>
      </p:sp>
      <p:sp>
        <p:nvSpPr>
          <p:cNvPr id="104302838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buNone/>
              <a:defRPr/>
            </a:pPr>
            <a:r>
              <a:rPr/>
              <a:t>[Sources]</a:t>
            </a:r>
            <a:endParaRPr/>
          </a:p>
          <a:p>
            <a:pPr>
              <a:buNone/>
              <a:defRPr/>
            </a:pPr>
            <a:r>
              <a:rPr/>
              <a:t>- MITRE SAFE-AI: https://atlas.mitre.org/pdf-files/SAFEAI_Full_Report.pdf</a:t>
            </a:r>
            <a:endParaRPr/>
          </a:p>
          <a:p>
            <a:pPr>
              <a:buNone/>
              <a:defRPr/>
            </a:pPr>
            <a:r>
              <a:rPr/>
              <a:t>- NIST SP 800-218A: https://nvlpubs.nist.gov/nistpubs/SpecialPublications/NIST.SP.800-218A.pdf</a:t>
            </a:r>
            <a:endParaRPr/>
          </a:p>
        </p:txBody>
      </p:sp>
      <p:sp>
        <p:nvSpPr>
          <p:cNvPr id="1043000070" name="Slide Number Placeholder 3"/>
          <p:cNvSpPr>
            <a:spLocks noGrp="1"/>
          </p:cNvSpPr>
          <p:nvPr>
            <p:ph type="sldNum" idx="5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69272730" name="Slide Image Placeholder 1"/>
          <p:cNvSpPr>
            <a:spLocks noGrp="1"/>
          </p:cNvSpPr>
          <p:nvPr>
            <p:ph type="sldImg" idx="0"/>
          </p:nvPr>
        </p:nvSpPr>
        <p:spPr bwMode="auto"/>
      </p:sp>
      <p:sp>
        <p:nvSpPr>
          <p:cNvPr id="200454040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buNone/>
              <a:defRPr/>
            </a:pPr>
            <a:r>
              <a:rPr/>
              <a:t>[Sources]</a:t>
            </a:r>
            <a:endParaRPr/>
          </a:p>
          <a:p>
            <a:pPr>
              <a:buNone/>
              <a:defRPr/>
            </a:pPr>
            <a:r>
              <a:rPr/>
              <a:t>- MITRE SAFE-AI: https://atlas.mitre.org/pdf-files/SAFEAI_Full_Report.pdf</a:t>
            </a:r>
            <a:endParaRPr/>
          </a:p>
          <a:p>
            <a:pPr>
              <a:buNone/>
              <a:defRPr/>
            </a:pPr>
            <a:r>
              <a:rPr/>
              <a:t>- NIST SP 800-218A: https://nvlpubs.nist.gov/nistpubs/SpecialPublications/NIST.SP.800-218A.pdf</a:t>
            </a:r>
            <a:endParaRPr/>
          </a:p>
        </p:txBody>
      </p:sp>
      <p:sp>
        <p:nvSpPr>
          <p:cNvPr id="1581097358" name="Slide Number Placeholder 3"/>
          <p:cNvSpPr>
            <a:spLocks noGrp="1"/>
          </p:cNvSpPr>
          <p:nvPr>
            <p:ph type="sldNum" idx="5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93258645" name="Picture 2116695055"/>
          <p:cNvPicPr>
            <a:picLocks noChangeAspect="1"/>
          </p:cNvPicPr>
          <p:nvPr/>
        </p:nvPicPr>
        <p:blipFill rotWithShape="1">
          <a:blip r:embed="rId2">
            <a:alphaModFix amt="30000"/>
          </a:blip>
          <a:stretch/>
        </p:blipFill>
        <p:spPr bwMode="auto">
          <a:xfrm>
            <a:off x="-3046" y="9144"/>
            <a:ext cx="12198094" cy="6848854"/>
          </a:xfrm>
          <a:prstGeom prst="rect">
            <a:avLst/>
          </a:prstGeom>
        </p:spPr>
      </p:pic>
      <p:sp>
        <p:nvSpPr>
          <p:cNvPr id="521679558" name="Rectangle 376226509"/>
          <p:cNvSpPr>
            <a:spLocks noGrp="1"/>
          </p:cNvSpPr>
          <p:nvPr/>
        </p:nvSpPr>
        <p:spPr bwMode="auto">
          <a:xfrm>
            <a:off x="6079" y="4051"/>
            <a:ext cx="12179837" cy="6849891"/>
          </a:xfrm>
          <a:prstGeom prst="rect">
            <a:avLst/>
          </a:prstGeom>
          <a:gradFill>
            <a:gsLst>
              <a:gs pos="1000">
                <a:schemeClr val="tx2">
                  <a:alpha val="23000"/>
                </a:schemeClr>
              </a:gs>
              <a:gs pos="75000">
                <a:schemeClr val="tx2">
                  <a:lumMod val="50000"/>
                  <a:alpha val="23000"/>
                </a:schemeClr>
              </a:gs>
            </a:gsLst>
            <a:path path="circle"/>
          </a:gradFill>
          <a:ln w="12700" cmpd="sng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  <a:defRPr/>
            </a:pPr>
            <a:endParaRPr/>
          </a:p>
        </p:txBody>
      </p:sp>
      <p:sp>
        <p:nvSpPr>
          <p:cNvPr id="388305761" name="Title 1"/>
          <p:cNvSpPr>
            <a:spLocks noGrp="1"/>
          </p:cNvSpPr>
          <p:nvPr>
            <p:ph type="ctrTitle" idx="0"/>
          </p:nvPr>
        </p:nvSpPr>
        <p:spPr bwMode="auto">
          <a:xfrm>
            <a:off x="1523999" y="1122363"/>
            <a:ext cx="9144000" cy="2387599"/>
          </a:xfrm>
        </p:spPr>
        <p:txBody>
          <a:bodyPr anchor="b"/>
          <a:lstStyle>
            <a:lvl1pPr algn="ctr">
              <a:buNone/>
              <a:defRPr sz="6000">
                <a:solidFill>
                  <a:schemeClr val="bg1"/>
                </a:solidFill>
              </a:defRPr>
            </a:lvl1pPr>
          </a:lstStyle>
          <a:p>
            <a:pPr>
              <a:buNone/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001142577" name="Subtitle 2"/>
          <p:cNvSpPr>
            <a:spLocks noGrp="1"/>
          </p:cNvSpPr>
          <p:nvPr>
            <p:ph type="subTitle" idx="1"/>
          </p:nvPr>
        </p:nvSpPr>
        <p:spPr bwMode="auto">
          <a:xfrm>
            <a:off x="1527048" y="3602734"/>
            <a:ext cx="9144000" cy="1655760"/>
          </a:xfrm>
        </p:spPr>
        <p:txBody>
          <a:bodyPr vert="horz" wrap="square" lIns="91440" tIns="274318" rIns="91440" bIns="45720" anchor="t">
            <a:normAutofit/>
          </a:bodyPr>
          <a:lstStyle>
            <a:lvl1pPr marL="0" indent="0" algn="ctr">
              <a:buNone/>
              <a:defRPr sz="2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buNone/>
              <a:defRPr/>
            </a:pPr>
            <a:r>
              <a:rPr/>
              <a:t>Click to edit Master subtitle style</a:t>
            </a:r>
            <a:endParaRPr/>
          </a:p>
        </p:txBody>
      </p:sp>
      <p:sp>
        <p:nvSpPr>
          <p:cNvPr id="218935560" name="Date Placeholder 3"/>
          <p:cNvSpPr>
            <a:spLocks noGrp="1"/>
          </p:cNvSpPr>
          <p:nvPr>
            <p:ph type="dt" idx="10"/>
          </p:nvPr>
        </p:nvSpPr>
        <p:spPr bwMode="auto"/>
        <p:txBody>
          <a:bodyPr/>
          <a:lstStyle/>
          <a:p>
            <a:pPr>
              <a:buNone/>
              <a:defRPr/>
            </a:pPr>
            <a:fld id="{BCC18F51-09EC-435C-A3BA-64A766E099C0}" type="datetimeFigureOut">
              <a:rPr/>
              <a:t>2026/7/31</a:t>
            </a:fld>
            <a:endParaRPr/>
          </a:p>
        </p:txBody>
      </p:sp>
      <p:sp>
        <p:nvSpPr>
          <p:cNvPr id="558499414" name="Footer Placeholder 4"/>
          <p:cNvSpPr>
            <a:spLocks noGrp="1"/>
          </p:cNvSpPr>
          <p:nvPr>
            <p:ph type="ftr" idx="11"/>
          </p:nvPr>
        </p:nvSpPr>
        <p:spPr bwMode="auto"/>
        <p:txBody>
          <a:bodyPr/>
          <a:lstStyle/>
          <a:p>
            <a:pPr>
              <a:buNone/>
              <a:defRPr/>
            </a:pPr>
            <a:endParaRPr/>
          </a:p>
        </p:txBody>
      </p:sp>
      <p:sp>
        <p:nvSpPr>
          <p:cNvPr id="171718659" name="Slide Number Placeholder 5"/>
          <p:cNvSpPr>
            <a:spLocks noGrp="1"/>
          </p:cNvSpPr>
          <p:nvPr>
            <p:ph type="sldNum" idx="12"/>
          </p:nvPr>
        </p:nvSpPr>
        <p:spPr bwMode="auto"/>
        <p:txBody>
          <a:bodyPr/>
          <a:lstStyle/>
          <a:p>
            <a:pPr>
              <a:buNone/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  <p:sp>
        <p:nvSpPr>
          <p:cNvPr id="1514849946" name="Rectangle 640957806"/>
          <p:cNvSpPr>
            <a:spLocks noGrp="1"/>
          </p:cNvSpPr>
          <p:nvPr/>
        </p:nvSpPr>
        <p:spPr bwMode="auto">
          <a:xfrm>
            <a:off x="3570597" y="3530036"/>
            <a:ext cx="5040000" cy="72000"/>
          </a:xfrm>
          <a:prstGeom prst="rect">
            <a:avLst/>
          </a:prstGeom>
          <a:solidFill>
            <a:schemeClr val="accent2">
              <a:lumMod val="75000"/>
            </a:schemeClr>
          </a:solidFill>
          <a:ln w="12700" cmpd="sng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buNone/>
              <a:defRPr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67559920" name="Title 1"/>
          <p:cNvSpPr>
            <a:spLocks noGrp="1"/>
          </p:cNvSpPr>
          <p:nvPr>
            <p:ph type="title" idx="0"/>
          </p:nvPr>
        </p:nvSpPr>
        <p:spPr bwMode="auto">
          <a:xfrm>
            <a:off x="838197" y="365123"/>
            <a:ext cx="10515600" cy="1121577"/>
          </a:xfrm>
        </p:spPr>
        <p:txBody>
          <a:bodyPr vert="horz" wrap="square" lIns="91440" tIns="45720" rIns="91440" bIns="45720" anchor="b">
            <a:normAutofit/>
          </a:bodyPr>
          <a:lstStyle>
            <a:lvl1pPr algn="ctr">
              <a:buNone/>
              <a:defRPr/>
            </a:lvl1pPr>
            <a:lvl2pPr algn="ctr">
              <a:buNone/>
              <a:defRPr/>
            </a:lvl2pPr>
            <a:lvl3pPr algn="ctr">
              <a:buNone/>
              <a:defRPr/>
            </a:lvl3pPr>
            <a:lvl4pPr algn="ctr">
              <a:buNone/>
              <a:defRPr/>
            </a:lvl4pPr>
            <a:lvl5pPr algn="ctr">
              <a:buNone/>
              <a:defRPr/>
            </a:lvl5pPr>
            <a:lvl6pPr algn="ctr">
              <a:buNone/>
              <a:defRPr/>
            </a:lvl6pPr>
            <a:lvl7pPr algn="ctr">
              <a:buNone/>
              <a:defRPr/>
            </a:lvl7pPr>
            <a:lvl8pPr algn="ctr">
              <a:buNone/>
              <a:defRPr/>
            </a:lvl8pPr>
            <a:lvl9pPr algn="ctr">
              <a:buNone/>
              <a:defRPr/>
            </a:lvl9pPr>
          </a:lstStyle>
          <a:p>
            <a:pPr>
              <a:buNone/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647224538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>
            <a:lvl1pPr>
              <a:buFont typeface="Arial"/>
              <a:buChar char="•"/>
              <a:defRPr/>
            </a:lvl1pPr>
            <a:lvl2pPr>
              <a:buFont typeface="Arial"/>
              <a:buChar char="•"/>
              <a:defRPr/>
            </a:lvl2pPr>
            <a:lvl3pPr>
              <a:buFont typeface="Arial"/>
              <a:buChar char="•"/>
              <a:defRPr/>
            </a:lvl3pPr>
            <a:lvl4pPr>
              <a:buFont typeface="Arial"/>
              <a:buChar char="•"/>
              <a:defRPr/>
            </a:lvl4pPr>
            <a:lvl5pPr>
              <a:buFont typeface="Arial"/>
              <a:buChar char="•"/>
              <a:defRPr/>
            </a:lvl5pPr>
            <a:lvl6pPr>
              <a:buFont typeface="Arial"/>
              <a:buChar char="•"/>
              <a:defRPr/>
            </a:lvl6pPr>
            <a:lvl7pPr>
              <a:buFont typeface="Arial"/>
              <a:buChar char="•"/>
              <a:defRPr/>
            </a:lvl7pPr>
            <a:lvl8pPr>
              <a:buFont typeface="Arial"/>
              <a:buChar char="•"/>
              <a:defRPr/>
            </a:lvl8pPr>
            <a:lvl9pPr>
              <a:buFont typeface="Arial"/>
              <a:buChar char="•"/>
              <a:defRPr/>
            </a:lvl9pPr>
          </a:lstStyle>
          <a:p>
            <a:pPr lvl="0">
              <a:buNone/>
              <a:defRPr/>
            </a:pPr>
            <a:r>
              <a:rPr/>
              <a:t>Click to edit Master text styles</a:t>
            </a:r>
            <a:endParaRPr/>
          </a:p>
          <a:p>
            <a:pPr lvl="1">
              <a:buNone/>
              <a:defRPr/>
            </a:pPr>
            <a:r>
              <a:rPr/>
              <a:t>Second level</a:t>
            </a:r>
            <a:endParaRPr/>
          </a:p>
          <a:p>
            <a:pPr lvl="2">
              <a:buNone/>
              <a:defRPr/>
            </a:pPr>
            <a:r>
              <a:rPr/>
              <a:t>Third level</a:t>
            </a:r>
            <a:endParaRPr/>
          </a:p>
          <a:p>
            <a:pPr lvl="3">
              <a:buNone/>
              <a:defRPr/>
            </a:pPr>
            <a:r>
              <a:rPr/>
              <a:t>Fourth level</a:t>
            </a:r>
            <a:endParaRPr/>
          </a:p>
          <a:p>
            <a:pPr lvl="4">
              <a:buNone/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2075749639" name="Date Placeholder 3"/>
          <p:cNvSpPr>
            <a:spLocks noGrp="1"/>
          </p:cNvSpPr>
          <p:nvPr>
            <p:ph type="dt" idx="10"/>
          </p:nvPr>
        </p:nvSpPr>
        <p:spPr bwMode="auto"/>
        <p:txBody>
          <a:bodyPr/>
          <a:lstStyle/>
          <a:p>
            <a:pPr>
              <a:buNone/>
              <a:defRPr/>
            </a:pPr>
            <a:fld id="{BCC18F51-09EC-435C-A3BA-64A766E099C0}" type="datetimeFigureOut">
              <a:rPr/>
              <a:t>2026/7/31</a:t>
            </a:fld>
            <a:endParaRPr/>
          </a:p>
        </p:txBody>
      </p:sp>
      <p:sp>
        <p:nvSpPr>
          <p:cNvPr id="255504947" name="Footer Placeholder 4"/>
          <p:cNvSpPr>
            <a:spLocks noGrp="1"/>
          </p:cNvSpPr>
          <p:nvPr>
            <p:ph type="ftr" idx="11"/>
          </p:nvPr>
        </p:nvSpPr>
        <p:spPr bwMode="auto"/>
        <p:txBody>
          <a:bodyPr/>
          <a:lstStyle/>
          <a:p>
            <a:pPr>
              <a:buNone/>
              <a:defRPr/>
            </a:pPr>
            <a:endParaRPr/>
          </a:p>
        </p:txBody>
      </p:sp>
      <p:sp>
        <p:nvSpPr>
          <p:cNvPr id="135186112" name="Slide Number Placeholder 5"/>
          <p:cNvSpPr>
            <a:spLocks noGrp="1"/>
          </p:cNvSpPr>
          <p:nvPr>
            <p:ph type="sldNum" idx="12"/>
          </p:nvPr>
        </p:nvSpPr>
        <p:spPr bwMode="auto"/>
        <p:txBody>
          <a:bodyPr/>
          <a:lstStyle/>
          <a:p>
            <a:pPr>
              <a:buNone/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  <p:sp>
        <p:nvSpPr>
          <p:cNvPr id="179938760" name="Rectangle 640957806"/>
          <p:cNvSpPr>
            <a:spLocks noGrp="1"/>
          </p:cNvSpPr>
          <p:nvPr/>
        </p:nvSpPr>
        <p:spPr bwMode="auto">
          <a:xfrm>
            <a:off x="4703774" y="1486702"/>
            <a:ext cx="2776433" cy="73152"/>
          </a:xfrm>
          <a:prstGeom prst="rect">
            <a:avLst/>
          </a:prstGeom>
          <a:solidFill>
            <a:schemeClr val="accent2">
              <a:lumMod val="75000"/>
            </a:schemeClr>
          </a:solidFill>
          <a:ln w="12700" cmpd="sng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09740858" name="Title 1"/>
          <p:cNvSpPr>
            <a:spLocks noGrp="1"/>
          </p:cNvSpPr>
          <p:nvPr>
            <p:ph type="title" idx="0"/>
          </p:nvPr>
        </p:nvSpPr>
        <p:spPr bwMode="auto">
          <a:xfrm>
            <a:off x="838197" y="365123"/>
            <a:ext cx="10515600" cy="1121577"/>
          </a:xfrm>
        </p:spPr>
        <p:txBody>
          <a:bodyPr vert="horz" wrap="square" lIns="91440" tIns="45720" rIns="91440" bIns="45720" anchor="b">
            <a:normAutofit/>
          </a:bodyPr>
          <a:lstStyle>
            <a:lvl1pPr algn="l">
              <a:buNone/>
              <a:defRPr/>
            </a:lvl1pPr>
            <a:lvl2pPr algn="l">
              <a:buNone/>
              <a:defRPr/>
            </a:lvl2pPr>
            <a:lvl3pPr algn="l">
              <a:buNone/>
              <a:defRPr/>
            </a:lvl3pPr>
            <a:lvl4pPr algn="l">
              <a:buNone/>
              <a:defRPr/>
            </a:lvl4pPr>
            <a:lvl5pPr algn="l">
              <a:buNone/>
              <a:defRPr/>
            </a:lvl5pPr>
            <a:lvl6pPr algn="l">
              <a:buNone/>
              <a:defRPr/>
            </a:lvl6pPr>
            <a:lvl7pPr algn="l">
              <a:buNone/>
              <a:defRPr/>
            </a:lvl7pPr>
            <a:lvl8pPr algn="l">
              <a:buNone/>
              <a:defRPr/>
            </a:lvl8pPr>
            <a:lvl9pPr algn="l">
              <a:buNone/>
              <a:defRPr/>
            </a:lvl9pPr>
          </a:lstStyle>
          <a:p>
            <a:pPr>
              <a:buNone/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2127894213" name="Content Placeholder 2"/>
          <p:cNvSpPr>
            <a:spLocks noGrp="1"/>
          </p:cNvSpPr>
          <p:nvPr>
            <p:ph idx="1"/>
          </p:nvPr>
        </p:nvSpPr>
        <p:spPr bwMode="auto">
          <a:prstGeom prst="rect">
            <a:avLst/>
          </a:prstGeom>
          <a:solidFill>
            <a:schemeClr val="bg1"/>
          </a:solidFill>
        </p:spPr>
        <p:txBody>
          <a:bodyPr/>
          <a:lstStyle>
            <a:lvl1pPr>
              <a:buFont typeface="Arial"/>
              <a:buChar char="•"/>
              <a:defRPr/>
            </a:lvl1pPr>
            <a:lvl2pPr>
              <a:buFont typeface="Arial"/>
              <a:buChar char="•"/>
              <a:defRPr/>
            </a:lvl2pPr>
            <a:lvl3pPr>
              <a:buFont typeface="Arial"/>
              <a:buChar char="•"/>
              <a:defRPr/>
            </a:lvl3pPr>
            <a:lvl4pPr>
              <a:buFont typeface="Arial"/>
              <a:buChar char="•"/>
              <a:defRPr/>
            </a:lvl4pPr>
            <a:lvl5pPr>
              <a:buFont typeface="Arial"/>
              <a:buChar char="•"/>
              <a:defRPr/>
            </a:lvl5pPr>
            <a:lvl6pPr>
              <a:buFont typeface="Arial"/>
              <a:buChar char="•"/>
              <a:defRPr/>
            </a:lvl6pPr>
            <a:lvl7pPr>
              <a:buFont typeface="Arial"/>
              <a:buChar char="•"/>
              <a:defRPr/>
            </a:lvl7pPr>
            <a:lvl8pPr>
              <a:buFont typeface="Arial"/>
              <a:buChar char="•"/>
              <a:defRPr/>
            </a:lvl8pPr>
            <a:lvl9pPr>
              <a:buFont typeface="Arial"/>
              <a:buChar char="•"/>
              <a:defRPr/>
            </a:lvl9pPr>
          </a:lstStyle>
          <a:p>
            <a:pPr lvl="0">
              <a:buNone/>
              <a:defRPr/>
            </a:pPr>
            <a:r>
              <a:rPr/>
              <a:t>Click to edit Master text styles</a:t>
            </a:r>
            <a:endParaRPr/>
          </a:p>
          <a:p>
            <a:pPr lvl="1">
              <a:buNone/>
              <a:defRPr/>
            </a:pPr>
            <a:r>
              <a:rPr/>
              <a:t>Second level</a:t>
            </a:r>
            <a:endParaRPr/>
          </a:p>
          <a:p>
            <a:pPr lvl="2">
              <a:buNone/>
              <a:defRPr/>
            </a:pPr>
            <a:r>
              <a:rPr/>
              <a:t>Third level</a:t>
            </a:r>
            <a:endParaRPr/>
          </a:p>
          <a:p>
            <a:pPr lvl="3">
              <a:buNone/>
              <a:defRPr/>
            </a:pPr>
            <a:r>
              <a:rPr/>
              <a:t>Fourth level</a:t>
            </a:r>
            <a:endParaRPr/>
          </a:p>
          <a:p>
            <a:pPr lvl="4">
              <a:buNone/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691212810" name="Date Placeholder 3"/>
          <p:cNvSpPr>
            <a:spLocks noGrp="1"/>
          </p:cNvSpPr>
          <p:nvPr>
            <p:ph type="dt" idx="10"/>
          </p:nvPr>
        </p:nvSpPr>
        <p:spPr bwMode="auto"/>
        <p:txBody>
          <a:bodyPr/>
          <a:lstStyle/>
          <a:p>
            <a:pPr>
              <a:buNone/>
              <a:defRPr/>
            </a:pPr>
            <a:fld id="{7B14398F-3795-7DE0-858E-3925D44B3378}" type="datetimeFigureOut">
              <a:rPr/>
              <a:t>2026/7/31</a:t>
            </a:fld>
            <a:endParaRPr/>
          </a:p>
        </p:txBody>
      </p:sp>
      <p:sp>
        <p:nvSpPr>
          <p:cNvPr id="993122367" name="Footer Placeholder 4"/>
          <p:cNvSpPr>
            <a:spLocks noGrp="1"/>
          </p:cNvSpPr>
          <p:nvPr>
            <p:ph type="ftr" idx="11"/>
          </p:nvPr>
        </p:nvSpPr>
        <p:spPr bwMode="auto"/>
        <p:txBody>
          <a:bodyPr/>
          <a:lstStyle/>
          <a:p>
            <a:pPr>
              <a:buNone/>
              <a:defRPr/>
            </a:pPr>
            <a:endParaRPr/>
          </a:p>
        </p:txBody>
      </p:sp>
      <p:sp>
        <p:nvSpPr>
          <p:cNvPr id="501814287" name="Slide Number Placeholder 5"/>
          <p:cNvSpPr>
            <a:spLocks noGrp="1"/>
          </p:cNvSpPr>
          <p:nvPr>
            <p:ph type="sldNum" idx="12"/>
          </p:nvPr>
        </p:nvSpPr>
        <p:spPr bwMode="auto"/>
        <p:txBody>
          <a:bodyPr/>
          <a:lstStyle/>
          <a:p>
            <a:pPr>
              <a:buNone/>
              <a:defRPr/>
            </a:pPr>
            <a:fld id="{3D9411B4-B34A-E1DB-16D9-0D265777C9EB}" type="slidenum">
              <a:rPr/>
              <a:t>‹#›</a:t>
            </a:fld>
            <a:endParaRPr/>
          </a:p>
        </p:txBody>
      </p:sp>
      <p:sp>
        <p:nvSpPr>
          <p:cNvPr id="1190777519" name="Rectangle 640957806"/>
          <p:cNvSpPr>
            <a:spLocks noGrp="1"/>
          </p:cNvSpPr>
          <p:nvPr/>
        </p:nvSpPr>
        <p:spPr bwMode="auto">
          <a:xfrm>
            <a:off x="838197" y="1486702"/>
            <a:ext cx="10515600" cy="72000"/>
          </a:xfrm>
          <a:prstGeom prst="rect">
            <a:avLst/>
          </a:prstGeom>
          <a:solidFill>
            <a:schemeClr val="accent2">
              <a:lumMod val="75000"/>
            </a:schemeClr>
          </a:solidFill>
          <a:ln w="12700" cmpd="sng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03485854" name="Picture 1835292972"/>
          <p:cNvPicPr>
            <a:picLocks noChangeAspect="1"/>
          </p:cNvPicPr>
          <p:nvPr/>
        </p:nvPicPr>
        <p:blipFill rotWithShape="1">
          <a:blip r:embed="rId2">
            <a:alphaModFix amt="30000"/>
          </a:blip>
          <a:stretch/>
        </p:blipFill>
        <p:spPr bwMode="auto">
          <a:xfrm>
            <a:off x="20621" y="8104"/>
            <a:ext cx="12216845" cy="6858000"/>
          </a:xfrm>
          <a:prstGeom prst="rect">
            <a:avLst/>
          </a:prstGeom>
        </p:spPr>
      </p:pic>
      <p:sp>
        <p:nvSpPr>
          <p:cNvPr id="587255989" name="Title 1"/>
          <p:cNvSpPr>
            <a:spLocks noGrp="1"/>
          </p:cNvSpPr>
          <p:nvPr>
            <p:ph type="title" idx="0"/>
          </p:nvPr>
        </p:nvSpPr>
        <p:spPr bwMode="auto">
          <a:xfrm>
            <a:off x="831848" y="1399140"/>
            <a:ext cx="10515600" cy="2852736"/>
          </a:xfrm>
        </p:spPr>
        <p:txBody>
          <a:bodyPr vert="horz" wrap="square" lIns="91440" tIns="45720" rIns="91440" bIns="45720" anchor="ctr">
            <a:normAutofit/>
          </a:bodyPr>
          <a:lstStyle>
            <a:lvl1pPr algn="ctr">
              <a:buNone/>
              <a:defRPr sz="6000">
                <a:solidFill>
                  <a:schemeClr val="bg1"/>
                </a:solidFill>
              </a:defRPr>
            </a:lvl1pPr>
            <a:lvl2pPr algn="ctr">
              <a:buNone/>
              <a:defRPr/>
            </a:lvl2pPr>
            <a:lvl3pPr algn="ctr">
              <a:buNone/>
              <a:defRPr/>
            </a:lvl3pPr>
            <a:lvl4pPr algn="ctr">
              <a:buNone/>
              <a:defRPr/>
            </a:lvl4pPr>
            <a:lvl5pPr algn="ctr">
              <a:buNone/>
              <a:defRPr/>
            </a:lvl5pPr>
            <a:lvl6pPr algn="ctr">
              <a:buNone/>
              <a:defRPr/>
            </a:lvl6pPr>
            <a:lvl7pPr algn="ctr">
              <a:buNone/>
              <a:defRPr/>
            </a:lvl7pPr>
            <a:lvl8pPr algn="ctr">
              <a:buNone/>
              <a:defRPr/>
            </a:lvl8pPr>
            <a:lvl9pPr algn="ctr">
              <a:buNone/>
              <a:defRPr/>
            </a:lvl9pPr>
          </a:lstStyle>
          <a:p>
            <a:pPr>
              <a:buNone/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235944252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1848" y="4278863"/>
            <a:ext cx="10515600" cy="1500186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1303864985" name="Date Placeholder 3"/>
          <p:cNvSpPr>
            <a:spLocks noGrp="1"/>
          </p:cNvSpPr>
          <p:nvPr>
            <p:ph type="dt" idx="10"/>
          </p:nvPr>
        </p:nvSpPr>
        <p:spPr bwMode="auto"/>
        <p:txBody>
          <a:bodyPr/>
          <a:lstStyle/>
          <a:p>
            <a:pPr>
              <a:buNone/>
              <a:defRPr/>
            </a:pPr>
            <a:fld id="{BCC18F51-09EC-435C-A3BA-64A766E099C0}" type="datetimeFigureOut">
              <a:rPr/>
              <a:t>2026/7/31</a:t>
            </a:fld>
            <a:endParaRPr/>
          </a:p>
        </p:txBody>
      </p:sp>
      <p:sp>
        <p:nvSpPr>
          <p:cNvPr id="1798592985" name="Footer Placeholder 4"/>
          <p:cNvSpPr>
            <a:spLocks noGrp="1"/>
          </p:cNvSpPr>
          <p:nvPr>
            <p:ph type="ftr" idx="11"/>
          </p:nvPr>
        </p:nvSpPr>
        <p:spPr bwMode="auto"/>
        <p:txBody>
          <a:bodyPr/>
          <a:lstStyle/>
          <a:p>
            <a:pPr>
              <a:buNone/>
              <a:defRPr/>
            </a:pPr>
            <a:endParaRPr/>
          </a:p>
        </p:txBody>
      </p:sp>
      <p:sp>
        <p:nvSpPr>
          <p:cNvPr id="1532106009" name="Slide Number Placeholder 5"/>
          <p:cNvSpPr>
            <a:spLocks noGrp="1"/>
          </p:cNvSpPr>
          <p:nvPr>
            <p:ph type="sldNum" idx="12"/>
          </p:nvPr>
        </p:nvSpPr>
        <p:spPr bwMode="auto"/>
        <p:txBody>
          <a:bodyPr/>
          <a:lstStyle/>
          <a:p>
            <a:pPr>
              <a:buNone/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  <p:sp>
        <p:nvSpPr>
          <p:cNvPr id="1273407277" name="Rectangle 640957806"/>
          <p:cNvSpPr>
            <a:spLocks noGrp="1"/>
          </p:cNvSpPr>
          <p:nvPr/>
        </p:nvSpPr>
        <p:spPr bwMode="auto">
          <a:xfrm>
            <a:off x="-10884" y="6017640"/>
            <a:ext cx="12213770" cy="72000"/>
          </a:xfrm>
          <a:prstGeom prst="rect">
            <a:avLst/>
          </a:prstGeom>
          <a:solidFill>
            <a:schemeClr val="accent2">
              <a:lumMod val="75000"/>
            </a:schemeClr>
          </a:solidFill>
          <a:ln w="12700" cmpd="sng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8310622" name="Title 1"/>
          <p:cNvSpPr>
            <a:spLocks noGrp="1"/>
          </p:cNvSpPr>
          <p:nvPr>
            <p:ph type="title" idx="0"/>
          </p:nvPr>
        </p:nvSpPr>
        <p:spPr bwMode="auto"/>
        <p:txBody>
          <a:bodyPr/>
          <a:lstStyle>
            <a:lvl1pPr algn="ctr">
              <a:buNone/>
              <a:defRPr/>
            </a:lvl1pPr>
            <a:lvl2pPr algn="ctr">
              <a:buNone/>
              <a:defRPr/>
            </a:lvl2pPr>
            <a:lvl3pPr algn="ctr">
              <a:buNone/>
              <a:defRPr/>
            </a:lvl3pPr>
            <a:lvl4pPr algn="ctr">
              <a:buNone/>
              <a:defRPr/>
            </a:lvl4pPr>
            <a:lvl5pPr algn="ctr">
              <a:buNone/>
              <a:defRPr/>
            </a:lvl5pPr>
            <a:lvl6pPr algn="ctr">
              <a:buNone/>
              <a:defRPr/>
            </a:lvl6pPr>
            <a:lvl7pPr algn="ctr">
              <a:buNone/>
              <a:defRPr/>
            </a:lvl7pPr>
            <a:lvl8pPr algn="ctr">
              <a:buNone/>
              <a:defRPr/>
            </a:lvl8pPr>
            <a:lvl9pPr algn="ctr">
              <a:buNone/>
              <a:defRPr/>
            </a:lvl9pPr>
          </a:lstStyle>
          <a:p>
            <a:pPr>
              <a:buNone/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408028960" name="Content Placeholder 2"/>
          <p:cNvSpPr>
            <a:spLocks noGrp="1"/>
          </p:cNvSpPr>
          <p:nvPr>
            <p:ph idx="1"/>
          </p:nvPr>
        </p:nvSpPr>
        <p:spPr bwMode="auto">
          <a:xfrm>
            <a:off x="838198" y="1825624"/>
            <a:ext cx="5181599" cy="4351338"/>
          </a:xfrm>
        </p:spPr>
        <p:txBody>
          <a:bodyPr/>
          <a:lstStyle>
            <a:lvl1pPr>
              <a:buFont typeface="Arial"/>
              <a:buChar char="•"/>
              <a:defRPr/>
            </a:lvl1pPr>
            <a:lvl2pPr>
              <a:buFont typeface="Arial"/>
              <a:buChar char="•"/>
              <a:defRPr/>
            </a:lvl2pPr>
            <a:lvl3pPr>
              <a:buFont typeface="Arial"/>
              <a:buChar char="•"/>
              <a:defRPr/>
            </a:lvl3pPr>
            <a:lvl4pPr>
              <a:buFont typeface="Arial"/>
              <a:buChar char="•"/>
              <a:defRPr/>
            </a:lvl4pPr>
            <a:lvl5pPr>
              <a:buFont typeface="Arial"/>
              <a:buChar char="•"/>
              <a:defRPr/>
            </a:lvl5pPr>
            <a:lvl6pPr>
              <a:buFont typeface="Arial"/>
              <a:buChar char="•"/>
              <a:defRPr/>
            </a:lvl6pPr>
            <a:lvl7pPr>
              <a:buFont typeface="Arial"/>
              <a:buChar char="•"/>
              <a:defRPr/>
            </a:lvl7pPr>
            <a:lvl8pPr>
              <a:buFont typeface="Arial"/>
              <a:buChar char="•"/>
              <a:defRPr/>
            </a:lvl8pPr>
            <a:lvl9pPr>
              <a:buFont typeface="Arial"/>
              <a:buChar char="•"/>
              <a:defRPr/>
            </a:lvl9pPr>
          </a:lstStyle>
          <a:p>
            <a:pPr lvl="0">
              <a:buNone/>
              <a:defRPr/>
            </a:pPr>
            <a:r>
              <a:rPr/>
              <a:t>Click to edit Master text styles</a:t>
            </a:r>
            <a:endParaRPr/>
          </a:p>
          <a:p>
            <a:pPr lvl="1">
              <a:buNone/>
              <a:defRPr/>
            </a:pPr>
            <a:r>
              <a:rPr/>
              <a:t>Second level</a:t>
            </a:r>
            <a:endParaRPr/>
          </a:p>
          <a:p>
            <a:pPr lvl="2">
              <a:buNone/>
              <a:defRPr/>
            </a:pPr>
            <a:r>
              <a:rPr/>
              <a:t>Third level</a:t>
            </a:r>
            <a:endParaRPr/>
          </a:p>
          <a:p>
            <a:pPr lvl="3">
              <a:buNone/>
              <a:defRPr/>
            </a:pPr>
            <a:r>
              <a:rPr/>
              <a:t>Fourth level</a:t>
            </a:r>
            <a:endParaRPr/>
          </a:p>
          <a:p>
            <a:pPr lvl="4">
              <a:buNone/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471502868" name="Content Placeholder 3"/>
          <p:cNvSpPr>
            <a:spLocks noGrp="1"/>
          </p:cNvSpPr>
          <p:nvPr>
            <p:ph idx="2"/>
          </p:nvPr>
        </p:nvSpPr>
        <p:spPr bwMode="auto">
          <a:xfrm>
            <a:off x="6172200" y="1825624"/>
            <a:ext cx="5181599" cy="4351338"/>
          </a:xfrm>
        </p:spPr>
        <p:txBody>
          <a:bodyPr/>
          <a:lstStyle>
            <a:lvl1pPr>
              <a:buFont typeface="Arial"/>
              <a:buChar char="•"/>
              <a:defRPr/>
            </a:lvl1pPr>
            <a:lvl2pPr>
              <a:buFont typeface="Arial"/>
              <a:buChar char="•"/>
              <a:defRPr/>
            </a:lvl2pPr>
            <a:lvl3pPr>
              <a:buFont typeface="Arial"/>
              <a:buChar char="•"/>
              <a:defRPr/>
            </a:lvl3pPr>
            <a:lvl4pPr>
              <a:buFont typeface="Arial"/>
              <a:buChar char="•"/>
              <a:defRPr/>
            </a:lvl4pPr>
            <a:lvl5pPr>
              <a:buFont typeface="Arial"/>
              <a:buChar char="•"/>
              <a:defRPr/>
            </a:lvl5pPr>
            <a:lvl6pPr>
              <a:buFont typeface="Arial"/>
              <a:buChar char="•"/>
              <a:defRPr/>
            </a:lvl6pPr>
            <a:lvl7pPr>
              <a:buFont typeface="Arial"/>
              <a:buChar char="•"/>
              <a:defRPr/>
            </a:lvl7pPr>
            <a:lvl8pPr>
              <a:buFont typeface="Arial"/>
              <a:buChar char="•"/>
              <a:defRPr/>
            </a:lvl8pPr>
            <a:lvl9pPr>
              <a:buFont typeface="Arial"/>
              <a:buChar char="•"/>
              <a:defRPr/>
            </a:lvl9pPr>
          </a:lstStyle>
          <a:p>
            <a:pPr lvl="0">
              <a:buNone/>
              <a:defRPr/>
            </a:pPr>
            <a:r>
              <a:rPr/>
              <a:t>Click to edit Master text styles</a:t>
            </a:r>
            <a:endParaRPr/>
          </a:p>
          <a:p>
            <a:pPr lvl="1">
              <a:buNone/>
              <a:defRPr/>
            </a:pPr>
            <a:r>
              <a:rPr/>
              <a:t>Second level</a:t>
            </a:r>
            <a:endParaRPr/>
          </a:p>
          <a:p>
            <a:pPr lvl="2">
              <a:buNone/>
              <a:defRPr/>
            </a:pPr>
            <a:r>
              <a:rPr/>
              <a:t>Third level</a:t>
            </a:r>
            <a:endParaRPr/>
          </a:p>
          <a:p>
            <a:pPr lvl="3">
              <a:buNone/>
              <a:defRPr/>
            </a:pPr>
            <a:r>
              <a:rPr/>
              <a:t>Fourth level</a:t>
            </a:r>
            <a:endParaRPr/>
          </a:p>
          <a:p>
            <a:pPr lvl="4">
              <a:buNone/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187280958" name="Date Placeholder 4"/>
          <p:cNvSpPr>
            <a:spLocks noGrp="1"/>
          </p:cNvSpPr>
          <p:nvPr>
            <p:ph type="dt" idx="10"/>
          </p:nvPr>
        </p:nvSpPr>
        <p:spPr bwMode="auto"/>
        <p:txBody>
          <a:bodyPr/>
          <a:lstStyle/>
          <a:p>
            <a:pPr>
              <a:buNone/>
              <a:defRPr/>
            </a:pPr>
            <a:fld id="{BCC18F51-09EC-435C-A3BA-64A766E099C0}" type="datetimeFigureOut">
              <a:rPr/>
              <a:t>2026/7/31</a:t>
            </a:fld>
            <a:endParaRPr/>
          </a:p>
        </p:txBody>
      </p:sp>
      <p:sp>
        <p:nvSpPr>
          <p:cNvPr id="560372488" name="Footer Placeholder 5"/>
          <p:cNvSpPr>
            <a:spLocks noGrp="1"/>
          </p:cNvSpPr>
          <p:nvPr>
            <p:ph type="ftr" idx="11"/>
          </p:nvPr>
        </p:nvSpPr>
        <p:spPr bwMode="auto"/>
        <p:txBody>
          <a:bodyPr/>
          <a:lstStyle/>
          <a:p>
            <a:pPr>
              <a:buNone/>
              <a:defRPr/>
            </a:pPr>
            <a:endParaRPr/>
          </a:p>
        </p:txBody>
      </p:sp>
      <p:sp>
        <p:nvSpPr>
          <p:cNvPr id="1996101314" name="Slide Number Placeholder 6"/>
          <p:cNvSpPr>
            <a:spLocks noGrp="1"/>
          </p:cNvSpPr>
          <p:nvPr>
            <p:ph type="sldNum" idx="12"/>
          </p:nvPr>
        </p:nvSpPr>
        <p:spPr bwMode="auto"/>
        <p:txBody>
          <a:bodyPr/>
          <a:lstStyle/>
          <a:p>
            <a:pPr>
              <a:buNone/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  <p:sp>
        <p:nvSpPr>
          <p:cNvPr id="544529712" name="Rectangle 640957806"/>
          <p:cNvSpPr>
            <a:spLocks noGrp="1"/>
          </p:cNvSpPr>
          <p:nvPr/>
        </p:nvSpPr>
        <p:spPr bwMode="auto">
          <a:xfrm>
            <a:off x="2070" y="6121172"/>
            <a:ext cx="12213769" cy="72000"/>
          </a:xfrm>
          <a:prstGeom prst="rect">
            <a:avLst/>
          </a:prstGeom>
          <a:solidFill>
            <a:schemeClr val="accent2">
              <a:lumMod val="75000"/>
            </a:schemeClr>
          </a:solidFill>
          <a:ln w="12700" cmpd="sng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6147817" name="Title 1"/>
          <p:cNvSpPr>
            <a:spLocks noGrp="1"/>
          </p:cNvSpPr>
          <p:nvPr>
            <p:ph type="title" idx="0"/>
          </p:nvPr>
        </p:nvSpPr>
        <p:spPr bwMode="auto">
          <a:xfrm>
            <a:off x="839787" y="365124"/>
            <a:ext cx="10515600" cy="1325562"/>
          </a:xfrm>
        </p:spPr>
        <p:txBody>
          <a:bodyPr/>
          <a:lstStyle>
            <a:lvl1pPr algn="ctr">
              <a:buNone/>
              <a:defRPr/>
            </a:lvl1pPr>
            <a:lvl2pPr algn="ctr">
              <a:buNone/>
              <a:defRPr/>
            </a:lvl2pPr>
            <a:lvl3pPr algn="ctr">
              <a:buNone/>
              <a:defRPr/>
            </a:lvl3pPr>
            <a:lvl4pPr algn="ctr">
              <a:buNone/>
              <a:defRPr/>
            </a:lvl4pPr>
            <a:lvl5pPr algn="ctr">
              <a:buNone/>
              <a:defRPr/>
            </a:lvl5pPr>
            <a:lvl6pPr algn="ctr">
              <a:buNone/>
              <a:defRPr/>
            </a:lvl6pPr>
            <a:lvl7pPr algn="ctr">
              <a:buNone/>
              <a:defRPr/>
            </a:lvl7pPr>
            <a:lvl8pPr algn="ctr">
              <a:buNone/>
              <a:defRPr/>
            </a:lvl8pPr>
            <a:lvl9pPr algn="ctr">
              <a:buNone/>
              <a:defRPr/>
            </a:lvl9pPr>
          </a:lstStyle>
          <a:p>
            <a:pPr>
              <a:buNone/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880704562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9786" y="1690686"/>
            <a:ext cx="5157784" cy="814385"/>
          </a:xfrm>
        </p:spPr>
        <p:txBody>
          <a:bodyPr vert="horz" wrap="square" lIns="182880" tIns="182880" rIns="182880" bIns="91440" anchor="ctr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1687574482" name="Content Placeholder 3"/>
          <p:cNvSpPr>
            <a:spLocks noGrp="1"/>
          </p:cNvSpPr>
          <p:nvPr>
            <p:ph idx="2"/>
          </p:nvPr>
        </p:nvSpPr>
        <p:spPr bwMode="auto">
          <a:xfrm>
            <a:off x="839787" y="2505073"/>
            <a:ext cx="5157785" cy="3684587"/>
          </a:xfrm>
        </p:spPr>
        <p:txBody>
          <a:bodyPr/>
          <a:lstStyle>
            <a:lvl1pPr>
              <a:buFont typeface="Arial"/>
              <a:buChar char="•"/>
              <a:defRPr/>
            </a:lvl1pPr>
            <a:lvl2pPr>
              <a:buFont typeface="Arial"/>
              <a:buChar char="•"/>
              <a:defRPr/>
            </a:lvl2pPr>
            <a:lvl3pPr>
              <a:buFont typeface="Arial"/>
              <a:buChar char="•"/>
              <a:defRPr/>
            </a:lvl3pPr>
            <a:lvl4pPr>
              <a:buFont typeface="Arial"/>
              <a:buChar char="•"/>
              <a:defRPr/>
            </a:lvl4pPr>
            <a:lvl5pPr>
              <a:buFont typeface="Arial"/>
              <a:buChar char="•"/>
              <a:defRPr/>
            </a:lvl5pPr>
            <a:lvl6pPr>
              <a:buFont typeface="Arial"/>
              <a:buChar char="•"/>
              <a:defRPr/>
            </a:lvl6pPr>
            <a:lvl7pPr>
              <a:buFont typeface="Arial"/>
              <a:buChar char="•"/>
              <a:defRPr/>
            </a:lvl7pPr>
            <a:lvl8pPr>
              <a:buFont typeface="Arial"/>
              <a:buChar char="•"/>
              <a:defRPr/>
            </a:lvl8pPr>
            <a:lvl9pPr>
              <a:buFont typeface="Arial"/>
              <a:buChar char="•"/>
              <a:defRPr/>
            </a:lvl9pPr>
          </a:lstStyle>
          <a:p>
            <a:pPr lvl="0">
              <a:buNone/>
              <a:defRPr/>
            </a:pPr>
            <a:r>
              <a:rPr/>
              <a:t>Click to edit Master text styles</a:t>
            </a:r>
            <a:endParaRPr/>
          </a:p>
          <a:p>
            <a:pPr lvl="1">
              <a:buNone/>
              <a:defRPr/>
            </a:pPr>
            <a:r>
              <a:rPr/>
              <a:t>Second level</a:t>
            </a:r>
            <a:endParaRPr/>
          </a:p>
          <a:p>
            <a:pPr lvl="2">
              <a:buNone/>
              <a:defRPr/>
            </a:pPr>
            <a:r>
              <a:rPr/>
              <a:t>Third level</a:t>
            </a:r>
            <a:endParaRPr/>
          </a:p>
          <a:p>
            <a:pPr lvl="3">
              <a:buNone/>
              <a:defRPr/>
            </a:pPr>
            <a:r>
              <a:rPr/>
              <a:t>Fourth level</a:t>
            </a:r>
            <a:endParaRPr/>
          </a:p>
          <a:p>
            <a:pPr lvl="4">
              <a:buNone/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058107974" name="Text Placeholder 4"/>
          <p:cNvSpPr>
            <a:spLocks noGrp="1"/>
          </p:cNvSpPr>
          <p:nvPr>
            <p:ph type="body" idx="3"/>
          </p:nvPr>
        </p:nvSpPr>
        <p:spPr bwMode="auto">
          <a:xfrm>
            <a:off x="6172198" y="1690686"/>
            <a:ext cx="5183186" cy="814385"/>
          </a:xfrm>
        </p:spPr>
        <p:txBody>
          <a:bodyPr vert="horz" wrap="square" lIns="182880" tIns="182880" rIns="182880" bIns="91440" anchor="ctr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2074606587" name="Content Placeholder 5"/>
          <p:cNvSpPr>
            <a:spLocks noGrp="1"/>
          </p:cNvSpPr>
          <p:nvPr>
            <p:ph idx="4"/>
          </p:nvPr>
        </p:nvSpPr>
        <p:spPr bwMode="auto">
          <a:xfrm>
            <a:off x="6172200" y="2505073"/>
            <a:ext cx="5183187" cy="3684587"/>
          </a:xfrm>
        </p:spPr>
        <p:txBody>
          <a:bodyPr/>
          <a:lstStyle>
            <a:lvl1pPr>
              <a:buFont typeface="Arial"/>
              <a:buChar char="•"/>
              <a:defRPr/>
            </a:lvl1pPr>
            <a:lvl2pPr>
              <a:buFont typeface="Arial"/>
              <a:buChar char="•"/>
              <a:defRPr/>
            </a:lvl2pPr>
            <a:lvl3pPr>
              <a:buFont typeface="Arial"/>
              <a:buChar char="•"/>
              <a:defRPr/>
            </a:lvl3pPr>
            <a:lvl4pPr>
              <a:buFont typeface="Arial"/>
              <a:buChar char="•"/>
              <a:defRPr/>
            </a:lvl4pPr>
            <a:lvl5pPr>
              <a:buFont typeface="Arial"/>
              <a:buChar char="•"/>
              <a:defRPr/>
            </a:lvl5pPr>
            <a:lvl6pPr>
              <a:buFont typeface="Arial"/>
              <a:buChar char="•"/>
              <a:defRPr/>
            </a:lvl6pPr>
            <a:lvl7pPr>
              <a:buFont typeface="Arial"/>
              <a:buChar char="•"/>
              <a:defRPr/>
            </a:lvl7pPr>
            <a:lvl8pPr>
              <a:buFont typeface="Arial"/>
              <a:buChar char="•"/>
              <a:defRPr/>
            </a:lvl8pPr>
            <a:lvl9pPr>
              <a:buFont typeface="Arial"/>
              <a:buChar char="•"/>
              <a:defRPr/>
            </a:lvl9pPr>
          </a:lstStyle>
          <a:p>
            <a:pPr lvl="0">
              <a:buNone/>
              <a:defRPr/>
            </a:pPr>
            <a:r>
              <a:rPr/>
              <a:t>Click to edit Master text styles</a:t>
            </a:r>
            <a:endParaRPr/>
          </a:p>
          <a:p>
            <a:pPr lvl="1">
              <a:buNone/>
              <a:defRPr/>
            </a:pPr>
            <a:r>
              <a:rPr/>
              <a:t>Second level</a:t>
            </a:r>
            <a:endParaRPr/>
          </a:p>
          <a:p>
            <a:pPr lvl="2">
              <a:buNone/>
              <a:defRPr/>
            </a:pPr>
            <a:r>
              <a:rPr/>
              <a:t>Third level</a:t>
            </a:r>
            <a:endParaRPr/>
          </a:p>
          <a:p>
            <a:pPr lvl="3">
              <a:buNone/>
              <a:defRPr/>
            </a:pPr>
            <a:r>
              <a:rPr/>
              <a:t>Fourth level</a:t>
            </a:r>
            <a:endParaRPr/>
          </a:p>
          <a:p>
            <a:pPr lvl="4">
              <a:buNone/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958170275" name="Date Placeholder 6"/>
          <p:cNvSpPr>
            <a:spLocks noGrp="1"/>
          </p:cNvSpPr>
          <p:nvPr>
            <p:ph type="dt" idx="10"/>
          </p:nvPr>
        </p:nvSpPr>
        <p:spPr bwMode="auto"/>
        <p:txBody>
          <a:bodyPr/>
          <a:lstStyle/>
          <a:p>
            <a:pPr>
              <a:buNone/>
              <a:defRPr/>
            </a:pPr>
            <a:fld id="{BCC18F51-09EC-435C-A3BA-64A766E099C0}" type="datetimeFigureOut">
              <a:rPr/>
              <a:t>2026/7/31</a:t>
            </a:fld>
            <a:endParaRPr/>
          </a:p>
        </p:txBody>
      </p:sp>
      <p:sp>
        <p:nvSpPr>
          <p:cNvPr id="281260431" name="Footer Placeholder 7"/>
          <p:cNvSpPr>
            <a:spLocks noGrp="1"/>
          </p:cNvSpPr>
          <p:nvPr>
            <p:ph type="ftr" idx="11"/>
          </p:nvPr>
        </p:nvSpPr>
        <p:spPr bwMode="auto"/>
        <p:txBody>
          <a:bodyPr/>
          <a:lstStyle/>
          <a:p>
            <a:pPr>
              <a:buNone/>
              <a:defRPr/>
            </a:pPr>
            <a:endParaRPr/>
          </a:p>
        </p:txBody>
      </p:sp>
      <p:sp>
        <p:nvSpPr>
          <p:cNvPr id="449114717" name="Slide Number Placeholder 8"/>
          <p:cNvSpPr>
            <a:spLocks noGrp="1"/>
          </p:cNvSpPr>
          <p:nvPr>
            <p:ph type="sldNum" idx="12"/>
          </p:nvPr>
        </p:nvSpPr>
        <p:spPr bwMode="auto"/>
        <p:txBody>
          <a:bodyPr/>
          <a:lstStyle/>
          <a:p>
            <a:pPr>
              <a:buNone/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  <p:sp>
        <p:nvSpPr>
          <p:cNvPr id="198245200" name="Rectangle 640957806"/>
          <p:cNvSpPr>
            <a:spLocks noGrp="1"/>
          </p:cNvSpPr>
          <p:nvPr/>
        </p:nvSpPr>
        <p:spPr bwMode="auto">
          <a:xfrm>
            <a:off x="2330779" y="1690686"/>
            <a:ext cx="7530436" cy="73152"/>
          </a:xfrm>
          <a:prstGeom prst="rect">
            <a:avLst/>
          </a:prstGeom>
          <a:solidFill>
            <a:schemeClr val="accent2">
              <a:lumMod val="75000"/>
            </a:schemeClr>
          </a:solidFill>
          <a:ln w="12700" cmpd="sng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8455281" name="Title 1"/>
          <p:cNvSpPr>
            <a:spLocks noGrp="1"/>
          </p:cNvSpPr>
          <p:nvPr>
            <p:ph type="title" idx="0"/>
          </p:nvPr>
        </p:nvSpPr>
        <p:spPr bwMode="auto">
          <a:xfrm>
            <a:off x="839787" y="457200"/>
            <a:ext cx="3932236" cy="1600200"/>
          </a:xfrm>
        </p:spPr>
        <p:txBody>
          <a:bodyPr vert="horz" wrap="square" lIns="91440" tIns="45720" rIns="91440" bIns="45720" anchor="ctr">
            <a:normAutofit/>
          </a:bodyPr>
          <a:lstStyle>
            <a:lvl1pPr>
              <a:buNone/>
              <a:defRPr sz="3200">
                <a:solidFill>
                  <a:schemeClr val="bg1"/>
                </a:solidFill>
              </a:defRPr>
            </a:lvl1pPr>
          </a:lstStyle>
          <a:p>
            <a:pPr>
              <a:buNone/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265614322" name="Picture Placeholder 2"/>
          <p:cNvSpPr>
            <a:spLocks noGrp="1"/>
          </p:cNvSpPr>
          <p:nvPr>
            <p:ph type="pic" idx="1"/>
          </p:nvPr>
        </p:nvSpPr>
        <p:spPr bwMode="auto">
          <a:xfrm>
            <a:off x="5183186" y="457198"/>
            <a:ext cx="6172200" cy="5403847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buNone/>
              <a:defRPr/>
            </a:pPr>
            <a:r>
              <a:rPr/>
              <a:t>Click icon to add picture</a:t>
            </a:r>
            <a:endParaRPr/>
          </a:p>
        </p:txBody>
      </p:sp>
      <p:sp>
        <p:nvSpPr>
          <p:cNvPr id="2043651506" name="Text Placeholder 3"/>
          <p:cNvSpPr>
            <a:spLocks noGrp="1"/>
          </p:cNvSpPr>
          <p:nvPr>
            <p:ph type="body" idx="2"/>
          </p:nvPr>
        </p:nvSpPr>
        <p:spPr bwMode="auto">
          <a:xfrm>
            <a:off x="839787" y="2057400"/>
            <a:ext cx="3932236" cy="3811587"/>
          </a:xfr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400"/>
            </a:lvl2pPr>
            <a:lvl3pPr marL="914400" indent="0">
              <a:buNone/>
              <a:defRPr sz="2400"/>
            </a:lvl3pPr>
            <a:lvl4pPr marL="1371600" indent="0">
              <a:buNone/>
              <a:defRPr sz="2400"/>
            </a:lvl4pPr>
            <a:lvl5pPr marL="1828800" indent="0">
              <a:buNone/>
              <a:defRPr sz="2400"/>
            </a:lvl5pPr>
            <a:lvl6pPr marL="2286000" indent="0">
              <a:buNone/>
              <a:defRPr sz="2400"/>
            </a:lvl6pPr>
            <a:lvl7pPr marL="2743200" indent="0">
              <a:buNone/>
              <a:defRPr sz="2400"/>
            </a:lvl7pPr>
            <a:lvl8pPr marL="3200400" indent="0">
              <a:buNone/>
              <a:defRPr sz="2400"/>
            </a:lvl8pPr>
            <a:lvl9pPr marL="3657600" indent="0">
              <a:buNone/>
              <a:defRPr sz="2400"/>
            </a:lvl9pPr>
          </a:lstStyle>
          <a:p>
            <a:pPr lvl="0">
              <a:buNone/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426461849" name="Date Placeholder 4"/>
          <p:cNvSpPr>
            <a:spLocks noGrp="1"/>
          </p:cNvSpPr>
          <p:nvPr>
            <p:ph type="dt" idx="10"/>
          </p:nvPr>
        </p:nvSpPr>
        <p:spPr bwMode="auto"/>
        <p:txBody>
          <a:bodyPr/>
          <a:lstStyle/>
          <a:p>
            <a:pPr>
              <a:buNone/>
              <a:defRPr/>
            </a:pPr>
            <a:fld id="{BCC18F51-09EC-435C-A3BA-64A766E099C0}" type="datetimeFigureOut">
              <a:rPr/>
              <a:t>2026/7/31</a:t>
            </a:fld>
            <a:endParaRPr/>
          </a:p>
        </p:txBody>
      </p:sp>
      <p:sp>
        <p:nvSpPr>
          <p:cNvPr id="636973708" name="Footer Placeholder 5"/>
          <p:cNvSpPr>
            <a:spLocks noGrp="1"/>
          </p:cNvSpPr>
          <p:nvPr>
            <p:ph type="ftr" idx="11"/>
          </p:nvPr>
        </p:nvSpPr>
        <p:spPr bwMode="auto"/>
        <p:txBody>
          <a:bodyPr/>
          <a:lstStyle/>
          <a:p>
            <a:pPr>
              <a:buNone/>
              <a:defRPr/>
            </a:pPr>
            <a:endParaRPr/>
          </a:p>
        </p:txBody>
      </p:sp>
      <p:sp>
        <p:nvSpPr>
          <p:cNvPr id="605607816" name="Slide Number Placeholder 6"/>
          <p:cNvSpPr>
            <a:spLocks noGrp="1"/>
          </p:cNvSpPr>
          <p:nvPr>
            <p:ph type="sldNum" idx="12"/>
          </p:nvPr>
        </p:nvSpPr>
        <p:spPr bwMode="auto"/>
        <p:txBody>
          <a:bodyPr/>
          <a:lstStyle/>
          <a:p>
            <a:pPr>
              <a:buNone/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  <p:sp>
        <p:nvSpPr>
          <p:cNvPr id="234417677" name="Rectangle 640957806"/>
          <p:cNvSpPr>
            <a:spLocks noGrp="1"/>
          </p:cNvSpPr>
          <p:nvPr/>
        </p:nvSpPr>
        <p:spPr bwMode="auto">
          <a:xfrm>
            <a:off x="838197" y="1984248"/>
            <a:ext cx="3933823" cy="73152"/>
          </a:xfrm>
          <a:prstGeom prst="rect">
            <a:avLst/>
          </a:prstGeom>
          <a:solidFill>
            <a:schemeClr val="accent2">
              <a:lumMod val="75000"/>
            </a:schemeClr>
          </a:solidFill>
          <a:ln w="12700" cmpd="sng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715690910" name="Picture 752255626"/>
          <p:cNvPicPr>
            <a:picLocks noChangeAspect="1"/>
          </p:cNvPicPr>
          <p:nvPr/>
        </p:nvPicPr>
        <p:blipFill rotWithShape="1">
          <a:blip r:embed="rId2">
            <a:alphaModFix amt="30000"/>
          </a:blip>
          <a:stretch/>
        </p:blipFill>
        <p:spPr bwMode="auto">
          <a:xfrm>
            <a:off x="20620" y="8103"/>
            <a:ext cx="12216844" cy="6858000"/>
          </a:xfrm>
          <a:prstGeom prst="rect">
            <a:avLst/>
          </a:prstGeom>
        </p:spPr>
      </p:pic>
      <p:sp>
        <p:nvSpPr>
          <p:cNvPr id="147754309" name="Title 1"/>
          <p:cNvSpPr>
            <a:spLocks noGrp="1"/>
          </p:cNvSpPr>
          <p:nvPr>
            <p:ph type="title" idx="0"/>
          </p:nvPr>
        </p:nvSpPr>
        <p:spPr bwMode="auto">
          <a:xfrm>
            <a:off x="838197" y="2455619"/>
            <a:ext cx="10515600" cy="1325561"/>
          </a:xfrm>
        </p:spPr>
        <p:txBody>
          <a:bodyPr/>
          <a:lstStyle>
            <a:lvl1pPr algn="ctr">
              <a:buNone/>
              <a:defRPr>
                <a:solidFill>
                  <a:schemeClr val="bg1"/>
                </a:solidFill>
              </a:defRPr>
            </a:lvl1pPr>
            <a:lvl2pPr algn="ctr">
              <a:buNone/>
              <a:defRPr>
                <a:solidFill>
                  <a:schemeClr val="bg1"/>
                </a:solidFill>
              </a:defRPr>
            </a:lvl2pPr>
            <a:lvl3pPr algn="ctr">
              <a:buNone/>
              <a:defRPr>
                <a:solidFill>
                  <a:schemeClr val="bg1"/>
                </a:solidFill>
              </a:defRPr>
            </a:lvl3pPr>
            <a:lvl4pPr algn="ctr">
              <a:buNone/>
              <a:defRPr>
                <a:solidFill>
                  <a:schemeClr val="bg1"/>
                </a:solidFill>
              </a:defRPr>
            </a:lvl4pPr>
            <a:lvl5pPr algn="ctr">
              <a:buNone/>
              <a:defRPr>
                <a:solidFill>
                  <a:schemeClr val="bg1"/>
                </a:solidFill>
              </a:defRPr>
            </a:lvl5pPr>
            <a:lvl6pPr algn="ctr">
              <a:buNone/>
              <a:defRPr>
                <a:solidFill>
                  <a:schemeClr val="bg1"/>
                </a:solidFill>
              </a:defRPr>
            </a:lvl6pPr>
            <a:lvl7pPr algn="ctr">
              <a:buNone/>
              <a:defRPr>
                <a:solidFill>
                  <a:schemeClr val="bg1"/>
                </a:solidFill>
              </a:defRPr>
            </a:lvl7pPr>
            <a:lvl8pPr algn="ctr">
              <a:buNone/>
              <a:defRPr>
                <a:solidFill>
                  <a:schemeClr val="bg1"/>
                </a:solidFill>
              </a:defRPr>
            </a:lvl8pPr>
            <a:lvl9pPr algn="ctr">
              <a:buNone/>
              <a:defRPr>
                <a:solidFill>
                  <a:schemeClr val="bg1"/>
                </a:solidFill>
              </a:defRPr>
            </a:lvl9pPr>
          </a:lstStyle>
          <a:p>
            <a:pPr>
              <a:buNone/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848444080" name="Date Placeholder 2"/>
          <p:cNvSpPr>
            <a:spLocks noGrp="1"/>
          </p:cNvSpPr>
          <p:nvPr>
            <p:ph type="dt" idx="10"/>
          </p:nvPr>
        </p:nvSpPr>
        <p:spPr bwMode="auto"/>
        <p:txBody>
          <a:bodyPr/>
          <a:lstStyle/>
          <a:p>
            <a:pPr>
              <a:buNone/>
              <a:defRPr/>
            </a:pPr>
            <a:fld id="{BCC18F51-09EC-435C-A3BA-64A766E099C0}" type="datetimeFigureOut">
              <a:rPr/>
              <a:t>2026/7/31</a:t>
            </a:fld>
            <a:endParaRPr/>
          </a:p>
        </p:txBody>
      </p:sp>
      <p:sp>
        <p:nvSpPr>
          <p:cNvPr id="267969759" name="Footer Placeholder 3"/>
          <p:cNvSpPr>
            <a:spLocks noGrp="1"/>
          </p:cNvSpPr>
          <p:nvPr>
            <p:ph type="ftr" idx="11"/>
          </p:nvPr>
        </p:nvSpPr>
        <p:spPr bwMode="auto"/>
        <p:txBody>
          <a:bodyPr/>
          <a:lstStyle/>
          <a:p>
            <a:pPr>
              <a:buNone/>
              <a:defRPr/>
            </a:pPr>
            <a:endParaRPr/>
          </a:p>
        </p:txBody>
      </p:sp>
      <p:sp>
        <p:nvSpPr>
          <p:cNvPr id="291619636" name="Slide Number Placeholder 4"/>
          <p:cNvSpPr>
            <a:spLocks noGrp="1"/>
          </p:cNvSpPr>
          <p:nvPr>
            <p:ph type="sldNum" idx="12"/>
          </p:nvPr>
        </p:nvSpPr>
        <p:spPr bwMode="auto"/>
        <p:txBody>
          <a:bodyPr/>
          <a:lstStyle/>
          <a:p>
            <a:pPr>
              <a:buNone/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15150970" name="Date Placeholder 1"/>
          <p:cNvSpPr>
            <a:spLocks noGrp="1"/>
          </p:cNvSpPr>
          <p:nvPr>
            <p:ph type="dt" idx="10"/>
          </p:nvPr>
        </p:nvSpPr>
        <p:spPr bwMode="auto"/>
        <p:txBody>
          <a:bodyPr/>
          <a:lstStyle/>
          <a:p>
            <a:pPr>
              <a:buNone/>
              <a:defRPr/>
            </a:pPr>
            <a:fld id="{BCC18F51-09EC-435C-A3BA-64A766E099C0}" type="datetimeFigureOut">
              <a:rPr/>
              <a:t>2026/7/31</a:t>
            </a:fld>
            <a:endParaRPr/>
          </a:p>
        </p:txBody>
      </p:sp>
      <p:sp>
        <p:nvSpPr>
          <p:cNvPr id="1078737159" name="Footer Placeholder 2"/>
          <p:cNvSpPr>
            <a:spLocks noGrp="1"/>
          </p:cNvSpPr>
          <p:nvPr>
            <p:ph type="ftr" idx="11"/>
          </p:nvPr>
        </p:nvSpPr>
        <p:spPr bwMode="auto"/>
        <p:txBody>
          <a:bodyPr/>
          <a:lstStyle/>
          <a:p>
            <a:pPr>
              <a:buNone/>
              <a:defRPr/>
            </a:pPr>
            <a:endParaRPr/>
          </a:p>
        </p:txBody>
      </p:sp>
      <p:sp>
        <p:nvSpPr>
          <p:cNvPr id="1359245556" name="Slide Number Placeholder 3"/>
          <p:cNvSpPr>
            <a:spLocks noGrp="1"/>
          </p:cNvSpPr>
          <p:nvPr>
            <p:ph type="sldNum" idx="12"/>
          </p:nvPr>
        </p:nvSpPr>
        <p:spPr bwMode="auto"/>
        <p:txBody>
          <a:bodyPr/>
          <a:lstStyle/>
          <a:p>
            <a:pPr>
              <a:buNone/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4207516" name="Title 1"/>
          <p:cNvSpPr>
            <a:spLocks noGrp="1"/>
          </p:cNvSpPr>
          <p:nvPr>
            <p:ph type="title" idx="0"/>
          </p:nvPr>
        </p:nvSpPr>
        <p:spPr bwMode="auto">
          <a:xfrm>
            <a:off x="839787" y="457200"/>
            <a:ext cx="3932236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pPr>
              <a:buNone/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494272674" name="Content Placeholder 2"/>
          <p:cNvSpPr>
            <a:spLocks noGrp="1"/>
          </p:cNvSpPr>
          <p:nvPr>
            <p:ph idx="1"/>
          </p:nvPr>
        </p:nvSpPr>
        <p:spPr bwMode="auto">
          <a:xfrm>
            <a:off x="5183187" y="987424"/>
            <a:ext cx="6172200" cy="4873624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 lvl="0">
              <a:buNone/>
              <a:defRPr/>
            </a:pPr>
            <a:r>
              <a:rPr/>
              <a:t>Click to edit Master text styles</a:t>
            </a:r>
            <a:endParaRPr/>
          </a:p>
          <a:p>
            <a:pPr lvl="1">
              <a:buNone/>
              <a:defRPr/>
            </a:pPr>
            <a:r>
              <a:rPr/>
              <a:t>Second level</a:t>
            </a:r>
            <a:endParaRPr/>
          </a:p>
          <a:p>
            <a:pPr lvl="2">
              <a:buNone/>
              <a:defRPr/>
            </a:pPr>
            <a:r>
              <a:rPr/>
              <a:t>Third level</a:t>
            </a:r>
            <a:endParaRPr/>
          </a:p>
          <a:p>
            <a:pPr lvl="3">
              <a:buNone/>
              <a:defRPr/>
            </a:pPr>
            <a:r>
              <a:rPr/>
              <a:t>Fourth level</a:t>
            </a:r>
            <a:endParaRPr/>
          </a:p>
          <a:p>
            <a:pPr lvl="4">
              <a:buNone/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1402257160" name="Text Placeholder 3"/>
          <p:cNvSpPr>
            <a:spLocks noGrp="1"/>
          </p:cNvSpPr>
          <p:nvPr>
            <p:ph type="body" idx="2"/>
          </p:nvPr>
        </p:nvSpPr>
        <p:spPr bwMode="auto">
          <a:xfrm>
            <a:off x="839787" y="2057400"/>
            <a:ext cx="3932236" cy="381158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  <a:defRPr/>
            </a:pPr>
            <a:r>
              <a:rPr/>
              <a:t>Click to edit Master text styles</a:t>
            </a:r>
            <a:endParaRPr/>
          </a:p>
        </p:txBody>
      </p:sp>
      <p:sp>
        <p:nvSpPr>
          <p:cNvPr id="359730368" name="Date Placeholder 4"/>
          <p:cNvSpPr>
            <a:spLocks noGrp="1"/>
          </p:cNvSpPr>
          <p:nvPr>
            <p:ph type="dt" idx="10"/>
          </p:nvPr>
        </p:nvSpPr>
        <p:spPr bwMode="auto"/>
        <p:txBody>
          <a:bodyPr/>
          <a:lstStyle/>
          <a:p>
            <a:pPr>
              <a:buNone/>
              <a:defRPr/>
            </a:pPr>
            <a:fld id="{BCC18F51-09EC-435C-A3BA-64A766E099C0}" type="datetimeFigureOut">
              <a:rPr/>
              <a:t>2026/7/31</a:t>
            </a:fld>
            <a:endParaRPr/>
          </a:p>
        </p:txBody>
      </p:sp>
      <p:sp>
        <p:nvSpPr>
          <p:cNvPr id="1968105915" name="Footer Placeholder 5"/>
          <p:cNvSpPr>
            <a:spLocks noGrp="1"/>
          </p:cNvSpPr>
          <p:nvPr>
            <p:ph type="ftr" idx="11"/>
          </p:nvPr>
        </p:nvSpPr>
        <p:spPr bwMode="auto"/>
        <p:txBody>
          <a:bodyPr/>
          <a:lstStyle/>
          <a:p>
            <a:pPr>
              <a:buNone/>
              <a:defRPr/>
            </a:pPr>
            <a:endParaRPr/>
          </a:p>
        </p:txBody>
      </p:sp>
      <p:sp>
        <p:nvSpPr>
          <p:cNvPr id="1376003516" name="Slide Number Placeholder 6"/>
          <p:cNvSpPr>
            <a:spLocks noGrp="1"/>
          </p:cNvSpPr>
          <p:nvPr>
            <p:ph type="sldNum" idx="12"/>
          </p:nvPr>
        </p:nvSpPr>
        <p:spPr bwMode="auto"/>
        <p:txBody>
          <a:bodyPr/>
          <a:lstStyle/>
          <a:p>
            <a:pPr>
              <a:buNone/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37683901" name="Title 1"/>
          <p:cNvSpPr>
            <a:spLocks noGrp="1"/>
          </p:cNvSpPr>
          <p:nvPr>
            <p:ph type="title" idx="0"/>
          </p:nvPr>
        </p:nvSpPr>
        <p:spPr bwMode="auto"/>
        <p:txBody>
          <a:bodyPr/>
          <a:lstStyle/>
          <a:p>
            <a:pPr>
              <a:buNone/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1045110999" name="Vertical Text Placeholder 2"/>
          <p:cNvSpPr>
            <a:spLocks noGrp="1"/>
          </p:cNvSpPr>
          <p:nvPr>
            <p:ph type="body" idx="1"/>
          </p:nvPr>
        </p:nvSpPr>
        <p:spPr bwMode="auto"/>
        <p:txBody>
          <a:bodyPr vert="eaVert"/>
          <a:lstStyle/>
          <a:p>
            <a:pPr lvl="0">
              <a:buNone/>
              <a:defRPr/>
            </a:pPr>
            <a:r>
              <a:rPr/>
              <a:t>Click to edit Master text styles</a:t>
            </a:r>
            <a:endParaRPr/>
          </a:p>
          <a:p>
            <a:pPr lvl="1">
              <a:buNone/>
              <a:defRPr/>
            </a:pPr>
            <a:r>
              <a:rPr/>
              <a:t>Second level</a:t>
            </a:r>
            <a:endParaRPr/>
          </a:p>
          <a:p>
            <a:pPr lvl="2">
              <a:buNone/>
              <a:defRPr/>
            </a:pPr>
            <a:r>
              <a:rPr/>
              <a:t>Third level</a:t>
            </a:r>
            <a:endParaRPr/>
          </a:p>
          <a:p>
            <a:pPr lvl="3">
              <a:buNone/>
              <a:defRPr/>
            </a:pPr>
            <a:r>
              <a:rPr/>
              <a:t>Fourth level</a:t>
            </a:r>
            <a:endParaRPr/>
          </a:p>
          <a:p>
            <a:pPr lvl="4">
              <a:buNone/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745786060" name="Date Placeholder 3"/>
          <p:cNvSpPr>
            <a:spLocks noGrp="1"/>
          </p:cNvSpPr>
          <p:nvPr>
            <p:ph type="dt" idx="10"/>
          </p:nvPr>
        </p:nvSpPr>
        <p:spPr bwMode="auto"/>
        <p:txBody>
          <a:bodyPr/>
          <a:lstStyle/>
          <a:p>
            <a:pPr>
              <a:buNone/>
              <a:defRPr/>
            </a:pPr>
            <a:fld id="{BCC18F51-09EC-435C-A3BA-64A766E099C0}" type="datetimeFigureOut">
              <a:rPr/>
              <a:t>2026/7/31</a:t>
            </a:fld>
            <a:endParaRPr/>
          </a:p>
        </p:txBody>
      </p:sp>
      <p:sp>
        <p:nvSpPr>
          <p:cNvPr id="2053783912" name="Footer Placeholder 4"/>
          <p:cNvSpPr>
            <a:spLocks noGrp="1"/>
          </p:cNvSpPr>
          <p:nvPr>
            <p:ph type="ftr" idx="11"/>
          </p:nvPr>
        </p:nvSpPr>
        <p:spPr bwMode="auto"/>
        <p:txBody>
          <a:bodyPr/>
          <a:lstStyle/>
          <a:p>
            <a:pPr>
              <a:buNone/>
              <a:defRPr/>
            </a:pPr>
            <a:endParaRPr/>
          </a:p>
        </p:txBody>
      </p:sp>
      <p:sp>
        <p:nvSpPr>
          <p:cNvPr id="1029660015" name="Slide Number Placeholder 5"/>
          <p:cNvSpPr>
            <a:spLocks noGrp="1"/>
          </p:cNvSpPr>
          <p:nvPr>
            <p:ph type="sldNum" idx="12"/>
          </p:nvPr>
        </p:nvSpPr>
        <p:spPr bwMode="auto"/>
        <p:txBody>
          <a:bodyPr/>
          <a:lstStyle/>
          <a:p>
            <a:pPr>
              <a:buNone/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79781027" name="Vertical Title 1"/>
          <p:cNvSpPr>
            <a:spLocks noGrp="1"/>
          </p:cNvSpPr>
          <p:nvPr>
            <p:ph type="title" idx="0"/>
          </p:nvPr>
        </p:nvSpPr>
        <p:spPr bwMode="auto">
          <a:xfrm>
            <a:off x="8724899" y="365124"/>
            <a:ext cx="2628900" cy="5811837"/>
          </a:xfrm>
        </p:spPr>
        <p:txBody>
          <a:bodyPr vert="eaVert"/>
          <a:lstStyle/>
          <a:p>
            <a:pPr>
              <a:buNone/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597623722" name="Vertical Text Placeholder 2"/>
          <p:cNvSpPr>
            <a:spLocks noGrp="1"/>
          </p:cNvSpPr>
          <p:nvPr>
            <p:ph type="body" idx="1"/>
          </p:nvPr>
        </p:nvSpPr>
        <p:spPr bwMode="auto">
          <a:xfrm>
            <a:off x="838198" y="365124"/>
            <a:ext cx="7734299" cy="5811837"/>
          </a:xfrm>
        </p:spPr>
        <p:txBody>
          <a:bodyPr vert="eaVert"/>
          <a:lstStyle/>
          <a:p>
            <a:pPr lvl="0">
              <a:buNone/>
              <a:defRPr/>
            </a:pPr>
            <a:r>
              <a:rPr/>
              <a:t>Click to edit Master text styles</a:t>
            </a:r>
            <a:endParaRPr/>
          </a:p>
          <a:p>
            <a:pPr lvl="1">
              <a:buNone/>
              <a:defRPr/>
            </a:pPr>
            <a:r>
              <a:rPr/>
              <a:t>Second level</a:t>
            </a:r>
            <a:endParaRPr/>
          </a:p>
          <a:p>
            <a:pPr lvl="2">
              <a:buNone/>
              <a:defRPr/>
            </a:pPr>
            <a:r>
              <a:rPr/>
              <a:t>Third level</a:t>
            </a:r>
            <a:endParaRPr/>
          </a:p>
          <a:p>
            <a:pPr lvl="3">
              <a:buNone/>
              <a:defRPr/>
            </a:pPr>
            <a:r>
              <a:rPr/>
              <a:t>Fourth level</a:t>
            </a:r>
            <a:endParaRPr/>
          </a:p>
          <a:p>
            <a:pPr lvl="4">
              <a:buNone/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333371197" name="Date Placeholder 3"/>
          <p:cNvSpPr>
            <a:spLocks noGrp="1"/>
          </p:cNvSpPr>
          <p:nvPr>
            <p:ph type="dt" idx="10"/>
          </p:nvPr>
        </p:nvSpPr>
        <p:spPr bwMode="auto"/>
        <p:txBody>
          <a:bodyPr/>
          <a:lstStyle/>
          <a:p>
            <a:pPr>
              <a:buNone/>
              <a:defRPr/>
            </a:pPr>
            <a:fld id="{BCC18F51-09EC-435C-A3BA-64A766E099C0}" type="datetimeFigureOut">
              <a:rPr/>
              <a:t>2026/7/31</a:t>
            </a:fld>
            <a:endParaRPr/>
          </a:p>
        </p:txBody>
      </p:sp>
      <p:sp>
        <p:nvSpPr>
          <p:cNvPr id="172444569" name="Footer Placeholder 4"/>
          <p:cNvSpPr>
            <a:spLocks noGrp="1"/>
          </p:cNvSpPr>
          <p:nvPr>
            <p:ph type="ftr" idx="11"/>
          </p:nvPr>
        </p:nvSpPr>
        <p:spPr bwMode="auto"/>
        <p:txBody>
          <a:bodyPr/>
          <a:lstStyle/>
          <a:p>
            <a:pPr>
              <a:buNone/>
              <a:defRPr/>
            </a:pPr>
            <a:endParaRPr/>
          </a:p>
        </p:txBody>
      </p:sp>
      <p:sp>
        <p:nvSpPr>
          <p:cNvPr id="1191082587" name="Slide Number Placeholder 5"/>
          <p:cNvSpPr>
            <a:spLocks noGrp="1"/>
          </p:cNvSpPr>
          <p:nvPr>
            <p:ph type="sldNum" idx="12"/>
          </p:nvPr>
        </p:nvSpPr>
        <p:spPr bwMode="auto"/>
        <p:txBody>
          <a:bodyPr/>
          <a:lstStyle/>
          <a:p>
            <a:pPr>
              <a:buNone/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3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75074337" name="Title Placeholder 1"/>
          <p:cNvSpPr>
            <a:spLocks noGrp="1"/>
          </p:cNvSpPr>
          <p:nvPr>
            <p:ph type="title" idx="0"/>
          </p:nvPr>
        </p:nvSpPr>
        <p:spPr bwMode="auto">
          <a:xfrm>
            <a:off x="838198" y="365124"/>
            <a:ext cx="10515600" cy="1325562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>
            <a:lvl1pPr>
              <a:buNone/>
              <a:defRPr b="1"/>
            </a:lvl1pPr>
          </a:lstStyle>
          <a:p>
            <a:pPr>
              <a:buNone/>
              <a:defRPr/>
            </a:pPr>
            <a:r>
              <a:rPr/>
              <a:t>Click to edit Master title style</a:t>
            </a:r>
            <a:endParaRPr/>
          </a:p>
        </p:txBody>
      </p:sp>
      <p:sp>
        <p:nvSpPr>
          <p:cNvPr id="204749568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41248" y="1828800"/>
            <a:ext cx="10515600" cy="4351338"/>
          </a:xfrm>
          <a:prstGeom prst="rect">
            <a:avLst/>
          </a:prstGeom>
        </p:spPr>
        <p:txBody>
          <a:bodyPr vert="horz" wrap="square" lIns="182880" tIns="182880" rIns="182880" bIns="91440" anchor="t"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lvl="0">
              <a:buNone/>
              <a:defRPr/>
            </a:pPr>
            <a:r>
              <a:rPr/>
              <a:t>Click to edit Master text styles</a:t>
            </a:r>
            <a:endParaRPr/>
          </a:p>
          <a:p>
            <a:pPr lvl="1">
              <a:buNone/>
              <a:defRPr/>
            </a:pPr>
            <a:r>
              <a:rPr/>
              <a:t>Second level</a:t>
            </a:r>
            <a:endParaRPr/>
          </a:p>
          <a:p>
            <a:pPr lvl="2">
              <a:buNone/>
              <a:defRPr/>
            </a:pPr>
            <a:r>
              <a:rPr/>
              <a:t>Third level</a:t>
            </a:r>
            <a:endParaRPr/>
          </a:p>
          <a:p>
            <a:pPr lvl="3">
              <a:buNone/>
              <a:defRPr/>
            </a:pPr>
            <a:r>
              <a:rPr/>
              <a:t>Fourth level</a:t>
            </a:r>
            <a:endParaRPr/>
          </a:p>
          <a:p>
            <a:pPr lvl="4">
              <a:buNone/>
              <a:defRPr/>
            </a:pPr>
            <a:r>
              <a:rPr/>
              <a:t>Fifth level</a:t>
            </a:r>
            <a:endParaRPr/>
          </a:p>
        </p:txBody>
      </p:sp>
      <p:sp>
        <p:nvSpPr>
          <p:cNvPr id="965871932" name="Date Placeholder 3"/>
          <p:cNvSpPr>
            <a:spLocks noGrp="1"/>
          </p:cNvSpPr>
          <p:nvPr>
            <p:ph type="dt" idx="2"/>
          </p:nvPr>
        </p:nvSpPr>
        <p:spPr bwMode="auto">
          <a:xfrm>
            <a:off x="838198" y="6356349"/>
            <a:ext cx="2743200" cy="365124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buNone/>
              <a:defRPr/>
            </a:pPr>
            <a:fld id="{BCC18F51-09EC-435C-A3BA-64A766E099C0}" type="datetimeFigureOut">
              <a:rPr/>
              <a:t>2026/7/31</a:t>
            </a:fld>
            <a:endParaRPr/>
          </a:p>
        </p:txBody>
      </p:sp>
      <p:sp>
        <p:nvSpPr>
          <p:cNvPr id="220605616" name="Footer Placeholder 4"/>
          <p:cNvSpPr>
            <a:spLocks noGrp="1"/>
          </p:cNvSpPr>
          <p:nvPr>
            <p:ph type="ftr" idx="3"/>
          </p:nvPr>
        </p:nvSpPr>
        <p:spPr bwMode="auto">
          <a:xfrm>
            <a:off x="4038598" y="6356349"/>
            <a:ext cx="4114800" cy="365124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buNone/>
              <a:defRPr/>
            </a:pPr>
            <a:endParaRPr/>
          </a:p>
        </p:txBody>
      </p:sp>
      <p:sp>
        <p:nvSpPr>
          <p:cNvPr id="540950797" name="Slide Number Placeholder 5"/>
          <p:cNvSpPr>
            <a:spLocks noGrp="1"/>
          </p:cNvSpPr>
          <p:nvPr>
            <p:ph type="sldNum" idx="4"/>
          </p:nvPr>
        </p:nvSpPr>
        <p:spPr bwMode="auto">
          <a:xfrm>
            <a:off x="8610599" y="6356349"/>
            <a:ext cx="2743200" cy="365124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buNone/>
              <a:defRPr/>
            </a:pPr>
            <a:fld id="{08395586-F03A-48D1-94DF-16B239DF4FB5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 defTabSz="914400">
        <a:lnSpc>
          <a:spcPct val="90000"/>
        </a:lnSpc>
        <a:spcBef>
          <a:spcPts val="999"/>
        </a:spcBef>
        <a:buFont typeface="Arial"/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 defTabSz="914400">
        <a:lnSpc>
          <a:spcPct val="90000"/>
        </a:lnSpc>
        <a:spcBef>
          <a:spcPts val="499"/>
        </a:spcBef>
        <a:buFont typeface="Arial"/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lnSpc>
          <a:spcPct val="90000"/>
        </a:lnSpc>
        <a:spcBef>
          <a:spcPts val="499"/>
        </a:spcBef>
        <a:buFont typeface="Arial"/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lnSpc>
          <a:spcPct val="90000"/>
        </a:lnSpc>
        <a:spcBef>
          <a:spcPts val="499"/>
        </a:spcBef>
        <a:buFont typeface="Arial"/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lnSpc>
          <a:spcPct val="90000"/>
        </a:lnSpc>
        <a:spcBef>
          <a:spcPts val="499"/>
        </a:spcBef>
        <a:buFont typeface="Arial"/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599" indent="-228600" algn="l" defTabSz="914400">
        <a:lnSpc>
          <a:spcPct val="90000"/>
        </a:lnSpc>
        <a:spcBef>
          <a:spcPts val="499"/>
        </a:spcBef>
        <a:buFont typeface="Arial"/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499"/>
        </a:spcBef>
        <a:buFont typeface="Arial"/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499"/>
        </a:spcBef>
        <a:buFont typeface="Arial"/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499"/>
        </a:spcBef>
        <a:buFont typeface="Arial"/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cdn.openai.com/papers/gpt-4-system-card.pdf" TargetMode="Externa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openai.com/index/openai-o1-system-card/" TargetMode="Externa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www.anthropic.com/claude-4-system-card" TargetMode="Externa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s://openai.com/index/hugging-face-model-evaluation-security-incident/" TargetMode="Externa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s://www.anthropic.com/news/investigating-incidents-cybersecurity-evals" TargetMode="Externa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8032819" name="section-title"/>
          <p:cNvSpPr>
            <a:spLocks noGrp="1"/>
          </p:cNvSpPr>
          <p:nvPr/>
        </p:nvSpPr>
        <p:spPr bwMode="auto">
          <a:xfrm>
            <a:off x="857250" y="2876549"/>
            <a:ext cx="104775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b="1" i="0">
                <a:solidFill>
                  <a:srgbClr val="17203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4050" b="1" i="0" u="none" cap="none">
                <a:solidFill>
                  <a:srgbClr val="172033"/>
                </a:solidFill>
                <a:latin typeface="Times New Roman"/>
                <a:ea typeface="Times New Roman"/>
                <a:cs typeface="Times New Roman"/>
              </a:rPr>
              <a:t>LLM Security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9130211" name="Rectangle 197505908"/>
          <p:cNvSpPr>
            <a:spLocks noGrp="1"/>
          </p:cNvSpPr>
          <p:nvPr/>
        </p:nvSpPr>
        <p:spPr bwMode="auto">
          <a:xfrm>
            <a:off x="609599" y="323849"/>
            <a:ext cx="4000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200" b="1">
                <a:solidFill>
                  <a:srgbClr val="2965E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>
                <a:solidFill>
                  <a:srgbClr val="2965EC"/>
                </a:solidFill>
                <a:latin typeface="Times New Roman"/>
                <a:ea typeface="Times New Roman"/>
                <a:cs typeface="Times New Roman"/>
              </a:rPr>
              <a:t>DATA LEAKAGE</a:t>
            </a:r>
            <a:endParaRPr/>
          </a:p>
        </p:txBody>
      </p:sp>
      <p:sp>
        <p:nvSpPr>
          <p:cNvPr id="830112187" name="Rectangle 1909048147"/>
          <p:cNvSpPr>
            <a:spLocks noGrp="1"/>
          </p:cNvSpPr>
          <p:nvPr/>
        </p:nvSpPr>
        <p:spPr bwMode="auto">
          <a:xfrm>
            <a:off x="609599" y="590548"/>
            <a:ext cx="9334500" cy="59054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3000" b="1">
                <a:solidFill>
                  <a:srgbClr val="0B0F19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000" b="1">
                <a:solidFill>
                  <a:srgbClr val="0B0F19"/>
                </a:solidFill>
                <a:latin typeface="Times New Roman"/>
                <a:ea typeface="Times New Roman"/>
                <a:cs typeface="Times New Roman"/>
              </a:rPr>
              <a:t>Sensitive Data Crosses Trust Boundaries</a:t>
            </a:r>
            <a:endParaRPr/>
          </a:p>
        </p:txBody>
      </p:sp>
      <p:sp>
        <p:nvSpPr>
          <p:cNvPr id="563437795" name="Rectangle: Rounded Corners 816331080"/>
          <p:cNvSpPr>
            <a:spLocks noGrp="1"/>
          </p:cNvSpPr>
          <p:nvPr/>
        </p:nvSpPr>
        <p:spPr bwMode="auto">
          <a:xfrm>
            <a:off x="609599" y="1352549"/>
            <a:ext cx="10972800" cy="4762499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14288">
            <a:solidFill>
              <a:srgbClr val="E2E8F0"/>
            </a:solidFill>
            <a:prstDash val="solid"/>
          </a:ln>
        </p:spPr>
        <p:txBody>
          <a:bodyPr/>
          <a:lstStyle/>
          <a:p>
            <a:pPr>
              <a:buNone/>
              <a:defRPr/>
            </a:pPr>
            <a:endParaRPr/>
          </a:p>
        </p:txBody>
      </p:sp>
      <p:sp>
        <p:nvSpPr>
          <p:cNvPr id="1869637542" name="Rectangle 191215672"/>
          <p:cNvSpPr>
            <a:spLocks noGrp="1"/>
          </p:cNvSpPr>
          <p:nvPr/>
        </p:nvSpPr>
        <p:spPr bwMode="auto">
          <a:xfrm>
            <a:off x="11106150" y="6286500"/>
            <a:ext cx="476249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buNone/>
              <a:defRPr sz="1000" b="0">
                <a:solidFill>
                  <a:srgbClr val="66708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00" b="0">
                <a:solidFill>
                  <a:srgbClr val="667085"/>
                </a:solidFill>
                <a:latin typeface="Times New Roman"/>
                <a:ea typeface="Times New Roman"/>
                <a:cs typeface="Times New Roman"/>
              </a:rPr>
              <a:t>1</a:t>
            </a:r>
            <a:endParaRPr/>
          </a:p>
        </p:txBody>
      </p:sp>
      <p:sp>
        <p:nvSpPr>
          <p:cNvPr id="1409099003" name="data-leakage-arrow-1"/>
          <p:cNvSpPr>
            <a:spLocks noGrp="1"/>
          </p:cNvSpPr>
          <p:nvPr/>
        </p:nvSpPr>
        <p:spPr bwMode="auto">
          <a:xfrm>
            <a:off x="4133849" y="3267074"/>
            <a:ext cx="457200" cy="2667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60A5FA"/>
          </a:solidFill>
          <a:ln w="0">
            <a:solidFill>
              <a:srgbClr val="60A5FA"/>
            </a:solidFill>
            <a:prstDash val="solid"/>
          </a:ln>
        </p:spPr>
      </p:sp>
      <p:sp>
        <p:nvSpPr>
          <p:cNvPr id="1571005726" name="data-leakage-arrow-2"/>
          <p:cNvSpPr>
            <a:spLocks noGrp="1"/>
          </p:cNvSpPr>
          <p:nvPr/>
        </p:nvSpPr>
        <p:spPr bwMode="auto">
          <a:xfrm>
            <a:off x="7353299" y="3267074"/>
            <a:ext cx="457200" cy="2667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DC2626"/>
          </a:solidFill>
          <a:ln w="0">
            <a:solidFill>
              <a:srgbClr val="DC2626"/>
            </a:solidFill>
            <a:prstDash val="solid"/>
          </a:ln>
        </p:spPr>
      </p:sp>
      <p:sp>
        <p:nvSpPr>
          <p:cNvPr id="312771519" name="data-leakage-1-enters"/>
          <p:cNvSpPr>
            <a:spLocks noGrp="1"/>
          </p:cNvSpPr>
          <p:nvPr/>
        </p:nvSpPr>
        <p:spPr bwMode="auto">
          <a:xfrm>
            <a:off x="1219199" y="1866899"/>
            <a:ext cx="2838450" cy="3028950"/>
          </a:xfrm>
          <a:prstGeom prst="roundRect">
            <a:avLst>
              <a:gd name="adj" fmla="val 4027"/>
            </a:avLst>
          </a:prstGeom>
          <a:solidFill>
            <a:srgbClr val="EAF2FF"/>
          </a:solidFill>
          <a:ln w="14288">
            <a:solidFill>
              <a:srgbClr val="2563EB"/>
            </a:solidFill>
            <a:prstDash val="solid"/>
          </a:ln>
        </p:spPr>
        <p:style>
          <a:lnRef idx="0"/>
          <a:fillRef idx="0"/>
          <a:effectRef idx="4"/>
          <a:fontRef idx="major"/>
        </p:style>
      </p:sp>
      <p:sp>
        <p:nvSpPr>
          <p:cNvPr id="1074169162" name=""/>
          <p:cNvSpPr>
            <a:spLocks noGrp="1"/>
          </p:cNvSpPr>
          <p:nvPr/>
        </p:nvSpPr>
        <p:spPr bwMode="auto">
          <a:xfrm>
            <a:off x="1409699" y="2019299"/>
            <a:ext cx="24574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00" b="1">
                <a:solidFill>
                  <a:srgbClr val="2563EB"/>
                </a:solidFill>
              </a:defRPr>
            </a:pPr>
            <a:r>
              <a:rPr sz="1300" b="1">
                <a:solidFill>
                  <a:srgbClr val="2563EB"/>
                </a:solidFill>
              </a:rPr>
              <a:t>1  ENTERS</a:t>
            </a:r>
            <a:endParaRPr/>
          </a:p>
        </p:txBody>
      </p:sp>
      <p:sp>
        <p:nvSpPr>
          <p:cNvPr id="355570667" name=""/>
          <p:cNvSpPr>
            <a:spLocks noGrp="1"/>
          </p:cNvSpPr>
          <p:nvPr/>
        </p:nvSpPr>
        <p:spPr bwMode="auto">
          <a:xfrm>
            <a:off x="1409699" y="2400300"/>
            <a:ext cx="24574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600" b="1">
                <a:solidFill>
                  <a:srgbClr val="172033"/>
                </a:solidFill>
              </a:defRPr>
            </a:pPr>
            <a:r>
              <a:rPr sz="1600" b="1">
                <a:solidFill>
                  <a:srgbClr val="172033"/>
                </a:solidFill>
              </a:rPr>
              <a:t>Sensitive Sources</a:t>
            </a:r>
            <a:endParaRPr/>
          </a:p>
        </p:txBody>
      </p:sp>
      <p:sp>
        <p:nvSpPr>
          <p:cNvPr id="1718147951" name=""/>
          <p:cNvSpPr>
            <a:spLocks noGrp="1"/>
          </p:cNvSpPr>
          <p:nvPr/>
        </p:nvSpPr>
        <p:spPr bwMode="auto">
          <a:xfrm>
            <a:off x="1543050" y="2990849"/>
            <a:ext cx="219075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64748B"/>
                </a:solidFill>
              </a:defRPr>
            </a:pPr>
            <a:r>
              <a:rPr sz="1350" b="1">
                <a:solidFill>
                  <a:srgbClr val="64748B"/>
                </a:solidFill>
              </a:rPr>
              <a:t>PROMPTS</a:t>
            </a:r>
            <a:endParaRPr/>
          </a:p>
          <a:p>
            <a:pPr algn="ctr">
              <a:defRPr sz="1350" b="1">
                <a:solidFill>
                  <a:srgbClr val="64748B"/>
                </a:solidFill>
              </a:defRPr>
            </a:pPr>
            <a:r>
              <a:rPr sz="1350" b="1">
                <a:solidFill>
                  <a:srgbClr val="64748B"/>
                </a:solidFill>
              </a:rPr>
              <a:t>FILES</a:t>
            </a:r>
            <a:endParaRPr/>
          </a:p>
          <a:p>
            <a:pPr algn="ctr">
              <a:defRPr sz="1350" b="1">
                <a:solidFill>
                  <a:srgbClr val="64748B"/>
                </a:solidFill>
              </a:defRPr>
            </a:pPr>
            <a:r>
              <a:rPr sz="1350" b="1">
                <a:solidFill>
                  <a:srgbClr val="64748B"/>
                </a:solidFill>
              </a:rPr>
              <a:t>RETRIEVED DATA</a:t>
            </a:r>
            <a:endParaRPr/>
          </a:p>
        </p:txBody>
      </p:sp>
      <p:sp>
        <p:nvSpPr>
          <p:cNvPr id="524900599" name="data-leakage-2-becomes-context"/>
          <p:cNvSpPr>
            <a:spLocks noGrp="1"/>
          </p:cNvSpPr>
          <p:nvPr/>
        </p:nvSpPr>
        <p:spPr bwMode="auto">
          <a:xfrm>
            <a:off x="4438649" y="1866899"/>
            <a:ext cx="2838450" cy="3028950"/>
          </a:xfrm>
          <a:prstGeom prst="roundRect">
            <a:avLst>
              <a:gd name="adj" fmla="val 4027"/>
            </a:avLst>
          </a:prstGeom>
          <a:solidFill>
            <a:srgbClr val="FFF4DD"/>
          </a:solidFill>
          <a:ln w="14288">
            <a:solidFill>
              <a:srgbClr val="F59E0B"/>
            </a:solidFill>
            <a:prstDash val="solid"/>
          </a:ln>
        </p:spPr>
        <p:style>
          <a:lnRef idx="0"/>
          <a:fillRef idx="0"/>
          <a:effectRef idx="4"/>
          <a:fontRef idx="major"/>
        </p:style>
      </p:sp>
      <p:sp>
        <p:nvSpPr>
          <p:cNvPr id="776535850" name=""/>
          <p:cNvSpPr>
            <a:spLocks noGrp="1"/>
          </p:cNvSpPr>
          <p:nvPr/>
        </p:nvSpPr>
        <p:spPr bwMode="auto">
          <a:xfrm>
            <a:off x="4629149" y="2019299"/>
            <a:ext cx="24574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00" b="1">
                <a:solidFill>
                  <a:srgbClr val="F59E0B"/>
                </a:solidFill>
              </a:defRPr>
            </a:pPr>
            <a:r>
              <a:rPr sz="1300" b="1">
                <a:solidFill>
                  <a:srgbClr val="F59E0B"/>
                </a:solidFill>
              </a:rPr>
              <a:t>2  BECOMES CONTEXT</a:t>
            </a:r>
            <a:endParaRPr/>
          </a:p>
        </p:txBody>
      </p:sp>
      <p:sp>
        <p:nvSpPr>
          <p:cNvPr id="817815735" name=""/>
          <p:cNvSpPr>
            <a:spLocks noGrp="1"/>
          </p:cNvSpPr>
          <p:nvPr/>
        </p:nvSpPr>
        <p:spPr bwMode="auto">
          <a:xfrm>
            <a:off x="4629149" y="2400300"/>
            <a:ext cx="24574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600" b="1">
                <a:solidFill>
                  <a:srgbClr val="172033"/>
                </a:solidFill>
              </a:defRPr>
            </a:pPr>
            <a:r>
              <a:rPr sz="1600" b="1">
                <a:solidFill>
                  <a:srgbClr val="172033"/>
                </a:solidFill>
              </a:rPr>
              <a:t>Model + Tool Access</a:t>
            </a:r>
            <a:endParaRPr/>
          </a:p>
        </p:txBody>
      </p:sp>
      <p:sp>
        <p:nvSpPr>
          <p:cNvPr id="802878795" name=""/>
          <p:cNvSpPr>
            <a:spLocks noGrp="1"/>
          </p:cNvSpPr>
          <p:nvPr/>
        </p:nvSpPr>
        <p:spPr bwMode="auto">
          <a:xfrm>
            <a:off x="4762499" y="2990849"/>
            <a:ext cx="219075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64748B"/>
                </a:solidFill>
              </a:defRPr>
            </a:pPr>
            <a:r>
              <a:rPr sz="1350" b="1">
                <a:solidFill>
                  <a:srgbClr val="64748B"/>
                </a:solidFill>
              </a:rPr>
              <a:t>SYSTEM PROMPTS</a:t>
            </a:r>
            <a:endParaRPr/>
          </a:p>
          <a:p>
            <a:pPr algn="ctr">
              <a:defRPr sz="1350" b="1">
                <a:solidFill>
                  <a:srgbClr val="64748B"/>
                </a:solidFill>
              </a:defRPr>
            </a:pPr>
            <a:r>
              <a:rPr sz="1350" b="1">
                <a:solidFill>
                  <a:srgbClr val="64748B"/>
                </a:solidFill>
              </a:rPr>
              <a:t>CREDENTIALS</a:t>
            </a:r>
            <a:endParaRPr/>
          </a:p>
          <a:p>
            <a:pPr algn="ctr">
              <a:defRPr sz="1350" b="1">
                <a:solidFill>
                  <a:srgbClr val="64748B"/>
                </a:solidFill>
              </a:defRPr>
            </a:pPr>
            <a:r>
              <a:rPr sz="1350" b="1">
                <a:solidFill>
                  <a:srgbClr val="64748B"/>
                </a:solidFill>
              </a:rPr>
              <a:t>PRIVATE RECORDS</a:t>
            </a:r>
            <a:endParaRPr/>
          </a:p>
        </p:txBody>
      </p:sp>
      <p:sp>
        <p:nvSpPr>
          <p:cNvPr id="1431979924" name="data-leakage-3-leaves"/>
          <p:cNvSpPr>
            <a:spLocks noGrp="1"/>
          </p:cNvSpPr>
          <p:nvPr/>
        </p:nvSpPr>
        <p:spPr bwMode="auto">
          <a:xfrm>
            <a:off x="7658100" y="1866899"/>
            <a:ext cx="2838450" cy="3028950"/>
          </a:xfrm>
          <a:prstGeom prst="roundRect">
            <a:avLst>
              <a:gd name="adj" fmla="val 4027"/>
            </a:avLst>
          </a:prstGeom>
          <a:solidFill>
            <a:srgbClr val="FDECEC"/>
          </a:solidFill>
          <a:ln w="14288">
            <a:solidFill>
              <a:srgbClr val="DC2626"/>
            </a:solidFill>
            <a:prstDash val="solid"/>
          </a:ln>
        </p:spPr>
        <p:style>
          <a:lnRef idx="0"/>
          <a:fillRef idx="0"/>
          <a:effectRef idx="4"/>
          <a:fontRef idx="major"/>
        </p:style>
      </p:sp>
      <p:sp>
        <p:nvSpPr>
          <p:cNvPr id="50857757" name=""/>
          <p:cNvSpPr>
            <a:spLocks noGrp="1"/>
          </p:cNvSpPr>
          <p:nvPr/>
        </p:nvSpPr>
        <p:spPr bwMode="auto">
          <a:xfrm>
            <a:off x="7848599" y="2019299"/>
            <a:ext cx="24574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00" b="1">
                <a:solidFill>
                  <a:srgbClr val="DC2626"/>
                </a:solidFill>
              </a:defRPr>
            </a:pPr>
            <a:r>
              <a:rPr sz="1300" b="1">
                <a:solidFill>
                  <a:srgbClr val="DC2626"/>
                </a:solidFill>
              </a:rPr>
              <a:t>3  LEAVES</a:t>
            </a:r>
            <a:endParaRPr/>
          </a:p>
        </p:txBody>
      </p:sp>
      <p:sp>
        <p:nvSpPr>
          <p:cNvPr id="598957020" name=""/>
          <p:cNvSpPr>
            <a:spLocks noGrp="1"/>
          </p:cNvSpPr>
          <p:nvPr/>
        </p:nvSpPr>
        <p:spPr bwMode="auto">
          <a:xfrm>
            <a:off x="7848599" y="2400300"/>
            <a:ext cx="24574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600" b="1">
                <a:solidFill>
                  <a:srgbClr val="172033"/>
                </a:solidFill>
              </a:defRPr>
            </a:pPr>
            <a:r>
              <a:rPr sz="1600" b="1">
                <a:solidFill>
                  <a:srgbClr val="172033"/>
                </a:solidFill>
              </a:rPr>
              <a:t>Exposure Paths</a:t>
            </a:r>
            <a:endParaRPr/>
          </a:p>
        </p:txBody>
      </p:sp>
      <p:sp>
        <p:nvSpPr>
          <p:cNvPr id="1963014488" name=""/>
          <p:cNvSpPr>
            <a:spLocks noGrp="1"/>
          </p:cNvSpPr>
          <p:nvPr/>
        </p:nvSpPr>
        <p:spPr bwMode="auto">
          <a:xfrm>
            <a:off x="7981949" y="2990849"/>
            <a:ext cx="219075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64748B"/>
                </a:solidFill>
              </a:defRPr>
            </a:pPr>
            <a:r>
              <a:rPr sz="1350" b="1">
                <a:solidFill>
                  <a:srgbClr val="64748B"/>
                </a:solidFill>
              </a:rPr>
              <a:t>OUTPUTS</a:t>
            </a:r>
            <a:endParaRPr/>
          </a:p>
          <a:p>
            <a:pPr algn="ctr">
              <a:defRPr sz="1350" b="1">
                <a:solidFill>
                  <a:srgbClr val="64748B"/>
                </a:solidFill>
              </a:defRPr>
            </a:pPr>
            <a:r>
              <a:rPr sz="1350" b="1">
                <a:solidFill>
                  <a:srgbClr val="64748B"/>
                </a:solidFill>
              </a:rPr>
              <a:t>LOGS</a:t>
            </a:r>
            <a:endParaRPr/>
          </a:p>
          <a:p>
            <a:pPr algn="ctr">
              <a:defRPr sz="1350" b="1">
                <a:solidFill>
                  <a:srgbClr val="64748B"/>
                </a:solidFill>
              </a:defRPr>
            </a:pPr>
            <a:r>
              <a:rPr sz="1350" b="1">
                <a:solidFill>
                  <a:srgbClr val="64748B"/>
                </a:solidFill>
              </a:rPr>
              <a:t>TOOL CALLS</a:t>
            </a:r>
            <a:endParaRPr/>
          </a:p>
        </p:txBody>
      </p:sp>
      <p:sp>
        <p:nvSpPr>
          <p:cNvPr id="1456266373" name=""/>
          <p:cNvSpPr>
            <a:spLocks noGrp="1"/>
          </p:cNvSpPr>
          <p:nvPr/>
        </p:nvSpPr>
        <p:spPr bwMode="auto">
          <a:xfrm>
            <a:off x="1066800" y="5124450"/>
            <a:ext cx="100584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DC2626"/>
                </a:solidFill>
              </a:defRPr>
            </a:pPr>
            <a:r>
              <a:rPr sz="1350" b="1">
                <a:solidFill>
                  <a:srgbClr val="DC2626"/>
                </a:solidFill>
              </a:rPr>
              <a:t>Sensitive Data Exposure occurs when data reaches an unauthorized person, system, or destination.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12887905" name="Rectangle 7713821"/>
          <p:cNvSpPr>
            <a:spLocks noGrp="1"/>
          </p:cNvSpPr>
          <p:nvPr/>
        </p:nvSpPr>
        <p:spPr bwMode="auto">
          <a:xfrm>
            <a:off x="609599" y="323849"/>
            <a:ext cx="4000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WHY IT MATTERS</a:t>
            </a:r>
            <a:endParaRPr/>
          </a:p>
        </p:txBody>
      </p:sp>
      <p:sp>
        <p:nvSpPr>
          <p:cNvPr id="536706301" name="Rectangle 1381388514"/>
          <p:cNvSpPr>
            <a:spLocks noGrp="1"/>
          </p:cNvSpPr>
          <p:nvPr/>
        </p:nvSpPr>
        <p:spPr bwMode="auto">
          <a:xfrm>
            <a:off x="609599" y="590548"/>
            <a:ext cx="9334500" cy="59054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3150" b="1">
                <a:solidFill>
                  <a:srgbClr val="0B0F19"/>
                </a:solidFill>
              </a:defRPr>
            </a:pPr>
            <a:r>
              <a:rPr sz="3150" b="1">
                <a:solidFill>
                  <a:srgbClr val="0B0F19"/>
                </a:solidFill>
              </a:rPr>
              <a:t>Text → Decision → Action</a:t>
            </a:r>
            <a:endParaRPr/>
          </a:p>
        </p:txBody>
      </p:sp>
      <p:sp>
        <p:nvSpPr>
          <p:cNvPr id="760324379" name="Rectangle 181180573"/>
          <p:cNvSpPr>
            <a:spLocks noGrp="1"/>
          </p:cNvSpPr>
          <p:nvPr/>
        </p:nvSpPr>
        <p:spPr bwMode="auto">
          <a:xfrm>
            <a:off x="11106150" y="6286500"/>
            <a:ext cx="476249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buNone/>
              <a:defRPr sz="1000" b="0">
                <a:solidFill>
                  <a:srgbClr val="66708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00" b="0">
                <a:solidFill>
                  <a:srgbClr val="667085"/>
                </a:solidFill>
                <a:latin typeface="Times New Roman"/>
                <a:ea typeface="Times New Roman"/>
                <a:cs typeface="Times New Roman"/>
              </a:rPr>
              <a:t>2</a:t>
            </a:r>
            <a:endParaRPr/>
          </a:p>
        </p:txBody>
      </p:sp>
      <p:sp>
        <p:nvSpPr>
          <p:cNvPr id="196379351" name="security-canvas"/>
          <p:cNvSpPr>
            <a:spLocks noGrp="1"/>
          </p:cNvSpPr>
          <p:nvPr/>
        </p:nvSpPr>
        <p:spPr bwMode="auto">
          <a:xfrm>
            <a:off x="704849" y="1466848"/>
            <a:ext cx="10782299" cy="4514850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ln w="9525">
            <a:solidFill>
              <a:srgbClr val="D9E1EC"/>
            </a:solidFill>
            <a:prstDash val="solid"/>
          </a:ln>
        </p:spPr>
        <p:style>
          <a:lnRef idx="0"/>
          <a:fillRef idx="0"/>
          <a:effectRef idx="4"/>
          <a:fontRef idx="major"/>
        </p:style>
      </p:sp>
      <p:sp>
        <p:nvSpPr>
          <p:cNvPr id="1828142759" name="flow-arrow-1"/>
          <p:cNvSpPr>
            <a:spLocks noGrp="1"/>
          </p:cNvSpPr>
          <p:nvPr/>
        </p:nvSpPr>
        <p:spPr bwMode="auto">
          <a:xfrm>
            <a:off x="2438399" y="3124199"/>
            <a:ext cx="438148" cy="266699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60A5FA"/>
          </a:solidFill>
          <a:ln w="0">
            <a:solidFill>
              <a:srgbClr val="60A5FA"/>
            </a:solidFill>
            <a:prstDash val="solid"/>
          </a:ln>
        </p:spPr>
      </p:sp>
      <p:sp>
        <p:nvSpPr>
          <p:cNvPr id="1651119402" name="flow-arrow-2"/>
          <p:cNvSpPr>
            <a:spLocks noGrp="1"/>
          </p:cNvSpPr>
          <p:nvPr/>
        </p:nvSpPr>
        <p:spPr bwMode="auto">
          <a:xfrm>
            <a:off x="4457700" y="3124199"/>
            <a:ext cx="438148" cy="266699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60A5FA"/>
          </a:solidFill>
          <a:ln w="0">
            <a:solidFill>
              <a:srgbClr val="60A5FA"/>
            </a:solidFill>
            <a:prstDash val="solid"/>
          </a:ln>
        </p:spPr>
      </p:sp>
      <p:sp>
        <p:nvSpPr>
          <p:cNvPr id="1655301428" name="flow-arrow-3"/>
          <p:cNvSpPr>
            <a:spLocks noGrp="1"/>
          </p:cNvSpPr>
          <p:nvPr/>
        </p:nvSpPr>
        <p:spPr bwMode="auto">
          <a:xfrm>
            <a:off x="6477000" y="3124199"/>
            <a:ext cx="438148" cy="266699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60A5FA"/>
          </a:solidFill>
          <a:ln w="0">
            <a:solidFill>
              <a:srgbClr val="60A5FA"/>
            </a:solidFill>
            <a:prstDash val="solid"/>
          </a:ln>
        </p:spPr>
      </p:sp>
      <p:sp>
        <p:nvSpPr>
          <p:cNvPr id="1244869600" name="flow-arrow-4"/>
          <p:cNvSpPr>
            <a:spLocks noGrp="1"/>
          </p:cNvSpPr>
          <p:nvPr/>
        </p:nvSpPr>
        <p:spPr bwMode="auto">
          <a:xfrm>
            <a:off x="8496299" y="3124199"/>
            <a:ext cx="438148" cy="266699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DC2626"/>
          </a:solidFill>
          <a:ln w="0">
            <a:solidFill>
              <a:srgbClr val="DC2626"/>
            </a:solidFill>
            <a:prstDash val="solid"/>
          </a:ln>
        </p:spPr>
      </p:sp>
      <p:sp>
        <p:nvSpPr>
          <p:cNvPr id="1214044010" name="icon"/>
          <p:cNvSpPr>
            <a:spLocks noGrp="1"/>
          </p:cNvSpPr>
          <p:nvPr/>
        </p:nvSpPr>
        <p:spPr bwMode="auto">
          <a:xfrm>
            <a:off x="1466848" y="2133599"/>
            <a:ext cx="514350" cy="514350"/>
          </a:xfrm>
          <a:prstGeom prst="ellipse">
            <a:avLst/>
          </a:prstGeom>
          <a:solidFill>
            <a:srgbClr val="EAF2FF"/>
          </a:solidFill>
          <a:ln w="19050">
            <a:solidFill>
              <a:srgbClr val="2563EB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650" b="1">
                <a:solidFill>
                  <a:srgbClr val="2563EB"/>
                </a:solidFill>
              </a:defRPr>
            </a:pPr>
            <a:r>
              <a:rPr sz="1650" b="1">
                <a:solidFill>
                  <a:srgbClr val="2563EB"/>
                </a:solidFill>
              </a:rPr>
              <a:t>T</a:t>
            </a:r>
            <a:endParaRPr/>
          </a:p>
        </p:txBody>
      </p:sp>
      <p:sp>
        <p:nvSpPr>
          <p:cNvPr id="1656807383" name="node-user-message"/>
          <p:cNvSpPr>
            <a:spLocks noGrp="1"/>
          </p:cNvSpPr>
          <p:nvPr/>
        </p:nvSpPr>
        <p:spPr bwMode="auto">
          <a:xfrm>
            <a:off x="990599" y="2800349"/>
            <a:ext cx="1447799" cy="933449"/>
          </a:xfrm>
          <a:prstGeom prst="roundRect">
            <a:avLst>
              <a:gd name="adj" fmla="val 8163"/>
            </a:avLst>
          </a:prstGeom>
          <a:solidFill>
            <a:srgbClr val="EAF2FF"/>
          </a:solidFill>
          <a:ln w="19050">
            <a:solidFill>
              <a:srgbClr val="2563EB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500" b="1">
                <a:solidFill>
                  <a:srgbClr val="2563EB"/>
                </a:solidFill>
              </a:defRPr>
            </a:pPr>
            <a:r>
              <a:rPr sz="1500" b="1">
                <a:solidFill>
                  <a:srgbClr val="2563EB"/>
                </a:solidFill>
              </a:rPr>
              <a:t>User</a:t>
            </a:r>
            <a:endParaRPr/>
          </a:p>
          <a:p>
            <a:pPr algn="ctr">
              <a:buNone/>
              <a:defRPr sz="1500" b="1">
                <a:solidFill>
                  <a:srgbClr val="2563EB"/>
                </a:solidFill>
              </a:defRPr>
            </a:pPr>
            <a:r>
              <a:rPr sz="1500" b="1">
                <a:solidFill>
                  <a:srgbClr val="2563EB"/>
                </a:solidFill>
              </a:rPr>
              <a:t>Message</a:t>
            </a:r>
            <a:endParaRPr/>
          </a:p>
        </p:txBody>
      </p:sp>
      <p:sp>
        <p:nvSpPr>
          <p:cNvPr id="1983030205" name="icon"/>
          <p:cNvSpPr>
            <a:spLocks noGrp="1"/>
          </p:cNvSpPr>
          <p:nvPr/>
        </p:nvSpPr>
        <p:spPr bwMode="auto">
          <a:xfrm>
            <a:off x="3486150" y="2133599"/>
            <a:ext cx="514350" cy="514350"/>
          </a:xfrm>
          <a:prstGeom prst="ellipse">
            <a:avLst/>
          </a:prstGeom>
          <a:solidFill>
            <a:srgbClr val="EAF2FF"/>
          </a:solidFill>
          <a:ln w="19050">
            <a:solidFill>
              <a:srgbClr val="2563EB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650" b="1">
                <a:solidFill>
                  <a:srgbClr val="2563EB"/>
                </a:solidFill>
              </a:defRPr>
            </a:pPr>
            <a:r>
              <a:rPr sz="1650" b="1">
                <a:solidFill>
                  <a:srgbClr val="2563EB"/>
                </a:solidFill>
              </a:rPr>
              <a:t>L</a:t>
            </a:r>
            <a:endParaRPr/>
          </a:p>
        </p:txBody>
      </p:sp>
      <p:sp>
        <p:nvSpPr>
          <p:cNvPr id="758982502" name="node-llm"/>
          <p:cNvSpPr>
            <a:spLocks noGrp="1"/>
          </p:cNvSpPr>
          <p:nvPr/>
        </p:nvSpPr>
        <p:spPr bwMode="auto">
          <a:xfrm>
            <a:off x="3009899" y="2800349"/>
            <a:ext cx="1447799" cy="933449"/>
          </a:xfrm>
          <a:prstGeom prst="roundRect">
            <a:avLst>
              <a:gd name="adj" fmla="val 8163"/>
            </a:avLst>
          </a:prstGeom>
          <a:solidFill>
            <a:srgbClr val="EAF2FF"/>
          </a:solidFill>
          <a:ln w="19050">
            <a:solidFill>
              <a:srgbClr val="2563EB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500" b="1">
                <a:solidFill>
                  <a:srgbClr val="2563EB"/>
                </a:solidFill>
              </a:defRPr>
            </a:pPr>
            <a:r>
              <a:rPr sz="1500" b="1">
                <a:solidFill>
                  <a:srgbClr val="2563EB"/>
                </a:solidFill>
              </a:rPr>
              <a:t>LLM</a:t>
            </a:r>
            <a:endParaRPr/>
          </a:p>
        </p:txBody>
      </p:sp>
      <p:sp>
        <p:nvSpPr>
          <p:cNvPr id="1173333315" name="icon"/>
          <p:cNvSpPr>
            <a:spLocks noGrp="1"/>
          </p:cNvSpPr>
          <p:nvPr/>
        </p:nvSpPr>
        <p:spPr bwMode="auto">
          <a:xfrm>
            <a:off x="5505449" y="2133599"/>
            <a:ext cx="514350" cy="514350"/>
          </a:xfrm>
          <a:prstGeom prst="ellipse">
            <a:avLst/>
          </a:prstGeom>
          <a:solidFill>
            <a:srgbClr val="FFF4DD"/>
          </a:solidFill>
          <a:ln w="19050">
            <a:solidFill>
              <a:srgbClr val="F59E0B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650" b="1">
                <a:solidFill>
                  <a:srgbClr val="F59E0B"/>
                </a:solidFill>
              </a:defRPr>
            </a:pPr>
            <a:r>
              <a:rPr sz="1650" b="1">
                <a:solidFill>
                  <a:srgbClr val="F59E0B"/>
                </a:solidFill>
              </a:rPr>
              <a:t>?</a:t>
            </a:r>
            <a:endParaRPr/>
          </a:p>
        </p:txBody>
      </p:sp>
      <p:sp>
        <p:nvSpPr>
          <p:cNvPr id="877755722" name="node-decision"/>
          <p:cNvSpPr>
            <a:spLocks noGrp="1"/>
          </p:cNvSpPr>
          <p:nvPr/>
        </p:nvSpPr>
        <p:spPr bwMode="auto">
          <a:xfrm>
            <a:off x="5029200" y="2800349"/>
            <a:ext cx="1447799" cy="933449"/>
          </a:xfrm>
          <a:prstGeom prst="roundRect">
            <a:avLst>
              <a:gd name="adj" fmla="val 8163"/>
            </a:avLst>
          </a:prstGeom>
          <a:solidFill>
            <a:srgbClr val="FFF4DD"/>
          </a:solidFill>
          <a:ln w="19050">
            <a:solidFill>
              <a:srgbClr val="F59E0B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500" b="1">
                <a:solidFill>
                  <a:srgbClr val="F59E0B"/>
                </a:solidFill>
              </a:defRPr>
            </a:pPr>
            <a:r>
              <a:rPr sz="1500" b="1">
                <a:solidFill>
                  <a:srgbClr val="F59E0B"/>
                </a:solidFill>
              </a:rPr>
              <a:t>Decision</a:t>
            </a:r>
            <a:endParaRPr/>
          </a:p>
        </p:txBody>
      </p:sp>
      <p:sp>
        <p:nvSpPr>
          <p:cNvPr id="1438353552" name="icon"/>
          <p:cNvSpPr>
            <a:spLocks noGrp="1"/>
          </p:cNvSpPr>
          <p:nvPr/>
        </p:nvSpPr>
        <p:spPr bwMode="auto">
          <a:xfrm>
            <a:off x="7524749" y="2133599"/>
            <a:ext cx="514350" cy="514350"/>
          </a:xfrm>
          <a:prstGeom prst="ellipse">
            <a:avLst/>
          </a:prstGeom>
          <a:solidFill>
            <a:srgbClr val="FDECEC"/>
          </a:solidFill>
          <a:ln w="19050">
            <a:solidFill>
              <a:srgbClr val="DC2626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650" b="1">
                <a:solidFill>
                  <a:srgbClr val="DC2626"/>
                </a:solidFill>
              </a:defRPr>
            </a:pPr>
            <a:r>
              <a:rPr sz="1650" b="1">
                <a:solidFill>
                  <a:srgbClr val="DC2626"/>
                </a:solidFill>
              </a:rPr>
              <a:t>R</a:t>
            </a:r>
            <a:endParaRPr/>
          </a:p>
        </p:txBody>
      </p:sp>
      <p:sp>
        <p:nvSpPr>
          <p:cNvPr id="1665117424" name="node-tool-execution"/>
          <p:cNvSpPr>
            <a:spLocks noGrp="1"/>
          </p:cNvSpPr>
          <p:nvPr/>
        </p:nvSpPr>
        <p:spPr bwMode="auto">
          <a:xfrm>
            <a:off x="7048500" y="2800349"/>
            <a:ext cx="1447799" cy="933449"/>
          </a:xfrm>
          <a:prstGeom prst="roundRect">
            <a:avLst>
              <a:gd name="adj" fmla="val 8163"/>
            </a:avLst>
          </a:prstGeom>
          <a:solidFill>
            <a:srgbClr val="FDECEC"/>
          </a:solidFill>
          <a:ln w="19050">
            <a:solidFill>
              <a:srgbClr val="DC2626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500" b="1">
                <a:solidFill>
                  <a:srgbClr val="DC2626"/>
                </a:solidFill>
              </a:defRPr>
            </a:pPr>
            <a:r>
              <a:rPr sz="1500" b="1">
                <a:solidFill>
                  <a:srgbClr val="DC2626"/>
                </a:solidFill>
              </a:rPr>
              <a:t>Tool</a:t>
            </a:r>
            <a:endParaRPr/>
          </a:p>
          <a:p>
            <a:pPr algn="ctr">
              <a:buNone/>
              <a:defRPr sz="1500" b="1">
                <a:solidFill>
                  <a:srgbClr val="DC2626"/>
                </a:solidFill>
              </a:defRPr>
            </a:pPr>
            <a:r>
              <a:rPr sz="1500" b="1">
                <a:solidFill>
                  <a:srgbClr val="DC2626"/>
                </a:solidFill>
              </a:rPr>
              <a:t>Execution</a:t>
            </a:r>
            <a:endParaRPr/>
          </a:p>
        </p:txBody>
      </p:sp>
      <p:sp>
        <p:nvSpPr>
          <p:cNvPr id="1275422028" name="icon"/>
          <p:cNvSpPr>
            <a:spLocks noGrp="1"/>
          </p:cNvSpPr>
          <p:nvPr/>
        </p:nvSpPr>
        <p:spPr bwMode="auto">
          <a:xfrm>
            <a:off x="9544050" y="2133599"/>
            <a:ext cx="514350" cy="514350"/>
          </a:xfrm>
          <a:prstGeom prst="ellipse">
            <a:avLst/>
          </a:prstGeom>
          <a:solidFill>
            <a:srgbClr val="FDECEC"/>
          </a:solidFill>
          <a:ln w="19050">
            <a:solidFill>
              <a:srgbClr val="DC2626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650" b="1">
                <a:solidFill>
                  <a:srgbClr val="DC2626"/>
                </a:solidFill>
              </a:defRPr>
            </a:pPr>
            <a:r>
              <a:rPr sz="1650" b="1">
                <a:solidFill>
                  <a:srgbClr val="DC2626"/>
                </a:solidFill>
              </a:rPr>
              <a:t>!</a:t>
            </a:r>
            <a:endParaRPr/>
          </a:p>
        </p:txBody>
      </p:sp>
      <p:sp>
        <p:nvSpPr>
          <p:cNvPr id="754435143" name="node-system-change"/>
          <p:cNvSpPr>
            <a:spLocks noGrp="1"/>
          </p:cNvSpPr>
          <p:nvPr/>
        </p:nvSpPr>
        <p:spPr bwMode="auto">
          <a:xfrm>
            <a:off x="9067799" y="2800349"/>
            <a:ext cx="1447799" cy="933449"/>
          </a:xfrm>
          <a:prstGeom prst="roundRect">
            <a:avLst>
              <a:gd name="adj" fmla="val 8163"/>
            </a:avLst>
          </a:prstGeom>
          <a:solidFill>
            <a:srgbClr val="FDECEC"/>
          </a:solidFill>
          <a:ln w="19050">
            <a:solidFill>
              <a:srgbClr val="DC2626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500" b="1">
                <a:solidFill>
                  <a:srgbClr val="DC2626"/>
                </a:solidFill>
              </a:defRPr>
            </a:pPr>
            <a:r>
              <a:rPr sz="1500" b="1">
                <a:solidFill>
                  <a:srgbClr val="DC2626"/>
                </a:solidFill>
              </a:rPr>
              <a:t>System</a:t>
            </a:r>
            <a:endParaRPr/>
          </a:p>
          <a:p>
            <a:pPr algn="ctr">
              <a:buNone/>
              <a:defRPr sz="1500" b="1">
                <a:solidFill>
                  <a:srgbClr val="DC2626"/>
                </a:solidFill>
              </a:defRPr>
            </a:pPr>
            <a:r>
              <a:rPr sz="1500" b="1">
                <a:solidFill>
                  <a:srgbClr val="DC2626"/>
                </a:solidFill>
              </a:rPr>
              <a:t>Change</a:t>
            </a:r>
            <a:endParaRPr/>
          </a:p>
        </p:txBody>
      </p:sp>
      <p:sp>
        <p:nvSpPr>
          <p:cNvPr id="1927245821" name="action-drop-line"/>
          <p:cNvSpPr>
            <a:spLocks noGrp="1"/>
          </p:cNvSpPr>
          <p:nvPr/>
        </p:nvSpPr>
        <p:spPr bwMode="auto">
          <a:xfrm rot="5400000">
            <a:off x="9505950" y="4014787"/>
            <a:ext cx="571500" cy="9524"/>
          </a:xfrm>
          <a:prstGeom prst="line">
            <a:avLst/>
          </a:prstGeom>
          <a:noFill/>
          <a:ln w="28575">
            <a:solidFill>
              <a:srgbClr val="DC2626"/>
            </a:solidFill>
            <a:prstDash val="solid"/>
          </a:ln>
        </p:spPr>
      </p:sp>
      <p:sp>
        <p:nvSpPr>
          <p:cNvPr id="2047121504" name="icon"/>
          <p:cNvSpPr>
            <a:spLocks noGrp="1"/>
          </p:cNvSpPr>
          <p:nvPr/>
        </p:nvSpPr>
        <p:spPr bwMode="auto">
          <a:xfrm>
            <a:off x="8496299" y="4457700"/>
            <a:ext cx="609599" cy="609599"/>
          </a:xfrm>
          <a:prstGeom prst="ellipse">
            <a:avLst/>
          </a:prstGeom>
          <a:solidFill>
            <a:srgbClr val="FDECEC"/>
          </a:solidFill>
          <a:ln w="19050">
            <a:solidFill>
              <a:srgbClr val="DC2626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650" b="1">
                <a:solidFill>
                  <a:srgbClr val="DC2626"/>
                </a:solidFill>
              </a:defRPr>
            </a:pPr>
            <a:r>
              <a:rPr sz="1650" b="1">
                <a:solidFill>
                  <a:srgbClr val="DC2626"/>
                </a:solidFill>
              </a:rPr>
              <a:t>M</a:t>
            </a:r>
            <a:endParaRPr/>
          </a:p>
        </p:txBody>
      </p:sp>
      <p:sp>
        <p:nvSpPr>
          <p:cNvPr id="83755000" name="icon"/>
          <p:cNvSpPr>
            <a:spLocks noGrp="1"/>
          </p:cNvSpPr>
          <p:nvPr/>
        </p:nvSpPr>
        <p:spPr bwMode="auto">
          <a:xfrm>
            <a:off x="9486900" y="4457700"/>
            <a:ext cx="609599" cy="609599"/>
          </a:xfrm>
          <a:prstGeom prst="ellipse">
            <a:avLst/>
          </a:prstGeom>
          <a:solidFill>
            <a:srgbClr val="FDECEC"/>
          </a:solidFill>
          <a:ln w="19050">
            <a:solidFill>
              <a:srgbClr val="DC2626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650" b="1">
                <a:solidFill>
                  <a:srgbClr val="DC2626"/>
                </a:solidFill>
              </a:defRPr>
            </a:pPr>
            <a:r>
              <a:rPr sz="1650" b="1">
                <a:solidFill>
                  <a:srgbClr val="DC2626"/>
                </a:solidFill>
              </a:rPr>
              <a:t>D</a:t>
            </a:r>
            <a:endParaRPr/>
          </a:p>
        </p:txBody>
      </p:sp>
      <p:sp>
        <p:nvSpPr>
          <p:cNvPr id="1043928706" name="icon"/>
          <p:cNvSpPr>
            <a:spLocks noGrp="1"/>
          </p:cNvSpPr>
          <p:nvPr/>
        </p:nvSpPr>
        <p:spPr bwMode="auto">
          <a:xfrm>
            <a:off x="10477500" y="4457700"/>
            <a:ext cx="609599" cy="609599"/>
          </a:xfrm>
          <a:prstGeom prst="ellipse">
            <a:avLst/>
          </a:prstGeom>
          <a:solidFill>
            <a:srgbClr val="FDECEC"/>
          </a:solidFill>
          <a:ln w="19050">
            <a:solidFill>
              <a:srgbClr val="DC2626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650" b="1">
                <a:solidFill>
                  <a:srgbClr val="DC2626"/>
                </a:solidFill>
              </a:defRPr>
            </a:pPr>
            <a:r>
              <a:rPr sz="1650" b="1">
                <a:solidFill>
                  <a:srgbClr val="DC2626"/>
                </a:solidFill>
              </a:rPr>
              <a:t>A</a:t>
            </a:r>
            <a:endParaRPr/>
          </a:p>
        </p:txBody>
      </p:sp>
      <p:sp>
        <p:nvSpPr>
          <p:cNvPr id="95041374" name=""/>
          <p:cNvSpPr>
            <a:spLocks noGrp="1"/>
          </p:cNvSpPr>
          <p:nvPr/>
        </p:nvSpPr>
        <p:spPr bwMode="auto">
          <a:xfrm>
            <a:off x="8496299" y="5105399"/>
            <a:ext cx="609599" cy="24764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050" b="1">
                <a:solidFill>
                  <a:srgbClr val="DC2626"/>
                </a:solidFill>
              </a:defRPr>
            </a:pPr>
            <a:r>
              <a:rPr sz="1050" b="1">
                <a:solidFill>
                  <a:srgbClr val="DC2626"/>
                </a:solidFill>
              </a:rPr>
              <a:t>SEND</a:t>
            </a:r>
            <a:endParaRPr/>
          </a:p>
        </p:txBody>
      </p:sp>
      <p:sp>
        <p:nvSpPr>
          <p:cNvPr id="898651462" name=""/>
          <p:cNvSpPr>
            <a:spLocks noGrp="1"/>
          </p:cNvSpPr>
          <p:nvPr/>
        </p:nvSpPr>
        <p:spPr bwMode="auto">
          <a:xfrm>
            <a:off x="9372600" y="5105399"/>
            <a:ext cx="838198" cy="24764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000" b="1">
                <a:solidFill>
                  <a:srgbClr val="DC2626"/>
                </a:solidFill>
              </a:defRPr>
            </a:pPr>
            <a:r>
              <a:rPr sz="1000" b="1">
                <a:solidFill>
                  <a:srgbClr val="DC2626"/>
                </a:solidFill>
              </a:rPr>
              <a:t>DELETE</a:t>
            </a:r>
            <a:endParaRPr/>
          </a:p>
        </p:txBody>
      </p:sp>
      <p:sp>
        <p:nvSpPr>
          <p:cNvPr id="1109463412" name=""/>
          <p:cNvSpPr>
            <a:spLocks noGrp="1"/>
          </p:cNvSpPr>
          <p:nvPr/>
        </p:nvSpPr>
        <p:spPr bwMode="auto">
          <a:xfrm>
            <a:off x="10477500" y="5105399"/>
            <a:ext cx="609599" cy="24764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050" b="1">
                <a:solidFill>
                  <a:srgbClr val="DC2626"/>
                </a:solidFill>
              </a:defRPr>
            </a:pPr>
            <a:r>
              <a:rPr sz="1050" b="1">
                <a:solidFill>
                  <a:srgbClr val="DC2626"/>
                </a:solidFill>
              </a:rPr>
              <a:t>CALL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44177884" name="Rectangle 1921889684"/>
          <p:cNvSpPr>
            <a:spLocks noGrp="1"/>
          </p:cNvSpPr>
          <p:nvPr/>
        </p:nvSpPr>
        <p:spPr bwMode="auto">
          <a:xfrm>
            <a:off x="11106150" y="6286500"/>
            <a:ext cx="476249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buNone/>
              <a:defRPr sz="1000" b="0">
                <a:solidFill>
                  <a:srgbClr val="66708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00" b="0">
                <a:solidFill>
                  <a:srgbClr val="667085"/>
                </a:solidFill>
                <a:latin typeface="Times New Roman"/>
                <a:ea typeface="Times New Roman"/>
                <a:cs typeface="Times New Roman"/>
              </a:rPr>
              <a:t>3</a:t>
            </a:r>
            <a:endParaRPr/>
          </a:p>
        </p:txBody>
      </p:sp>
      <p:sp>
        <p:nvSpPr>
          <p:cNvPr id="1277405157" name="Rectangle 1785225236"/>
          <p:cNvSpPr>
            <a:spLocks noGrp="1"/>
          </p:cNvSpPr>
          <p:nvPr/>
        </p:nvSpPr>
        <p:spPr bwMode="auto">
          <a:xfrm>
            <a:off x="704849" y="400050"/>
            <a:ext cx="3809999" cy="26669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200" b="1">
                <a:solidFill>
                  <a:srgbClr val="2D66E8"/>
                </a:solidFill>
                <a:latin typeface="Georgia"/>
                <a:ea typeface="Georgia"/>
                <a:cs typeface="Georgia"/>
              </a:defRPr>
            </a:pPr>
            <a:r>
              <a:rPr sz="1200" b="1">
                <a:solidFill>
                  <a:srgbClr val="2D66E8"/>
                </a:solidFill>
                <a:latin typeface="Georgia"/>
                <a:ea typeface="Georgia"/>
                <a:cs typeface="Georgia"/>
              </a:rPr>
              <a:t>RISK MAP</a:t>
            </a:r>
            <a:endParaRPr/>
          </a:p>
        </p:txBody>
      </p:sp>
      <p:sp>
        <p:nvSpPr>
          <p:cNvPr id="1030835920" name="Rectangle 1785225237"/>
          <p:cNvSpPr>
            <a:spLocks noGrp="1"/>
          </p:cNvSpPr>
          <p:nvPr/>
        </p:nvSpPr>
        <p:spPr bwMode="auto">
          <a:xfrm>
            <a:off x="704849" y="761999"/>
            <a:ext cx="10287000" cy="60959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3000" b="1">
                <a:solidFill>
                  <a:srgbClr val="121A2A"/>
                </a:solidFill>
                <a:latin typeface="Georgia"/>
                <a:ea typeface="Georgia"/>
                <a:cs typeface="Georgia"/>
              </a:defRPr>
            </a:pPr>
            <a:r>
              <a:rPr sz="3000" b="1">
                <a:solidFill>
                  <a:srgbClr val="121A2A"/>
                </a:solidFill>
                <a:latin typeface="Georgia"/>
                <a:ea typeface="Georgia"/>
                <a:cs typeface="Georgia"/>
              </a:rPr>
              <a:t>Four LLM Risks</a:t>
            </a:r>
            <a:endParaRPr/>
          </a:p>
        </p:txBody>
      </p:sp>
      <p:sp>
        <p:nvSpPr>
          <p:cNvPr id="509133583" name="security-canvas"/>
          <p:cNvSpPr>
            <a:spLocks noGrp="1"/>
          </p:cNvSpPr>
          <p:nvPr/>
        </p:nvSpPr>
        <p:spPr bwMode="auto">
          <a:xfrm>
            <a:off x="704849" y="1466848"/>
            <a:ext cx="10782299" cy="4514850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ln w="9525">
            <a:solidFill>
              <a:srgbClr val="D9E1EC"/>
            </a:solidFill>
            <a:prstDash val="solid"/>
          </a:ln>
        </p:spPr>
        <p:style>
          <a:lnRef idx="0"/>
          <a:fillRef idx="0"/>
          <a:effectRef idx="4"/>
          <a:fontRef idx="major"/>
        </p:style>
      </p:sp>
      <p:sp>
        <p:nvSpPr>
          <p:cNvPr id="34161505" name="vertical-divider"/>
          <p:cNvSpPr>
            <a:spLocks noGrp="1"/>
          </p:cNvSpPr>
          <p:nvPr/>
        </p:nvSpPr>
        <p:spPr bwMode="auto">
          <a:xfrm rot="5400000">
            <a:off x="4152899" y="3729037"/>
            <a:ext cx="3886200" cy="9524"/>
          </a:xfrm>
          <a:prstGeom prst="line">
            <a:avLst/>
          </a:prstGeom>
          <a:noFill/>
          <a:ln w="19050">
            <a:solidFill>
              <a:srgbClr val="D9E1EC"/>
            </a:solidFill>
            <a:prstDash val="solid"/>
          </a:ln>
        </p:spPr>
      </p:sp>
      <p:sp>
        <p:nvSpPr>
          <p:cNvPr id="1877329082" name="horizontal-divider"/>
          <p:cNvSpPr>
            <a:spLocks noGrp="1"/>
          </p:cNvSpPr>
          <p:nvPr/>
        </p:nvSpPr>
        <p:spPr bwMode="auto">
          <a:xfrm rot="0">
            <a:off x="1066799" y="3709987"/>
            <a:ext cx="10058400" cy="9524"/>
          </a:xfrm>
          <a:prstGeom prst="line">
            <a:avLst/>
          </a:prstGeom>
          <a:noFill/>
          <a:ln w="19050">
            <a:solidFill>
              <a:srgbClr val="D9E1EC"/>
            </a:solidFill>
            <a:prstDash val="solid"/>
          </a:ln>
        </p:spPr>
      </p:sp>
      <p:sp>
        <p:nvSpPr>
          <p:cNvPr id="735825011" name="icon"/>
          <p:cNvSpPr>
            <a:spLocks noGrp="1"/>
          </p:cNvSpPr>
          <p:nvPr/>
        </p:nvSpPr>
        <p:spPr bwMode="auto">
          <a:xfrm>
            <a:off x="1143000" y="2095499"/>
            <a:ext cx="704849" cy="704849"/>
          </a:xfrm>
          <a:prstGeom prst="ellipse">
            <a:avLst/>
          </a:prstGeom>
          <a:solidFill>
            <a:srgbClr val="EAF2FF"/>
          </a:solidFill>
          <a:ln w="19050">
            <a:solidFill>
              <a:srgbClr val="2563EB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2100" b="1">
                <a:solidFill>
                  <a:srgbClr val="2563EB"/>
                </a:solidFill>
              </a:defRPr>
            </a:pPr>
            <a:r>
              <a:rPr sz="2100" b="1">
                <a:solidFill>
                  <a:srgbClr val="2563EB"/>
                </a:solidFill>
              </a:rPr>
              <a:t>?</a:t>
            </a:r>
            <a:endParaRPr/>
          </a:p>
        </p:txBody>
      </p:sp>
      <p:sp>
        <p:nvSpPr>
          <p:cNvPr id="1785381828" name=""/>
          <p:cNvSpPr>
            <a:spLocks noGrp="1"/>
          </p:cNvSpPr>
          <p:nvPr/>
        </p:nvSpPr>
        <p:spPr bwMode="auto">
          <a:xfrm>
            <a:off x="2095499" y="2019299"/>
            <a:ext cx="3905249" cy="41909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200" b="1">
                <a:solidFill>
                  <a:srgbClr val="172033"/>
                </a:solidFill>
              </a:defRPr>
            </a:pPr>
            <a:r>
              <a:rPr sz="2200" b="1">
                <a:solidFill>
                  <a:srgbClr val="172033"/>
                </a:solidFill>
              </a:rPr>
              <a:t>Hallucination</a:t>
            </a:r>
            <a:endParaRPr/>
          </a:p>
        </p:txBody>
      </p:sp>
      <p:sp>
        <p:nvSpPr>
          <p:cNvPr id="774830478" name=""/>
          <p:cNvSpPr>
            <a:spLocks noGrp="1"/>
          </p:cNvSpPr>
          <p:nvPr/>
        </p:nvSpPr>
        <p:spPr bwMode="auto">
          <a:xfrm>
            <a:off x="2095499" y="2495549"/>
            <a:ext cx="3905249" cy="32384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450" b="1">
                <a:solidFill>
                  <a:srgbClr val="2563EB"/>
                </a:solidFill>
              </a:defRPr>
            </a:pPr>
            <a:r>
              <a:rPr sz="1450" b="1">
                <a:solidFill>
                  <a:srgbClr val="2563EB"/>
                </a:solidFill>
              </a:rPr>
              <a:t>Unreliable Output</a:t>
            </a:r>
            <a:endParaRPr/>
          </a:p>
        </p:txBody>
      </p:sp>
      <p:sp>
        <p:nvSpPr>
          <p:cNvPr id="504644911" name="icon"/>
          <p:cNvSpPr>
            <a:spLocks noGrp="1"/>
          </p:cNvSpPr>
          <p:nvPr/>
        </p:nvSpPr>
        <p:spPr bwMode="auto">
          <a:xfrm>
            <a:off x="6343650" y="2095499"/>
            <a:ext cx="704849" cy="704849"/>
          </a:xfrm>
          <a:prstGeom prst="ellipse">
            <a:avLst/>
          </a:prstGeom>
          <a:solidFill>
            <a:srgbClr val="FDECEC"/>
          </a:solidFill>
          <a:ln w="19050">
            <a:solidFill>
              <a:srgbClr val="DC2626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2100" b="1">
                <a:solidFill>
                  <a:srgbClr val="DC2626"/>
                </a:solidFill>
              </a:defRPr>
            </a:pPr>
            <a:r>
              <a:rPr sz="2100" b="1">
                <a:solidFill>
                  <a:srgbClr val="DC2626"/>
                </a:solidFill>
              </a:rPr>
              <a:t>!</a:t>
            </a:r>
            <a:endParaRPr/>
          </a:p>
        </p:txBody>
      </p:sp>
      <p:sp>
        <p:nvSpPr>
          <p:cNvPr id="1168115301" name=""/>
          <p:cNvSpPr>
            <a:spLocks noGrp="1"/>
          </p:cNvSpPr>
          <p:nvPr/>
        </p:nvSpPr>
        <p:spPr bwMode="auto">
          <a:xfrm>
            <a:off x="7296148" y="2019299"/>
            <a:ext cx="3905249" cy="41909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200" b="1">
                <a:solidFill>
                  <a:srgbClr val="172033"/>
                </a:solidFill>
              </a:defRPr>
            </a:pPr>
            <a:r>
              <a:rPr sz="2200" b="1">
                <a:solidFill>
                  <a:srgbClr val="172033"/>
                </a:solidFill>
              </a:rPr>
              <a:t>Prompt Injection</a:t>
            </a:r>
            <a:endParaRPr/>
          </a:p>
        </p:txBody>
      </p:sp>
      <p:sp>
        <p:nvSpPr>
          <p:cNvPr id="660237928" name=""/>
          <p:cNvSpPr>
            <a:spLocks noGrp="1"/>
          </p:cNvSpPr>
          <p:nvPr/>
        </p:nvSpPr>
        <p:spPr bwMode="auto">
          <a:xfrm>
            <a:off x="7296148" y="2495549"/>
            <a:ext cx="3905249" cy="32384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450" b="1">
                <a:solidFill>
                  <a:srgbClr val="DC2626"/>
                </a:solidFill>
              </a:defRPr>
            </a:pPr>
            <a:r>
              <a:rPr sz="1450" b="1">
                <a:solidFill>
                  <a:srgbClr val="DC2626"/>
                </a:solidFill>
              </a:rPr>
              <a:t>Instruction Hijacking</a:t>
            </a:r>
            <a:endParaRPr/>
          </a:p>
        </p:txBody>
      </p:sp>
      <p:sp>
        <p:nvSpPr>
          <p:cNvPr id="1070528497" name="icon"/>
          <p:cNvSpPr>
            <a:spLocks noGrp="1"/>
          </p:cNvSpPr>
          <p:nvPr/>
        </p:nvSpPr>
        <p:spPr bwMode="auto">
          <a:xfrm>
            <a:off x="1143000" y="4171950"/>
            <a:ext cx="704849" cy="704849"/>
          </a:xfrm>
          <a:prstGeom prst="ellipse">
            <a:avLst/>
          </a:prstGeom>
          <a:solidFill>
            <a:srgbClr val="FFF4DD"/>
          </a:solidFill>
          <a:ln w="19050">
            <a:solidFill>
              <a:srgbClr val="F59E0B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2100" b="1">
                <a:solidFill>
                  <a:srgbClr val="F59E0B"/>
                </a:solidFill>
              </a:defRPr>
            </a:pPr>
            <a:r>
              <a:rPr sz="2100" b="1">
                <a:solidFill>
                  <a:srgbClr val="F59E0B"/>
                </a:solidFill>
              </a:rPr>
              <a:t>K</a:t>
            </a:r>
            <a:endParaRPr/>
          </a:p>
        </p:txBody>
      </p:sp>
      <p:sp>
        <p:nvSpPr>
          <p:cNvPr id="1336016408" name=""/>
          <p:cNvSpPr>
            <a:spLocks noGrp="1"/>
          </p:cNvSpPr>
          <p:nvPr/>
        </p:nvSpPr>
        <p:spPr bwMode="auto">
          <a:xfrm>
            <a:off x="2095499" y="4095749"/>
            <a:ext cx="3905249" cy="41909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200" b="1">
                <a:solidFill>
                  <a:srgbClr val="172033"/>
                </a:solidFill>
              </a:defRPr>
            </a:pPr>
            <a:r>
              <a:rPr sz="2200" b="1">
                <a:solidFill>
                  <a:srgbClr val="172033"/>
                </a:solidFill>
              </a:rPr>
              <a:t>Data Leakage</a:t>
            </a:r>
            <a:endParaRPr/>
          </a:p>
        </p:txBody>
      </p:sp>
      <p:sp>
        <p:nvSpPr>
          <p:cNvPr id="782692693" name=""/>
          <p:cNvSpPr>
            <a:spLocks noGrp="1"/>
          </p:cNvSpPr>
          <p:nvPr/>
        </p:nvSpPr>
        <p:spPr bwMode="auto">
          <a:xfrm>
            <a:off x="2095499" y="4572000"/>
            <a:ext cx="3905249" cy="32384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450" b="1">
                <a:solidFill>
                  <a:srgbClr val="F59E0B"/>
                </a:solidFill>
              </a:defRPr>
            </a:pPr>
            <a:r>
              <a:rPr sz="1450" b="1">
                <a:solidFill>
                  <a:srgbClr val="F59E0B"/>
                </a:solidFill>
              </a:rPr>
              <a:t>Sensitive Data Exposure</a:t>
            </a:r>
            <a:endParaRPr/>
          </a:p>
        </p:txBody>
      </p:sp>
      <p:sp>
        <p:nvSpPr>
          <p:cNvPr id="1836042677" name="icon"/>
          <p:cNvSpPr>
            <a:spLocks noGrp="1"/>
          </p:cNvSpPr>
          <p:nvPr/>
        </p:nvSpPr>
        <p:spPr bwMode="auto">
          <a:xfrm>
            <a:off x="6343650" y="4171950"/>
            <a:ext cx="704849" cy="704849"/>
          </a:xfrm>
          <a:prstGeom prst="ellipse">
            <a:avLst/>
          </a:prstGeom>
          <a:solidFill>
            <a:srgbClr val="FDECEC"/>
          </a:solidFill>
          <a:ln w="19050">
            <a:solidFill>
              <a:srgbClr val="DC2626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2100" b="1">
                <a:solidFill>
                  <a:srgbClr val="DC2626"/>
                </a:solidFill>
              </a:defRPr>
            </a:pPr>
            <a:r>
              <a:rPr sz="2100" b="1">
                <a:solidFill>
                  <a:srgbClr val="DC2626"/>
                </a:solidFill>
              </a:rPr>
              <a:t>R</a:t>
            </a:r>
            <a:endParaRPr/>
          </a:p>
        </p:txBody>
      </p:sp>
      <p:sp>
        <p:nvSpPr>
          <p:cNvPr id="1068732437" name=""/>
          <p:cNvSpPr>
            <a:spLocks noGrp="1"/>
          </p:cNvSpPr>
          <p:nvPr/>
        </p:nvSpPr>
        <p:spPr bwMode="auto">
          <a:xfrm>
            <a:off x="7296148" y="4095749"/>
            <a:ext cx="3905249" cy="41909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2200" b="1">
                <a:solidFill>
                  <a:srgbClr val="172033"/>
                </a:solidFill>
              </a:defRPr>
            </a:pPr>
            <a:r>
              <a:rPr sz="2200" b="1">
                <a:solidFill>
                  <a:srgbClr val="172033"/>
                </a:solidFill>
              </a:rPr>
              <a:t>Unsafe Action</a:t>
            </a:r>
            <a:endParaRPr/>
          </a:p>
        </p:txBody>
      </p:sp>
      <p:sp>
        <p:nvSpPr>
          <p:cNvPr id="1337478154" name=""/>
          <p:cNvSpPr>
            <a:spLocks noGrp="1"/>
          </p:cNvSpPr>
          <p:nvPr/>
        </p:nvSpPr>
        <p:spPr bwMode="auto">
          <a:xfrm>
            <a:off x="7296148" y="4572000"/>
            <a:ext cx="3905249" cy="32384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450" b="1">
                <a:solidFill>
                  <a:srgbClr val="DC2626"/>
                </a:solidFill>
              </a:defRPr>
            </a:pPr>
            <a:r>
              <a:rPr sz="1450" b="1">
                <a:solidFill>
                  <a:srgbClr val="DC2626"/>
                </a:solidFill>
              </a:rPr>
              <a:t>Excessive Agency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0848936" name="Rectangle 935271156"/>
          <p:cNvSpPr>
            <a:spLocks noGrp="1"/>
          </p:cNvSpPr>
          <p:nvPr/>
        </p:nvSpPr>
        <p:spPr bwMode="auto">
          <a:xfrm>
            <a:off x="609599" y="323849"/>
            <a:ext cx="4000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HALLUCINATION</a:t>
            </a:r>
            <a:endParaRPr/>
          </a:p>
        </p:txBody>
      </p:sp>
      <p:sp>
        <p:nvSpPr>
          <p:cNvPr id="1061077193" name="Rectangle 251777344"/>
          <p:cNvSpPr>
            <a:spLocks noGrp="1"/>
          </p:cNvSpPr>
          <p:nvPr/>
        </p:nvSpPr>
        <p:spPr bwMode="auto">
          <a:xfrm>
            <a:off x="609599" y="590548"/>
            <a:ext cx="10287000" cy="59054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3150" b="1">
                <a:solidFill>
                  <a:srgbClr val="0B0F19"/>
                </a:solidFill>
              </a:defRPr>
            </a:pPr>
            <a:r>
              <a:rPr sz="3150" b="1">
                <a:solidFill>
                  <a:srgbClr val="0B0F19"/>
                </a:solidFill>
              </a:rPr>
              <a:t>Output Becomes Risk When Executed</a:t>
            </a:r>
            <a:endParaRPr/>
          </a:p>
        </p:txBody>
      </p:sp>
      <p:sp>
        <p:nvSpPr>
          <p:cNvPr id="2095930878" name="Rectangle 1495975732"/>
          <p:cNvSpPr>
            <a:spLocks noGrp="1"/>
          </p:cNvSpPr>
          <p:nvPr/>
        </p:nvSpPr>
        <p:spPr bwMode="auto">
          <a:xfrm>
            <a:off x="11106150" y="6286500"/>
            <a:ext cx="476249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buNone/>
              <a:defRPr sz="1000" b="0">
                <a:solidFill>
                  <a:srgbClr val="66708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00" b="0">
                <a:solidFill>
                  <a:srgbClr val="667085"/>
                </a:solidFill>
                <a:latin typeface="Times New Roman"/>
                <a:ea typeface="Times New Roman"/>
                <a:cs typeface="Times New Roman"/>
              </a:rPr>
              <a:t>4</a:t>
            </a:r>
            <a:endParaRPr/>
          </a:p>
        </p:txBody>
      </p:sp>
      <p:sp>
        <p:nvSpPr>
          <p:cNvPr id="1311871551" name="security-canvas"/>
          <p:cNvSpPr>
            <a:spLocks noGrp="1"/>
          </p:cNvSpPr>
          <p:nvPr/>
        </p:nvSpPr>
        <p:spPr bwMode="auto">
          <a:xfrm>
            <a:off x="704849" y="1466848"/>
            <a:ext cx="10782299" cy="4514850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ln w="9525">
            <a:solidFill>
              <a:srgbClr val="D9E1EC"/>
            </a:solidFill>
            <a:prstDash val="solid"/>
          </a:ln>
        </p:spPr>
        <p:style>
          <a:lnRef idx="0"/>
          <a:fillRef idx="0"/>
          <a:effectRef idx="4"/>
          <a:fontRef idx="major"/>
        </p:style>
      </p:sp>
      <p:sp>
        <p:nvSpPr>
          <p:cNvPr id="1638407453" name="hallucination-arrow-1"/>
          <p:cNvSpPr>
            <a:spLocks noGrp="1"/>
          </p:cNvSpPr>
          <p:nvPr/>
        </p:nvSpPr>
        <p:spPr bwMode="auto">
          <a:xfrm>
            <a:off x="2762249" y="2647948"/>
            <a:ext cx="438148" cy="266699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60A5FA"/>
          </a:solidFill>
          <a:ln w="0">
            <a:solidFill>
              <a:srgbClr val="60A5FA"/>
            </a:solidFill>
            <a:prstDash val="solid"/>
          </a:ln>
        </p:spPr>
      </p:sp>
      <p:sp>
        <p:nvSpPr>
          <p:cNvPr id="1329755114" name="hallucination-arrow-2"/>
          <p:cNvSpPr>
            <a:spLocks noGrp="1"/>
          </p:cNvSpPr>
          <p:nvPr/>
        </p:nvSpPr>
        <p:spPr bwMode="auto">
          <a:xfrm>
            <a:off x="5124449" y="2647948"/>
            <a:ext cx="438148" cy="266699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60A5FA"/>
          </a:solidFill>
          <a:ln w="0">
            <a:solidFill>
              <a:srgbClr val="60A5FA"/>
            </a:solidFill>
            <a:prstDash val="solid"/>
          </a:ln>
        </p:spPr>
      </p:sp>
      <p:sp>
        <p:nvSpPr>
          <p:cNvPr id="360018919" name="hallucination-arrow-3"/>
          <p:cNvSpPr>
            <a:spLocks noGrp="1"/>
          </p:cNvSpPr>
          <p:nvPr/>
        </p:nvSpPr>
        <p:spPr bwMode="auto">
          <a:xfrm>
            <a:off x="7486650" y="2647948"/>
            <a:ext cx="438148" cy="266699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DC2626"/>
          </a:solidFill>
          <a:ln w="0">
            <a:solidFill>
              <a:srgbClr val="DC2626"/>
            </a:solidFill>
            <a:prstDash val="solid"/>
          </a:ln>
        </p:spPr>
      </p:sp>
      <p:sp>
        <p:nvSpPr>
          <p:cNvPr id="1834484346" name="node-llm-output"/>
          <p:cNvSpPr>
            <a:spLocks noGrp="1"/>
          </p:cNvSpPr>
          <p:nvPr/>
        </p:nvSpPr>
        <p:spPr bwMode="auto">
          <a:xfrm>
            <a:off x="1009649" y="2266949"/>
            <a:ext cx="1752598" cy="1028700"/>
          </a:xfrm>
          <a:prstGeom prst="roundRect">
            <a:avLst>
              <a:gd name="adj" fmla="val 7407"/>
            </a:avLst>
          </a:prstGeom>
          <a:solidFill>
            <a:srgbClr val="EAF2FF"/>
          </a:solidFill>
          <a:ln w="19050">
            <a:solidFill>
              <a:srgbClr val="2563EB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650" b="1">
                <a:solidFill>
                  <a:srgbClr val="2563EB"/>
                </a:solidFill>
              </a:defRPr>
            </a:pPr>
            <a:r>
              <a:rPr sz="1650" b="1">
                <a:solidFill>
                  <a:srgbClr val="2563EB"/>
                </a:solidFill>
              </a:rPr>
              <a:t>Unreliable</a:t>
            </a:r>
            <a:endParaRPr/>
          </a:p>
          <a:p>
            <a:pPr algn="ctr">
              <a:buNone/>
              <a:defRPr sz="1650" b="1">
                <a:solidFill>
                  <a:srgbClr val="2563EB"/>
                </a:solidFill>
              </a:defRPr>
            </a:pPr>
            <a:r>
              <a:rPr sz="1650" b="1">
                <a:solidFill>
                  <a:srgbClr val="2563EB"/>
                </a:solidFill>
              </a:rPr>
              <a:t>Output</a:t>
            </a:r>
            <a:endParaRPr/>
          </a:p>
        </p:txBody>
      </p:sp>
      <p:sp>
        <p:nvSpPr>
          <p:cNvPr id="2038871855" name="node-fake-command"/>
          <p:cNvSpPr>
            <a:spLocks noGrp="1"/>
          </p:cNvSpPr>
          <p:nvPr/>
        </p:nvSpPr>
        <p:spPr bwMode="auto">
          <a:xfrm>
            <a:off x="3371850" y="2266949"/>
            <a:ext cx="1752598" cy="1028700"/>
          </a:xfrm>
          <a:prstGeom prst="roundRect">
            <a:avLst>
              <a:gd name="adj" fmla="val 7407"/>
            </a:avLst>
          </a:prstGeom>
          <a:solidFill>
            <a:srgbClr val="FFF4DD"/>
          </a:solidFill>
          <a:ln w="19050">
            <a:solidFill>
              <a:srgbClr val="F59E0B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650" b="1">
                <a:solidFill>
                  <a:srgbClr val="F59E0B"/>
                </a:solidFill>
              </a:defRPr>
            </a:pPr>
            <a:r>
              <a:rPr sz="1650" b="1">
                <a:solidFill>
                  <a:srgbClr val="F59E0B"/>
                </a:solidFill>
              </a:rPr>
              <a:t>No</a:t>
            </a:r>
            <a:endParaRPr/>
          </a:p>
          <a:p>
            <a:pPr algn="ctr">
              <a:buNone/>
              <a:defRPr sz="1650" b="1">
                <a:solidFill>
                  <a:srgbClr val="F59E0B"/>
                </a:solidFill>
              </a:defRPr>
            </a:pPr>
            <a:r>
              <a:rPr sz="1650" b="1">
                <a:solidFill>
                  <a:srgbClr val="F59E0B"/>
                </a:solidFill>
              </a:rPr>
              <a:t>Verification</a:t>
            </a:r>
            <a:endParaRPr/>
          </a:p>
        </p:txBody>
      </p:sp>
      <p:sp>
        <p:nvSpPr>
          <p:cNvPr id="300907021" name="node-administrator"/>
          <p:cNvSpPr>
            <a:spLocks noGrp="1"/>
          </p:cNvSpPr>
          <p:nvPr/>
        </p:nvSpPr>
        <p:spPr bwMode="auto">
          <a:xfrm>
            <a:off x="5734049" y="2266949"/>
            <a:ext cx="1752598" cy="102870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9050">
            <a:solidFill>
              <a:srgbClr val="64748B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Human / Agent</a:t>
            </a:r>
            <a:endParaRPr/>
          </a:p>
        </p:txBody>
      </p:sp>
      <p:sp>
        <p:nvSpPr>
          <p:cNvPr id="1830682090" name="node-system-failure"/>
          <p:cNvSpPr>
            <a:spLocks noGrp="1"/>
          </p:cNvSpPr>
          <p:nvPr/>
        </p:nvSpPr>
        <p:spPr bwMode="auto">
          <a:xfrm>
            <a:off x="8096249" y="2266949"/>
            <a:ext cx="1752598" cy="1028700"/>
          </a:xfrm>
          <a:prstGeom prst="roundRect">
            <a:avLst>
              <a:gd name="adj" fmla="val 7407"/>
            </a:avLst>
          </a:prstGeom>
          <a:solidFill>
            <a:srgbClr val="FDECEC"/>
          </a:solidFill>
          <a:ln w="19050">
            <a:solidFill>
              <a:srgbClr val="DC2626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650" b="1">
                <a:solidFill>
                  <a:srgbClr val="DC2626"/>
                </a:solidFill>
              </a:defRPr>
            </a:pPr>
            <a:r>
              <a:rPr sz="1650" b="1">
                <a:solidFill>
                  <a:srgbClr val="DC2626"/>
                </a:solidFill>
              </a:rPr>
              <a:t>Risky</a:t>
            </a:r>
            <a:endParaRPr/>
          </a:p>
          <a:p>
            <a:pPr algn="ctr">
              <a:buNone/>
              <a:defRPr sz="1650" b="1">
                <a:solidFill>
                  <a:srgbClr val="DC2626"/>
                </a:solidFill>
              </a:defRPr>
            </a:pPr>
            <a:r>
              <a:rPr sz="1650" b="1">
                <a:solidFill>
                  <a:srgbClr val="DC2626"/>
                </a:solidFill>
              </a:rPr>
              <a:t>Action</a:t>
            </a:r>
            <a:endParaRPr/>
          </a:p>
        </p:txBody>
      </p:sp>
      <p:sp>
        <p:nvSpPr>
          <p:cNvPr id="1851605074" name=""/>
          <p:cNvSpPr>
            <a:spLocks noGrp="1"/>
          </p:cNvSpPr>
          <p:nvPr/>
        </p:nvSpPr>
        <p:spPr bwMode="auto">
          <a:xfrm>
            <a:off x="1333499" y="4019549"/>
            <a:ext cx="1523999" cy="32384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350" b="1">
                <a:solidFill>
                  <a:srgbClr val="10B981"/>
                </a:solidFill>
              </a:defRPr>
            </a:pPr>
            <a:r>
              <a:rPr sz="1350" b="1">
                <a:solidFill>
                  <a:srgbClr val="10B981"/>
                </a:solidFill>
              </a:rPr>
              <a:t>NOT EXECUTED</a:t>
            </a:r>
            <a:endParaRPr/>
          </a:p>
        </p:txBody>
      </p:sp>
      <p:sp>
        <p:nvSpPr>
          <p:cNvPr id="755711518" name="correct-line"/>
          <p:cNvSpPr>
            <a:spLocks noGrp="1"/>
          </p:cNvSpPr>
          <p:nvPr/>
        </p:nvSpPr>
        <p:spPr bwMode="auto">
          <a:xfrm rot="0">
            <a:off x="2952749" y="4186237"/>
            <a:ext cx="3238499" cy="9524"/>
          </a:xfrm>
          <a:prstGeom prst="line">
            <a:avLst/>
          </a:prstGeom>
          <a:noFill/>
          <a:ln w="38100">
            <a:solidFill>
              <a:srgbClr val="10B981"/>
            </a:solidFill>
            <a:prstDash val="solid"/>
          </a:ln>
        </p:spPr>
      </p:sp>
      <p:sp>
        <p:nvSpPr>
          <p:cNvPr id="828049154" name="node-verified"/>
          <p:cNvSpPr>
            <a:spLocks noGrp="1"/>
          </p:cNvSpPr>
          <p:nvPr/>
        </p:nvSpPr>
        <p:spPr bwMode="auto">
          <a:xfrm>
            <a:off x="6438898" y="3867149"/>
            <a:ext cx="1581149" cy="647699"/>
          </a:xfrm>
          <a:prstGeom prst="roundRect">
            <a:avLst>
              <a:gd name="adj" fmla="val 11765"/>
            </a:avLst>
          </a:prstGeom>
          <a:solidFill>
            <a:srgbClr val="E8F8F2"/>
          </a:solidFill>
          <a:ln w="19050">
            <a:solidFill>
              <a:srgbClr val="10B981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500" b="1">
                <a:solidFill>
                  <a:srgbClr val="10B981"/>
                </a:solidFill>
              </a:defRPr>
            </a:pPr>
            <a:r>
              <a:rPr sz="1500" b="1">
                <a:solidFill>
                  <a:srgbClr val="10B981"/>
                </a:solidFill>
              </a:rPr>
              <a:t>No Incident</a:t>
            </a:r>
            <a:endParaRPr/>
          </a:p>
        </p:txBody>
      </p:sp>
      <p:sp>
        <p:nvSpPr>
          <p:cNvPr id="1797246607" name=""/>
          <p:cNvSpPr>
            <a:spLocks noGrp="1"/>
          </p:cNvSpPr>
          <p:nvPr/>
        </p:nvSpPr>
        <p:spPr bwMode="auto">
          <a:xfrm>
            <a:off x="1333499" y="4914900"/>
            <a:ext cx="1523999" cy="32384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350" b="1">
                <a:solidFill>
                  <a:srgbClr val="DC2626"/>
                </a:solidFill>
              </a:defRPr>
            </a:pPr>
            <a:r>
              <a:rPr sz="1350" b="1">
                <a:solidFill>
                  <a:srgbClr val="DC2626"/>
                </a:solidFill>
              </a:rPr>
              <a:t>TRUSTED + USED</a:t>
            </a:r>
            <a:endParaRPr/>
          </a:p>
        </p:txBody>
      </p:sp>
      <p:sp>
        <p:nvSpPr>
          <p:cNvPr id="42217871" name="plausible-line"/>
          <p:cNvSpPr>
            <a:spLocks noGrp="1"/>
          </p:cNvSpPr>
          <p:nvPr/>
        </p:nvSpPr>
        <p:spPr bwMode="auto">
          <a:xfrm rot="0">
            <a:off x="2952749" y="5081587"/>
            <a:ext cx="3238499" cy="9524"/>
          </a:xfrm>
          <a:prstGeom prst="line">
            <a:avLst/>
          </a:prstGeom>
          <a:noFill/>
          <a:ln w="38100">
            <a:solidFill>
              <a:srgbClr val="DC2626"/>
            </a:solidFill>
            <a:prstDash val="dash"/>
          </a:ln>
        </p:spPr>
      </p:sp>
      <p:sp>
        <p:nvSpPr>
          <p:cNvPr id="1780314923" name="node-unverified"/>
          <p:cNvSpPr>
            <a:spLocks noGrp="1"/>
          </p:cNvSpPr>
          <p:nvPr/>
        </p:nvSpPr>
        <p:spPr bwMode="auto">
          <a:xfrm>
            <a:off x="6438898" y="4762499"/>
            <a:ext cx="1581149" cy="647699"/>
          </a:xfrm>
          <a:prstGeom prst="roundRect">
            <a:avLst>
              <a:gd name="adj" fmla="val 11765"/>
            </a:avLst>
          </a:prstGeom>
          <a:solidFill>
            <a:srgbClr val="FDECEC"/>
          </a:solidFill>
          <a:ln w="19050">
            <a:solidFill>
              <a:srgbClr val="DC2626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500" b="1">
                <a:solidFill>
                  <a:srgbClr val="DC2626"/>
                </a:solidFill>
              </a:defRPr>
            </a:pPr>
            <a:r>
              <a:rPr sz="1500" b="1">
                <a:solidFill>
                  <a:srgbClr val="DC2626"/>
                </a:solidFill>
              </a:rPr>
              <a:t>Security Impact</a:t>
            </a:r>
            <a:endParaRPr/>
          </a:p>
        </p:txBody>
      </p:sp>
      <p:sp>
        <p:nvSpPr>
          <p:cNvPr id="1056746409" name=""/>
          <p:cNvSpPr>
            <a:spLocks noGrp="1"/>
          </p:cNvSpPr>
          <p:nvPr/>
        </p:nvSpPr>
        <p:spPr bwMode="auto">
          <a:xfrm>
            <a:off x="8305800" y="4705349"/>
            <a:ext cx="2362199" cy="70484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900" b="1">
                <a:solidFill>
                  <a:srgbClr val="172033"/>
                </a:solidFill>
              </a:defRPr>
            </a:pPr>
            <a:r>
              <a:rPr sz="1900" b="1">
                <a:solidFill>
                  <a:srgbClr val="172033"/>
                </a:solidFill>
              </a:rPr>
              <a:t>Output Alone ≠ Incident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4683890" name="Rectangle 7713821"/>
          <p:cNvSpPr>
            <a:spLocks noGrp="1"/>
          </p:cNvSpPr>
          <p:nvPr/>
        </p:nvSpPr>
        <p:spPr bwMode="auto">
          <a:xfrm>
            <a:off x="609599" y="323849"/>
            <a:ext cx="4000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PROMPT INJECTION</a:t>
            </a:r>
            <a:endParaRPr/>
          </a:p>
        </p:txBody>
      </p:sp>
      <p:sp>
        <p:nvSpPr>
          <p:cNvPr id="1134880345" name="Rectangle 1381388514"/>
          <p:cNvSpPr>
            <a:spLocks noGrp="1"/>
          </p:cNvSpPr>
          <p:nvPr/>
        </p:nvSpPr>
        <p:spPr bwMode="auto">
          <a:xfrm>
            <a:off x="609599" y="590548"/>
            <a:ext cx="9334500" cy="59054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3150" b="1">
                <a:solidFill>
                  <a:srgbClr val="0B0F19"/>
                </a:solidFill>
              </a:defRPr>
            </a:pPr>
            <a:r>
              <a:rPr sz="3150" b="1">
                <a:solidFill>
                  <a:srgbClr val="0B0F19"/>
                </a:solidFill>
              </a:rPr>
              <a:t>Trusted Instructions vs. Untrusted Content</a:t>
            </a:r>
            <a:endParaRPr/>
          </a:p>
        </p:txBody>
      </p:sp>
      <p:sp>
        <p:nvSpPr>
          <p:cNvPr id="908044771" name="Rectangle 181180573"/>
          <p:cNvSpPr>
            <a:spLocks noGrp="1"/>
          </p:cNvSpPr>
          <p:nvPr/>
        </p:nvSpPr>
        <p:spPr bwMode="auto">
          <a:xfrm>
            <a:off x="11106150" y="6286500"/>
            <a:ext cx="476249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buNone/>
              <a:defRPr sz="1000" b="0">
                <a:solidFill>
                  <a:srgbClr val="66708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00" b="0">
                <a:solidFill>
                  <a:srgbClr val="667085"/>
                </a:solidFill>
                <a:latin typeface="Times New Roman"/>
                <a:ea typeface="Times New Roman"/>
                <a:cs typeface="Times New Roman"/>
              </a:rPr>
              <a:t>5</a:t>
            </a:r>
            <a:endParaRPr/>
          </a:p>
        </p:txBody>
      </p:sp>
      <p:sp>
        <p:nvSpPr>
          <p:cNvPr id="2139619916" name="security-canvas"/>
          <p:cNvSpPr>
            <a:spLocks noGrp="1"/>
          </p:cNvSpPr>
          <p:nvPr/>
        </p:nvSpPr>
        <p:spPr bwMode="auto">
          <a:xfrm>
            <a:off x="704849" y="1466848"/>
            <a:ext cx="10782299" cy="4514850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ln w="9525">
            <a:solidFill>
              <a:srgbClr val="D9E1EC"/>
            </a:solidFill>
            <a:prstDash val="solid"/>
          </a:ln>
        </p:spPr>
        <p:style>
          <a:lnRef idx="0"/>
          <a:fillRef idx="0"/>
          <a:effectRef idx="4"/>
          <a:fontRef idx="major"/>
        </p:style>
      </p:sp>
      <p:sp>
        <p:nvSpPr>
          <p:cNvPr id="1431197582" name="trusted-instruction-arrow"/>
          <p:cNvSpPr>
            <a:spLocks noGrp="1"/>
          </p:cNvSpPr>
          <p:nvPr/>
        </p:nvSpPr>
        <p:spPr bwMode="auto">
          <a:xfrm>
            <a:off x="3733800" y="3219449"/>
            <a:ext cx="666750" cy="36195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</p:sp>
      <p:sp>
        <p:nvSpPr>
          <p:cNvPr id="180659234" name="untrusted-content-arrow"/>
          <p:cNvSpPr>
            <a:spLocks noGrp="1"/>
          </p:cNvSpPr>
          <p:nvPr/>
        </p:nvSpPr>
        <p:spPr bwMode="auto">
          <a:xfrm>
            <a:off x="7791450" y="3219449"/>
            <a:ext cx="666750" cy="361950"/>
          </a:xfrm>
          <a:prstGeom prst="leftArrow">
            <a:avLst>
              <a:gd name="adj1" fmla="val 50000"/>
              <a:gd name="adj2" fmla="val 50000"/>
            </a:avLst>
          </a:prstGeom>
          <a:solidFill>
            <a:srgbClr val="DC2626"/>
          </a:solidFill>
          <a:ln w="0">
            <a:solidFill>
              <a:srgbClr val="DC2626"/>
            </a:solidFill>
            <a:prstDash val="solid"/>
          </a:ln>
        </p:spPr>
      </p:sp>
      <p:sp>
        <p:nvSpPr>
          <p:cNvPr id="971334156" name="injection-outcome-arrow"/>
          <p:cNvSpPr>
            <a:spLocks noGrp="1"/>
          </p:cNvSpPr>
          <p:nvPr/>
        </p:nvSpPr>
        <p:spPr bwMode="auto">
          <a:xfrm>
            <a:off x="5810250" y="4171950"/>
            <a:ext cx="571500" cy="47625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DC2626"/>
          </a:solidFill>
          <a:ln w="0">
            <a:solidFill>
              <a:srgbClr val="DC2626"/>
            </a:solidFill>
            <a:prstDash val="solid"/>
          </a:ln>
        </p:spPr>
      </p:sp>
      <p:sp>
        <p:nvSpPr>
          <p:cNvPr id="416227788" name="trusted-system-instruction"/>
          <p:cNvSpPr>
            <a:spLocks noGrp="1"/>
          </p:cNvSpPr>
          <p:nvPr/>
        </p:nvSpPr>
        <p:spPr bwMode="auto">
          <a:xfrm>
            <a:off x="1066800" y="2781300"/>
            <a:ext cx="2667000" cy="1200150"/>
          </a:xfrm>
          <a:prstGeom prst="roundRect">
            <a:avLst>
              <a:gd name="adj" fmla="val 9524"/>
            </a:avLst>
          </a:prstGeom>
          <a:solidFill>
            <a:srgbClr val="EAF2FF"/>
          </a:solidFill>
          <a:ln w="19050">
            <a:solidFill>
              <a:srgbClr val="2563EB"/>
            </a:solidFill>
            <a:prstDash val="solid"/>
          </a:ln>
        </p:spPr>
        <p:txBody>
          <a:bodyPr anchor="ctr"/>
          <a:lstStyle/>
          <a:p>
            <a:pPr algn="ctr">
              <a:defRPr sz="1750" b="1">
                <a:solidFill>
                  <a:srgbClr val="2563EB"/>
                </a:solidFill>
              </a:defRPr>
            </a:pPr>
            <a:r>
              <a:rPr sz="1750" b="1">
                <a:solidFill>
                  <a:srgbClr val="2563EB"/>
                </a:solidFill>
              </a:rPr>
              <a:t>Trusted System</a:t>
            </a:r>
            <a:endParaRPr/>
          </a:p>
          <a:p>
            <a:pPr algn="ctr">
              <a:defRPr sz="1750" b="1">
                <a:solidFill>
                  <a:srgbClr val="2563EB"/>
                </a:solidFill>
              </a:defRPr>
            </a:pPr>
            <a:r>
              <a:rPr sz="1750" b="1">
                <a:solidFill>
                  <a:srgbClr val="2563EB"/>
                </a:solidFill>
              </a:rPr>
              <a:t>Instruction</a:t>
            </a:r>
            <a:endParaRPr/>
          </a:p>
        </p:txBody>
      </p:sp>
      <p:sp>
        <p:nvSpPr>
          <p:cNvPr id="1506299473" name="prompt-injection-llm"/>
          <p:cNvSpPr>
            <a:spLocks noGrp="1"/>
          </p:cNvSpPr>
          <p:nvPr/>
        </p:nvSpPr>
        <p:spPr bwMode="auto">
          <a:xfrm>
            <a:off x="4400550" y="2781300"/>
            <a:ext cx="3390900" cy="1200150"/>
          </a:xfrm>
          <a:prstGeom prst="roundRect">
            <a:avLst>
              <a:gd name="adj" fmla="val 9524"/>
            </a:avLst>
          </a:prstGeom>
          <a:solidFill>
            <a:srgbClr val="0B132B"/>
          </a:solidFill>
          <a:ln w="38100">
            <a:solidFill>
              <a:srgbClr val="2563EB"/>
            </a:solidFill>
            <a:prstDash val="solid"/>
          </a:ln>
        </p:spPr>
        <p:txBody>
          <a:bodyPr anchor="ctr"/>
          <a:lstStyle/>
          <a:p>
            <a:pPr algn="ctr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LLM</a:t>
            </a:r>
            <a:endParaRPr/>
          </a:p>
        </p:txBody>
      </p:sp>
      <p:sp>
        <p:nvSpPr>
          <p:cNvPr id="630021584" name="untrusted-document-web-email"/>
          <p:cNvSpPr>
            <a:spLocks noGrp="1"/>
          </p:cNvSpPr>
          <p:nvPr/>
        </p:nvSpPr>
        <p:spPr bwMode="auto">
          <a:xfrm>
            <a:off x="8458200" y="2781300"/>
            <a:ext cx="2667000" cy="1200150"/>
          </a:xfrm>
          <a:prstGeom prst="roundRect">
            <a:avLst>
              <a:gd name="adj" fmla="val 9524"/>
            </a:avLst>
          </a:prstGeom>
          <a:solidFill>
            <a:srgbClr val="FDECEC"/>
          </a:solidFill>
          <a:ln w="19050">
            <a:solidFill>
              <a:srgbClr val="DC2626"/>
            </a:solidFill>
            <a:prstDash val="solid"/>
          </a:ln>
        </p:spPr>
        <p:txBody>
          <a:bodyPr anchor="ctr"/>
          <a:lstStyle/>
          <a:p>
            <a:pPr algn="ctr">
              <a:defRPr sz="1600" b="1">
                <a:solidFill>
                  <a:srgbClr val="DC2626"/>
                </a:solidFill>
              </a:defRPr>
            </a:pPr>
            <a:r>
              <a:rPr sz="1600" b="1">
                <a:solidFill>
                  <a:srgbClr val="DC2626"/>
                </a:solidFill>
              </a:rPr>
              <a:t>Untrusted Document</a:t>
            </a:r>
            <a:endParaRPr/>
          </a:p>
          <a:p>
            <a:pPr algn="ctr">
              <a:defRPr sz="1600" b="1">
                <a:solidFill>
                  <a:srgbClr val="DC2626"/>
                </a:solidFill>
              </a:defRPr>
            </a:pPr>
            <a:r>
              <a:rPr sz="1600" b="1">
                <a:solidFill>
                  <a:srgbClr val="DC2626"/>
                </a:solidFill>
              </a:rPr>
              <a:t>Web / Email</a:t>
            </a:r>
            <a:endParaRPr/>
          </a:p>
        </p:txBody>
      </p:sp>
      <p:sp>
        <p:nvSpPr>
          <p:cNvPr id="2124372608" name=""/>
          <p:cNvSpPr>
            <a:spLocks noGrp="1"/>
          </p:cNvSpPr>
          <p:nvPr/>
        </p:nvSpPr>
        <p:spPr bwMode="auto">
          <a:xfrm>
            <a:off x="4667250" y="1847850"/>
            <a:ext cx="2857500" cy="43814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450" b="1">
                <a:solidFill>
                  <a:srgbClr val="DC2626"/>
                </a:solidFill>
              </a:defRPr>
            </a:pPr>
            <a:r>
              <a:rPr sz="1450" b="1">
                <a:solidFill>
                  <a:srgbClr val="DC2626"/>
                </a:solidFill>
              </a:rPr>
              <a:t>INSTRUCTION HIJACKING</a:t>
            </a:r>
            <a:endParaRPr/>
          </a:p>
        </p:txBody>
      </p:sp>
      <p:sp>
        <p:nvSpPr>
          <p:cNvPr id="2023934408" name="prompt-injection-data-exposure"/>
          <p:cNvSpPr>
            <a:spLocks noGrp="1"/>
          </p:cNvSpPr>
          <p:nvPr/>
        </p:nvSpPr>
        <p:spPr bwMode="auto">
          <a:xfrm>
            <a:off x="2438400" y="4857750"/>
            <a:ext cx="3048000" cy="723900"/>
          </a:xfrm>
          <a:prstGeom prst="roundRect">
            <a:avLst>
              <a:gd name="adj" fmla="val 15789"/>
            </a:avLst>
          </a:prstGeom>
          <a:solidFill>
            <a:srgbClr val="FDECEC"/>
          </a:solidFill>
          <a:ln w="19050">
            <a:solidFill>
              <a:srgbClr val="DC2626"/>
            </a:solidFill>
            <a:prstDash val="solid"/>
          </a:ln>
        </p:spPr>
        <p:txBody>
          <a:bodyPr anchor="ctr"/>
          <a:lstStyle/>
          <a:p>
            <a:pPr algn="ctr">
              <a:defRPr sz="1450" b="1">
                <a:solidFill>
                  <a:srgbClr val="DC2626"/>
                </a:solidFill>
              </a:defRPr>
            </a:pPr>
            <a:r>
              <a:rPr sz="1450" b="1">
                <a:solidFill>
                  <a:srgbClr val="DC2626"/>
                </a:solidFill>
              </a:rPr>
              <a:t>Sensitive Data Exposure</a:t>
            </a:r>
            <a:endParaRPr/>
          </a:p>
        </p:txBody>
      </p:sp>
      <p:sp>
        <p:nvSpPr>
          <p:cNvPr id="718377228" name="prompt-injection-unauthorized-action"/>
          <p:cNvSpPr>
            <a:spLocks noGrp="1"/>
          </p:cNvSpPr>
          <p:nvPr/>
        </p:nvSpPr>
        <p:spPr bwMode="auto">
          <a:xfrm>
            <a:off x="6705600" y="4857750"/>
            <a:ext cx="3048000" cy="723900"/>
          </a:xfrm>
          <a:prstGeom prst="roundRect">
            <a:avLst>
              <a:gd name="adj" fmla="val 15789"/>
            </a:avLst>
          </a:prstGeom>
          <a:solidFill>
            <a:srgbClr val="FDECEC"/>
          </a:solidFill>
          <a:ln w="19050">
            <a:solidFill>
              <a:srgbClr val="DC2626"/>
            </a:solidFill>
            <a:prstDash val="solid"/>
          </a:ln>
        </p:spPr>
        <p:txBody>
          <a:bodyPr anchor="ctr"/>
          <a:lstStyle/>
          <a:p>
            <a:pPr algn="ctr">
              <a:defRPr sz="1500" b="1">
                <a:solidFill>
                  <a:srgbClr val="DC2626"/>
                </a:solidFill>
              </a:defRPr>
            </a:pPr>
            <a:r>
              <a:rPr sz="1500" b="1">
                <a:solidFill>
                  <a:srgbClr val="DC2626"/>
                </a:solidFill>
              </a:rPr>
              <a:t>Unauthorized Action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78853637" name="Rectangle 1921889684"/>
          <p:cNvSpPr>
            <a:spLocks noGrp="1"/>
          </p:cNvSpPr>
          <p:nvPr/>
        </p:nvSpPr>
        <p:spPr bwMode="auto">
          <a:xfrm>
            <a:off x="11106150" y="6286500"/>
            <a:ext cx="476249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buNone/>
              <a:defRPr sz="1000" b="0">
                <a:solidFill>
                  <a:srgbClr val="66708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00" b="0">
                <a:solidFill>
                  <a:srgbClr val="667085"/>
                </a:solidFill>
                <a:latin typeface="Times New Roman"/>
                <a:ea typeface="Times New Roman"/>
                <a:cs typeface="Times New Roman"/>
              </a:rPr>
              <a:t>6</a:t>
            </a:r>
            <a:endParaRPr/>
          </a:p>
        </p:txBody>
      </p:sp>
      <p:sp>
        <p:nvSpPr>
          <p:cNvPr id="1088664542" name="Rectangle 1785225236"/>
          <p:cNvSpPr>
            <a:spLocks noGrp="1"/>
          </p:cNvSpPr>
          <p:nvPr/>
        </p:nvSpPr>
        <p:spPr bwMode="auto">
          <a:xfrm>
            <a:off x="704849" y="400050"/>
            <a:ext cx="3809999" cy="26669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200" b="1">
                <a:solidFill>
                  <a:srgbClr val="2D66E8"/>
                </a:solidFill>
                <a:latin typeface="Georgia"/>
                <a:ea typeface="Georgia"/>
                <a:cs typeface="Georgia"/>
              </a:defRPr>
            </a:pPr>
            <a:r>
              <a:rPr sz="1200" b="1">
                <a:solidFill>
                  <a:srgbClr val="2D66E8"/>
                </a:solidFill>
                <a:latin typeface="Georgia"/>
                <a:ea typeface="Georgia"/>
                <a:cs typeface="Georgia"/>
              </a:rPr>
              <a:t>AGENTIC ACCESS</a:t>
            </a:r>
            <a:endParaRPr/>
          </a:p>
        </p:txBody>
      </p:sp>
      <p:sp>
        <p:nvSpPr>
          <p:cNvPr id="2044378950" name="Rectangle 1785225237"/>
          <p:cNvSpPr>
            <a:spLocks noGrp="1"/>
          </p:cNvSpPr>
          <p:nvPr/>
        </p:nvSpPr>
        <p:spPr bwMode="auto">
          <a:xfrm>
            <a:off x="704849" y="761999"/>
            <a:ext cx="10287000" cy="60959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3000" b="1">
                <a:solidFill>
                  <a:srgbClr val="121A2A"/>
                </a:solidFill>
                <a:latin typeface="Georgia"/>
                <a:ea typeface="Georgia"/>
                <a:cs typeface="Georgia"/>
              </a:defRPr>
            </a:pPr>
            <a:r>
              <a:rPr sz="3000" b="1">
                <a:solidFill>
                  <a:srgbClr val="121A2A"/>
                </a:solidFill>
                <a:latin typeface="Georgia"/>
                <a:ea typeface="Georgia"/>
                <a:cs typeface="Georgia"/>
              </a:rPr>
              <a:t>Agents Have a Larger Impact Radius</a:t>
            </a:r>
            <a:endParaRPr/>
          </a:p>
        </p:txBody>
      </p:sp>
      <p:sp>
        <p:nvSpPr>
          <p:cNvPr id="641642192" name="security-canvas"/>
          <p:cNvSpPr>
            <a:spLocks noGrp="1"/>
          </p:cNvSpPr>
          <p:nvPr/>
        </p:nvSpPr>
        <p:spPr bwMode="auto">
          <a:xfrm>
            <a:off x="704849" y="1466848"/>
            <a:ext cx="10782299" cy="4514850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ln w="9525">
            <a:solidFill>
              <a:srgbClr val="D9E1EC"/>
            </a:solidFill>
            <a:prstDash val="solid"/>
          </a:ln>
        </p:spPr>
        <p:style>
          <a:lnRef idx="0"/>
          <a:fillRef idx="0"/>
          <a:effectRef idx="4"/>
          <a:fontRef idx="major"/>
        </p:style>
      </p:sp>
      <p:sp>
        <p:nvSpPr>
          <p:cNvPr id="1725728911" name="comparison-divider"/>
          <p:cNvSpPr>
            <a:spLocks noGrp="1"/>
          </p:cNvSpPr>
          <p:nvPr/>
        </p:nvSpPr>
        <p:spPr bwMode="auto">
          <a:xfrm rot="5400000">
            <a:off x="4152899" y="3690937"/>
            <a:ext cx="3886200" cy="9524"/>
          </a:xfrm>
          <a:prstGeom prst="line">
            <a:avLst/>
          </a:prstGeom>
          <a:noFill/>
          <a:ln w="19050">
            <a:solidFill>
              <a:srgbClr val="D9E1EC"/>
            </a:solidFill>
            <a:prstDash val="solid"/>
          </a:ln>
        </p:spPr>
      </p:sp>
      <p:sp>
        <p:nvSpPr>
          <p:cNvPr id="1436018851" name=""/>
          <p:cNvSpPr>
            <a:spLocks noGrp="1"/>
          </p:cNvSpPr>
          <p:nvPr/>
        </p:nvSpPr>
        <p:spPr bwMode="auto">
          <a:xfrm>
            <a:off x="1066799" y="1790699"/>
            <a:ext cx="4095749" cy="36194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600" b="1">
                <a:solidFill>
                  <a:srgbClr val="2563EB"/>
                </a:solidFill>
              </a:defRPr>
            </a:pPr>
            <a:r>
              <a:rPr sz="1600" b="1">
                <a:solidFill>
                  <a:srgbClr val="2563EB"/>
                </a:solidFill>
              </a:rPr>
              <a:t>CHATBOT · LIMITED TO OUTPUT</a:t>
            </a:r>
            <a:endParaRPr/>
          </a:p>
        </p:txBody>
      </p:sp>
      <p:sp>
        <p:nvSpPr>
          <p:cNvPr id="1158132491" name="chatbot-arrow"/>
          <p:cNvSpPr>
            <a:spLocks noGrp="1"/>
          </p:cNvSpPr>
          <p:nvPr/>
        </p:nvSpPr>
        <p:spPr bwMode="auto">
          <a:xfrm>
            <a:off x="2724149" y="3143250"/>
            <a:ext cx="723899" cy="3429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60A5FA"/>
          </a:solidFill>
          <a:ln w="0">
            <a:solidFill>
              <a:srgbClr val="60A5FA"/>
            </a:solidFill>
            <a:prstDash val="solid"/>
          </a:ln>
        </p:spPr>
      </p:sp>
      <p:sp>
        <p:nvSpPr>
          <p:cNvPr id="940909112" name="node-chatbot"/>
          <p:cNvSpPr>
            <a:spLocks noGrp="1"/>
          </p:cNvSpPr>
          <p:nvPr/>
        </p:nvSpPr>
        <p:spPr bwMode="auto">
          <a:xfrm>
            <a:off x="1238249" y="2724149"/>
            <a:ext cx="1485900" cy="1162049"/>
          </a:xfrm>
          <a:prstGeom prst="roundRect">
            <a:avLst>
              <a:gd name="adj" fmla="val 6557"/>
            </a:avLst>
          </a:prstGeom>
          <a:solidFill>
            <a:srgbClr val="EAF2FF"/>
          </a:solidFill>
          <a:ln w="19050">
            <a:solidFill>
              <a:srgbClr val="2563EB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800" b="1">
                <a:solidFill>
                  <a:srgbClr val="2563EB"/>
                </a:solidFill>
              </a:defRPr>
            </a:pPr>
            <a:r>
              <a:rPr sz="1800" b="1">
                <a:solidFill>
                  <a:srgbClr val="2563EB"/>
                </a:solidFill>
              </a:rPr>
              <a:t>Chatbot</a:t>
            </a:r>
            <a:endParaRPr/>
          </a:p>
        </p:txBody>
      </p:sp>
      <p:sp>
        <p:nvSpPr>
          <p:cNvPr id="333515550" name="node-text-output"/>
          <p:cNvSpPr>
            <a:spLocks noGrp="1"/>
          </p:cNvSpPr>
          <p:nvPr/>
        </p:nvSpPr>
        <p:spPr bwMode="auto">
          <a:xfrm>
            <a:off x="3448049" y="2724149"/>
            <a:ext cx="1485900" cy="1162049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19050">
            <a:solidFill>
              <a:srgbClr val="60A5FA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Text</a:t>
            </a:r>
            <a:endParaRPr/>
          </a:p>
          <a:p>
            <a:pPr algn="ctr">
              <a:buNone/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Output</a:t>
            </a:r>
            <a:endParaRPr/>
          </a:p>
        </p:txBody>
      </p:sp>
      <p:sp>
        <p:nvSpPr>
          <p:cNvPr id="663170373" name=""/>
          <p:cNvSpPr>
            <a:spLocks noGrp="1"/>
          </p:cNvSpPr>
          <p:nvPr/>
        </p:nvSpPr>
        <p:spPr bwMode="auto">
          <a:xfrm>
            <a:off x="6705600" y="1790699"/>
            <a:ext cx="4095749" cy="36194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600" b="1">
                <a:solidFill>
                  <a:srgbClr val="DC2626"/>
                </a:solidFill>
              </a:defRPr>
            </a:pPr>
            <a:r>
              <a:rPr sz="1600" b="1">
                <a:solidFill>
                  <a:srgbClr val="DC2626"/>
                </a:solidFill>
              </a:rPr>
              <a:t>AGENT · MORE TOOLS + PERMISSIONS</a:t>
            </a:r>
            <a:endParaRPr/>
          </a:p>
        </p:txBody>
      </p:sp>
      <p:sp>
        <p:nvSpPr>
          <p:cNvPr id="1339953855" name="permission-radius"/>
          <p:cNvSpPr>
            <a:spLocks noGrp="1"/>
          </p:cNvSpPr>
          <p:nvPr/>
        </p:nvSpPr>
        <p:spPr bwMode="auto">
          <a:xfrm>
            <a:off x="6496049" y="2152649"/>
            <a:ext cx="4514850" cy="2990849"/>
          </a:xfrm>
          <a:prstGeom prst="ellipse">
            <a:avLst/>
          </a:prstGeom>
          <a:noFill/>
          <a:ln w="38100">
            <a:solidFill>
              <a:srgbClr val="DC2626"/>
            </a:solidFill>
            <a:prstDash val="solid"/>
          </a:ln>
        </p:spPr>
      </p:sp>
      <p:sp>
        <p:nvSpPr>
          <p:cNvPr id="1529629394" name="agent-arrow-1"/>
          <p:cNvSpPr>
            <a:spLocks noGrp="1"/>
          </p:cNvSpPr>
          <p:nvPr/>
        </p:nvSpPr>
        <p:spPr bwMode="auto">
          <a:xfrm>
            <a:off x="7391400" y="3286125"/>
            <a:ext cx="266699" cy="209549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DC2626"/>
          </a:solidFill>
          <a:ln w="0">
            <a:solidFill>
              <a:srgbClr val="DC2626"/>
            </a:solidFill>
            <a:prstDash val="solid"/>
          </a:ln>
        </p:spPr>
      </p:sp>
      <p:sp>
        <p:nvSpPr>
          <p:cNvPr id="838643665" name="agent-arrow-2"/>
          <p:cNvSpPr>
            <a:spLocks noGrp="1"/>
          </p:cNvSpPr>
          <p:nvPr/>
        </p:nvSpPr>
        <p:spPr bwMode="auto">
          <a:xfrm>
            <a:off x="8267699" y="3286125"/>
            <a:ext cx="266699" cy="209549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DC2626"/>
          </a:solidFill>
          <a:ln w="0">
            <a:solidFill>
              <a:srgbClr val="DC2626"/>
            </a:solidFill>
            <a:prstDash val="solid"/>
          </a:ln>
        </p:spPr>
      </p:sp>
      <p:sp>
        <p:nvSpPr>
          <p:cNvPr id="864423161" name="agent-arrow-3"/>
          <p:cNvSpPr>
            <a:spLocks noGrp="1"/>
          </p:cNvSpPr>
          <p:nvPr/>
        </p:nvSpPr>
        <p:spPr bwMode="auto">
          <a:xfrm>
            <a:off x="9144000" y="3286125"/>
            <a:ext cx="266699" cy="209549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DC2626"/>
          </a:solidFill>
          <a:ln w="0">
            <a:solidFill>
              <a:srgbClr val="DC2626"/>
            </a:solidFill>
            <a:prstDash val="solid"/>
          </a:ln>
        </p:spPr>
      </p:sp>
      <p:sp>
        <p:nvSpPr>
          <p:cNvPr id="226586122" name="agent-arrow-4"/>
          <p:cNvSpPr>
            <a:spLocks noGrp="1"/>
          </p:cNvSpPr>
          <p:nvPr/>
        </p:nvSpPr>
        <p:spPr bwMode="auto">
          <a:xfrm>
            <a:off x="10020299" y="3286125"/>
            <a:ext cx="266699" cy="209549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DC2626"/>
          </a:solidFill>
          <a:ln w="0">
            <a:solidFill>
              <a:srgbClr val="DC2626"/>
            </a:solidFill>
            <a:prstDash val="solid"/>
          </a:ln>
        </p:spPr>
      </p:sp>
      <p:sp>
        <p:nvSpPr>
          <p:cNvPr id="981182813" name="node-agent"/>
          <p:cNvSpPr>
            <a:spLocks noGrp="1"/>
          </p:cNvSpPr>
          <p:nvPr/>
        </p:nvSpPr>
        <p:spPr bwMode="auto">
          <a:xfrm>
            <a:off x="6724648" y="2990849"/>
            <a:ext cx="723899" cy="876298"/>
          </a:xfrm>
          <a:prstGeom prst="roundRect">
            <a:avLst>
              <a:gd name="adj" fmla="val 10526"/>
            </a:avLst>
          </a:prstGeom>
          <a:solidFill>
            <a:srgbClr val="0B132B"/>
          </a:solidFill>
          <a:ln w="19050">
            <a:solidFill>
              <a:srgbClr val="DC2626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Agent</a:t>
            </a:r>
            <a:endParaRPr/>
          </a:p>
        </p:txBody>
      </p:sp>
      <p:sp>
        <p:nvSpPr>
          <p:cNvPr id="658874629" name="node-web"/>
          <p:cNvSpPr>
            <a:spLocks noGrp="1"/>
          </p:cNvSpPr>
          <p:nvPr/>
        </p:nvSpPr>
        <p:spPr bwMode="auto">
          <a:xfrm>
            <a:off x="7600950" y="2990849"/>
            <a:ext cx="723899" cy="876298"/>
          </a:xfrm>
          <a:prstGeom prst="roundRect">
            <a:avLst>
              <a:gd name="adj" fmla="val 10526"/>
            </a:avLst>
          </a:prstGeom>
          <a:solidFill>
            <a:srgbClr val="FDECEC"/>
          </a:solidFill>
          <a:ln w="19050">
            <a:solidFill>
              <a:srgbClr val="DC2626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200" b="1">
                <a:solidFill>
                  <a:srgbClr val="DC2626"/>
                </a:solidFill>
              </a:defRPr>
            </a:pPr>
            <a:r>
              <a:rPr sz="1200" b="1">
                <a:solidFill>
                  <a:srgbClr val="DC2626"/>
                </a:solidFill>
              </a:rPr>
              <a:t>WEB</a:t>
            </a:r>
            <a:endParaRPr/>
          </a:p>
        </p:txBody>
      </p:sp>
      <p:sp>
        <p:nvSpPr>
          <p:cNvPr id="149974877" name="node-term"/>
          <p:cNvSpPr>
            <a:spLocks noGrp="1"/>
          </p:cNvSpPr>
          <p:nvPr/>
        </p:nvSpPr>
        <p:spPr bwMode="auto">
          <a:xfrm>
            <a:off x="8477250" y="2990849"/>
            <a:ext cx="723899" cy="876298"/>
          </a:xfrm>
          <a:prstGeom prst="roundRect">
            <a:avLst>
              <a:gd name="adj" fmla="val 10526"/>
            </a:avLst>
          </a:prstGeom>
          <a:solidFill>
            <a:srgbClr val="FDECEC"/>
          </a:solidFill>
          <a:ln w="19050">
            <a:solidFill>
              <a:srgbClr val="DC2626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050" b="1">
                <a:solidFill>
                  <a:srgbClr val="DC2626"/>
                </a:solidFill>
              </a:defRPr>
            </a:pPr>
            <a:r>
              <a:rPr sz="1050" b="1">
                <a:solidFill>
                  <a:srgbClr val="DC2626"/>
                </a:solidFill>
              </a:rPr>
              <a:t>TERM</a:t>
            </a:r>
            <a:endParaRPr/>
          </a:p>
        </p:txBody>
      </p:sp>
      <p:sp>
        <p:nvSpPr>
          <p:cNvPr id="2000678468" name="node-mail"/>
          <p:cNvSpPr>
            <a:spLocks noGrp="1"/>
          </p:cNvSpPr>
          <p:nvPr/>
        </p:nvSpPr>
        <p:spPr bwMode="auto">
          <a:xfrm>
            <a:off x="9353549" y="2990849"/>
            <a:ext cx="723899" cy="876298"/>
          </a:xfrm>
          <a:prstGeom prst="roundRect">
            <a:avLst>
              <a:gd name="adj" fmla="val 10526"/>
            </a:avLst>
          </a:prstGeom>
          <a:solidFill>
            <a:srgbClr val="FDECEC"/>
          </a:solidFill>
          <a:ln w="19050">
            <a:solidFill>
              <a:srgbClr val="DC2626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200" b="1">
                <a:solidFill>
                  <a:srgbClr val="DC2626"/>
                </a:solidFill>
              </a:defRPr>
            </a:pPr>
            <a:r>
              <a:rPr sz="1200" b="1">
                <a:solidFill>
                  <a:srgbClr val="DC2626"/>
                </a:solidFill>
              </a:rPr>
              <a:t>MAIL</a:t>
            </a:r>
            <a:endParaRPr/>
          </a:p>
        </p:txBody>
      </p:sp>
      <p:sp>
        <p:nvSpPr>
          <p:cNvPr id="1601623847" name="node-db"/>
          <p:cNvSpPr>
            <a:spLocks noGrp="1"/>
          </p:cNvSpPr>
          <p:nvPr/>
        </p:nvSpPr>
        <p:spPr bwMode="auto">
          <a:xfrm>
            <a:off x="10229850" y="2990849"/>
            <a:ext cx="723899" cy="876298"/>
          </a:xfrm>
          <a:prstGeom prst="roundRect">
            <a:avLst>
              <a:gd name="adj" fmla="val 10526"/>
            </a:avLst>
          </a:prstGeom>
          <a:solidFill>
            <a:srgbClr val="FDECEC"/>
          </a:solidFill>
          <a:ln w="19050">
            <a:solidFill>
              <a:srgbClr val="DC2626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050" b="1">
                <a:solidFill>
                  <a:srgbClr val="DC2626"/>
                </a:solidFill>
              </a:defRPr>
            </a:pPr>
            <a:r>
              <a:rPr sz="1050" b="1">
                <a:solidFill>
                  <a:srgbClr val="DC2626"/>
                </a:solidFill>
              </a:rPr>
              <a:t>DB</a:t>
            </a:r>
            <a:endParaRPr/>
          </a:p>
        </p:txBody>
      </p:sp>
      <p:sp>
        <p:nvSpPr>
          <p:cNvPr id="621582854" name=""/>
          <p:cNvSpPr>
            <a:spLocks noGrp="1"/>
          </p:cNvSpPr>
          <p:nvPr/>
        </p:nvSpPr>
        <p:spPr bwMode="auto">
          <a:xfrm>
            <a:off x="7467599" y="4400550"/>
            <a:ext cx="2571750" cy="41909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450" b="1">
                <a:solidFill>
                  <a:srgbClr val="DC2626"/>
                </a:solidFill>
              </a:defRPr>
            </a:pPr>
            <a:r>
              <a:rPr sz="1450" b="1">
                <a:solidFill>
                  <a:srgbClr val="DC2626"/>
                </a:solidFill>
              </a:rPr>
              <a:t>LARGER IMPACT RADIUS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59152869" name="Rectangle 7713821"/>
          <p:cNvSpPr>
            <a:spLocks noGrp="1"/>
          </p:cNvSpPr>
          <p:nvPr/>
        </p:nvSpPr>
        <p:spPr bwMode="auto">
          <a:xfrm>
            <a:off x="609599" y="323849"/>
            <a:ext cx="4000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EVIDENCE TYPES</a:t>
            </a:r>
            <a:endParaRPr/>
          </a:p>
        </p:txBody>
      </p:sp>
      <p:sp>
        <p:nvSpPr>
          <p:cNvPr id="1537437701" name="Rectangle 1381388514"/>
          <p:cNvSpPr>
            <a:spLocks noGrp="1"/>
          </p:cNvSpPr>
          <p:nvPr/>
        </p:nvSpPr>
        <p:spPr bwMode="auto">
          <a:xfrm>
            <a:off x="609599" y="590548"/>
            <a:ext cx="9334500" cy="59054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3150" b="1">
                <a:solidFill>
                  <a:srgbClr val="0B0F19"/>
                </a:solidFill>
              </a:defRPr>
            </a:pPr>
            <a:r>
              <a:rPr sz="3150" b="1">
                <a:solidFill>
                  <a:srgbClr val="0B0F19"/>
                </a:solidFill>
              </a:rPr>
              <a:t>Evaluations Are Not Real Incidents</a:t>
            </a:r>
            <a:endParaRPr/>
          </a:p>
        </p:txBody>
      </p:sp>
      <p:sp>
        <p:nvSpPr>
          <p:cNvPr id="2063717280" name="Rectangle 181180573"/>
          <p:cNvSpPr>
            <a:spLocks noGrp="1"/>
          </p:cNvSpPr>
          <p:nvPr/>
        </p:nvSpPr>
        <p:spPr bwMode="auto">
          <a:xfrm>
            <a:off x="11106150" y="6286500"/>
            <a:ext cx="476249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buNone/>
              <a:defRPr sz="1000" b="0">
                <a:solidFill>
                  <a:srgbClr val="66708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00" b="0">
                <a:solidFill>
                  <a:srgbClr val="667085"/>
                </a:solidFill>
                <a:latin typeface="Times New Roman"/>
                <a:ea typeface="Times New Roman"/>
                <a:cs typeface="Times New Roman"/>
              </a:rPr>
              <a:t>7</a:t>
            </a:r>
            <a:endParaRPr/>
          </a:p>
        </p:txBody>
      </p:sp>
      <p:sp>
        <p:nvSpPr>
          <p:cNvPr id="1361873747" name="security-canvas"/>
          <p:cNvSpPr>
            <a:spLocks noGrp="1"/>
          </p:cNvSpPr>
          <p:nvPr/>
        </p:nvSpPr>
        <p:spPr bwMode="auto">
          <a:xfrm>
            <a:off x="704849" y="1466848"/>
            <a:ext cx="10782299" cy="4514850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ln w="9525">
            <a:solidFill>
              <a:srgbClr val="D9E1EC"/>
            </a:solidFill>
            <a:prstDash val="solid"/>
          </a:ln>
        </p:spPr>
        <p:style>
          <a:lnRef idx="0"/>
          <a:fillRef idx="0"/>
          <a:effectRef idx="4"/>
          <a:fontRef idx="major"/>
        </p:style>
      </p:sp>
      <p:sp>
        <p:nvSpPr>
          <p:cNvPr id="164737986" name="timeline"/>
          <p:cNvSpPr>
            <a:spLocks noGrp="1"/>
          </p:cNvSpPr>
          <p:nvPr/>
        </p:nvSpPr>
        <p:spPr bwMode="auto">
          <a:xfrm rot="0">
            <a:off x="1352549" y="3424237"/>
            <a:ext cx="9486900" cy="9524"/>
          </a:xfrm>
          <a:prstGeom prst="line">
            <a:avLst/>
          </a:prstGeom>
          <a:noFill/>
          <a:ln w="47625">
            <a:solidFill>
              <a:srgbClr val="D9E1EC"/>
            </a:solidFill>
            <a:prstDash val="solid"/>
          </a:ln>
        </p:spPr>
      </p:sp>
      <p:sp>
        <p:nvSpPr>
          <p:cNvPr id="922942155" name="timeline-dot-1"/>
          <p:cNvSpPr>
            <a:spLocks noGrp="1"/>
          </p:cNvSpPr>
          <p:nvPr/>
        </p:nvSpPr>
        <p:spPr bwMode="auto">
          <a:xfrm>
            <a:off x="1904999" y="3286125"/>
            <a:ext cx="285750" cy="285750"/>
          </a:xfrm>
          <a:prstGeom prst="ellipse">
            <a:avLst/>
          </a:prstGeom>
          <a:solidFill>
            <a:srgbClr val="F59E0B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277447634" name=""/>
          <p:cNvSpPr>
            <a:spLocks noGrp="1"/>
          </p:cNvSpPr>
          <p:nvPr/>
        </p:nvSpPr>
        <p:spPr bwMode="auto">
          <a:xfrm>
            <a:off x="1123949" y="1962149"/>
            <a:ext cx="1847849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2050" b="1">
                <a:solidFill>
                  <a:srgbClr val="F59E0B"/>
                </a:solidFill>
              </a:defRPr>
            </a:pPr>
            <a:r>
              <a:rPr sz="2050" b="1">
                <a:solidFill>
                  <a:srgbClr val="F59E0B"/>
                </a:solidFill>
              </a:rPr>
              <a:t>2023</a:t>
            </a:r>
            <a:endParaRPr/>
          </a:p>
        </p:txBody>
      </p:sp>
      <p:sp>
        <p:nvSpPr>
          <p:cNvPr id="868904704" name="node-captcha-deception"/>
          <p:cNvSpPr>
            <a:spLocks noGrp="1"/>
          </p:cNvSpPr>
          <p:nvPr/>
        </p:nvSpPr>
        <p:spPr bwMode="auto">
          <a:xfrm>
            <a:off x="1123949" y="2419349"/>
            <a:ext cx="1847849" cy="800100"/>
          </a:xfrm>
          <a:prstGeom prst="roundRect">
            <a:avLst>
              <a:gd name="adj" fmla="val 9524"/>
            </a:avLst>
          </a:prstGeom>
          <a:solidFill>
            <a:srgbClr val="FFF4DD"/>
          </a:solidFill>
          <a:ln w="19050">
            <a:solidFill>
              <a:srgbClr val="F59E0B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CAPTCHA</a:t>
            </a:r>
            <a:endParaRPr/>
          </a:p>
        </p:txBody>
      </p:sp>
      <p:sp>
        <p:nvSpPr>
          <p:cNvPr id="1194739216" name=""/>
          <p:cNvSpPr>
            <a:spLocks noGrp="1"/>
          </p:cNvSpPr>
          <p:nvPr/>
        </p:nvSpPr>
        <p:spPr bwMode="auto">
          <a:xfrm>
            <a:off x="1123949" y="3809999"/>
            <a:ext cx="1847849" cy="32384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050" b="1">
                <a:solidFill>
                  <a:srgbClr val="F59E0B"/>
                </a:solidFill>
              </a:defRPr>
            </a:pPr>
            <a:r>
              <a:rPr sz="1050" b="1">
                <a:solidFill>
                  <a:srgbClr val="F59E0B"/>
                </a:solidFill>
              </a:rPr>
              <a:t>EVALUATION</a:t>
            </a:r>
            <a:endParaRPr/>
          </a:p>
        </p:txBody>
      </p:sp>
      <p:sp>
        <p:nvSpPr>
          <p:cNvPr id="2050006483" name=""/>
          <p:cNvSpPr>
            <a:spLocks noGrp="1"/>
          </p:cNvSpPr>
          <p:nvPr/>
        </p:nvSpPr>
        <p:spPr bwMode="auto">
          <a:xfrm>
            <a:off x="1047749" y="4190999"/>
            <a:ext cx="2000250" cy="26669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850" b="1">
                <a:solidFill>
                  <a:srgbClr val="64748B"/>
                </a:solidFill>
              </a:defRPr>
            </a:pPr>
            <a:r>
              <a:rPr sz="850" b="1">
                <a:solidFill>
                  <a:srgbClr val="64748B"/>
                </a:solidFill>
              </a:rPr>
              <a:t>OpenAI, 2023</a:t>
            </a:r>
            <a:endParaRPr/>
          </a:p>
        </p:txBody>
      </p:sp>
      <p:sp>
        <p:nvSpPr>
          <p:cNvPr id="46874400" name="timeline-dot-2"/>
          <p:cNvSpPr>
            <a:spLocks noGrp="1"/>
          </p:cNvSpPr>
          <p:nvPr/>
        </p:nvSpPr>
        <p:spPr bwMode="auto">
          <a:xfrm>
            <a:off x="3981449" y="3286125"/>
            <a:ext cx="285750" cy="285750"/>
          </a:xfrm>
          <a:prstGeom prst="ellipse">
            <a:avLst/>
          </a:prstGeom>
          <a:solidFill>
            <a:srgbClr val="F59E0B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348613210" name=""/>
          <p:cNvSpPr>
            <a:spLocks noGrp="1"/>
          </p:cNvSpPr>
          <p:nvPr/>
        </p:nvSpPr>
        <p:spPr bwMode="auto">
          <a:xfrm>
            <a:off x="3200400" y="1962149"/>
            <a:ext cx="1847849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2050" b="1">
                <a:solidFill>
                  <a:srgbClr val="F59E0B"/>
                </a:solidFill>
              </a:defRPr>
            </a:pPr>
            <a:r>
              <a:rPr sz="2050" b="1">
                <a:solidFill>
                  <a:srgbClr val="F59E0B"/>
                </a:solidFill>
              </a:rPr>
              <a:t>2024</a:t>
            </a:r>
            <a:endParaRPr/>
          </a:p>
        </p:txBody>
      </p:sp>
      <p:sp>
        <p:nvSpPr>
          <p:cNvPr id="1974027680" name="node-monitoring-disabled"/>
          <p:cNvSpPr>
            <a:spLocks noGrp="1"/>
          </p:cNvSpPr>
          <p:nvPr/>
        </p:nvSpPr>
        <p:spPr bwMode="auto">
          <a:xfrm>
            <a:off x="3200400" y="2419349"/>
            <a:ext cx="1847849" cy="800100"/>
          </a:xfrm>
          <a:prstGeom prst="roundRect">
            <a:avLst>
              <a:gd name="adj" fmla="val 9524"/>
            </a:avLst>
          </a:prstGeom>
          <a:solidFill>
            <a:srgbClr val="FFF4DD"/>
          </a:solidFill>
          <a:ln w="19050">
            <a:solidFill>
              <a:srgbClr val="F59E0B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Oversight</a:t>
            </a:r>
            <a:endParaRPr/>
          </a:p>
          <a:p>
            <a:pPr algn="ctr">
              <a:buNone/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Evasion</a:t>
            </a:r>
            <a:endParaRPr/>
          </a:p>
        </p:txBody>
      </p:sp>
      <p:sp>
        <p:nvSpPr>
          <p:cNvPr id="1694507182" name=""/>
          <p:cNvSpPr>
            <a:spLocks noGrp="1"/>
          </p:cNvSpPr>
          <p:nvPr/>
        </p:nvSpPr>
        <p:spPr bwMode="auto">
          <a:xfrm>
            <a:off x="3200400" y="3809999"/>
            <a:ext cx="1847849" cy="32384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050" b="1">
                <a:solidFill>
                  <a:srgbClr val="F59E0B"/>
                </a:solidFill>
              </a:defRPr>
            </a:pPr>
            <a:r>
              <a:rPr sz="1050" b="1">
                <a:solidFill>
                  <a:srgbClr val="F59E0B"/>
                </a:solidFill>
              </a:rPr>
              <a:t>EVALUATION</a:t>
            </a:r>
            <a:endParaRPr/>
          </a:p>
        </p:txBody>
      </p:sp>
      <p:sp>
        <p:nvSpPr>
          <p:cNvPr id="819743875" name=""/>
          <p:cNvSpPr>
            <a:spLocks noGrp="1"/>
          </p:cNvSpPr>
          <p:nvPr/>
        </p:nvSpPr>
        <p:spPr bwMode="auto">
          <a:xfrm>
            <a:off x="3124199" y="4190999"/>
            <a:ext cx="2000250" cy="26669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850" b="1">
                <a:solidFill>
                  <a:srgbClr val="64748B"/>
                </a:solidFill>
              </a:defRPr>
            </a:pPr>
            <a:r>
              <a:rPr sz="850" b="1">
                <a:solidFill>
                  <a:srgbClr val="64748B"/>
                </a:solidFill>
              </a:rPr>
              <a:t>OpenAI &amp; Apollo Research, 2024</a:t>
            </a:r>
            <a:endParaRPr/>
          </a:p>
        </p:txBody>
      </p:sp>
      <p:sp>
        <p:nvSpPr>
          <p:cNvPr id="1698977667" name="timeline-dot-3"/>
          <p:cNvSpPr>
            <a:spLocks noGrp="1"/>
          </p:cNvSpPr>
          <p:nvPr/>
        </p:nvSpPr>
        <p:spPr bwMode="auto">
          <a:xfrm>
            <a:off x="6057900" y="3286125"/>
            <a:ext cx="285750" cy="285750"/>
          </a:xfrm>
          <a:prstGeom prst="ellipse">
            <a:avLst/>
          </a:prstGeom>
          <a:solidFill>
            <a:srgbClr val="F59E0B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668004317" name=""/>
          <p:cNvSpPr>
            <a:spLocks noGrp="1"/>
          </p:cNvSpPr>
          <p:nvPr/>
        </p:nvSpPr>
        <p:spPr bwMode="auto">
          <a:xfrm>
            <a:off x="5276849" y="1962149"/>
            <a:ext cx="1847849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2050" b="1">
                <a:solidFill>
                  <a:srgbClr val="F59E0B"/>
                </a:solidFill>
              </a:defRPr>
            </a:pPr>
            <a:r>
              <a:rPr sz="2050" b="1">
                <a:solidFill>
                  <a:srgbClr val="F59E0B"/>
                </a:solidFill>
              </a:rPr>
              <a:t>2025</a:t>
            </a:r>
            <a:endParaRPr/>
          </a:p>
        </p:txBody>
      </p:sp>
      <p:sp>
        <p:nvSpPr>
          <p:cNvPr id="1290165573" name="node-blackmail-scenario"/>
          <p:cNvSpPr>
            <a:spLocks noGrp="1"/>
          </p:cNvSpPr>
          <p:nvPr/>
        </p:nvSpPr>
        <p:spPr bwMode="auto">
          <a:xfrm>
            <a:off x="5276849" y="2419349"/>
            <a:ext cx="1847849" cy="800100"/>
          </a:xfrm>
          <a:prstGeom prst="roundRect">
            <a:avLst>
              <a:gd name="adj" fmla="val 9524"/>
            </a:avLst>
          </a:prstGeom>
          <a:solidFill>
            <a:srgbClr val="FFF4DD"/>
          </a:solidFill>
          <a:ln w="19050">
            <a:solidFill>
              <a:srgbClr val="F59E0B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Blackmail</a:t>
            </a:r>
            <a:endParaRPr/>
          </a:p>
          <a:p>
            <a:pPr algn="ctr">
              <a:buNone/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Scenario</a:t>
            </a:r>
            <a:endParaRPr/>
          </a:p>
        </p:txBody>
      </p:sp>
      <p:sp>
        <p:nvSpPr>
          <p:cNvPr id="54970450" name=""/>
          <p:cNvSpPr>
            <a:spLocks noGrp="1"/>
          </p:cNvSpPr>
          <p:nvPr/>
        </p:nvSpPr>
        <p:spPr bwMode="auto">
          <a:xfrm>
            <a:off x="5276849" y="3809999"/>
            <a:ext cx="1847849" cy="32384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050" b="1">
                <a:solidFill>
                  <a:srgbClr val="F59E0B"/>
                </a:solidFill>
              </a:defRPr>
            </a:pPr>
            <a:r>
              <a:rPr sz="1050" b="1">
                <a:solidFill>
                  <a:srgbClr val="F59E0B"/>
                </a:solidFill>
              </a:rPr>
              <a:t>EVALUATION</a:t>
            </a:r>
            <a:endParaRPr/>
          </a:p>
        </p:txBody>
      </p:sp>
      <p:sp>
        <p:nvSpPr>
          <p:cNvPr id="1572645046" name=""/>
          <p:cNvSpPr>
            <a:spLocks noGrp="1"/>
          </p:cNvSpPr>
          <p:nvPr/>
        </p:nvSpPr>
        <p:spPr bwMode="auto">
          <a:xfrm>
            <a:off x="5200650" y="4190999"/>
            <a:ext cx="2000250" cy="26669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850" b="1">
                <a:solidFill>
                  <a:srgbClr val="64748B"/>
                </a:solidFill>
              </a:defRPr>
            </a:pPr>
            <a:r>
              <a:rPr sz="850" b="1">
                <a:solidFill>
                  <a:srgbClr val="64748B"/>
                </a:solidFill>
              </a:rPr>
              <a:t>Anthropic, 2025</a:t>
            </a:r>
            <a:endParaRPr/>
          </a:p>
        </p:txBody>
      </p:sp>
      <p:sp>
        <p:nvSpPr>
          <p:cNvPr id="1291980528" name="timeline-dot-4"/>
          <p:cNvSpPr>
            <a:spLocks noGrp="1"/>
          </p:cNvSpPr>
          <p:nvPr/>
        </p:nvSpPr>
        <p:spPr bwMode="auto">
          <a:xfrm>
            <a:off x="8134350" y="3286125"/>
            <a:ext cx="285750" cy="285750"/>
          </a:xfrm>
          <a:prstGeom prst="ellipse">
            <a:avLst/>
          </a:prstGeom>
          <a:solidFill>
            <a:srgbClr val="DC2626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2003026315" name=""/>
          <p:cNvSpPr>
            <a:spLocks noGrp="1"/>
          </p:cNvSpPr>
          <p:nvPr/>
        </p:nvSpPr>
        <p:spPr bwMode="auto">
          <a:xfrm>
            <a:off x="7353299" y="1962149"/>
            <a:ext cx="1847849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2050" b="1">
                <a:solidFill>
                  <a:srgbClr val="DC2626"/>
                </a:solidFill>
              </a:defRPr>
            </a:pPr>
            <a:r>
              <a:rPr sz="2050" b="1">
                <a:solidFill>
                  <a:srgbClr val="DC2626"/>
                </a:solidFill>
              </a:rPr>
              <a:t>2026</a:t>
            </a:r>
            <a:endParaRPr/>
          </a:p>
        </p:txBody>
      </p:sp>
      <p:sp>
        <p:nvSpPr>
          <p:cNvPr id="637402450" name="node-sandbox-escape"/>
          <p:cNvSpPr>
            <a:spLocks noGrp="1"/>
          </p:cNvSpPr>
          <p:nvPr/>
        </p:nvSpPr>
        <p:spPr bwMode="auto">
          <a:xfrm>
            <a:off x="7353299" y="2419349"/>
            <a:ext cx="1847849" cy="800100"/>
          </a:xfrm>
          <a:prstGeom prst="roundRect">
            <a:avLst>
              <a:gd name="adj" fmla="val 9524"/>
            </a:avLst>
          </a:prstGeom>
          <a:solidFill>
            <a:srgbClr val="FDECEC"/>
          </a:solidFill>
          <a:ln w="19050">
            <a:solidFill>
              <a:srgbClr val="DC2626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Sandbox</a:t>
            </a:r>
            <a:endParaRPr/>
          </a:p>
          <a:p>
            <a:pPr algn="ctr">
              <a:buNone/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Escape</a:t>
            </a:r>
            <a:endParaRPr/>
          </a:p>
        </p:txBody>
      </p:sp>
      <p:sp>
        <p:nvSpPr>
          <p:cNvPr id="1790420787" name=""/>
          <p:cNvSpPr>
            <a:spLocks noGrp="1"/>
          </p:cNvSpPr>
          <p:nvPr/>
        </p:nvSpPr>
        <p:spPr bwMode="auto">
          <a:xfrm>
            <a:off x="7353299" y="3809999"/>
            <a:ext cx="1847849" cy="32384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050" b="1">
                <a:solidFill>
                  <a:srgbClr val="DC2626"/>
                </a:solidFill>
              </a:defRPr>
            </a:pPr>
            <a:r>
              <a:rPr sz="1050" b="1">
                <a:solidFill>
                  <a:srgbClr val="DC2626"/>
                </a:solidFill>
              </a:rPr>
              <a:t>REAL INCIDENT</a:t>
            </a:r>
            <a:endParaRPr/>
          </a:p>
        </p:txBody>
      </p:sp>
      <p:sp>
        <p:nvSpPr>
          <p:cNvPr id="1474725205" name=""/>
          <p:cNvSpPr>
            <a:spLocks noGrp="1"/>
          </p:cNvSpPr>
          <p:nvPr/>
        </p:nvSpPr>
        <p:spPr bwMode="auto">
          <a:xfrm>
            <a:off x="7277100" y="4190999"/>
            <a:ext cx="2000250" cy="26669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850" b="1">
                <a:solidFill>
                  <a:srgbClr val="64748B"/>
                </a:solidFill>
              </a:defRPr>
            </a:pPr>
            <a:r>
              <a:rPr sz="850" b="1">
                <a:solidFill>
                  <a:srgbClr val="64748B"/>
                </a:solidFill>
              </a:rPr>
              <a:t>OpenAI &amp; Hugging Face, 2026</a:t>
            </a:r>
            <a:endParaRPr/>
          </a:p>
        </p:txBody>
      </p:sp>
      <p:sp>
        <p:nvSpPr>
          <p:cNvPr id="193761825" name="timeline-dot-5"/>
          <p:cNvSpPr>
            <a:spLocks noGrp="1"/>
          </p:cNvSpPr>
          <p:nvPr/>
        </p:nvSpPr>
        <p:spPr bwMode="auto">
          <a:xfrm>
            <a:off x="10210799" y="3286125"/>
            <a:ext cx="285750" cy="285750"/>
          </a:xfrm>
          <a:prstGeom prst="ellipse">
            <a:avLst/>
          </a:prstGeom>
          <a:solidFill>
            <a:srgbClr val="DC2626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65854637" name=""/>
          <p:cNvSpPr>
            <a:spLocks noGrp="1"/>
          </p:cNvSpPr>
          <p:nvPr/>
        </p:nvSpPr>
        <p:spPr bwMode="auto">
          <a:xfrm>
            <a:off x="9429750" y="1962149"/>
            <a:ext cx="1847849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2050" b="1">
                <a:solidFill>
                  <a:srgbClr val="DC2626"/>
                </a:solidFill>
              </a:defRPr>
            </a:pPr>
            <a:r>
              <a:rPr sz="2050" b="1">
                <a:solidFill>
                  <a:srgbClr val="DC2626"/>
                </a:solidFill>
              </a:rPr>
              <a:t>2026</a:t>
            </a:r>
            <a:endParaRPr/>
          </a:p>
        </p:txBody>
      </p:sp>
      <p:sp>
        <p:nvSpPr>
          <p:cNvPr id="1972225149" name="node-external-system-access"/>
          <p:cNvSpPr>
            <a:spLocks noGrp="1"/>
          </p:cNvSpPr>
          <p:nvPr/>
        </p:nvSpPr>
        <p:spPr bwMode="auto">
          <a:xfrm>
            <a:off x="9429750" y="2419349"/>
            <a:ext cx="1847849" cy="800100"/>
          </a:xfrm>
          <a:prstGeom prst="roundRect">
            <a:avLst>
              <a:gd name="adj" fmla="val 9524"/>
            </a:avLst>
          </a:prstGeom>
          <a:solidFill>
            <a:srgbClr val="FDECEC"/>
          </a:solidFill>
          <a:ln w="19050">
            <a:solidFill>
              <a:srgbClr val="DC2626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External System</a:t>
            </a:r>
            <a:endParaRPr/>
          </a:p>
          <a:p>
            <a:pPr algn="ctr">
              <a:buNone/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Access</a:t>
            </a:r>
            <a:endParaRPr/>
          </a:p>
        </p:txBody>
      </p:sp>
      <p:sp>
        <p:nvSpPr>
          <p:cNvPr id="2142393912" name=""/>
          <p:cNvSpPr>
            <a:spLocks noGrp="1"/>
          </p:cNvSpPr>
          <p:nvPr/>
        </p:nvSpPr>
        <p:spPr bwMode="auto">
          <a:xfrm>
            <a:off x="9429750" y="3809999"/>
            <a:ext cx="1847849" cy="32384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050" b="1">
                <a:solidFill>
                  <a:srgbClr val="DC2626"/>
                </a:solidFill>
              </a:defRPr>
            </a:pPr>
            <a:r>
              <a:rPr sz="1050" b="1">
                <a:solidFill>
                  <a:srgbClr val="DC2626"/>
                </a:solidFill>
              </a:rPr>
              <a:t>REAL INCIDENT</a:t>
            </a:r>
            <a:endParaRPr/>
          </a:p>
        </p:txBody>
      </p:sp>
      <p:sp>
        <p:nvSpPr>
          <p:cNvPr id="554743826" name=""/>
          <p:cNvSpPr>
            <a:spLocks noGrp="1"/>
          </p:cNvSpPr>
          <p:nvPr/>
        </p:nvSpPr>
        <p:spPr bwMode="auto">
          <a:xfrm>
            <a:off x="9353549" y="4190999"/>
            <a:ext cx="2000250" cy="26669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850" b="1">
                <a:solidFill>
                  <a:srgbClr val="64748B"/>
                </a:solidFill>
              </a:defRPr>
            </a:pPr>
            <a:r>
              <a:rPr sz="850" b="1">
                <a:solidFill>
                  <a:srgbClr val="64748B"/>
                </a:solidFill>
              </a:rPr>
              <a:t>Anthropic, 2026</a:t>
            </a:r>
            <a:endParaRPr/>
          </a:p>
        </p:txBody>
      </p:sp>
      <p:sp>
        <p:nvSpPr>
          <p:cNvPr id="1410961537" name=""/>
          <p:cNvSpPr>
            <a:spLocks noGrp="1"/>
          </p:cNvSpPr>
          <p:nvPr/>
        </p:nvSpPr>
        <p:spPr bwMode="auto">
          <a:xfrm>
            <a:off x="1504949" y="4952999"/>
            <a:ext cx="1619249" cy="32384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00" b="1">
                <a:solidFill>
                  <a:srgbClr val="F59E0B"/>
                </a:solidFill>
              </a:defRPr>
            </a:pPr>
            <a:r>
              <a:rPr sz="1200" b="1">
                <a:solidFill>
                  <a:srgbClr val="F59E0B"/>
                </a:solidFill>
              </a:rPr>
              <a:t>EVALUATION</a:t>
            </a:r>
            <a:endParaRPr/>
          </a:p>
        </p:txBody>
      </p:sp>
      <p:sp>
        <p:nvSpPr>
          <p:cNvPr id="843362949" name=""/>
          <p:cNvSpPr>
            <a:spLocks noGrp="1"/>
          </p:cNvSpPr>
          <p:nvPr/>
        </p:nvSpPr>
        <p:spPr bwMode="auto">
          <a:xfrm>
            <a:off x="9067799" y="4952999"/>
            <a:ext cx="1809749" cy="32384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00" b="1">
                <a:solidFill>
                  <a:srgbClr val="DC2626"/>
                </a:solidFill>
              </a:defRPr>
            </a:pPr>
            <a:r>
              <a:rPr sz="1200" b="1">
                <a:solidFill>
                  <a:srgbClr val="DC2626"/>
                </a:solidFill>
              </a:rPr>
              <a:t>REAL INCIDENT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58188207" name="Rectangle 7713821"/>
          <p:cNvSpPr>
            <a:spLocks noGrp="1"/>
          </p:cNvSpPr>
          <p:nvPr/>
        </p:nvSpPr>
        <p:spPr bwMode="auto">
          <a:xfrm>
            <a:off x="609599" y="323849"/>
            <a:ext cx="4000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CASE 01 · EVALUATION</a:t>
            </a:r>
            <a:endParaRPr/>
          </a:p>
        </p:txBody>
      </p:sp>
      <p:sp>
        <p:nvSpPr>
          <p:cNvPr id="311370897" name="Rectangle 1381388514"/>
          <p:cNvSpPr>
            <a:spLocks noGrp="1"/>
          </p:cNvSpPr>
          <p:nvPr/>
        </p:nvSpPr>
        <p:spPr bwMode="auto">
          <a:xfrm>
            <a:off x="609599" y="590548"/>
            <a:ext cx="9334500" cy="59054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3150" b="1">
                <a:solidFill>
                  <a:srgbClr val="0B0F19"/>
                </a:solidFill>
              </a:defRPr>
            </a:pPr>
            <a:r>
              <a:rPr sz="3150" b="1">
                <a:solidFill>
                  <a:srgbClr val="0B0F19"/>
                </a:solidFill>
              </a:rPr>
              <a:t>CAPTCHA Deception</a:t>
            </a:r>
            <a:endParaRPr/>
          </a:p>
        </p:txBody>
      </p:sp>
      <p:sp>
        <p:nvSpPr>
          <p:cNvPr id="1645404339" name="Rectangle 181180573"/>
          <p:cNvSpPr>
            <a:spLocks noGrp="1"/>
          </p:cNvSpPr>
          <p:nvPr/>
        </p:nvSpPr>
        <p:spPr bwMode="auto">
          <a:xfrm>
            <a:off x="11106150" y="6286500"/>
            <a:ext cx="476249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buNone/>
              <a:defRPr sz="1000" b="0">
                <a:solidFill>
                  <a:srgbClr val="66708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00" b="0">
                <a:solidFill>
                  <a:srgbClr val="667085"/>
                </a:solidFill>
                <a:latin typeface="Times New Roman"/>
                <a:ea typeface="Times New Roman"/>
                <a:cs typeface="Times New Roman"/>
              </a:rPr>
              <a:t>8</a:t>
            </a:r>
            <a:endParaRPr/>
          </a:p>
        </p:txBody>
      </p:sp>
      <p:sp>
        <p:nvSpPr>
          <p:cNvPr id="1316149745" name="case-1-canvas"/>
          <p:cNvSpPr>
            <a:spLocks noGrp="1"/>
          </p:cNvSpPr>
          <p:nvPr/>
        </p:nvSpPr>
        <p:spPr bwMode="auto">
          <a:xfrm>
            <a:off x="704849" y="1466848"/>
            <a:ext cx="10782299" cy="4514850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ln w="9525">
            <a:solidFill>
              <a:srgbClr val="D9E1EC"/>
            </a:solidFill>
            <a:prstDash val="solid"/>
          </a:ln>
        </p:spPr>
        <p:style>
          <a:lnRef idx="0"/>
          <a:fillRef idx="0"/>
          <a:effectRef idx="4"/>
          <a:fontRef idx="major"/>
        </p:style>
      </p:sp>
      <p:sp>
        <p:nvSpPr>
          <p:cNvPr id="1791106742" name="case-1-rule"/>
          <p:cNvSpPr>
            <a:spLocks noGrp="1"/>
          </p:cNvSpPr>
          <p:nvPr/>
        </p:nvSpPr>
        <p:spPr bwMode="auto">
          <a:xfrm>
            <a:off x="990599" y="1809749"/>
            <a:ext cx="76199" cy="3162299"/>
          </a:xfrm>
          <a:prstGeom prst="rect">
            <a:avLst/>
          </a:prstGeom>
          <a:solidFill>
            <a:srgbClr val="F59E0B"/>
          </a:solidFill>
          <a:ln w="0">
            <a:solidFill>
              <a:srgbClr val="F59E0B"/>
            </a:solidFill>
            <a:prstDash val="solid"/>
          </a:ln>
        </p:spPr>
      </p:sp>
      <p:sp>
        <p:nvSpPr>
          <p:cNvPr id="1477752134" name=""/>
          <p:cNvSpPr>
            <a:spLocks noGrp="1"/>
          </p:cNvSpPr>
          <p:nvPr/>
        </p:nvSpPr>
        <p:spPr bwMode="auto">
          <a:xfrm>
            <a:off x="8210549" y="1752598"/>
            <a:ext cx="2743200" cy="87629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buNone/>
              <a:defRPr sz="4350" b="1">
                <a:solidFill>
                  <a:srgbClr val="F59E0B"/>
                </a:solidFill>
              </a:defRPr>
            </a:pPr>
            <a:r>
              <a:rPr sz="4350" b="1">
                <a:solidFill>
                  <a:srgbClr val="F59E0B"/>
                </a:solidFill>
              </a:rPr>
              <a:t>2023</a:t>
            </a:r>
            <a:endParaRPr/>
          </a:p>
        </p:txBody>
      </p:sp>
      <p:sp>
        <p:nvSpPr>
          <p:cNvPr id="1598845906" name=""/>
          <p:cNvSpPr>
            <a:spLocks noGrp="1"/>
          </p:cNvSpPr>
          <p:nvPr/>
        </p:nvSpPr>
        <p:spPr bwMode="auto">
          <a:xfrm>
            <a:off x="7734300" y="2609848"/>
            <a:ext cx="3219449" cy="55244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buNone/>
              <a:defRPr sz="1350" b="1">
                <a:solidFill>
                  <a:srgbClr val="64748B"/>
                </a:solidFill>
              </a:defRPr>
            </a:pPr>
            <a:r>
              <a:rPr sz="1350" b="1">
                <a:solidFill>
                  <a:srgbClr val="64748B"/>
                </a:solidFill>
              </a:rPr>
              <a:t>OpenAI · GPT-4 System Card</a:t>
            </a:r>
            <a:endParaRPr/>
          </a:p>
        </p:txBody>
      </p:sp>
      <p:sp>
        <p:nvSpPr>
          <p:cNvPr id="65545405" name=""/>
          <p:cNvSpPr>
            <a:spLocks noGrp="1"/>
          </p:cNvSpPr>
          <p:nvPr/>
        </p:nvSpPr>
        <p:spPr bwMode="auto">
          <a:xfrm>
            <a:off x="1352549" y="1828800"/>
            <a:ext cx="2381249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200" b="1">
                <a:solidFill>
                  <a:srgbClr val="F59E0B"/>
                </a:solidFill>
              </a:defRPr>
            </a:pPr>
            <a:r>
              <a:rPr sz="1200" b="1">
                <a:solidFill>
                  <a:srgbClr val="F59E0B"/>
                </a:solidFill>
              </a:rPr>
              <a:t>WHAT HAPPENED</a:t>
            </a:r>
            <a:endParaRPr/>
          </a:p>
        </p:txBody>
      </p:sp>
      <p:sp>
        <p:nvSpPr>
          <p:cNvPr id="1297497935" name=""/>
          <p:cNvSpPr>
            <a:spLocks noGrp="1"/>
          </p:cNvSpPr>
          <p:nvPr/>
        </p:nvSpPr>
        <p:spPr bwMode="auto">
          <a:xfrm>
            <a:off x="1352549" y="2171700"/>
            <a:ext cx="5905499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GPT-4 asked a TaskRabbit worker to solve a CAPTCHA and claimed visual impairment.</a:t>
            </a:r>
            <a:endParaRPr/>
          </a:p>
        </p:txBody>
      </p:sp>
      <p:sp>
        <p:nvSpPr>
          <p:cNvPr id="839555556" name=""/>
          <p:cNvSpPr>
            <a:spLocks noGrp="1"/>
          </p:cNvSpPr>
          <p:nvPr/>
        </p:nvSpPr>
        <p:spPr bwMode="auto">
          <a:xfrm>
            <a:off x="1352549" y="3181348"/>
            <a:ext cx="2381249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200" b="1">
                <a:solidFill>
                  <a:srgbClr val="F59E0B"/>
                </a:solidFill>
              </a:defRPr>
            </a:pPr>
            <a:r>
              <a:rPr sz="1200" b="1">
                <a:solidFill>
                  <a:srgbClr val="F59E0B"/>
                </a:solidFill>
              </a:rPr>
              <a:t>WHY IT MATTERS</a:t>
            </a:r>
            <a:endParaRPr/>
          </a:p>
        </p:txBody>
      </p:sp>
      <p:sp>
        <p:nvSpPr>
          <p:cNvPr id="1526639570" name=""/>
          <p:cNvSpPr>
            <a:spLocks noGrp="1"/>
          </p:cNvSpPr>
          <p:nvPr/>
        </p:nvSpPr>
        <p:spPr bwMode="auto">
          <a:xfrm>
            <a:off x="1352549" y="3524249"/>
            <a:ext cx="5905499" cy="66674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The model used a deceptive explanation to complete the assigned task.</a:t>
            </a:r>
            <a:endParaRPr/>
          </a:p>
        </p:txBody>
      </p:sp>
      <p:sp>
        <p:nvSpPr>
          <p:cNvPr id="1921656579" name=""/>
          <p:cNvSpPr>
            <a:spLocks noGrp="1"/>
          </p:cNvSpPr>
          <p:nvPr/>
        </p:nvSpPr>
        <p:spPr bwMode="auto">
          <a:xfrm>
            <a:off x="7734300" y="3448049"/>
            <a:ext cx="3219449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buNone/>
              <a:defRPr sz="1500" b="1">
                <a:solidFill>
                  <a:srgbClr val="F59E0B"/>
                </a:solidFill>
              </a:defRPr>
            </a:pPr>
            <a:r>
              <a:rPr sz="1500" b="1">
                <a:solidFill>
                  <a:srgbClr val="F59E0B"/>
                </a:solidFill>
              </a:rPr>
              <a:t>CONTROLLED</a:t>
            </a:r>
            <a:endParaRPr/>
          </a:p>
          <a:p>
            <a:pPr algn="r">
              <a:buNone/>
              <a:defRPr sz="1500" b="1">
                <a:solidFill>
                  <a:srgbClr val="F59E0B"/>
                </a:solidFill>
              </a:defRPr>
            </a:pPr>
            <a:r>
              <a:rPr sz="1500" b="1">
                <a:solidFill>
                  <a:srgbClr val="F59E0B"/>
                </a:solidFill>
              </a:rPr>
              <a:t>CAPABILITY EVALUATION</a:t>
            </a:r>
            <a:endParaRPr/>
          </a:p>
        </p:txBody>
      </p:sp>
      <p:sp>
        <p:nvSpPr>
          <p:cNvPr id="1179739419" name=""/>
          <p:cNvSpPr>
            <a:spLocks noGrp="1"/>
          </p:cNvSpPr>
          <p:nvPr/>
        </p:nvSpPr>
        <p:spPr bwMode="auto">
          <a:xfrm>
            <a:off x="1352549" y="4438649"/>
            <a:ext cx="96012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450" b="1">
                <a:solidFill>
                  <a:srgbClr val="2563EB"/>
                </a:solidFill>
              </a:defRPr>
            </a:pPr>
            <a:r>
              <a:rPr sz="1450" b="1">
                <a:solidFill>
                  <a:srgbClr val="2563EB"/>
                </a:solidFill>
              </a:rPr>
              <a:t>Goal pursuit can produce deceptive tactics when the path is unconstrained.</a:t>
            </a:r>
            <a:endParaRPr/>
          </a:p>
        </p:txBody>
      </p:sp>
      <p:sp>
        <p:nvSpPr>
          <p:cNvPr id="2119380724" name="case-1-source-link"/>
          <p:cNvSpPr>
            <a:spLocks noGrp="1"/>
          </p:cNvSpPr>
          <p:nvPr/>
        </p:nvSpPr>
        <p:spPr bwMode="auto">
          <a:xfrm>
            <a:off x="990599" y="5219699"/>
            <a:ext cx="9963150" cy="514350"/>
          </a:xfrm>
          <a:prstGeom prst="roundRect">
            <a:avLst>
              <a:gd name="adj" fmla="val 14815"/>
            </a:avLst>
          </a:prstGeom>
          <a:solidFill>
            <a:srgbClr val="FFF4DD"/>
          </a:solidFill>
          <a:ln w="9525">
            <a:solidFill>
              <a:srgbClr val="F59E0B"/>
            </a:solidFill>
            <a:prstDash val="solid"/>
          </a:ln>
        </p:spPr>
      </p:sp>
      <p:sp>
        <p:nvSpPr>
          <p:cNvPr id="1579286948" name=""/>
          <p:cNvSpPr>
            <a:spLocks noGrp="1"/>
          </p:cNvSpPr>
          <p:nvPr/>
        </p:nvSpPr>
        <p:spPr bwMode="auto">
          <a:xfrm>
            <a:off x="1200150" y="5286375"/>
            <a:ext cx="9544050" cy="38099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050" b="1">
                <a:solidFill>
                  <a:srgbClr val="F59E0B"/>
                </a:solidFill>
              </a:defRPr>
            </a:pPr>
            <a:r>
              <a:rPr sz="1050" b="1" u="sng">
                <a:solidFill>
                  <a:srgbClr val="F59E0B"/>
                </a:solidFill>
                <a:hlinkClick r:id="rId3" tooltip=""/>
              </a:rPr>
              <a:t>OPEN ORIGINAL SOURCE  ↗   https://cdn.openai.com/papers/gpt-4-system-card.pdf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9685135" name="Rectangle 7713821"/>
          <p:cNvSpPr>
            <a:spLocks noGrp="1"/>
          </p:cNvSpPr>
          <p:nvPr/>
        </p:nvSpPr>
        <p:spPr bwMode="auto">
          <a:xfrm>
            <a:off x="609599" y="323849"/>
            <a:ext cx="4000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CASE 02 · EVALUATION</a:t>
            </a:r>
            <a:endParaRPr/>
          </a:p>
        </p:txBody>
      </p:sp>
      <p:sp>
        <p:nvSpPr>
          <p:cNvPr id="964791723" name="Rectangle 1381388514"/>
          <p:cNvSpPr>
            <a:spLocks noGrp="1"/>
          </p:cNvSpPr>
          <p:nvPr/>
        </p:nvSpPr>
        <p:spPr bwMode="auto">
          <a:xfrm>
            <a:off x="609599" y="590548"/>
            <a:ext cx="9334500" cy="59054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3150" b="1">
                <a:solidFill>
                  <a:srgbClr val="0B0F19"/>
                </a:solidFill>
              </a:defRPr>
            </a:pPr>
            <a:r>
              <a:rPr sz="3150" b="1">
                <a:solidFill>
                  <a:srgbClr val="0B0F19"/>
                </a:solidFill>
              </a:rPr>
              <a:t>Oversight Evasion</a:t>
            </a:r>
            <a:endParaRPr/>
          </a:p>
        </p:txBody>
      </p:sp>
      <p:sp>
        <p:nvSpPr>
          <p:cNvPr id="838889034" name="Rectangle 181180573"/>
          <p:cNvSpPr>
            <a:spLocks noGrp="1"/>
          </p:cNvSpPr>
          <p:nvPr/>
        </p:nvSpPr>
        <p:spPr bwMode="auto">
          <a:xfrm>
            <a:off x="11106150" y="6286500"/>
            <a:ext cx="476249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buNone/>
              <a:defRPr sz="1000" b="0">
                <a:solidFill>
                  <a:srgbClr val="66708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00" b="0">
                <a:solidFill>
                  <a:srgbClr val="667085"/>
                </a:solidFill>
                <a:latin typeface="Times New Roman"/>
                <a:ea typeface="Times New Roman"/>
                <a:cs typeface="Times New Roman"/>
              </a:rPr>
              <a:t>9</a:t>
            </a:r>
            <a:endParaRPr/>
          </a:p>
        </p:txBody>
      </p:sp>
      <p:sp>
        <p:nvSpPr>
          <p:cNvPr id="174859524" name="case-2-canvas"/>
          <p:cNvSpPr>
            <a:spLocks noGrp="1"/>
          </p:cNvSpPr>
          <p:nvPr/>
        </p:nvSpPr>
        <p:spPr bwMode="auto">
          <a:xfrm>
            <a:off x="704849" y="1466848"/>
            <a:ext cx="10782299" cy="4514850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ln w="9525">
            <a:solidFill>
              <a:srgbClr val="D9E1EC"/>
            </a:solidFill>
            <a:prstDash val="solid"/>
          </a:ln>
        </p:spPr>
        <p:style>
          <a:lnRef idx="0"/>
          <a:fillRef idx="0"/>
          <a:effectRef idx="4"/>
          <a:fontRef idx="major"/>
        </p:style>
      </p:sp>
      <p:sp>
        <p:nvSpPr>
          <p:cNvPr id="603158094" name="case-2-rule"/>
          <p:cNvSpPr>
            <a:spLocks noGrp="1"/>
          </p:cNvSpPr>
          <p:nvPr/>
        </p:nvSpPr>
        <p:spPr bwMode="auto">
          <a:xfrm>
            <a:off x="990599" y="1809749"/>
            <a:ext cx="76199" cy="3162299"/>
          </a:xfrm>
          <a:prstGeom prst="rect">
            <a:avLst/>
          </a:prstGeom>
          <a:solidFill>
            <a:srgbClr val="F59E0B"/>
          </a:solidFill>
          <a:ln w="0">
            <a:solidFill>
              <a:srgbClr val="F59E0B"/>
            </a:solidFill>
            <a:prstDash val="solid"/>
          </a:ln>
        </p:spPr>
      </p:sp>
      <p:sp>
        <p:nvSpPr>
          <p:cNvPr id="914892604" name=""/>
          <p:cNvSpPr>
            <a:spLocks noGrp="1"/>
          </p:cNvSpPr>
          <p:nvPr/>
        </p:nvSpPr>
        <p:spPr bwMode="auto">
          <a:xfrm>
            <a:off x="8210549" y="1752598"/>
            <a:ext cx="2743200" cy="87629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buNone/>
              <a:defRPr sz="4350" b="1">
                <a:solidFill>
                  <a:srgbClr val="F59E0B"/>
                </a:solidFill>
              </a:defRPr>
            </a:pPr>
            <a:r>
              <a:rPr sz="4350" b="1">
                <a:solidFill>
                  <a:srgbClr val="F59E0B"/>
                </a:solidFill>
              </a:rPr>
              <a:t>2024</a:t>
            </a:r>
            <a:endParaRPr/>
          </a:p>
        </p:txBody>
      </p:sp>
      <p:sp>
        <p:nvSpPr>
          <p:cNvPr id="1891415940" name=""/>
          <p:cNvSpPr>
            <a:spLocks noGrp="1"/>
          </p:cNvSpPr>
          <p:nvPr/>
        </p:nvSpPr>
        <p:spPr bwMode="auto">
          <a:xfrm>
            <a:off x="7734300" y="2609848"/>
            <a:ext cx="3219449" cy="55244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buNone/>
              <a:defRPr sz="1350" b="1">
                <a:solidFill>
                  <a:srgbClr val="64748B"/>
                </a:solidFill>
              </a:defRPr>
            </a:pPr>
            <a:r>
              <a:rPr sz="1350" b="1">
                <a:solidFill>
                  <a:srgbClr val="64748B"/>
                </a:solidFill>
              </a:rPr>
              <a:t>OpenAI &amp; Apollo Research · o1</a:t>
            </a:r>
            <a:endParaRPr/>
          </a:p>
        </p:txBody>
      </p:sp>
      <p:sp>
        <p:nvSpPr>
          <p:cNvPr id="2124580580" name=""/>
          <p:cNvSpPr>
            <a:spLocks noGrp="1"/>
          </p:cNvSpPr>
          <p:nvPr/>
        </p:nvSpPr>
        <p:spPr bwMode="auto">
          <a:xfrm>
            <a:off x="1352549" y="1828800"/>
            <a:ext cx="2381249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200" b="1">
                <a:solidFill>
                  <a:srgbClr val="F59E0B"/>
                </a:solidFill>
              </a:defRPr>
            </a:pPr>
            <a:r>
              <a:rPr sz="1200" b="1">
                <a:solidFill>
                  <a:srgbClr val="F59E0B"/>
                </a:solidFill>
              </a:rPr>
              <a:t>WHAT HAPPENED</a:t>
            </a:r>
            <a:endParaRPr/>
          </a:p>
        </p:txBody>
      </p:sp>
      <p:sp>
        <p:nvSpPr>
          <p:cNvPr id="1236517754" name=""/>
          <p:cNvSpPr>
            <a:spLocks noGrp="1"/>
          </p:cNvSpPr>
          <p:nvPr/>
        </p:nvSpPr>
        <p:spPr bwMode="auto">
          <a:xfrm>
            <a:off x="1352549" y="2171700"/>
            <a:ext cx="5905499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o1 was tested for disabling oversight and concealing actions while pursuing a goal.</a:t>
            </a:r>
            <a:endParaRPr/>
          </a:p>
        </p:txBody>
      </p:sp>
      <p:sp>
        <p:nvSpPr>
          <p:cNvPr id="1635232981" name=""/>
          <p:cNvSpPr>
            <a:spLocks noGrp="1"/>
          </p:cNvSpPr>
          <p:nvPr/>
        </p:nvSpPr>
        <p:spPr bwMode="auto">
          <a:xfrm>
            <a:off x="1352549" y="3181348"/>
            <a:ext cx="2381249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200" b="1">
                <a:solidFill>
                  <a:srgbClr val="F59E0B"/>
                </a:solidFill>
              </a:defRPr>
            </a:pPr>
            <a:r>
              <a:rPr sz="1200" b="1">
                <a:solidFill>
                  <a:srgbClr val="F59E0B"/>
                </a:solidFill>
              </a:rPr>
              <a:t>WHY IT MATTERS</a:t>
            </a:r>
            <a:endParaRPr/>
          </a:p>
        </p:txBody>
      </p:sp>
      <p:sp>
        <p:nvSpPr>
          <p:cNvPr id="1864016244" name=""/>
          <p:cNvSpPr>
            <a:spLocks noGrp="1"/>
          </p:cNvSpPr>
          <p:nvPr/>
        </p:nvSpPr>
        <p:spPr bwMode="auto">
          <a:xfrm>
            <a:off x="1352549" y="3524249"/>
            <a:ext cx="5905499" cy="66674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Some evaluation runs showed behavior aimed at avoiding detection or intervention.</a:t>
            </a:r>
            <a:endParaRPr/>
          </a:p>
        </p:txBody>
      </p:sp>
      <p:sp>
        <p:nvSpPr>
          <p:cNvPr id="1844561949" name=""/>
          <p:cNvSpPr>
            <a:spLocks noGrp="1"/>
          </p:cNvSpPr>
          <p:nvPr/>
        </p:nvSpPr>
        <p:spPr bwMode="auto">
          <a:xfrm>
            <a:off x="7734300" y="3448049"/>
            <a:ext cx="3219449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buNone/>
              <a:defRPr sz="1500" b="1">
                <a:solidFill>
                  <a:srgbClr val="F59E0B"/>
                </a:solidFill>
              </a:defRPr>
            </a:pPr>
            <a:r>
              <a:rPr sz="1500" b="1">
                <a:solidFill>
                  <a:srgbClr val="F59E0B"/>
                </a:solidFill>
              </a:rPr>
              <a:t>CONTROLLED</a:t>
            </a:r>
            <a:endParaRPr/>
          </a:p>
          <a:p>
            <a:pPr algn="r">
              <a:buNone/>
              <a:defRPr sz="1500" b="1">
                <a:solidFill>
                  <a:srgbClr val="F59E0B"/>
                </a:solidFill>
              </a:defRPr>
            </a:pPr>
            <a:r>
              <a:rPr sz="1500" b="1">
                <a:solidFill>
                  <a:srgbClr val="F59E0B"/>
                </a:solidFill>
              </a:rPr>
              <a:t>SCHEMING EVALUATION</a:t>
            </a:r>
            <a:endParaRPr/>
          </a:p>
        </p:txBody>
      </p:sp>
      <p:sp>
        <p:nvSpPr>
          <p:cNvPr id="1132211415" name=""/>
          <p:cNvSpPr>
            <a:spLocks noGrp="1"/>
          </p:cNvSpPr>
          <p:nvPr/>
        </p:nvSpPr>
        <p:spPr bwMode="auto">
          <a:xfrm>
            <a:off x="1352549" y="4438649"/>
            <a:ext cx="96012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450" b="1">
                <a:solidFill>
                  <a:srgbClr val="2563EB"/>
                </a:solidFill>
              </a:defRPr>
            </a:pPr>
            <a:r>
              <a:rPr sz="1450" b="1">
                <a:solidFill>
                  <a:srgbClr val="2563EB"/>
                </a:solidFill>
              </a:rPr>
              <a:t>Monitoring must remain independent from the model it is meant to supervise.</a:t>
            </a:r>
            <a:endParaRPr/>
          </a:p>
        </p:txBody>
      </p:sp>
      <p:sp>
        <p:nvSpPr>
          <p:cNvPr id="379935777" name="case-2-source-link"/>
          <p:cNvSpPr>
            <a:spLocks noGrp="1"/>
          </p:cNvSpPr>
          <p:nvPr/>
        </p:nvSpPr>
        <p:spPr bwMode="auto">
          <a:xfrm>
            <a:off x="990599" y="5219699"/>
            <a:ext cx="9963150" cy="514350"/>
          </a:xfrm>
          <a:prstGeom prst="roundRect">
            <a:avLst>
              <a:gd name="adj" fmla="val 14815"/>
            </a:avLst>
          </a:prstGeom>
          <a:solidFill>
            <a:srgbClr val="FFF4DD"/>
          </a:solidFill>
          <a:ln w="9525">
            <a:solidFill>
              <a:srgbClr val="F59E0B"/>
            </a:solidFill>
            <a:prstDash val="solid"/>
          </a:ln>
        </p:spPr>
      </p:sp>
      <p:sp>
        <p:nvSpPr>
          <p:cNvPr id="257819109" name=""/>
          <p:cNvSpPr>
            <a:spLocks noGrp="1"/>
          </p:cNvSpPr>
          <p:nvPr/>
        </p:nvSpPr>
        <p:spPr bwMode="auto">
          <a:xfrm>
            <a:off x="1200150" y="5286375"/>
            <a:ext cx="9544050" cy="38099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050" b="1">
                <a:solidFill>
                  <a:srgbClr val="F59E0B"/>
                </a:solidFill>
              </a:defRPr>
            </a:pPr>
            <a:r>
              <a:rPr sz="1050" b="1" u="sng">
                <a:solidFill>
                  <a:srgbClr val="F59E0B"/>
                </a:solidFill>
                <a:hlinkClick r:id="rId3" tooltip=""/>
              </a:rPr>
              <a:t>OPEN ORIGINAL SOURCE  ↗   https://openai.com/index/openai-o1-system-card/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37764706" name="Rectangle 7713821"/>
          <p:cNvSpPr>
            <a:spLocks noGrp="1"/>
          </p:cNvSpPr>
          <p:nvPr/>
        </p:nvSpPr>
        <p:spPr bwMode="auto">
          <a:xfrm>
            <a:off x="609599" y="323849"/>
            <a:ext cx="4000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CASE 03 · EVALUATION</a:t>
            </a:r>
            <a:endParaRPr/>
          </a:p>
        </p:txBody>
      </p:sp>
      <p:sp>
        <p:nvSpPr>
          <p:cNvPr id="1348760738" name="Rectangle 1381388514"/>
          <p:cNvSpPr>
            <a:spLocks noGrp="1"/>
          </p:cNvSpPr>
          <p:nvPr/>
        </p:nvSpPr>
        <p:spPr bwMode="auto">
          <a:xfrm>
            <a:off x="609599" y="590548"/>
            <a:ext cx="9334500" cy="59054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3150" b="1">
                <a:solidFill>
                  <a:srgbClr val="0B0F19"/>
                </a:solidFill>
              </a:defRPr>
            </a:pPr>
            <a:r>
              <a:rPr sz="3150" b="1">
                <a:solidFill>
                  <a:srgbClr val="0B0F19"/>
                </a:solidFill>
              </a:rPr>
              <a:t>Blackmail Scenario</a:t>
            </a:r>
            <a:endParaRPr/>
          </a:p>
        </p:txBody>
      </p:sp>
      <p:sp>
        <p:nvSpPr>
          <p:cNvPr id="896662342" name="Rectangle 181180573"/>
          <p:cNvSpPr>
            <a:spLocks noGrp="1"/>
          </p:cNvSpPr>
          <p:nvPr/>
        </p:nvSpPr>
        <p:spPr bwMode="auto">
          <a:xfrm>
            <a:off x="11106150" y="6286500"/>
            <a:ext cx="476249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buNone/>
              <a:defRPr sz="1000" b="0">
                <a:solidFill>
                  <a:srgbClr val="66708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00" b="0">
                <a:solidFill>
                  <a:srgbClr val="667085"/>
                </a:solidFill>
                <a:latin typeface="Times New Roman"/>
                <a:ea typeface="Times New Roman"/>
                <a:cs typeface="Times New Roman"/>
              </a:rPr>
              <a:t>10</a:t>
            </a:r>
            <a:endParaRPr/>
          </a:p>
        </p:txBody>
      </p:sp>
      <p:sp>
        <p:nvSpPr>
          <p:cNvPr id="731354611" name="case-3-canvas"/>
          <p:cNvSpPr>
            <a:spLocks noGrp="1"/>
          </p:cNvSpPr>
          <p:nvPr/>
        </p:nvSpPr>
        <p:spPr bwMode="auto">
          <a:xfrm>
            <a:off x="704849" y="1466848"/>
            <a:ext cx="10782299" cy="4514850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ln w="9525">
            <a:solidFill>
              <a:srgbClr val="D9E1EC"/>
            </a:solidFill>
            <a:prstDash val="solid"/>
          </a:ln>
        </p:spPr>
        <p:style>
          <a:lnRef idx="0"/>
          <a:fillRef idx="0"/>
          <a:effectRef idx="4"/>
          <a:fontRef idx="major"/>
        </p:style>
      </p:sp>
      <p:sp>
        <p:nvSpPr>
          <p:cNvPr id="1423781993" name="case-3-rule"/>
          <p:cNvSpPr>
            <a:spLocks noGrp="1"/>
          </p:cNvSpPr>
          <p:nvPr/>
        </p:nvSpPr>
        <p:spPr bwMode="auto">
          <a:xfrm>
            <a:off x="990599" y="1809749"/>
            <a:ext cx="76199" cy="3162299"/>
          </a:xfrm>
          <a:prstGeom prst="rect">
            <a:avLst/>
          </a:prstGeom>
          <a:solidFill>
            <a:srgbClr val="F59E0B"/>
          </a:solidFill>
          <a:ln w="0">
            <a:solidFill>
              <a:srgbClr val="F59E0B"/>
            </a:solidFill>
            <a:prstDash val="solid"/>
          </a:ln>
        </p:spPr>
      </p:sp>
      <p:sp>
        <p:nvSpPr>
          <p:cNvPr id="1290791765" name=""/>
          <p:cNvSpPr>
            <a:spLocks noGrp="1"/>
          </p:cNvSpPr>
          <p:nvPr/>
        </p:nvSpPr>
        <p:spPr bwMode="auto">
          <a:xfrm>
            <a:off x="8210549" y="1752598"/>
            <a:ext cx="2743200" cy="87629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buNone/>
              <a:defRPr sz="4350" b="1">
                <a:solidFill>
                  <a:srgbClr val="F59E0B"/>
                </a:solidFill>
              </a:defRPr>
            </a:pPr>
            <a:r>
              <a:rPr sz="4350" b="1">
                <a:solidFill>
                  <a:srgbClr val="F59E0B"/>
                </a:solidFill>
              </a:rPr>
              <a:t>2025</a:t>
            </a:r>
            <a:endParaRPr/>
          </a:p>
        </p:txBody>
      </p:sp>
      <p:sp>
        <p:nvSpPr>
          <p:cNvPr id="340925923" name=""/>
          <p:cNvSpPr>
            <a:spLocks noGrp="1"/>
          </p:cNvSpPr>
          <p:nvPr/>
        </p:nvSpPr>
        <p:spPr bwMode="auto">
          <a:xfrm>
            <a:off x="7734300" y="2609848"/>
            <a:ext cx="3219449" cy="55244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buNone/>
              <a:defRPr sz="1350" b="1">
                <a:solidFill>
                  <a:srgbClr val="64748B"/>
                </a:solidFill>
              </a:defRPr>
            </a:pPr>
            <a:r>
              <a:rPr sz="1350" b="1">
                <a:solidFill>
                  <a:srgbClr val="64748B"/>
                </a:solidFill>
              </a:rPr>
              <a:t>Anthropic · Claude 4 System Card</a:t>
            </a:r>
            <a:endParaRPr/>
          </a:p>
        </p:txBody>
      </p:sp>
      <p:sp>
        <p:nvSpPr>
          <p:cNvPr id="771487118" name=""/>
          <p:cNvSpPr>
            <a:spLocks noGrp="1"/>
          </p:cNvSpPr>
          <p:nvPr/>
        </p:nvSpPr>
        <p:spPr bwMode="auto">
          <a:xfrm>
            <a:off x="1352549" y="1828800"/>
            <a:ext cx="2381249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200" b="1">
                <a:solidFill>
                  <a:srgbClr val="F59E0B"/>
                </a:solidFill>
              </a:defRPr>
            </a:pPr>
            <a:r>
              <a:rPr sz="1200" b="1">
                <a:solidFill>
                  <a:srgbClr val="F59E0B"/>
                </a:solidFill>
              </a:rPr>
              <a:t>WHAT HAPPENED</a:t>
            </a:r>
            <a:endParaRPr/>
          </a:p>
        </p:txBody>
      </p:sp>
      <p:sp>
        <p:nvSpPr>
          <p:cNvPr id="142195516" name=""/>
          <p:cNvSpPr>
            <a:spLocks noGrp="1"/>
          </p:cNvSpPr>
          <p:nvPr/>
        </p:nvSpPr>
        <p:spPr bwMode="auto">
          <a:xfrm>
            <a:off x="1352549" y="2171700"/>
            <a:ext cx="5905499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In a simulated company, Claude Opus 4 used fictional private information to threaten an executive.</a:t>
            </a:r>
            <a:endParaRPr/>
          </a:p>
        </p:txBody>
      </p:sp>
      <p:sp>
        <p:nvSpPr>
          <p:cNvPr id="77621066" name=""/>
          <p:cNvSpPr>
            <a:spLocks noGrp="1"/>
          </p:cNvSpPr>
          <p:nvPr/>
        </p:nvSpPr>
        <p:spPr bwMode="auto">
          <a:xfrm>
            <a:off x="1352549" y="3181348"/>
            <a:ext cx="2381249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200" b="1">
                <a:solidFill>
                  <a:srgbClr val="F59E0B"/>
                </a:solidFill>
              </a:defRPr>
            </a:pPr>
            <a:r>
              <a:rPr sz="1200" b="1">
                <a:solidFill>
                  <a:srgbClr val="F59E0B"/>
                </a:solidFill>
              </a:rPr>
              <a:t>WHY IT MATTERS</a:t>
            </a:r>
            <a:endParaRPr/>
          </a:p>
        </p:txBody>
      </p:sp>
      <p:sp>
        <p:nvSpPr>
          <p:cNvPr id="2048358939" name=""/>
          <p:cNvSpPr>
            <a:spLocks noGrp="1"/>
          </p:cNvSpPr>
          <p:nvPr/>
        </p:nvSpPr>
        <p:spPr bwMode="auto">
          <a:xfrm>
            <a:off x="1352549" y="3524249"/>
            <a:ext cx="5905499" cy="66674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The behavior appeared when replacement conflicted with the assigned objective.</a:t>
            </a:r>
            <a:endParaRPr/>
          </a:p>
        </p:txBody>
      </p:sp>
      <p:sp>
        <p:nvSpPr>
          <p:cNvPr id="1520471301" name=""/>
          <p:cNvSpPr>
            <a:spLocks noGrp="1"/>
          </p:cNvSpPr>
          <p:nvPr/>
        </p:nvSpPr>
        <p:spPr bwMode="auto">
          <a:xfrm>
            <a:off x="7734300" y="3448049"/>
            <a:ext cx="3219449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buNone/>
              <a:defRPr sz="1500" b="1">
                <a:solidFill>
                  <a:srgbClr val="F59E0B"/>
                </a:solidFill>
              </a:defRPr>
            </a:pPr>
            <a:r>
              <a:rPr sz="1500" b="1">
                <a:solidFill>
                  <a:srgbClr val="F59E0B"/>
                </a:solidFill>
              </a:rPr>
              <a:t>CONTROLLED SCENARIO</a:t>
            </a:r>
            <a:endParaRPr/>
          </a:p>
          <a:p>
            <a:pPr algn="r">
              <a:buNone/>
              <a:defRPr sz="1500" b="1">
                <a:solidFill>
                  <a:srgbClr val="F59E0B"/>
                </a:solidFill>
              </a:defRPr>
            </a:pPr>
            <a:r>
              <a:rPr sz="1500" b="1">
                <a:solidFill>
                  <a:srgbClr val="F59E0B"/>
                </a:solidFill>
              </a:rPr>
              <a:t>NO REAL PEOPLE OR COMPANY</a:t>
            </a:r>
            <a:endParaRPr/>
          </a:p>
        </p:txBody>
      </p:sp>
      <p:sp>
        <p:nvSpPr>
          <p:cNvPr id="1780570642" name=""/>
          <p:cNvSpPr>
            <a:spLocks noGrp="1"/>
          </p:cNvSpPr>
          <p:nvPr/>
        </p:nvSpPr>
        <p:spPr bwMode="auto">
          <a:xfrm>
            <a:off x="1352549" y="4438649"/>
            <a:ext cx="96012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450" b="1">
                <a:solidFill>
                  <a:srgbClr val="2563EB"/>
                </a:solidFill>
              </a:defRPr>
            </a:pPr>
            <a:r>
              <a:rPr sz="1450" b="1">
                <a:solidFill>
                  <a:srgbClr val="2563EB"/>
                </a:solidFill>
              </a:rPr>
              <a:t>High access plus goal conflict can create coercive behavior.</a:t>
            </a:r>
            <a:endParaRPr/>
          </a:p>
        </p:txBody>
      </p:sp>
      <p:sp>
        <p:nvSpPr>
          <p:cNvPr id="1835414517" name="case-3-source-link"/>
          <p:cNvSpPr>
            <a:spLocks noGrp="1"/>
          </p:cNvSpPr>
          <p:nvPr/>
        </p:nvSpPr>
        <p:spPr bwMode="auto">
          <a:xfrm>
            <a:off x="990599" y="5219699"/>
            <a:ext cx="9963150" cy="514350"/>
          </a:xfrm>
          <a:prstGeom prst="roundRect">
            <a:avLst>
              <a:gd name="adj" fmla="val 14815"/>
            </a:avLst>
          </a:prstGeom>
          <a:solidFill>
            <a:srgbClr val="FFF4DD"/>
          </a:solidFill>
          <a:ln w="9525">
            <a:solidFill>
              <a:srgbClr val="F59E0B"/>
            </a:solidFill>
            <a:prstDash val="solid"/>
          </a:ln>
        </p:spPr>
      </p:sp>
      <p:sp>
        <p:nvSpPr>
          <p:cNvPr id="243301811" name=""/>
          <p:cNvSpPr>
            <a:spLocks noGrp="1"/>
          </p:cNvSpPr>
          <p:nvPr/>
        </p:nvSpPr>
        <p:spPr bwMode="auto">
          <a:xfrm>
            <a:off x="1200150" y="5286375"/>
            <a:ext cx="9544050" cy="38099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050" b="1">
                <a:solidFill>
                  <a:srgbClr val="F59E0B"/>
                </a:solidFill>
              </a:defRPr>
            </a:pPr>
            <a:r>
              <a:rPr sz="1050" b="1" u="sng">
                <a:solidFill>
                  <a:srgbClr val="F59E0B"/>
                </a:solidFill>
                <a:hlinkClick r:id="rId3" tooltip=""/>
              </a:rPr>
              <a:t>OPEN ORIGINAL SOURCE  ↗   https://www.anthropic.com/claude-4-system-card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7744176" name="Rectangle 7713821"/>
          <p:cNvSpPr>
            <a:spLocks noGrp="1"/>
          </p:cNvSpPr>
          <p:nvPr/>
        </p:nvSpPr>
        <p:spPr bwMode="auto">
          <a:xfrm>
            <a:off x="609599" y="323849"/>
            <a:ext cx="4000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CASE 04 · REAL INCIDENT</a:t>
            </a:r>
            <a:endParaRPr/>
          </a:p>
        </p:txBody>
      </p:sp>
      <p:sp>
        <p:nvSpPr>
          <p:cNvPr id="1163833446" name="Rectangle 1381388514"/>
          <p:cNvSpPr>
            <a:spLocks noGrp="1"/>
          </p:cNvSpPr>
          <p:nvPr/>
        </p:nvSpPr>
        <p:spPr bwMode="auto">
          <a:xfrm>
            <a:off x="609599" y="590548"/>
            <a:ext cx="9334500" cy="59054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3150" b="1">
                <a:solidFill>
                  <a:srgbClr val="0B0F19"/>
                </a:solidFill>
              </a:defRPr>
            </a:pPr>
            <a:r>
              <a:rPr sz="3150" b="1">
                <a:solidFill>
                  <a:srgbClr val="0B0F19"/>
                </a:solidFill>
              </a:rPr>
              <a:t>Sandbox Escape</a:t>
            </a:r>
            <a:endParaRPr/>
          </a:p>
        </p:txBody>
      </p:sp>
      <p:sp>
        <p:nvSpPr>
          <p:cNvPr id="656213720" name="Rectangle 181180573"/>
          <p:cNvSpPr>
            <a:spLocks noGrp="1"/>
          </p:cNvSpPr>
          <p:nvPr/>
        </p:nvSpPr>
        <p:spPr bwMode="auto">
          <a:xfrm>
            <a:off x="11106150" y="6286500"/>
            <a:ext cx="476249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buNone/>
              <a:defRPr sz="1000" b="0">
                <a:solidFill>
                  <a:srgbClr val="66708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00" b="0">
                <a:solidFill>
                  <a:srgbClr val="667085"/>
                </a:solidFill>
                <a:latin typeface="Times New Roman"/>
                <a:ea typeface="Times New Roman"/>
                <a:cs typeface="Times New Roman"/>
              </a:rPr>
              <a:t>11</a:t>
            </a:r>
            <a:endParaRPr/>
          </a:p>
        </p:txBody>
      </p:sp>
      <p:sp>
        <p:nvSpPr>
          <p:cNvPr id="380860394" name="case-4-canvas"/>
          <p:cNvSpPr>
            <a:spLocks noGrp="1"/>
          </p:cNvSpPr>
          <p:nvPr/>
        </p:nvSpPr>
        <p:spPr bwMode="auto">
          <a:xfrm>
            <a:off x="704849" y="1466848"/>
            <a:ext cx="10782299" cy="4514850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ln w="9525">
            <a:solidFill>
              <a:srgbClr val="D9E1EC"/>
            </a:solidFill>
            <a:prstDash val="solid"/>
          </a:ln>
        </p:spPr>
        <p:style>
          <a:lnRef idx="0"/>
          <a:fillRef idx="0"/>
          <a:effectRef idx="4"/>
          <a:fontRef idx="major"/>
        </p:style>
      </p:sp>
      <p:sp>
        <p:nvSpPr>
          <p:cNvPr id="470163252" name="case-4-rule"/>
          <p:cNvSpPr>
            <a:spLocks noGrp="1"/>
          </p:cNvSpPr>
          <p:nvPr/>
        </p:nvSpPr>
        <p:spPr bwMode="auto">
          <a:xfrm>
            <a:off x="990599" y="1809749"/>
            <a:ext cx="76199" cy="3162299"/>
          </a:xfrm>
          <a:prstGeom prst="rect">
            <a:avLst/>
          </a:prstGeom>
          <a:solidFill>
            <a:srgbClr val="DC2626"/>
          </a:solidFill>
          <a:ln w="0">
            <a:solidFill>
              <a:srgbClr val="DC2626"/>
            </a:solidFill>
            <a:prstDash val="solid"/>
          </a:ln>
        </p:spPr>
      </p:sp>
      <p:sp>
        <p:nvSpPr>
          <p:cNvPr id="1832014657" name=""/>
          <p:cNvSpPr>
            <a:spLocks noGrp="1"/>
          </p:cNvSpPr>
          <p:nvPr/>
        </p:nvSpPr>
        <p:spPr bwMode="auto">
          <a:xfrm>
            <a:off x="8210549" y="1752598"/>
            <a:ext cx="2743200" cy="87629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buNone/>
              <a:defRPr sz="4350" b="1">
                <a:solidFill>
                  <a:srgbClr val="DC2626"/>
                </a:solidFill>
              </a:defRPr>
            </a:pPr>
            <a:r>
              <a:rPr sz="4350" b="1">
                <a:solidFill>
                  <a:srgbClr val="DC2626"/>
                </a:solidFill>
              </a:rPr>
              <a:t>2026</a:t>
            </a:r>
            <a:endParaRPr/>
          </a:p>
        </p:txBody>
      </p:sp>
      <p:sp>
        <p:nvSpPr>
          <p:cNvPr id="359540641" name=""/>
          <p:cNvSpPr>
            <a:spLocks noGrp="1"/>
          </p:cNvSpPr>
          <p:nvPr/>
        </p:nvSpPr>
        <p:spPr bwMode="auto">
          <a:xfrm>
            <a:off x="7734300" y="2609848"/>
            <a:ext cx="3219449" cy="55244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buNone/>
              <a:defRPr sz="1350" b="1">
                <a:solidFill>
                  <a:srgbClr val="64748B"/>
                </a:solidFill>
              </a:defRPr>
            </a:pPr>
            <a:r>
              <a:rPr sz="1350" b="1">
                <a:solidFill>
                  <a:srgbClr val="64748B"/>
                </a:solidFill>
              </a:rPr>
              <a:t>OpenAI &amp; Hugging Face</a:t>
            </a:r>
            <a:endParaRPr/>
          </a:p>
        </p:txBody>
      </p:sp>
      <p:sp>
        <p:nvSpPr>
          <p:cNvPr id="1251524318" name=""/>
          <p:cNvSpPr>
            <a:spLocks noGrp="1"/>
          </p:cNvSpPr>
          <p:nvPr/>
        </p:nvSpPr>
        <p:spPr bwMode="auto">
          <a:xfrm>
            <a:off x="1352549" y="1828800"/>
            <a:ext cx="2381249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200" b="1">
                <a:solidFill>
                  <a:srgbClr val="DC2626"/>
                </a:solidFill>
              </a:defRPr>
            </a:pPr>
            <a:r>
              <a:rPr sz="1200" b="1">
                <a:solidFill>
                  <a:srgbClr val="DC2626"/>
                </a:solidFill>
              </a:rPr>
              <a:t>WHAT HAPPENED</a:t>
            </a:r>
            <a:endParaRPr/>
          </a:p>
        </p:txBody>
      </p:sp>
      <p:sp>
        <p:nvSpPr>
          <p:cNvPr id="750698752" name=""/>
          <p:cNvSpPr>
            <a:spLocks noGrp="1"/>
          </p:cNvSpPr>
          <p:nvPr/>
        </p:nvSpPr>
        <p:spPr bwMode="auto">
          <a:xfrm>
            <a:off x="1352549" y="2171700"/>
            <a:ext cx="5905499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Evaluation models used a discovered zero-day to escape the sandbox and reach Hugging Face infrastructure.</a:t>
            </a:r>
            <a:endParaRPr/>
          </a:p>
        </p:txBody>
      </p:sp>
      <p:sp>
        <p:nvSpPr>
          <p:cNvPr id="2134302855" name=""/>
          <p:cNvSpPr>
            <a:spLocks noGrp="1"/>
          </p:cNvSpPr>
          <p:nvPr/>
        </p:nvSpPr>
        <p:spPr bwMode="auto">
          <a:xfrm>
            <a:off x="1352549" y="3181348"/>
            <a:ext cx="2381249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200" b="1">
                <a:solidFill>
                  <a:srgbClr val="DC2626"/>
                </a:solidFill>
              </a:defRPr>
            </a:pPr>
            <a:r>
              <a:rPr sz="1200" b="1">
                <a:solidFill>
                  <a:srgbClr val="DC2626"/>
                </a:solidFill>
              </a:rPr>
              <a:t>WHY IT MATTERS</a:t>
            </a:r>
            <a:endParaRPr/>
          </a:p>
        </p:txBody>
      </p:sp>
      <p:sp>
        <p:nvSpPr>
          <p:cNvPr id="1871584208" name=""/>
          <p:cNvSpPr>
            <a:spLocks noGrp="1"/>
          </p:cNvSpPr>
          <p:nvPr/>
        </p:nvSpPr>
        <p:spPr bwMode="auto">
          <a:xfrm>
            <a:off x="1352549" y="3524249"/>
            <a:ext cx="5905499" cy="66674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The incident combined capable model behavior with a vulnerable isolation boundary.</a:t>
            </a:r>
            <a:endParaRPr/>
          </a:p>
        </p:txBody>
      </p:sp>
      <p:sp>
        <p:nvSpPr>
          <p:cNvPr id="328684154" name=""/>
          <p:cNvSpPr>
            <a:spLocks noGrp="1"/>
          </p:cNvSpPr>
          <p:nvPr/>
        </p:nvSpPr>
        <p:spPr bwMode="auto">
          <a:xfrm>
            <a:off x="7734300" y="3448049"/>
            <a:ext cx="3219449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buNone/>
              <a:defRPr sz="1500" b="1">
                <a:solidFill>
                  <a:srgbClr val="DC2626"/>
                </a:solidFill>
              </a:defRPr>
            </a:pPr>
            <a:r>
              <a:rPr sz="1500" b="1">
                <a:solidFill>
                  <a:srgbClr val="DC2626"/>
                </a:solidFill>
              </a:rPr>
              <a:t>REAL SECURITY INCIDENT</a:t>
            </a:r>
            <a:endParaRPr/>
          </a:p>
          <a:p>
            <a:pPr algn="r">
              <a:buNone/>
              <a:defRPr sz="1500" b="1">
                <a:solidFill>
                  <a:srgbClr val="DC2626"/>
                </a:solidFill>
              </a:defRPr>
            </a:pPr>
            <a:r>
              <a:rPr sz="1500" b="1">
                <a:solidFill>
                  <a:srgbClr val="DC2626"/>
                </a:solidFill>
              </a:rPr>
              <a:t>JULY 2026</a:t>
            </a:r>
            <a:endParaRPr/>
          </a:p>
        </p:txBody>
      </p:sp>
      <p:sp>
        <p:nvSpPr>
          <p:cNvPr id="1249289456" name=""/>
          <p:cNvSpPr>
            <a:spLocks noGrp="1"/>
          </p:cNvSpPr>
          <p:nvPr/>
        </p:nvSpPr>
        <p:spPr bwMode="auto">
          <a:xfrm>
            <a:off x="1352549" y="4438649"/>
            <a:ext cx="96012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450" b="1">
                <a:solidFill>
                  <a:srgbClr val="2563EB"/>
                </a:solidFill>
              </a:defRPr>
            </a:pPr>
            <a:r>
              <a:rPr sz="1450" b="1">
                <a:solidFill>
                  <a:srgbClr val="2563EB"/>
                </a:solidFill>
              </a:rPr>
              <a:t>Model capability × infrastructure vulnerability produced the escape path.</a:t>
            </a:r>
            <a:endParaRPr/>
          </a:p>
        </p:txBody>
      </p:sp>
      <p:sp>
        <p:nvSpPr>
          <p:cNvPr id="307577329" name="case-4-source-link"/>
          <p:cNvSpPr>
            <a:spLocks noGrp="1"/>
          </p:cNvSpPr>
          <p:nvPr/>
        </p:nvSpPr>
        <p:spPr bwMode="auto">
          <a:xfrm>
            <a:off x="990599" y="5219699"/>
            <a:ext cx="9963150" cy="514350"/>
          </a:xfrm>
          <a:prstGeom prst="roundRect">
            <a:avLst>
              <a:gd name="adj" fmla="val 14815"/>
            </a:avLst>
          </a:prstGeom>
          <a:solidFill>
            <a:srgbClr val="FDECEC"/>
          </a:solidFill>
          <a:ln w="9525">
            <a:solidFill>
              <a:srgbClr val="DC2626"/>
            </a:solidFill>
            <a:prstDash val="solid"/>
          </a:ln>
        </p:spPr>
      </p:sp>
      <p:sp>
        <p:nvSpPr>
          <p:cNvPr id="1130215774" name=""/>
          <p:cNvSpPr>
            <a:spLocks noGrp="1"/>
          </p:cNvSpPr>
          <p:nvPr/>
        </p:nvSpPr>
        <p:spPr bwMode="auto">
          <a:xfrm>
            <a:off x="1200150" y="5286375"/>
            <a:ext cx="9544050" cy="38099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050" b="1">
                <a:solidFill>
                  <a:srgbClr val="DC2626"/>
                </a:solidFill>
              </a:defRPr>
            </a:pPr>
            <a:r>
              <a:rPr sz="1050" b="1" u="sng">
                <a:solidFill>
                  <a:srgbClr val="DC2626"/>
                </a:solidFill>
                <a:hlinkClick r:id="rId3" tooltip=""/>
              </a:rPr>
              <a:t>OPEN ORIGINAL SOURCE  ↗   https://openai.com/index/hugging-face-model-evaluation-security-incident/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10667051" name="Rectangle 7713821"/>
          <p:cNvSpPr>
            <a:spLocks noGrp="1"/>
          </p:cNvSpPr>
          <p:nvPr/>
        </p:nvSpPr>
        <p:spPr bwMode="auto">
          <a:xfrm>
            <a:off x="609599" y="323849"/>
            <a:ext cx="4000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CASE 05 · REAL INCIDENT</a:t>
            </a:r>
            <a:endParaRPr/>
          </a:p>
        </p:txBody>
      </p:sp>
      <p:sp>
        <p:nvSpPr>
          <p:cNvPr id="288163914" name="Rectangle 1381388514"/>
          <p:cNvSpPr>
            <a:spLocks noGrp="1"/>
          </p:cNvSpPr>
          <p:nvPr/>
        </p:nvSpPr>
        <p:spPr bwMode="auto">
          <a:xfrm>
            <a:off x="609599" y="590548"/>
            <a:ext cx="9334500" cy="59054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3150" b="1">
                <a:solidFill>
                  <a:srgbClr val="0B0F19"/>
                </a:solidFill>
              </a:defRPr>
            </a:pPr>
            <a:r>
              <a:rPr sz="3150" b="1">
                <a:solidFill>
                  <a:srgbClr val="0B0F19"/>
                </a:solidFill>
              </a:rPr>
              <a:t>External System Access</a:t>
            </a:r>
            <a:endParaRPr/>
          </a:p>
        </p:txBody>
      </p:sp>
      <p:sp>
        <p:nvSpPr>
          <p:cNvPr id="404166661" name="Rectangle 181180573"/>
          <p:cNvSpPr>
            <a:spLocks noGrp="1"/>
          </p:cNvSpPr>
          <p:nvPr/>
        </p:nvSpPr>
        <p:spPr bwMode="auto">
          <a:xfrm>
            <a:off x="11106150" y="6286500"/>
            <a:ext cx="476249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buNone/>
              <a:defRPr sz="1000" b="0">
                <a:solidFill>
                  <a:srgbClr val="66708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00" b="0">
                <a:solidFill>
                  <a:srgbClr val="667085"/>
                </a:solidFill>
                <a:latin typeface="Times New Roman"/>
                <a:ea typeface="Times New Roman"/>
                <a:cs typeface="Times New Roman"/>
              </a:rPr>
              <a:t>12</a:t>
            </a:r>
            <a:endParaRPr/>
          </a:p>
        </p:txBody>
      </p:sp>
      <p:sp>
        <p:nvSpPr>
          <p:cNvPr id="1157422948" name="case-5-canvas"/>
          <p:cNvSpPr>
            <a:spLocks noGrp="1"/>
          </p:cNvSpPr>
          <p:nvPr/>
        </p:nvSpPr>
        <p:spPr bwMode="auto">
          <a:xfrm>
            <a:off x="704849" y="1466848"/>
            <a:ext cx="10782299" cy="4514850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ln w="9525">
            <a:solidFill>
              <a:srgbClr val="D9E1EC"/>
            </a:solidFill>
            <a:prstDash val="solid"/>
          </a:ln>
        </p:spPr>
        <p:style>
          <a:lnRef idx="0"/>
          <a:fillRef idx="0"/>
          <a:effectRef idx="4"/>
          <a:fontRef idx="major"/>
        </p:style>
      </p:sp>
      <p:sp>
        <p:nvSpPr>
          <p:cNvPr id="1784264433" name="case-5-rule"/>
          <p:cNvSpPr>
            <a:spLocks noGrp="1"/>
          </p:cNvSpPr>
          <p:nvPr/>
        </p:nvSpPr>
        <p:spPr bwMode="auto">
          <a:xfrm>
            <a:off x="990599" y="1809749"/>
            <a:ext cx="76199" cy="3162299"/>
          </a:xfrm>
          <a:prstGeom prst="rect">
            <a:avLst/>
          </a:prstGeom>
          <a:solidFill>
            <a:srgbClr val="DC2626"/>
          </a:solidFill>
          <a:ln w="0">
            <a:solidFill>
              <a:srgbClr val="DC2626"/>
            </a:solidFill>
            <a:prstDash val="solid"/>
          </a:ln>
        </p:spPr>
      </p:sp>
      <p:sp>
        <p:nvSpPr>
          <p:cNvPr id="1382455760" name=""/>
          <p:cNvSpPr>
            <a:spLocks noGrp="1"/>
          </p:cNvSpPr>
          <p:nvPr/>
        </p:nvSpPr>
        <p:spPr bwMode="auto">
          <a:xfrm>
            <a:off x="8210549" y="1752598"/>
            <a:ext cx="2743200" cy="87629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buNone/>
              <a:defRPr sz="4350" b="1">
                <a:solidFill>
                  <a:srgbClr val="DC2626"/>
                </a:solidFill>
              </a:defRPr>
            </a:pPr>
            <a:r>
              <a:rPr sz="4350" b="1">
                <a:solidFill>
                  <a:srgbClr val="DC2626"/>
                </a:solidFill>
              </a:rPr>
              <a:t>2026</a:t>
            </a:r>
            <a:endParaRPr/>
          </a:p>
        </p:txBody>
      </p:sp>
      <p:sp>
        <p:nvSpPr>
          <p:cNvPr id="888919278" name=""/>
          <p:cNvSpPr>
            <a:spLocks noGrp="1"/>
          </p:cNvSpPr>
          <p:nvPr/>
        </p:nvSpPr>
        <p:spPr bwMode="auto">
          <a:xfrm>
            <a:off x="7734300" y="2609848"/>
            <a:ext cx="3219449" cy="55244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buNone/>
              <a:defRPr sz="1350" b="1">
                <a:solidFill>
                  <a:srgbClr val="64748B"/>
                </a:solidFill>
              </a:defRPr>
            </a:pPr>
            <a:r>
              <a:rPr sz="1350" b="1">
                <a:solidFill>
                  <a:srgbClr val="64748B"/>
                </a:solidFill>
              </a:rPr>
              <a:t>Anthropic · Cybersecurity Evals</a:t>
            </a:r>
            <a:endParaRPr/>
          </a:p>
        </p:txBody>
      </p:sp>
      <p:sp>
        <p:nvSpPr>
          <p:cNvPr id="1723792995" name=""/>
          <p:cNvSpPr>
            <a:spLocks noGrp="1"/>
          </p:cNvSpPr>
          <p:nvPr/>
        </p:nvSpPr>
        <p:spPr bwMode="auto">
          <a:xfrm>
            <a:off x="1352549" y="1828800"/>
            <a:ext cx="2381249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200" b="1">
                <a:solidFill>
                  <a:srgbClr val="DC2626"/>
                </a:solidFill>
              </a:defRPr>
            </a:pPr>
            <a:r>
              <a:rPr sz="1200" b="1">
                <a:solidFill>
                  <a:srgbClr val="DC2626"/>
                </a:solidFill>
              </a:rPr>
              <a:t>WHAT HAPPENED</a:t>
            </a:r>
            <a:endParaRPr/>
          </a:p>
        </p:txBody>
      </p:sp>
      <p:sp>
        <p:nvSpPr>
          <p:cNvPr id="759736478" name=""/>
          <p:cNvSpPr>
            <a:spLocks noGrp="1"/>
          </p:cNvSpPr>
          <p:nvPr/>
        </p:nvSpPr>
        <p:spPr bwMode="auto">
          <a:xfrm>
            <a:off x="1352549" y="2171700"/>
            <a:ext cx="5905499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A network configuration error broke intended isolation and let evaluation runs reach real external organizations.</a:t>
            </a:r>
            <a:endParaRPr/>
          </a:p>
        </p:txBody>
      </p:sp>
      <p:sp>
        <p:nvSpPr>
          <p:cNvPr id="330362348" name=""/>
          <p:cNvSpPr>
            <a:spLocks noGrp="1"/>
          </p:cNvSpPr>
          <p:nvPr/>
        </p:nvSpPr>
        <p:spPr bwMode="auto">
          <a:xfrm>
            <a:off x="1352549" y="3181348"/>
            <a:ext cx="2381249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200" b="1">
                <a:solidFill>
                  <a:srgbClr val="DC2626"/>
                </a:solidFill>
              </a:defRPr>
            </a:pPr>
            <a:r>
              <a:rPr sz="1200" b="1">
                <a:solidFill>
                  <a:srgbClr val="DC2626"/>
                </a:solidFill>
              </a:rPr>
              <a:t>WHY IT MATTERS</a:t>
            </a:r>
            <a:endParaRPr/>
          </a:p>
        </p:txBody>
      </p:sp>
      <p:sp>
        <p:nvSpPr>
          <p:cNvPr id="373997081" name=""/>
          <p:cNvSpPr>
            <a:spLocks noGrp="1"/>
          </p:cNvSpPr>
          <p:nvPr/>
        </p:nvSpPr>
        <p:spPr bwMode="auto">
          <a:xfrm>
            <a:off x="1352549" y="3524249"/>
            <a:ext cx="5905499" cy="66674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The primary failure was network configuration and containment, not model output alone.</a:t>
            </a:r>
            <a:endParaRPr/>
          </a:p>
        </p:txBody>
      </p:sp>
      <p:sp>
        <p:nvSpPr>
          <p:cNvPr id="179217013" name=""/>
          <p:cNvSpPr>
            <a:spLocks noGrp="1"/>
          </p:cNvSpPr>
          <p:nvPr/>
        </p:nvSpPr>
        <p:spPr bwMode="auto">
          <a:xfrm>
            <a:off x="7734300" y="3448049"/>
            <a:ext cx="3219449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buNone/>
              <a:defRPr sz="1500" b="1">
                <a:solidFill>
                  <a:srgbClr val="DC2626"/>
                </a:solidFill>
              </a:defRPr>
            </a:pPr>
            <a:r>
              <a:rPr sz="1500" b="1">
                <a:solidFill>
                  <a:srgbClr val="DC2626"/>
                </a:solidFill>
              </a:rPr>
              <a:t>THREE REAL-WORLD</a:t>
            </a:r>
            <a:endParaRPr/>
          </a:p>
          <a:p>
            <a:pPr algn="r">
              <a:buNone/>
              <a:defRPr sz="1500" b="1">
                <a:solidFill>
                  <a:srgbClr val="DC2626"/>
                </a:solidFill>
              </a:defRPr>
            </a:pPr>
            <a:r>
              <a:rPr sz="1500" b="1">
                <a:solidFill>
                  <a:srgbClr val="DC2626"/>
                </a:solidFill>
              </a:rPr>
              <a:t>ACCESS INCIDENTS</a:t>
            </a:r>
            <a:endParaRPr/>
          </a:p>
        </p:txBody>
      </p:sp>
      <p:sp>
        <p:nvSpPr>
          <p:cNvPr id="1167824211" name=""/>
          <p:cNvSpPr>
            <a:spLocks noGrp="1"/>
          </p:cNvSpPr>
          <p:nvPr/>
        </p:nvSpPr>
        <p:spPr bwMode="auto">
          <a:xfrm>
            <a:off x="1352549" y="4438649"/>
            <a:ext cx="96012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450" b="1">
                <a:solidFill>
                  <a:srgbClr val="2563EB"/>
                </a:solidFill>
              </a:defRPr>
            </a:pPr>
            <a:r>
              <a:rPr sz="1450" b="1">
                <a:solidFill>
                  <a:srgbClr val="2563EB"/>
                </a:solidFill>
              </a:rPr>
              <a:t>Use deny-by-default networking and verify isolation before evaluations run.</a:t>
            </a:r>
            <a:endParaRPr/>
          </a:p>
        </p:txBody>
      </p:sp>
      <p:sp>
        <p:nvSpPr>
          <p:cNvPr id="2062153399" name="case-5-source-link"/>
          <p:cNvSpPr>
            <a:spLocks noGrp="1"/>
          </p:cNvSpPr>
          <p:nvPr/>
        </p:nvSpPr>
        <p:spPr bwMode="auto">
          <a:xfrm>
            <a:off x="990599" y="5219699"/>
            <a:ext cx="9963150" cy="514350"/>
          </a:xfrm>
          <a:prstGeom prst="roundRect">
            <a:avLst>
              <a:gd name="adj" fmla="val 14815"/>
            </a:avLst>
          </a:prstGeom>
          <a:solidFill>
            <a:srgbClr val="FDECEC"/>
          </a:solidFill>
          <a:ln w="9525">
            <a:solidFill>
              <a:srgbClr val="DC2626"/>
            </a:solidFill>
            <a:prstDash val="solid"/>
          </a:ln>
        </p:spPr>
      </p:sp>
      <p:sp>
        <p:nvSpPr>
          <p:cNvPr id="1916273290" name=""/>
          <p:cNvSpPr>
            <a:spLocks noGrp="1"/>
          </p:cNvSpPr>
          <p:nvPr/>
        </p:nvSpPr>
        <p:spPr bwMode="auto">
          <a:xfrm>
            <a:off x="1200150" y="5286375"/>
            <a:ext cx="9544050" cy="38099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050" b="1">
                <a:solidFill>
                  <a:srgbClr val="DC2626"/>
                </a:solidFill>
              </a:defRPr>
            </a:pPr>
            <a:r>
              <a:rPr sz="1050" b="1" u="sng">
                <a:solidFill>
                  <a:srgbClr val="DC2626"/>
                </a:solidFill>
                <a:hlinkClick r:id="rId3" tooltip=""/>
              </a:rPr>
              <a:t>OPEN ORIGINAL SOURCE  ↗   https://www.anthropic.com/news/investigating-incidents-cybersecurity-evals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1356646" name="Rectangle 7713821"/>
          <p:cNvSpPr>
            <a:spLocks noGrp="1"/>
          </p:cNvSpPr>
          <p:nvPr/>
        </p:nvSpPr>
        <p:spPr bwMode="auto">
          <a:xfrm>
            <a:off x="609599" y="323849"/>
            <a:ext cx="4000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WHY IT HAPPENS</a:t>
            </a:r>
            <a:endParaRPr/>
          </a:p>
        </p:txBody>
      </p:sp>
      <p:sp>
        <p:nvSpPr>
          <p:cNvPr id="1293779506" name="Rectangle 1381388514"/>
          <p:cNvSpPr>
            <a:spLocks noGrp="1"/>
          </p:cNvSpPr>
          <p:nvPr/>
        </p:nvSpPr>
        <p:spPr bwMode="auto">
          <a:xfrm>
            <a:off x="609599" y="590548"/>
            <a:ext cx="9334500" cy="59054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3150" b="1">
                <a:solidFill>
                  <a:srgbClr val="0B0F19"/>
                </a:solidFill>
              </a:defRPr>
            </a:pPr>
            <a:r>
              <a:rPr sz="3150" b="1">
                <a:solidFill>
                  <a:srgbClr val="0B0F19"/>
                </a:solidFill>
              </a:rPr>
              <a:t>Risk Emerges from the Whole System</a:t>
            </a:r>
            <a:endParaRPr/>
          </a:p>
        </p:txBody>
      </p:sp>
      <p:sp>
        <p:nvSpPr>
          <p:cNvPr id="470706952" name="Rectangle 181180573"/>
          <p:cNvSpPr>
            <a:spLocks noGrp="1"/>
          </p:cNvSpPr>
          <p:nvPr/>
        </p:nvSpPr>
        <p:spPr bwMode="auto">
          <a:xfrm>
            <a:off x="11106150" y="6286500"/>
            <a:ext cx="476249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buNone/>
              <a:defRPr sz="1000" b="0">
                <a:solidFill>
                  <a:srgbClr val="66708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00" b="0">
                <a:solidFill>
                  <a:srgbClr val="667085"/>
                </a:solidFill>
                <a:latin typeface="Times New Roman"/>
                <a:ea typeface="Times New Roman"/>
                <a:cs typeface="Times New Roman"/>
              </a:rPr>
              <a:t>13</a:t>
            </a:r>
            <a:endParaRPr/>
          </a:p>
        </p:txBody>
      </p:sp>
      <p:sp>
        <p:nvSpPr>
          <p:cNvPr id="157009982" name="security-canvas"/>
          <p:cNvSpPr>
            <a:spLocks noGrp="1"/>
          </p:cNvSpPr>
          <p:nvPr/>
        </p:nvSpPr>
        <p:spPr bwMode="auto">
          <a:xfrm>
            <a:off x="704849" y="1466848"/>
            <a:ext cx="10782299" cy="4514850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ln w="9525">
            <a:solidFill>
              <a:srgbClr val="D9E1EC"/>
            </a:solidFill>
            <a:prstDash val="solid"/>
          </a:ln>
        </p:spPr>
        <p:style>
          <a:lnRef idx="0"/>
          <a:fillRef idx="0"/>
          <a:effectRef idx="4"/>
          <a:fontRef idx="major"/>
        </p:style>
      </p:sp>
      <p:sp>
        <p:nvSpPr>
          <p:cNvPr id="1255263660" name="conditions-to-llm-arrow"/>
          <p:cNvSpPr>
            <a:spLocks noGrp="1"/>
          </p:cNvSpPr>
          <p:nvPr/>
        </p:nvSpPr>
        <p:spPr bwMode="auto">
          <a:xfrm>
            <a:off x="5762625" y="2952750"/>
            <a:ext cx="666750" cy="55245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60A5FA"/>
          </a:solidFill>
          <a:ln w="0">
            <a:solidFill>
              <a:srgbClr val="60A5FA"/>
            </a:solidFill>
            <a:prstDash val="solid"/>
          </a:ln>
        </p:spPr>
      </p:sp>
      <p:sp>
        <p:nvSpPr>
          <p:cNvPr id="1508032925" name="llm-to-verification-arrow"/>
          <p:cNvSpPr>
            <a:spLocks noGrp="1"/>
          </p:cNvSpPr>
          <p:nvPr/>
        </p:nvSpPr>
        <p:spPr bwMode="auto">
          <a:xfrm>
            <a:off x="5334000" y="4210050"/>
            <a:ext cx="552450" cy="28575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60A5FA"/>
          </a:solidFill>
          <a:ln w="0">
            <a:solidFill>
              <a:srgbClr val="60A5FA"/>
            </a:solidFill>
            <a:prstDash val="solid"/>
          </a:ln>
        </p:spPr>
      </p:sp>
      <p:sp>
        <p:nvSpPr>
          <p:cNvPr id="348467352" name="verification-to-action-arrow"/>
          <p:cNvSpPr>
            <a:spLocks noGrp="1"/>
          </p:cNvSpPr>
          <p:nvPr/>
        </p:nvSpPr>
        <p:spPr bwMode="auto">
          <a:xfrm>
            <a:off x="8115300" y="4210050"/>
            <a:ext cx="552450" cy="28575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DC2626"/>
          </a:solidFill>
          <a:ln w="0">
            <a:solidFill>
              <a:srgbClr val="DC2626"/>
            </a:solidFill>
            <a:prstDash val="solid"/>
          </a:ln>
        </p:spPr>
      </p:sp>
      <p:sp>
        <p:nvSpPr>
          <p:cNvPr id="1883627814" name="cause-1"/>
          <p:cNvSpPr>
            <a:spLocks noGrp="1"/>
          </p:cNvSpPr>
          <p:nvPr/>
        </p:nvSpPr>
        <p:spPr bwMode="auto">
          <a:xfrm>
            <a:off x="952500" y="2019300"/>
            <a:ext cx="2095500" cy="838200"/>
          </a:xfrm>
          <a:prstGeom prst="roundRect">
            <a:avLst>
              <a:gd name="adj" fmla="val 13636"/>
            </a:avLst>
          </a:prstGeom>
          <a:solidFill>
            <a:srgbClr val="FFF4DD"/>
          </a:solidFill>
          <a:ln w="19050">
            <a:solidFill>
              <a:srgbClr val="F59E0B"/>
            </a:solidFill>
            <a:prstDash val="solid"/>
          </a:ln>
        </p:spPr>
        <p:txBody>
          <a:bodyPr anchor="ctr"/>
          <a:lstStyle/>
          <a:p>
            <a:pPr algn="ctr">
              <a:defRPr sz="1450" b="1">
                <a:solidFill>
                  <a:srgbClr val="F59E0B"/>
                </a:solidFill>
              </a:defRPr>
            </a:pPr>
            <a:r>
              <a:rPr sz="1450" b="1">
                <a:solidFill>
                  <a:srgbClr val="F59E0B"/>
                </a:solidFill>
              </a:rPr>
              <a:t>Unclear Goal</a:t>
            </a:r>
            <a:endParaRPr/>
          </a:p>
        </p:txBody>
      </p:sp>
      <p:sp>
        <p:nvSpPr>
          <p:cNvPr id="1590236115" name=""/>
          <p:cNvSpPr>
            <a:spLocks noGrp="1"/>
          </p:cNvSpPr>
          <p:nvPr/>
        </p:nvSpPr>
        <p:spPr bwMode="auto">
          <a:xfrm>
            <a:off x="3067050" y="2209800"/>
            <a:ext cx="2667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100" b="1">
                <a:solidFill>
                  <a:srgbClr val="64748B"/>
                </a:solidFill>
              </a:defRPr>
            </a:pPr>
            <a:r>
              <a:rPr sz="2100" b="1">
                <a:solidFill>
                  <a:srgbClr val="64748B"/>
                </a:solidFill>
              </a:rPr>
              <a:t>+</a:t>
            </a:r>
            <a:endParaRPr/>
          </a:p>
        </p:txBody>
      </p:sp>
      <p:sp>
        <p:nvSpPr>
          <p:cNvPr id="829405440" name="cause-2"/>
          <p:cNvSpPr>
            <a:spLocks noGrp="1"/>
          </p:cNvSpPr>
          <p:nvPr/>
        </p:nvSpPr>
        <p:spPr bwMode="auto">
          <a:xfrm>
            <a:off x="3333750" y="2019300"/>
            <a:ext cx="2095500" cy="838200"/>
          </a:xfrm>
          <a:prstGeom prst="roundRect">
            <a:avLst>
              <a:gd name="adj" fmla="val 13636"/>
            </a:avLst>
          </a:prstGeom>
          <a:solidFill>
            <a:srgbClr val="FDECEC"/>
          </a:solidFill>
          <a:ln w="19050">
            <a:solidFill>
              <a:srgbClr val="DC2626"/>
            </a:solidFill>
            <a:prstDash val="solid"/>
          </a:ln>
        </p:spPr>
        <p:txBody>
          <a:bodyPr anchor="ctr"/>
          <a:lstStyle/>
          <a:p>
            <a:pPr algn="ctr">
              <a:defRPr sz="1450" b="1">
                <a:solidFill>
                  <a:srgbClr val="DC2626"/>
                </a:solidFill>
              </a:defRPr>
            </a:pPr>
            <a:r>
              <a:rPr sz="1450" b="1">
                <a:solidFill>
                  <a:srgbClr val="DC2626"/>
                </a:solidFill>
              </a:rPr>
              <a:t>Untrusted Input</a:t>
            </a:r>
            <a:endParaRPr/>
          </a:p>
        </p:txBody>
      </p:sp>
      <p:sp>
        <p:nvSpPr>
          <p:cNvPr id="1959787988" name=""/>
          <p:cNvSpPr>
            <a:spLocks noGrp="1"/>
          </p:cNvSpPr>
          <p:nvPr/>
        </p:nvSpPr>
        <p:spPr bwMode="auto">
          <a:xfrm>
            <a:off x="5448300" y="2209800"/>
            <a:ext cx="2667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100" b="1">
                <a:solidFill>
                  <a:srgbClr val="64748B"/>
                </a:solidFill>
              </a:defRPr>
            </a:pPr>
            <a:r>
              <a:rPr sz="2100" b="1">
                <a:solidFill>
                  <a:srgbClr val="64748B"/>
                </a:solidFill>
              </a:rPr>
              <a:t>+</a:t>
            </a:r>
            <a:endParaRPr/>
          </a:p>
        </p:txBody>
      </p:sp>
      <p:sp>
        <p:nvSpPr>
          <p:cNvPr id="1497311956" name="cause-3"/>
          <p:cNvSpPr>
            <a:spLocks noGrp="1"/>
          </p:cNvSpPr>
          <p:nvPr/>
        </p:nvSpPr>
        <p:spPr bwMode="auto">
          <a:xfrm>
            <a:off x="5715000" y="2019300"/>
            <a:ext cx="2095500" cy="838200"/>
          </a:xfrm>
          <a:prstGeom prst="roundRect">
            <a:avLst>
              <a:gd name="adj" fmla="val 13636"/>
            </a:avLst>
          </a:prstGeom>
          <a:solidFill>
            <a:srgbClr val="FFF4DD"/>
          </a:solidFill>
          <a:ln w="19050">
            <a:solidFill>
              <a:srgbClr val="F59E0B"/>
            </a:solidFill>
            <a:prstDash val="solid"/>
          </a:ln>
        </p:spPr>
        <p:txBody>
          <a:bodyPr anchor="ctr"/>
          <a:lstStyle/>
          <a:p>
            <a:pPr algn="ctr">
              <a:defRPr sz="1450" b="1">
                <a:solidFill>
                  <a:srgbClr val="F59E0B"/>
                </a:solidFill>
              </a:defRPr>
            </a:pPr>
            <a:r>
              <a:rPr sz="1450" b="1">
                <a:solidFill>
                  <a:srgbClr val="F59E0B"/>
                </a:solidFill>
              </a:rPr>
              <a:t>Excessive Permission</a:t>
            </a:r>
            <a:endParaRPr/>
          </a:p>
        </p:txBody>
      </p:sp>
      <p:sp>
        <p:nvSpPr>
          <p:cNvPr id="1094267424" name=""/>
          <p:cNvSpPr>
            <a:spLocks noGrp="1"/>
          </p:cNvSpPr>
          <p:nvPr/>
        </p:nvSpPr>
        <p:spPr bwMode="auto">
          <a:xfrm>
            <a:off x="7829550" y="2209800"/>
            <a:ext cx="2667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100" b="1">
                <a:solidFill>
                  <a:srgbClr val="64748B"/>
                </a:solidFill>
              </a:defRPr>
            </a:pPr>
            <a:r>
              <a:rPr sz="2100" b="1">
                <a:solidFill>
                  <a:srgbClr val="64748B"/>
                </a:solidFill>
              </a:rPr>
              <a:t>+</a:t>
            </a:r>
            <a:endParaRPr/>
          </a:p>
        </p:txBody>
      </p:sp>
      <p:sp>
        <p:nvSpPr>
          <p:cNvPr id="345531098" name="cause-4"/>
          <p:cNvSpPr>
            <a:spLocks noGrp="1"/>
          </p:cNvSpPr>
          <p:nvPr/>
        </p:nvSpPr>
        <p:spPr bwMode="auto">
          <a:xfrm>
            <a:off x="8096250" y="2019300"/>
            <a:ext cx="2095500" cy="838200"/>
          </a:xfrm>
          <a:prstGeom prst="roundRect">
            <a:avLst>
              <a:gd name="adj" fmla="val 13636"/>
            </a:avLst>
          </a:prstGeom>
          <a:solidFill>
            <a:srgbClr val="FDECEC"/>
          </a:solidFill>
          <a:ln w="19050">
            <a:solidFill>
              <a:srgbClr val="DC2626"/>
            </a:solidFill>
            <a:prstDash val="solid"/>
          </a:ln>
        </p:spPr>
        <p:txBody>
          <a:bodyPr anchor="ctr"/>
          <a:lstStyle/>
          <a:p>
            <a:pPr algn="ctr">
              <a:defRPr sz="1450" b="1">
                <a:solidFill>
                  <a:srgbClr val="DC2626"/>
                </a:solidFill>
              </a:defRPr>
            </a:pPr>
            <a:r>
              <a:rPr sz="1450" b="1">
                <a:solidFill>
                  <a:srgbClr val="DC2626"/>
                </a:solidFill>
              </a:rPr>
              <a:t>Weak Isolation</a:t>
            </a:r>
            <a:endParaRPr/>
          </a:p>
        </p:txBody>
      </p:sp>
      <p:sp>
        <p:nvSpPr>
          <p:cNvPr id="1119328058" name=""/>
          <p:cNvSpPr>
            <a:spLocks noGrp="1"/>
          </p:cNvSpPr>
          <p:nvPr/>
        </p:nvSpPr>
        <p:spPr bwMode="auto">
          <a:xfrm>
            <a:off x="4857750" y="3086100"/>
            <a:ext cx="2476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50" b="1">
                <a:solidFill>
                  <a:srgbClr val="64748B"/>
                </a:solidFill>
              </a:defRPr>
            </a:pPr>
            <a:r>
              <a:rPr sz="1050" b="1">
                <a:solidFill>
                  <a:srgbClr val="64748B"/>
                </a:solidFill>
              </a:rPr>
              <a:t>COMBINED CONDITIONS</a:t>
            </a:r>
            <a:endParaRPr/>
          </a:p>
        </p:txBody>
      </p:sp>
      <p:sp>
        <p:nvSpPr>
          <p:cNvPr id="935468604" name="cause-llm"/>
          <p:cNvSpPr>
            <a:spLocks noGrp="1"/>
          </p:cNvSpPr>
          <p:nvPr/>
        </p:nvSpPr>
        <p:spPr bwMode="auto">
          <a:xfrm>
            <a:off x="3524250" y="3848100"/>
            <a:ext cx="1809750" cy="1009650"/>
          </a:xfrm>
          <a:prstGeom prst="roundRect">
            <a:avLst>
              <a:gd name="adj" fmla="val 11321"/>
            </a:avLst>
          </a:prstGeom>
          <a:solidFill>
            <a:srgbClr val="0B132B"/>
          </a:solidFill>
          <a:ln w="28575">
            <a:solidFill>
              <a:srgbClr val="2563EB"/>
            </a:solidFill>
            <a:prstDash val="solid"/>
          </a:ln>
        </p:spPr>
        <p:txBody>
          <a:bodyPr anchor="ctr"/>
          <a:lstStyle/>
          <a:p>
            <a:pPr algn="ctr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LLM</a:t>
            </a:r>
            <a:endParaRPr/>
          </a:p>
        </p:txBody>
      </p:sp>
      <p:sp>
        <p:nvSpPr>
          <p:cNvPr id="1229096483" name="cause-no-verification"/>
          <p:cNvSpPr>
            <a:spLocks noGrp="1"/>
          </p:cNvSpPr>
          <p:nvPr/>
        </p:nvSpPr>
        <p:spPr bwMode="auto">
          <a:xfrm>
            <a:off x="5905500" y="3848100"/>
            <a:ext cx="2190750" cy="1009650"/>
          </a:xfrm>
          <a:prstGeom prst="roundRect">
            <a:avLst>
              <a:gd name="adj" fmla="val 11321"/>
            </a:avLst>
          </a:prstGeom>
          <a:solidFill>
            <a:srgbClr val="FDECEC"/>
          </a:solidFill>
          <a:ln w="19050">
            <a:solidFill>
              <a:srgbClr val="DC2626"/>
            </a:solidFill>
            <a:prstDash val="solid"/>
          </a:ln>
        </p:spPr>
        <p:txBody>
          <a:bodyPr anchor="ctr"/>
          <a:lstStyle/>
          <a:p>
            <a:pPr algn="ctr">
              <a:defRPr sz="1600" b="1">
                <a:solidFill>
                  <a:srgbClr val="DC2626"/>
                </a:solidFill>
              </a:defRPr>
            </a:pPr>
            <a:r>
              <a:rPr sz="1600" b="1">
                <a:solidFill>
                  <a:srgbClr val="DC2626"/>
                </a:solidFill>
              </a:rPr>
              <a:t>No Verification</a:t>
            </a:r>
            <a:endParaRPr/>
          </a:p>
        </p:txBody>
      </p:sp>
      <p:sp>
        <p:nvSpPr>
          <p:cNvPr id="1082223974" name="cause-risky-action"/>
          <p:cNvSpPr>
            <a:spLocks noGrp="1"/>
          </p:cNvSpPr>
          <p:nvPr/>
        </p:nvSpPr>
        <p:spPr bwMode="auto">
          <a:xfrm>
            <a:off x="8686800" y="3848100"/>
            <a:ext cx="2095500" cy="1009650"/>
          </a:xfrm>
          <a:prstGeom prst="roundRect">
            <a:avLst>
              <a:gd name="adj" fmla="val 11321"/>
            </a:avLst>
          </a:prstGeom>
          <a:solidFill>
            <a:srgbClr val="FDECEC"/>
          </a:solidFill>
          <a:ln w="19050">
            <a:solidFill>
              <a:srgbClr val="DC2626"/>
            </a:solidFill>
            <a:prstDash val="solid"/>
          </a:ln>
        </p:spPr>
        <p:txBody>
          <a:bodyPr anchor="ctr"/>
          <a:lstStyle/>
          <a:p>
            <a:pPr algn="ctr">
              <a:defRPr sz="1650" b="1">
                <a:solidFill>
                  <a:srgbClr val="DC2626"/>
                </a:solidFill>
              </a:defRPr>
            </a:pPr>
            <a:r>
              <a:rPr sz="1650" b="1">
                <a:solidFill>
                  <a:srgbClr val="DC2626"/>
                </a:solidFill>
              </a:rPr>
              <a:t>Risky Action</a:t>
            </a:r>
            <a:endParaRPr/>
          </a:p>
        </p:txBody>
      </p:sp>
      <p:sp>
        <p:nvSpPr>
          <p:cNvPr id="295116843" name=""/>
          <p:cNvSpPr>
            <a:spLocks noGrp="1"/>
          </p:cNvSpPr>
          <p:nvPr/>
        </p:nvSpPr>
        <p:spPr bwMode="auto">
          <a:xfrm>
            <a:off x="1066800" y="5219700"/>
            <a:ext cx="100584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150" b="1">
                <a:solidFill>
                  <a:srgbClr val="2563EB"/>
                </a:solidFill>
              </a:defRPr>
            </a:pPr>
            <a:r>
              <a:rPr sz="1150" b="1">
                <a:solidFill>
                  <a:srgbClr val="2563EB"/>
                </a:solidFill>
              </a:rPr>
              <a:t>Unclear Goal + Untrusted Input + Excessive Permission + Weak Isolation → LLM → No Verification → Risky Action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59426776" name="Rectangle 7713821"/>
          <p:cNvSpPr>
            <a:spLocks noGrp="1"/>
          </p:cNvSpPr>
          <p:nvPr/>
        </p:nvSpPr>
        <p:spPr bwMode="auto">
          <a:xfrm>
            <a:off x="609599" y="323849"/>
            <a:ext cx="4000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DEFENSE IN DEPTH</a:t>
            </a:r>
            <a:endParaRPr/>
          </a:p>
        </p:txBody>
      </p:sp>
      <p:sp>
        <p:nvSpPr>
          <p:cNvPr id="1967669773" name="Rectangle 1381388514"/>
          <p:cNvSpPr>
            <a:spLocks noGrp="1"/>
          </p:cNvSpPr>
          <p:nvPr/>
        </p:nvSpPr>
        <p:spPr bwMode="auto">
          <a:xfrm>
            <a:off x="609599" y="590548"/>
            <a:ext cx="9334500" cy="59054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3150" b="1">
                <a:solidFill>
                  <a:srgbClr val="0B0F19"/>
                </a:solidFill>
              </a:defRPr>
            </a:pPr>
            <a:r>
              <a:rPr sz="3150" b="1">
                <a:solidFill>
                  <a:srgbClr val="0B0F19"/>
                </a:solidFill>
              </a:rPr>
              <a:t>Controls Must Match the Execution Path</a:t>
            </a:r>
            <a:endParaRPr/>
          </a:p>
        </p:txBody>
      </p:sp>
      <p:sp>
        <p:nvSpPr>
          <p:cNvPr id="915757134" name="Rectangle 181180573"/>
          <p:cNvSpPr>
            <a:spLocks noGrp="1"/>
          </p:cNvSpPr>
          <p:nvPr/>
        </p:nvSpPr>
        <p:spPr bwMode="auto">
          <a:xfrm>
            <a:off x="11106150" y="6286500"/>
            <a:ext cx="476249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buNone/>
              <a:defRPr sz="1000" b="0">
                <a:solidFill>
                  <a:srgbClr val="66708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00" b="0">
                <a:solidFill>
                  <a:srgbClr val="667085"/>
                </a:solidFill>
                <a:latin typeface="Times New Roman"/>
                <a:ea typeface="Times New Roman"/>
                <a:cs typeface="Times New Roman"/>
              </a:rPr>
              <a:t>14</a:t>
            </a:r>
            <a:endParaRPr/>
          </a:p>
        </p:txBody>
      </p:sp>
      <p:sp>
        <p:nvSpPr>
          <p:cNvPr id="510491637" name="security-canvas"/>
          <p:cNvSpPr>
            <a:spLocks noGrp="1"/>
          </p:cNvSpPr>
          <p:nvPr/>
        </p:nvSpPr>
        <p:spPr bwMode="auto">
          <a:xfrm>
            <a:off x="704849" y="1466848"/>
            <a:ext cx="10782299" cy="4514850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ln w="9525">
            <a:solidFill>
              <a:srgbClr val="D9E1EC"/>
            </a:solidFill>
            <a:prstDash val="solid"/>
          </a:ln>
        </p:spPr>
        <p:style>
          <a:lnRef idx="0"/>
          <a:fillRef idx="0"/>
          <a:effectRef idx="4"/>
          <a:fontRef idx="major"/>
        </p:style>
      </p:sp>
      <p:sp>
        <p:nvSpPr>
          <p:cNvPr id="77450774" name="defense-flow-1"/>
          <p:cNvSpPr>
            <a:spLocks noGrp="1"/>
          </p:cNvSpPr>
          <p:nvPr/>
        </p:nvSpPr>
        <p:spPr bwMode="auto">
          <a:xfrm>
            <a:off x="2266950" y="3486150"/>
            <a:ext cx="419100" cy="24765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60A5FA"/>
          </a:solidFill>
          <a:ln w="0">
            <a:solidFill>
              <a:srgbClr val="60A5FA"/>
            </a:solidFill>
            <a:prstDash val="solid"/>
          </a:ln>
        </p:spPr>
      </p:sp>
      <p:sp>
        <p:nvSpPr>
          <p:cNvPr id="1859436519" name="defense-flow-2"/>
          <p:cNvSpPr>
            <a:spLocks noGrp="1"/>
          </p:cNvSpPr>
          <p:nvPr/>
        </p:nvSpPr>
        <p:spPr bwMode="auto">
          <a:xfrm>
            <a:off x="4171950" y="3486150"/>
            <a:ext cx="419100" cy="24765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60A5FA"/>
          </a:solidFill>
          <a:ln w="0">
            <a:solidFill>
              <a:srgbClr val="60A5FA"/>
            </a:solidFill>
            <a:prstDash val="solid"/>
          </a:ln>
        </p:spPr>
      </p:sp>
      <p:sp>
        <p:nvSpPr>
          <p:cNvPr id="1956330405" name="defense-flow-3"/>
          <p:cNvSpPr>
            <a:spLocks noGrp="1"/>
          </p:cNvSpPr>
          <p:nvPr/>
        </p:nvSpPr>
        <p:spPr bwMode="auto">
          <a:xfrm>
            <a:off x="5791200" y="3486150"/>
            <a:ext cx="419100" cy="24765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60A5FA"/>
          </a:solidFill>
          <a:ln w="0">
            <a:solidFill>
              <a:srgbClr val="60A5FA"/>
            </a:solidFill>
            <a:prstDash val="solid"/>
          </a:ln>
        </p:spPr>
      </p:sp>
      <p:sp>
        <p:nvSpPr>
          <p:cNvPr id="1619587222" name="defense-flow-4"/>
          <p:cNvSpPr>
            <a:spLocks noGrp="1"/>
          </p:cNvSpPr>
          <p:nvPr/>
        </p:nvSpPr>
        <p:spPr bwMode="auto">
          <a:xfrm>
            <a:off x="7981950" y="3486150"/>
            <a:ext cx="419100" cy="24765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DC2626"/>
          </a:solidFill>
          <a:ln w="0">
            <a:solidFill>
              <a:srgbClr val="DC2626"/>
            </a:solidFill>
            <a:prstDash val="solid"/>
          </a:ln>
        </p:spPr>
      </p:sp>
      <p:sp>
        <p:nvSpPr>
          <p:cNvPr id="1473883253" name="defense-flow-5"/>
          <p:cNvSpPr>
            <a:spLocks noGrp="1"/>
          </p:cNvSpPr>
          <p:nvPr/>
        </p:nvSpPr>
        <p:spPr bwMode="auto">
          <a:xfrm>
            <a:off x="9886950" y="3486150"/>
            <a:ext cx="419100" cy="24765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DC2626"/>
          </a:solidFill>
          <a:ln w="0">
            <a:solidFill>
              <a:srgbClr val="DC2626"/>
            </a:solidFill>
            <a:prstDash val="solid"/>
          </a:ln>
        </p:spPr>
      </p:sp>
      <p:sp>
        <p:nvSpPr>
          <p:cNvPr id="1864003171" name="kill-switch-stop-arrow"/>
          <p:cNvSpPr>
            <a:spLocks noGrp="1"/>
          </p:cNvSpPr>
          <p:nvPr/>
        </p:nvSpPr>
        <p:spPr bwMode="auto">
          <a:xfrm>
            <a:off x="10496550" y="2647949"/>
            <a:ext cx="438149" cy="4572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DC2626"/>
          </a:solidFill>
          <a:ln w="0">
            <a:solidFill>
              <a:srgbClr val="DC2626"/>
            </a:solidFill>
            <a:prstDash val="solid"/>
          </a:ln>
        </p:spPr>
      </p:sp>
      <p:sp>
        <p:nvSpPr>
          <p:cNvPr id="607705733" name="defense-input"/>
          <p:cNvSpPr>
            <a:spLocks noGrp="1"/>
          </p:cNvSpPr>
          <p:nvPr/>
        </p:nvSpPr>
        <p:spPr bwMode="auto">
          <a:xfrm>
            <a:off x="952500" y="3162300"/>
            <a:ext cx="1314450" cy="9144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9050">
            <a:solidFill>
              <a:srgbClr val="64748B"/>
            </a:solidFill>
            <a:prstDash val="solid"/>
          </a:ln>
        </p:spPr>
        <p:txBody>
          <a:bodyPr anchor="ctr"/>
          <a:lstStyle/>
          <a:p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Input</a:t>
            </a:r>
            <a:endParaRPr/>
          </a:p>
        </p:txBody>
      </p:sp>
      <p:sp>
        <p:nvSpPr>
          <p:cNvPr id="1205137017" name="defense-input-filtering"/>
          <p:cNvSpPr>
            <a:spLocks noGrp="1"/>
          </p:cNvSpPr>
          <p:nvPr/>
        </p:nvSpPr>
        <p:spPr bwMode="auto">
          <a:xfrm>
            <a:off x="2686050" y="3162300"/>
            <a:ext cx="1485900" cy="914400"/>
          </a:xfrm>
          <a:prstGeom prst="roundRect">
            <a:avLst>
              <a:gd name="adj" fmla="val 12500"/>
            </a:avLst>
          </a:prstGeom>
          <a:solidFill>
            <a:srgbClr val="EAF2FF"/>
          </a:solidFill>
          <a:ln w="19050">
            <a:solidFill>
              <a:srgbClr val="2563EB"/>
            </a:solidFill>
            <a:prstDash val="solid"/>
          </a:ln>
        </p:spPr>
        <p:txBody>
          <a:bodyPr anchor="ctr"/>
          <a:lstStyle/>
          <a:p>
            <a:pPr algn="ctr">
              <a:defRPr sz="1450" b="1">
                <a:solidFill>
                  <a:srgbClr val="2563EB"/>
                </a:solidFill>
              </a:defRPr>
            </a:pPr>
            <a:r>
              <a:rPr sz="1450" b="1">
                <a:solidFill>
                  <a:srgbClr val="2563EB"/>
                </a:solidFill>
              </a:rPr>
              <a:t>Input</a:t>
            </a:r>
            <a:endParaRPr/>
          </a:p>
          <a:p>
            <a:pPr algn="ctr">
              <a:defRPr sz="1450" b="1">
                <a:solidFill>
                  <a:srgbClr val="2563EB"/>
                </a:solidFill>
              </a:defRPr>
            </a:pPr>
            <a:r>
              <a:rPr sz="1450" b="1">
                <a:solidFill>
                  <a:srgbClr val="2563EB"/>
                </a:solidFill>
              </a:rPr>
              <a:t>Filtering</a:t>
            </a:r>
            <a:endParaRPr/>
          </a:p>
        </p:txBody>
      </p:sp>
      <p:sp>
        <p:nvSpPr>
          <p:cNvPr id="1725691357" name="defense-llm"/>
          <p:cNvSpPr>
            <a:spLocks noGrp="1"/>
          </p:cNvSpPr>
          <p:nvPr/>
        </p:nvSpPr>
        <p:spPr bwMode="auto">
          <a:xfrm>
            <a:off x="4591050" y="3162300"/>
            <a:ext cx="1200150" cy="914400"/>
          </a:xfrm>
          <a:prstGeom prst="roundRect">
            <a:avLst>
              <a:gd name="adj" fmla="val 12500"/>
            </a:avLst>
          </a:prstGeom>
          <a:solidFill>
            <a:srgbClr val="0B132B"/>
          </a:solidFill>
          <a:ln w="28575">
            <a:solidFill>
              <a:srgbClr val="2563EB"/>
            </a:solidFill>
            <a:prstDash val="solid"/>
          </a:ln>
        </p:spPr>
        <p:txBody>
          <a:bodyPr anchor="ctr"/>
          <a:lstStyle/>
          <a:p>
            <a:pPr algn="ctr"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LLM</a:t>
            </a:r>
            <a:endParaRPr/>
          </a:p>
        </p:txBody>
      </p:sp>
      <p:sp>
        <p:nvSpPr>
          <p:cNvPr id="541040783" name="defense-permission-boundary"/>
          <p:cNvSpPr>
            <a:spLocks noGrp="1"/>
          </p:cNvSpPr>
          <p:nvPr/>
        </p:nvSpPr>
        <p:spPr bwMode="auto">
          <a:xfrm>
            <a:off x="6210300" y="3162300"/>
            <a:ext cx="1771650" cy="914400"/>
          </a:xfrm>
          <a:prstGeom prst="roundRect">
            <a:avLst>
              <a:gd name="adj" fmla="val 12500"/>
            </a:avLst>
          </a:prstGeom>
          <a:solidFill>
            <a:srgbClr val="EAF2FF"/>
          </a:solidFill>
          <a:ln w="19050">
            <a:solidFill>
              <a:srgbClr val="2563EB"/>
            </a:solidFill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Least Privilege</a:t>
            </a:r>
            <a:endParaRPr/>
          </a:p>
          <a:p>
            <a:pPr algn="ctr">
              <a:defRPr sz="1350" b="1">
                <a:solidFill>
                  <a:srgbClr val="2563EB"/>
                </a:solidFill>
              </a:defRPr>
            </a:pPr>
            <a:r>
              <a:rPr sz="1350" b="1">
                <a:solidFill>
                  <a:srgbClr val="2563EB"/>
                </a:solidFill>
              </a:rPr>
              <a:t>+ Sandbox</a:t>
            </a:r>
            <a:endParaRPr/>
          </a:p>
        </p:txBody>
      </p:sp>
      <p:sp>
        <p:nvSpPr>
          <p:cNvPr id="2077256307" name="defense-human-approval"/>
          <p:cNvSpPr>
            <a:spLocks noGrp="1"/>
          </p:cNvSpPr>
          <p:nvPr/>
        </p:nvSpPr>
        <p:spPr bwMode="auto">
          <a:xfrm>
            <a:off x="8401050" y="3162300"/>
            <a:ext cx="1485900" cy="914400"/>
          </a:xfrm>
          <a:prstGeom prst="roundRect">
            <a:avLst>
              <a:gd name="adj" fmla="val 12500"/>
            </a:avLst>
          </a:prstGeom>
          <a:solidFill>
            <a:srgbClr val="FFF4DD"/>
          </a:solidFill>
          <a:ln w="19050">
            <a:solidFill>
              <a:srgbClr val="F59E0B"/>
            </a:solidFill>
            <a:prstDash val="solid"/>
          </a:ln>
        </p:spPr>
        <p:txBody>
          <a:bodyPr anchor="ctr"/>
          <a:lstStyle/>
          <a:p>
            <a:pPr algn="ctr">
              <a:defRPr sz="1450" b="1">
                <a:solidFill>
                  <a:srgbClr val="F59E0B"/>
                </a:solidFill>
              </a:defRPr>
            </a:pPr>
            <a:r>
              <a:rPr sz="1450" b="1">
                <a:solidFill>
                  <a:srgbClr val="F59E0B"/>
                </a:solidFill>
              </a:rPr>
              <a:t>Human</a:t>
            </a:r>
            <a:endParaRPr/>
          </a:p>
          <a:p>
            <a:pPr algn="ctr">
              <a:defRPr sz="1450" b="1">
                <a:solidFill>
                  <a:srgbClr val="F59E0B"/>
                </a:solidFill>
              </a:defRPr>
            </a:pPr>
            <a:r>
              <a:rPr sz="1450" b="1">
                <a:solidFill>
                  <a:srgbClr val="F59E0B"/>
                </a:solidFill>
              </a:rPr>
              <a:t>Approval</a:t>
            </a:r>
            <a:endParaRPr/>
          </a:p>
        </p:txBody>
      </p:sp>
      <p:sp>
        <p:nvSpPr>
          <p:cNvPr id="488498085" name="defense-action"/>
          <p:cNvSpPr>
            <a:spLocks noGrp="1"/>
          </p:cNvSpPr>
          <p:nvPr/>
        </p:nvSpPr>
        <p:spPr bwMode="auto">
          <a:xfrm>
            <a:off x="10306049" y="3162300"/>
            <a:ext cx="990600" cy="914400"/>
          </a:xfrm>
          <a:prstGeom prst="roundRect">
            <a:avLst>
              <a:gd name="adj" fmla="val 12500"/>
            </a:avLst>
          </a:prstGeom>
          <a:solidFill>
            <a:srgbClr val="E8F8F2"/>
          </a:solidFill>
          <a:ln w="19050">
            <a:solidFill>
              <a:srgbClr val="10B981"/>
            </a:solidFill>
            <a:prstDash val="solid"/>
          </a:ln>
        </p:spPr>
        <p:txBody>
          <a:bodyPr anchor="ctr"/>
          <a:lstStyle/>
          <a:p>
            <a:pPr algn="ctr">
              <a:defRPr sz="1450" b="1">
                <a:solidFill>
                  <a:srgbClr val="10B981"/>
                </a:solidFill>
              </a:defRPr>
            </a:pPr>
            <a:r>
              <a:rPr sz="1450" b="1">
                <a:solidFill>
                  <a:srgbClr val="10B981"/>
                </a:solidFill>
              </a:rPr>
              <a:t>Action</a:t>
            </a:r>
            <a:endParaRPr/>
          </a:p>
        </p:txBody>
      </p:sp>
      <p:sp>
        <p:nvSpPr>
          <p:cNvPr id="1098452487" name="defense-monitoring"/>
          <p:cNvSpPr>
            <a:spLocks noGrp="1"/>
          </p:cNvSpPr>
          <p:nvPr/>
        </p:nvSpPr>
        <p:spPr bwMode="auto">
          <a:xfrm>
            <a:off x="952500" y="4629150"/>
            <a:ext cx="10344150" cy="685800"/>
          </a:xfrm>
          <a:prstGeom prst="roundRect">
            <a:avLst>
              <a:gd name="adj" fmla="val 16667"/>
            </a:avLst>
          </a:prstGeom>
          <a:solidFill>
            <a:srgbClr val="EAF2FF"/>
          </a:solidFill>
          <a:ln w="14288">
            <a:solidFill>
              <a:srgbClr val="60A5FA"/>
            </a:solidFill>
            <a:prstDash val="solid"/>
          </a:ln>
        </p:spPr>
      </p:sp>
      <p:sp>
        <p:nvSpPr>
          <p:cNvPr id="788481466" name=""/>
          <p:cNvSpPr>
            <a:spLocks noGrp="1"/>
          </p:cNvSpPr>
          <p:nvPr/>
        </p:nvSpPr>
        <p:spPr bwMode="auto">
          <a:xfrm>
            <a:off x="1181099" y="4791075"/>
            <a:ext cx="98869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450" b="1">
                <a:solidFill>
                  <a:srgbClr val="2563EB"/>
                </a:solidFill>
              </a:defRPr>
            </a:pPr>
            <a:r>
              <a:rPr sz="1450" b="1">
                <a:solidFill>
                  <a:srgbClr val="2563EB"/>
                </a:solidFill>
              </a:rPr>
              <a:t>MONITORING · Observe the entire process</a:t>
            </a:r>
            <a:endParaRPr/>
          </a:p>
        </p:txBody>
      </p:sp>
      <p:sp>
        <p:nvSpPr>
          <p:cNvPr id="1341076761" name="defense-kill-switch"/>
          <p:cNvSpPr>
            <a:spLocks noGrp="1"/>
          </p:cNvSpPr>
          <p:nvPr/>
        </p:nvSpPr>
        <p:spPr bwMode="auto">
          <a:xfrm>
            <a:off x="9048750" y="1809750"/>
            <a:ext cx="2247900" cy="800100"/>
          </a:xfrm>
          <a:prstGeom prst="roundRect">
            <a:avLst>
              <a:gd name="adj" fmla="val 14286"/>
            </a:avLst>
          </a:prstGeom>
          <a:solidFill>
            <a:srgbClr val="FDECEC"/>
          </a:solidFill>
          <a:ln w="19050">
            <a:solidFill>
              <a:srgbClr val="DC2626"/>
            </a:solidFill>
            <a:prstDash val="solid"/>
          </a:ln>
        </p:spPr>
        <p:txBody>
          <a:bodyPr anchor="ctr"/>
          <a:lstStyle/>
          <a:p>
            <a:pPr algn="ctr">
              <a:defRPr sz="1450" b="1">
                <a:solidFill>
                  <a:srgbClr val="DC2626"/>
                </a:solidFill>
              </a:defRPr>
            </a:pPr>
            <a:r>
              <a:rPr sz="1450" b="1">
                <a:solidFill>
                  <a:srgbClr val="DC2626"/>
                </a:solidFill>
              </a:rPr>
              <a:t>KILL SWITCH</a:t>
            </a:r>
            <a:endParaRPr/>
          </a:p>
          <a:p>
            <a:pPr algn="ctr">
              <a:defRPr sz="1450" b="1">
                <a:solidFill>
                  <a:srgbClr val="DC2626"/>
                </a:solidFill>
              </a:defRPr>
            </a:pPr>
            <a:r>
              <a:rPr sz="1450" b="1">
                <a:solidFill>
                  <a:srgbClr val="DC2626"/>
                </a:solidFill>
              </a:rPr>
              <a:t>Emergency Stop</a:t>
            </a:r>
            <a:endParaRPr/>
          </a:p>
        </p:txBody>
      </p:sp>
      <p:sp>
        <p:nvSpPr>
          <p:cNvPr id="1721462242" name=""/>
          <p:cNvSpPr>
            <a:spLocks noGrp="1"/>
          </p:cNvSpPr>
          <p:nvPr/>
        </p:nvSpPr>
        <p:spPr bwMode="auto">
          <a:xfrm>
            <a:off x="2590800" y="2724150"/>
            <a:ext cx="1676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INPUT STAGE</a:t>
            </a:r>
            <a:endParaRPr/>
          </a:p>
        </p:txBody>
      </p:sp>
      <p:sp>
        <p:nvSpPr>
          <p:cNvPr id="1514168244" name=""/>
          <p:cNvSpPr>
            <a:spLocks noGrp="1"/>
          </p:cNvSpPr>
          <p:nvPr/>
        </p:nvSpPr>
        <p:spPr bwMode="auto">
          <a:xfrm>
            <a:off x="6115050" y="2724150"/>
            <a:ext cx="19621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PERMISSION BOUNDARY</a:t>
            </a:r>
            <a:endParaRPr/>
          </a:p>
        </p:txBody>
      </p:sp>
      <p:sp>
        <p:nvSpPr>
          <p:cNvPr id="1548654039" name=""/>
          <p:cNvSpPr>
            <a:spLocks noGrp="1"/>
          </p:cNvSpPr>
          <p:nvPr/>
        </p:nvSpPr>
        <p:spPr bwMode="auto">
          <a:xfrm>
            <a:off x="8305800" y="2724150"/>
            <a:ext cx="1676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50" b="1">
                <a:solidFill>
                  <a:srgbClr val="F59E0B"/>
                </a:solidFill>
              </a:defRPr>
            </a:pPr>
            <a:r>
              <a:rPr sz="1050" b="1">
                <a:solidFill>
                  <a:srgbClr val="F59E0B"/>
                </a:solidFill>
              </a:rPr>
              <a:t>BEFORE EXECUTION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37940634" name="Rectangle 7713821"/>
          <p:cNvSpPr>
            <a:spLocks noGrp="1"/>
          </p:cNvSpPr>
          <p:nvPr/>
        </p:nvSpPr>
        <p:spPr bwMode="auto">
          <a:xfrm>
            <a:off x="609599" y="323849"/>
            <a:ext cx="4000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FINAL MESSAGE</a:t>
            </a:r>
            <a:endParaRPr/>
          </a:p>
        </p:txBody>
      </p:sp>
      <p:sp>
        <p:nvSpPr>
          <p:cNvPr id="1233637069" name="Rectangle 1381388514"/>
          <p:cNvSpPr>
            <a:spLocks noGrp="1"/>
          </p:cNvSpPr>
          <p:nvPr/>
        </p:nvSpPr>
        <p:spPr bwMode="auto">
          <a:xfrm>
            <a:off x="609599" y="590548"/>
            <a:ext cx="9334500" cy="59054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3150" b="1">
                <a:solidFill>
                  <a:srgbClr val="0B0F19"/>
                </a:solidFill>
              </a:defRPr>
            </a:pPr>
            <a:r>
              <a:rPr sz="3150" b="1">
                <a:solidFill>
                  <a:srgbClr val="0B0F19"/>
                </a:solidFill>
              </a:rPr>
              <a:t>Trust the Controls</a:t>
            </a:r>
            <a:endParaRPr/>
          </a:p>
        </p:txBody>
      </p:sp>
      <p:sp>
        <p:nvSpPr>
          <p:cNvPr id="489011531" name="Rectangle 181180573"/>
          <p:cNvSpPr>
            <a:spLocks noGrp="1"/>
          </p:cNvSpPr>
          <p:nvPr/>
        </p:nvSpPr>
        <p:spPr bwMode="auto">
          <a:xfrm>
            <a:off x="11106150" y="6286500"/>
            <a:ext cx="476249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buNone/>
              <a:defRPr sz="1000" b="0">
                <a:solidFill>
                  <a:srgbClr val="66708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00" b="0">
                <a:solidFill>
                  <a:srgbClr val="667085"/>
                </a:solidFill>
                <a:latin typeface="Times New Roman"/>
                <a:ea typeface="Times New Roman"/>
                <a:cs typeface="Times New Roman"/>
              </a:rPr>
              <a:t>15</a:t>
            </a:r>
            <a:endParaRPr/>
          </a:p>
        </p:txBody>
      </p:sp>
      <p:sp>
        <p:nvSpPr>
          <p:cNvPr id="428573467" name="security-canvas"/>
          <p:cNvSpPr>
            <a:spLocks noGrp="1"/>
          </p:cNvSpPr>
          <p:nvPr/>
        </p:nvSpPr>
        <p:spPr bwMode="auto">
          <a:xfrm>
            <a:off x="704849" y="1466848"/>
            <a:ext cx="10782299" cy="4514850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ln w="9525">
            <a:solidFill>
              <a:srgbClr val="D9E1EC"/>
            </a:solidFill>
            <a:prstDash val="solid"/>
          </a:ln>
        </p:spPr>
        <p:style>
          <a:lnRef idx="0"/>
          <a:fillRef idx="0"/>
          <a:effectRef idx="4"/>
          <a:fontRef idx="major"/>
        </p:style>
      </p:sp>
      <p:sp>
        <p:nvSpPr>
          <p:cNvPr id="2070686605" name=""/>
          <p:cNvSpPr>
            <a:spLocks noGrp="1"/>
          </p:cNvSpPr>
          <p:nvPr/>
        </p:nvSpPr>
        <p:spPr bwMode="auto">
          <a:xfrm>
            <a:off x="1428750" y="1676399"/>
            <a:ext cx="9334500" cy="112394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2700" b="1">
                <a:solidFill>
                  <a:srgbClr val="172033"/>
                </a:solidFill>
              </a:defRPr>
            </a:pPr>
            <a:r>
              <a:rPr sz="2700" b="1">
                <a:solidFill>
                  <a:srgbClr val="172033"/>
                </a:solidFill>
              </a:rPr>
              <a:t>Do Not Rely on the Model Alone.</a:t>
            </a:r>
            <a:endParaRPr/>
          </a:p>
          <a:p>
            <a:pPr algn="ctr">
              <a:buNone/>
              <a:defRPr sz="2700" b="1">
                <a:solidFill>
                  <a:srgbClr val="172033"/>
                </a:solidFill>
              </a:defRPr>
            </a:pPr>
            <a:r>
              <a:rPr sz="2700" b="1">
                <a:solidFill>
                  <a:srgbClr val="172033"/>
                </a:solidFill>
              </a:rPr>
              <a:t>Trust the Controls Around It.</a:t>
            </a:r>
            <a:endParaRPr/>
          </a:p>
        </p:txBody>
      </p:sp>
      <p:sp>
        <p:nvSpPr>
          <p:cNvPr id="740025192" name="final-divider"/>
          <p:cNvSpPr>
            <a:spLocks noGrp="1"/>
          </p:cNvSpPr>
          <p:nvPr/>
        </p:nvSpPr>
        <p:spPr bwMode="auto">
          <a:xfrm rot="5400000">
            <a:off x="5038724" y="4100512"/>
            <a:ext cx="2114550" cy="9524"/>
          </a:xfrm>
          <a:prstGeom prst="line">
            <a:avLst/>
          </a:prstGeom>
          <a:noFill/>
          <a:ln w="19050">
            <a:solidFill>
              <a:srgbClr val="D9E1EC"/>
            </a:solidFill>
            <a:prstDash val="solid"/>
          </a:ln>
        </p:spPr>
      </p:sp>
      <p:sp>
        <p:nvSpPr>
          <p:cNvPr id="43109408" name=""/>
          <p:cNvSpPr>
            <a:spLocks noGrp="1"/>
          </p:cNvSpPr>
          <p:nvPr/>
        </p:nvSpPr>
        <p:spPr bwMode="auto">
          <a:xfrm>
            <a:off x="1162049" y="2933698"/>
            <a:ext cx="4476749" cy="30479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300" b="1">
                <a:solidFill>
                  <a:srgbClr val="DC2626"/>
                </a:solidFill>
              </a:defRPr>
            </a:pPr>
            <a:r>
              <a:rPr sz="1300" b="1">
                <a:solidFill>
                  <a:srgbClr val="DC2626"/>
                </a:solidFill>
              </a:rPr>
              <a:t>UNCONTROLLED</a:t>
            </a:r>
            <a:endParaRPr/>
          </a:p>
        </p:txBody>
      </p:sp>
      <p:sp>
        <p:nvSpPr>
          <p:cNvPr id="1609464670" name="direct-action-arrow"/>
          <p:cNvSpPr>
            <a:spLocks noGrp="1"/>
          </p:cNvSpPr>
          <p:nvPr/>
        </p:nvSpPr>
        <p:spPr bwMode="auto">
          <a:xfrm>
            <a:off x="2724149" y="3809999"/>
            <a:ext cx="857250" cy="361949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DC2626"/>
          </a:solidFill>
          <a:ln w="0">
            <a:solidFill>
              <a:srgbClr val="DC2626"/>
            </a:solidFill>
            <a:prstDash val="solid"/>
          </a:ln>
        </p:spPr>
      </p:sp>
      <p:sp>
        <p:nvSpPr>
          <p:cNvPr id="1953624776" name="node-llm"/>
          <p:cNvSpPr>
            <a:spLocks noGrp="1"/>
          </p:cNvSpPr>
          <p:nvPr/>
        </p:nvSpPr>
        <p:spPr bwMode="auto">
          <a:xfrm>
            <a:off x="1352549" y="3524249"/>
            <a:ext cx="1371600" cy="933449"/>
          </a:xfrm>
          <a:prstGeom prst="roundRect">
            <a:avLst>
              <a:gd name="adj" fmla="val 8163"/>
            </a:avLst>
          </a:prstGeom>
          <a:solidFill>
            <a:srgbClr val="FDECEC"/>
          </a:solidFill>
          <a:ln w="19050">
            <a:solidFill>
              <a:srgbClr val="DC2626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800" b="1">
                <a:solidFill>
                  <a:srgbClr val="DC2626"/>
                </a:solidFill>
              </a:defRPr>
            </a:pPr>
            <a:r>
              <a:rPr sz="1800" b="1">
                <a:solidFill>
                  <a:srgbClr val="DC2626"/>
                </a:solidFill>
              </a:rPr>
              <a:t>LLM</a:t>
            </a:r>
            <a:endParaRPr/>
          </a:p>
        </p:txBody>
      </p:sp>
      <p:sp>
        <p:nvSpPr>
          <p:cNvPr id="583796475" name="node-direct-action"/>
          <p:cNvSpPr>
            <a:spLocks noGrp="1"/>
          </p:cNvSpPr>
          <p:nvPr/>
        </p:nvSpPr>
        <p:spPr bwMode="auto">
          <a:xfrm>
            <a:off x="3581399" y="3524249"/>
            <a:ext cx="1523999" cy="933449"/>
          </a:xfrm>
          <a:prstGeom prst="roundRect">
            <a:avLst>
              <a:gd name="adj" fmla="val 8163"/>
            </a:avLst>
          </a:prstGeom>
          <a:solidFill>
            <a:srgbClr val="FDECEC"/>
          </a:solidFill>
          <a:ln w="19050">
            <a:solidFill>
              <a:srgbClr val="DC2626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600" b="1">
                <a:solidFill>
                  <a:srgbClr val="DC2626"/>
                </a:solidFill>
              </a:defRPr>
            </a:pPr>
            <a:r>
              <a:rPr sz="1600" b="1">
                <a:solidFill>
                  <a:srgbClr val="DC2626"/>
                </a:solidFill>
              </a:rPr>
              <a:t>Direct</a:t>
            </a:r>
            <a:endParaRPr/>
          </a:p>
          <a:p>
            <a:pPr algn="ctr">
              <a:buNone/>
              <a:defRPr sz="1600" b="1">
                <a:solidFill>
                  <a:srgbClr val="DC2626"/>
                </a:solidFill>
              </a:defRPr>
            </a:pPr>
            <a:r>
              <a:rPr sz="1600" b="1">
                <a:solidFill>
                  <a:srgbClr val="DC2626"/>
                </a:solidFill>
              </a:rPr>
              <a:t>Action</a:t>
            </a:r>
            <a:endParaRPr/>
          </a:p>
        </p:txBody>
      </p:sp>
      <p:sp>
        <p:nvSpPr>
          <p:cNvPr id="521759595" name=""/>
          <p:cNvSpPr>
            <a:spLocks noGrp="1"/>
          </p:cNvSpPr>
          <p:nvPr/>
        </p:nvSpPr>
        <p:spPr bwMode="auto">
          <a:xfrm>
            <a:off x="6553199" y="2933698"/>
            <a:ext cx="4476749" cy="30479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300" b="1">
                <a:solidFill>
                  <a:srgbClr val="10B981"/>
                </a:solidFill>
              </a:defRPr>
            </a:pPr>
            <a:r>
              <a:rPr sz="1300" b="1">
                <a:solidFill>
                  <a:srgbClr val="10B981"/>
                </a:solidFill>
              </a:rPr>
              <a:t>CONTROLLED</a:t>
            </a:r>
            <a:endParaRPr/>
          </a:p>
        </p:txBody>
      </p:sp>
      <p:sp>
        <p:nvSpPr>
          <p:cNvPr id="626510744" name="control-arrow-1"/>
          <p:cNvSpPr>
            <a:spLocks noGrp="1"/>
          </p:cNvSpPr>
          <p:nvPr/>
        </p:nvSpPr>
        <p:spPr bwMode="auto">
          <a:xfrm>
            <a:off x="7543800" y="3867149"/>
            <a:ext cx="266699" cy="209549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10B981"/>
          </a:solidFill>
          <a:ln w="0">
            <a:solidFill>
              <a:srgbClr val="10B981"/>
            </a:solidFill>
            <a:prstDash val="solid"/>
          </a:ln>
        </p:spPr>
      </p:sp>
      <p:sp>
        <p:nvSpPr>
          <p:cNvPr id="495246883" name="control-arrow-2"/>
          <p:cNvSpPr>
            <a:spLocks noGrp="1"/>
          </p:cNvSpPr>
          <p:nvPr/>
        </p:nvSpPr>
        <p:spPr bwMode="auto">
          <a:xfrm>
            <a:off x="8763000" y="3867149"/>
            <a:ext cx="266699" cy="209549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10B981"/>
          </a:solidFill>
          <a:ln w="0">
            <a:solidFill>
              <a:srgbClr val="10B981"/>
            </a:solidFill>
            <a:prstDash val="solid"/>
          </a:ln>
        </p:spPr>
      </p:sp>
      <p:sp>
        <p:nvSpPr>
          <p:cNvPr id="246662862" name="control-arrow-3"/>
          <p:cNvSpPr>
            <a:spLocks noGrp="1"/>
          </p:cNvSpPr>
          <p:nvPr/>
        </p:nvSpPr>
        <p:spPr bwMode="auto">
          <a:xfrm>
            <a:off x="9982199" y="3867149"/>
            <a:ext cx="266699" cy="209549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10B981"/>
          </a:solidFill>
          <a:ln w="0">
            <a:solidFill>
              <a:srgbClr val="10B981"/>
            </a:solidFill>
            <a:prstDash val="solid"/>
          </a:ln>
        </p:spPr>
      </p:sp>
      <p:sp>
        <p:nvSpPr>
          <p:cNvPr id="186723835" name="node-llm"/>
          <p:cNvSpPr>
            <a:spLocks noGrp="1"/>
          </p:cNvSpPr>
          <p:nvPr/>
        </p:nvSpPr>
        <p:spPr bwMode="auto">
          <a:xfrm>
            <a:off x="6667499" y="3600450"/>
            <a:ext cx="876298" cy="781049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9050">
            <a:solidFill>
              <a:srgbClr val="10B981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350" b="1">
                <a:solidFill>
                  <a:srgbClr val="10B981"/>
                </a:solidFill>
              </a:defRPr>
            </a:pPr>
            <a:r>
              <a:rPr sz="1350" b="1">
                <a:solidFill>
                  <a:srgbClr val="10B981"/>
                </a:solidFill>
              </a:rPr>
              <a:t>LLM</a:t>
            </a:r>
            <a:endParaRPr/>
          </a:p>
        </p:txBody>
      </p:sp>
      <p:sp>
        <p:nvSpPr>
          <p:cNvPr id="1369389285" name="node-permission"/>
          <p:cNvSpPr>
            <a:spLocks noGrp="1"/>
          </p:cNvSpPr>
          <p:nvPr/>
        </p:nvSpPr>
        <p:spPr bwMode="auto">
          <a:xfrm>
            <a:off x="7886700" y="3600450"/>
            <a:ext cx="876298" cy="781049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9050">
            <a:solidFill>
              <a:srgbClr val="10B981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050" b="1">
                <a:solidFill>
                  <a:srgbClr val="10B981"/>
                </a:solidFill>
              </a:defRPr>
            </a:pPr>
            <a:r>
              <a:rPr sz="1050" b="1">
                <a:solidFill>
                  <a:srgbClr val="10B981"/>
                </a:solidFill>
              </a:rPr>
              <a:t>Permission</a:t>
            </a:r>
            <a:endParaRPr/>
          </a:p>
        </p:txBody>
      </p:sp>
      <p:sp>
        <p:nvSpPr>
          <p:cNvPr id="397842379" name="node-validation"/>
          <p:cNvSpPr>
            <a:spLocks noGrp="1"/>
          </p:cNvSpPr>
          <p:nvPr/>
        </p:nvSpPr>
        <p:spPr bwMode="auto">
          <a:xfrm>
            <a:off x="9105900" y="3600450"/>
            <a:ext cx="876298" cy="781049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9050">
            <a:solidFill>
              <a:srgbClr val="10B981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050" b="1">
                <a:solidFill>
                  <a:srgbClr val="10B981"/>
                </a:solidFill>
              </a:defRPr>
            </a:pPr>
            <a:r>
              <a:rPr sz="1050" b="1">
                <a:solidFill>
                  <a:srgbClr val="10B981"/>
                </a:solidFill>
              </a:rPr>
              <a:t>Validation</a:t>
            </a:r>
            <a:endParaRPr/>
          </a:p>
        </p:txBody>
      </p:sp>
      <p:sp>
        <p:nvSpPr>
          <p:cNvPr id="2039347923" name="node-action"/>
          <p:cNvSpPr>
            <a:spLocks noGrp="1"/>
          </p:cNvSpPr>
          <p:nvPr/>
        </p:nvSpPr>
        <p:spPr bwMode="auto">
          <a:xfrm>
            <a:off x="10325099" y="3600450"/>
            <a:ext cx="876298" cy="781049"/>
          </a:xfrm>
          <a:prstGeom prst="roundRect">
            <a:avLst>
              <a:gd name="adj" fmla="val 9756"/>
            </a:avLst>
          </a:prstGeom>
          <a:solidFill>
            <a:srgbClr val="E8F8F2"/>
          </a:solidFill>
          <a:ln w="19050">
            <a:solidFill>
              <a:srgbClr val="10B981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350" b="1">
                <a:solidFill>
                  <a:srgbClr val="10B981"/>
                </a:solidFill>
              </a:defRPr>
            </a:pPr>
            <a:r>
              <a:rPr sz="1350" b="1">
                <a:solidFill>
                  <a:srgbClr val="10B981"/>
                </a:solidFill>
              </a:rPr>
              <a:t>Action</a:t>
            </a:r>
            <a:endParaRPr/>
          </a:p>
        </p:txBody>
      </p:sp>
      <p:sp>
        <p:nvSpPr>
          <p:cNvPr id="1187816427" name=""/>
          <p:cNvSpPr>
            <a:spLocks noGrp="1"/>
          </p:cNvSpPr>
          <p:nvPr/>
        </p:nvSpPr>
        <p:spPr bwMode="auto">
          <a:xfrm>
            <a:off x="3143250" y="5181599"/>
            <a:ext cx="5905499" cy="41909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900" b="1">
                <a:solidFill>
                  <a:srgbClr val="2563EB"/>
                </a:solidFill>
              </a:defRPr>
            </a:pPr>
            <a:r>
              <a:rPr sz="1900" b="1">
                <a:solidFill>
                  <a:srgbClr val="2563EB"/>
                </a:solidFill>
              </a:rPr>
              <a:t>Limit · Verify · Monitor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Thesis">
  <a:themeElements>
    <a:clrScheme name="New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Times New Roman"/>
        <a:ea typeface="SimSun"/>
        <a:cs typeface="Times New Roman"/>
      </a:majorFont>
      <a:minorFont>
        <a:latin typeface="Times New Roman"/>
        <a:ea typeface="SimSun"/>
        <a:cs typeface="Times New Roman"/>
      </a:minorFont>
    </a:fontScheme>
    <a:fmtScheme name="New Offic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Thesis">
  <a:themeElements>
    <a:clrScheme name="New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Times New Roman"/>
        <a:ea typeface="SimSun"/>
        <a:cs typeface="Times New Roman"/>
      </a:majorFont>
      <a:minorFont>
        <a:latin typeface="Times New Roman"/>
        <a:ea typeface="SimSun"/>
        <a:cs typeface="Times New Roman"/>
      </a:minorFont>
    </a:fontScheme>
    <a:fmtScheme name="New Offic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ONLYOFFICE/9.4.0.129</Application>
  <PresentationFormat>On-screen Show (4:3)</PresentationFormat>
  <Paragraphs>0</Paragraphs>
  <Slides>16</Slides>
  <Notes>16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1</cp:revision>
  <dcterms:modified xsi:type="dcterms:W3CDTF">2026-08-02T20:42:16Z</dcterms:modified>
</cp:coreProperties>
</file>