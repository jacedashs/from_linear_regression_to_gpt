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" d="1"/>
          <a:sy n="1" d="1"/>
        </p:scale>
        <p:origin x="0" y="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788921" name="Header Placeholder"/>
          <p:cNvSpPr/>
          <p:nvPr>
            <p:ph type="hdr" sz="quarter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218440" name="Date Placeholder"/>
          <p:cNvSpPr/>
          <p:nvPr>
            <p:ph type="dt" sz="quarter"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007485" name="Slide Image Placeholder"/>
          <p:cNvSpPr/>
          <p:nvPr>
            <p:ph type="sldImg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650923" name="Notes Placeholder"/>
          <p:cNvSpPr/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392444" name="Footer Placeholder"/>
          <p:cNvSpPr/>
          <p:nvPr>
            <p:ph type="ftr" sz="quarter" idx="4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2843" name="Slide Number Placeholder"/>
          <p:cNvSpPr/>
          <p:nvPr>
            <p:ph type="sldNum" sz="quarter" idx="5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/>
    </a:lvl1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9794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40768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Section divider created for the revised learning sequence.</a:t>
            </a:r>
            <a:endParaRPr/>
          </a:p>
        </p:txBody>
      </p:sp>
      <p:sp>
        <p:nvSpPr>
          <p:cNvPr id="2134931649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448504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0003368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OWASP LLM02 Sensitive Information Disclosure: https://genai.owasp.org/llmrisk/llm02-sensitive-information-disclosure/</a:t>
            </a:r>
            <a:endParaRPr/>
          </a:p>
          <a:p>
            <a:pPr>
              <a:buNone/>
              <a:defRPr/>
            </a:pPr>
            <a:r>
              <a:rPr/>
              <a:t>- NIST AI 600-1: https://nvlpubs.nist.gov/nistpubs/ai/NIST.AI.600-1.pdf</a:t>
            </a:r>
            <a:endParaRPr/>
          </a:p>
        </p:txBody>
      </p:sp>
      <p:sp>
        <p:nvSpPr>
          <p:cNvPr id="507738969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96435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9546598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OWASP Top 10 for LLM Applications 2025: https://genai.owasp.org/llm-top-10/</a:t>
            </a:r>
            <a:endParaRPr/>
          </a:p>
          <a:p>
            <a:pPr>
              <a:buNone/>
              <a:defRPr/>
            </a:pPr>
            <a:r>
              <a:rPr/>
              <a:t>- NIST AI 600-1: https://nvlpubs.nist.gov/nistpubs/ai/NIST.AI.600-1.pdf</a:t>
            </a:r>
            <a:endParaRPr/>
          </a:p>
        </p:txBody>
      </p:sp>
      <p:sp>
        <p:nvSpPr>
          <p:cNvPr id="1578132785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086985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9866811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OWASP Top 10 for LLM Applications 2025: https://owasp.org/www-project-top-10-for-large-language-model-applications/assets/PDF/OWASP-Top-10-for-LLMs-v2025.pdf</a:t>
            </a:r>
            <a:endParaRPr/>
          </a:p>
          <a:p>
            <a:pPr>
              <a:buNone/>
              <a:defRPr/>
            </a:pPr>
            <a:r>
              <a:rPr/>
              <a:t>- NIST AI 600-1: https://nvlpubs.nist.gov/nistpubs/ai/NIST.AI.600-1.pdf</a:t>
            </a:r>
            <a:endParaRPr/>
          </a:p>
          <a:p>
            <a:pPr>
              <a:buNone/>
              <a:defRPr/>
            </a:pPr>
            <a:r>
              <a:rPr/>
              <a:t>- MITRE ATLAS: https://atlas.mitre.org/</a:t>
            </a:r>
            <a:endParaRPr/>
          </a:p>
        </p:txBody>
      </p:sp>
      <p:sp>
        <p:nvSpPr>
          <p:cNvPr id="424185172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701355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954797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OWASP LLM09:2025 Misinformation: https://genai.owasp.org/llmrisk/llm092025-misinformation/</a:t>
            </a:r>
            <a:endParaRPr/>
          </a:p>
          <a:p>
            <a:pPr>
              <a:buNone/>
              <a:defRPr/>
            </a:pPr>
            <a:r>
              <a:rPr/>
              <a:t>- NIST AI 600-1: https://nvlpubs.nist.gov/nistpubs/ai/NIST.AI.600-1.pdf</a:t>
            </a:r>
            <a:endParaRPr/>
          </a:p>
        </p:txBody>
      </p:sp>
      <p:sp>
        <p:nvSpPr>
          <p:cNvPr id="1400297075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0854561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789776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OWASP LLM01 Prompt Injection: https://genai.owasp.org/llmrisk/llm01-prompt-injection/</a:t>
            </a:r>
            <a:endParaRPr/>
          </a:p>
          <a:p>
            <a:pPr>
              <a:buNone/>
              <a:defRPr/>
            </a:pPr>
            <a:r>
              <a:rPr/>
              <a:t>- OpenAI, Designing agents to resist prompt injection: https://openai.com/index/designing-agents-to-resist-prompt-injection/</a:t>
            </a:r>
            <a:endParaRPr/>
          </a:p>
        </p:txBody>
      </p:sp>
      <p:sp>
        <p:nvSpPr>
          <p:cNvPr id="188533160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420027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830803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OWASP LLM06:2025 Excessive Agency: https://genai.owasp.org/llmrisk/llm062025-excessive-agency/</a:t>
            </a:r>
            <a:endParaRPr/>
          </a:p>
          <a:p>
            <a:pPr>
              <a:buNone/>
              <a:defRPr/>
            </a:pPr>
            <a:r>
              <a:rPr/>
              <a:t>- MITRE SAFE-AI: https://atlas.mitre.org/pdf-files/SAFEAI_Full_Report.pdf</a:t>
            </a:r>
            <a:endParaRPr/>
          </a:p>
        </p:txBody>
      </p:sp>
      <p:sp>
        <p:nvSpPr>
          <p:cNvPr id="598985426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3826567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5570464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OpenAI, GPT-4 System Card, 2023: https://cdn.openai.com/papers/gpt-4-system-card.pdf</a:t>
            </a:r>
            <a:endParaRPr/>
          </a:p>
          <a:p>
            <a:pPr>
              <a:buNone/>
              <a:defRPr/>
            </a:pPr>
            <a:r>
              <a:rPr/>
              <a:t>- OpenAI, o1 System Card, 2024: https://cdn.openai.com/o1-system-card-20241205.pdf</a:t>
            </a:r>
            <a:endParaRPr/>
          </a:p>
          <a:p>
            <a:pPr>
              <a:buNone/>
              <a:defRPr/>
            </a:pPr>
            <a:r>
              <a:rPr/>
              <a:t>- Apollo Research, In-context scheming: https://www.apolloresearch.ai/science/frontier-models-are-capable-of-incontext-scheming/</a:t>
            </a:r>
            <a:endParaRPr/>
          </a:p>
          <a:p>
            <a:pPr>
              <a:buNone/>
              <a:defRPr/>
            </a:pPr>
            <a:r>
              <a:rPr/>
              <a:t>- Anthropic, Claude 4 System Card, 2025: https://www.anthropic.com/claude-4-system-card</a:t>
            </a:r>
            <a:endParaRPr/>
          </a:p>
          <a:p>
            <a:pPr>
              <a:buNone/>
              <a:defRPr/>
            </a:pPr>
            <a:r>
              <a:rPr/>
              <a:t>- Anthropic, Agentic Misalignment: https://www.anthropic.com/research/agentic-misalignment</a:t>
            </a:r>
            <a:endParaRPr/>
          </a:p>
          <a:p>
            <a:pPr>
              <a:buNone/>
              <a:defRPr/>
            </a:pPr>
            <a:r>
              <a:rPr/>
              <a:t>- OpenAI, Model Evaluation Security Incident, July 2026: https://openai.com/index/hugging-face-model-evaluation-security-incident/</a:t>
            </a:r>
            <a:endParaRPr/>
          </a:p>
          <a:p>
            <a:pPr>
              <a:buNone/>
              <a:defRPr/>
            </a:pPr>
            <a:r>
              <a:rPr/>
              <a:t>- Hugging Face, Security Incident July 2026: https://huggingface.co/blog/security-incident-july-2026</a:t>
            </a:r>
            <a:endParaRPr/>
          </a:p>
          <a:p>
            <a:pPr>
              <a:buNone/>
              <a:defRPr/>
            </a:pPr>
            <a:r>
              <a:rPr/>
              <a:t>- Hugging Face, Agent Intrusion Technical Timeline: https://huggingface.co/blog/agent-intrusion-technical-timeline</a:t>
            </a:r>
            <a:endParaRPr/>
          </a:p>
          <a:p>
            <a:pPr>
              <a:buNone/>
              <a:defRPr/>
            </a:pPr>
            <a:r>
              <a:rPr/>
              <a:t>- Anthropic, Cybersecurity Evaluation Incidents, 2026: https://www.anthropic.com/news/investigating-incidents-cybersecurity-evals</a:t>
            </a:r>
            <a:endParaRPr/>
          </a:p>
          <a:p>
            <a:pPr>
              <a:buNone/>
              <a:defRPr/>
            </a:pPr>
            <a:r>
              <a:rPr/>
              <a:t>- OpenAI, Safety and Alignment in an Era of Long-Horizon Models, 2026: https://openai.com/index/safety-alignment-long-horizon-models/</a:t>
            </a:r>
            <a:endParaRPr/>
          </a:p>
        </p:txBody>
      </p:sp>
      <p:sp>
        <p:nvSpPr>
          <p:cNvPr id="334754047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7467523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20373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OpenAI, GPT-4 System Card, 2023: https://cdn.openai.com/papers/gpt-4-system-card.pdf</a:t>
            </a:r>
            <a:endParaRPr/>
          </a:p>
          <a:p>
            <a:pPr>
              <a:buNone/>
              <a:defRPr/>
            </a:pPr>
            <a:r>
              <a:rPr/>
              <a:t>- OpenAI, GPT-4 Technical Report: https://cdn.openai.com/papers/gpt-4.pdf</a:t>
            </a:r>
            <a:endParaRPr/>
          </a:p>
        </p:txBody>
      </p:sp>
      <p:sp>
        <p:nvSpPr>
          <p:cNvPr id="1155406310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5622775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8364691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OpenAI, o1 System Card, 2024: https://openai.com/index/openai-o1-system-card/</a:t>
            </a:r>
            <a:endParaRPr/>
          </a:p>
          <a:p>
            <a:pPr>
              <a:buNone/>
              <a:defRPr/>
            </a:pPr>
            <a:r>
              <a:rPr/>
              <a:t>- OpenAI, o1 System Card PDF: https://cdn.openai.com/o1-system-card-20241205.pdf</a:t>
            </a:r>
            <a:endParaRPr/>
          </a:p>
          <a:p>
            <a:pPr>
              <a:buNone/>
              <a:defRPr/>
            </a:pPr>
            <a:r>
              <a:rPr/>
              <a:t>- Apollo Research, In-context scheming: https://www.apolloresearch.ai/science/frontier-models-are-capable-of-incontext-scheming/</a:t>
            </a:r>
            <a:endParaRPr/>
          </a:p>
          <a:p>
            <a:pPr>
              <a:buNone/>
              <a:defRPr/>
            </a:pPr>
            <a:r>
              <a:rPr/>
              <a:t>- Apollo Research, Evaluation demo: https://www.apolloresearch.ai/science/demo-example-scheming-reasoning-evaluations/</a:t>
            </a:r>
            <a:endParaRPr/>
          </a:p>
        </p:txBody>
      </p:sp>
      <p:sp>
        <p:nvSpPr>
          <p:cNvPr id="41136140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295750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20650684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Anthropic, Claude 4 System Card, 2025: https://www.anthropic.com/claude-4-system-card</a:t>
            </a:r>
            <a:endParaRPr/>
          </a:p>
          <a:p>
            <a:pPr>
              <a:buNone/>
              <a:defRPr/>
            </a:pPr>
            <a:r>
              <a:rPr/>
              <a:t>- Anthropic, Agentic Misalignment: https://www.anthropic.com/research/agentic-misalignment</a:t>
            </a:r>
            <a:endParaRPr/>
          </a:p>
          <a:p>
            <a:pPr>
              <a:buNone/>
              <a:defRPr/>
            </a:pPr>
            <a:r>
              <a:rPr/>
              <a:t>- Anthropic, Teaching Claude Why: https://www.anthropic.com/research/teaching-claude-why</a:t>
            </a:r>
            <a:endParaRPr/>
          </a:p>
        </p:txBody>
      </p:sp>
      <p:sp>
        <p:nvSpPr>
          <p:cNvPr id="1658744228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419579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523117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OpenAI, Model Evaluation Security Incident, July 2026: https://openai.com/index/hugging-face-model-evaluation-security-incident/</a:t>
            </a:r>
            <a:endParaRPr/>
          </a:p>
          <a:p>
            <a:pPr>
              <a:buNone/>
              <a:defRPr/>
            </a:pPr>
            <a:r>
              <a:rPr/>
              <a:t>- Hugging Face, Security Incident July 2026: https://huggingface.co/blog/security-incident-july-2026</a:t>
            </a:r>
            <a:endParaRPr/>
          </a:p>
          <a:p>
            <a:pPr>
              <a:buNone/>
              <a:defRPr/>
            </a:pPr>
            <a:r>
              <a:rPr/>
              <a:t>- Hugging Face, Agent Intrusion Technical Timeline: https://huggingface.co/blog/agent-intrusion-technical-timeline</a:t>
            </a:r>
            <a:endParaRPr/>
          </a:p>
        </p:txBody>
      </p:sp>
      <p:sp>
        <p:nvSpPr>
          <p:cNvPr id="292762197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094750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878992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Anthropic, Investigating Three Real-World Incidents in Our Cybersecurity Evaluations, 2026: https://www.anthropic.com/news/investigating-incidents-cybersecurity-evals</a:t>
            </a:r>
            <a:endParaRPr/>
          </a:p>
        </p:txBody>
      </p:sp>
      <p:sp>
        <p:nvSpPr>
          <p:cNvPr id="1800302734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25262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372982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OWASP Top 10 for LLM Applications 2025: https://genai.owasp.org/llm-top-10/</a:t>
            </a:r>
            <a:endParaRPr/>
          </a:p>
          <a:p>
            <a:pPr>
              <a:buNone/>
              <a:defRPr/>
            </a:pPr>
            <a:r>
              <a:rPr/>
              <a:t>- NIST AI 600-1: https://nvlpubs.nist.gov/nistpubs/ai/NIST.AI.600-1.pdf</a:t>
            </a:r>
            <a:endParaRPr/>
          </a:p>
          <a:p>
            <a:pPr>
              <a:buNone/>
              <a:defRPr/>
            </a:pPr>
            <a:r>
              <a:rPr/>
              <a:t>- MITRE ATLAS: https://atlas.mitre.org/</a:t>
            </a:r>
            <a:endParaRPr/>
          </a:p>
        </p:txBody>
      </p:sp>
      <p:sp>
        <p:nvSpPr>
          <p:cNvPr id="52227787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1372703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860119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MITRE SAFE-AI: https://atlas.mitre.org/pdf-files/SAFEAI_Full_Report.pdf</a:t>
            </a:r>
            <a:endParaRPr/>
          </a:p>
          <a:p>
            <a:pPr>
              <a:buNone/>
              <a:defRPr/>
            </a:pPr>
            <a:r>
              <a:rPr/>
              <a:t>- NIST SP 800-218A: https://nvlpubs.nist.gov/nistpubs/SpecialPublications/NIST.SP.800-218A.pdf</a:t>
            </a:r>
            <a:endParaRPr/>
          </a:p>
        </p:txBody>
      </p:sp>
      <p:sp>
        <p:nvSpPr>
          <p:cNvPr id="538570695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300129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2759453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[Sources]</a:t>
            </a:r>
            <a:endParaRPr/>
          </a:p>
          <a:p>
            <a:pPr>
              <a:buNone/>
              <a:defRPr/>
            </a:pPr>
            <a:r>
              <a:rPr/>
              <a:t>- MITRE SAFE-AI: https://atlas.mitre.org/pdf-files/SAFEAI_Full_Report.pdf</a:t>
            </a:r>
            <a:endParaRPr/>
          </a:p>
          <a:p>
            <a:pPr>
              <a:buNone/>
              <a:defRPr/>
            </a:pPr>
            <a:r>
              <a:rPr/>
              <a:t>- NIST SP 800-218A: https://nvlpubs.nist.gov/nistpubs/SpecialPublications/NIST.SP.800-218A.pdf</a:t>
            </a:r>
            <a:endParaRPr/>
          </a:p>
        </p:txBody>
      </p:sp>
      <p:sp>
        <p:nvSpPr>
          <p:cNvPr id="2051778026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93712423" name="Picture 2116695055"/>
          <p:cNvPicPr>
            <a:picLocks noChangeAspect="1"/>
          </p:cNvPicPr>
          <p:nvPr/>
        </p:nvPicPr>
        <p:blipFill rotWithShape="1">
          <a:blip r:embed="rId2">
            <a:alphaModFix amt="30000"/>
          </a:blip>
          <a:stretch/>
        </p:blipFill>
        <p:spPr bwMode="auto">
          <a:xfrm>
            <a:off x="-3046" y="9144"/>
            <a:ext cx="12198094" cy="6848854"/>
          </a:xfrm>
          <a:prstGeom prst="rect">
            <a:avLst/>
          </a:prstGeom>
        </p:spPr>
      </p:pic>
      <p:sp>
        <p:nvSpPr>
          <p:cNvPr id="10381021" name="Rectangle 376226509"/>
          <p:cNvSpPr>
            <a:spLocks noGrp="1"/>
          </p:cNvSpPr>
          <p:nvPr/>
        </p:nvSpPr>
        <p:spPr bwMode="auto">
          <a:xfrm>
            <a:off x="6079" y="4051"/>
            <a:ext cx="12179837" cy="6849891"/>
          </a:xfrm>
          <a:prstGeom prst="rect">
            <a:avLst/>
          </a:prstGeom>
          <a:gradFill>
            <a:gsLst>
              <a:gs pos="1000">
                <a:schemeClr val="tx2">
                  <a:alpha val="23000"/>
                </a:schemeClr>
              </a:gs>
              <a:gs pos="75000">
                <a:schemeClr val="tx2">
                  <a:lumMod val="50000"/>
                  <a:alpha val="23000"/>
                </a:schemeClr>
              </a:gs>
            </a:gsLst>
            <a:path path="circle"/>
          </a:gradFill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/>
            </a:pPr>
            <a:endParaRPr/>
          </a:p>
        </p:txBody>
      </p:sp>
      <p:sp>
        <p:nvSpPr>
          <p:cNvPr id="1058204696" name="Title 1"/>
          <p:cNvSpPr>
            <a:spLocks noGrp="1"/>
          </p:cNvSpPr>
          <p:nvPr>
            <p:ph type="ctrTitle" idx="0"/>
          </p:nvPr>
        </p:nvSpPr>
        <p:spPr bwMode="auto">
          <a:xfrm>
            <a:off x="1523999" y="1122363"/>
            <a:ext cx="9144000" cy="2387599"/>
          </a:xfrm>
        </p:spPr>
        <p:txBody>
          <a:bodyPr anchor="b"/>
          <a:lstStyle>
            <a:lvl1pPr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9550082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7048" y="3602734"/>
            <a:ext cx="9144000" cy="1655760"/>
          </a:xfrm>
        </p:spPr>
        <p:txBody>
          <a:bodyPr vert="horz" wrap="square" lIns="91440" tIns="274318" rIns="91440" bIns="45720" anchor="t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buNone/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822645226" name="Date Placeholder 3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653803478" name="Footer Placeholder 4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1326235137" name="Slide Number Placeholder 5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  <p:sp>
        <p:nvSpPr>
          <p:cNvPr id="1493397509" name="Rectangle 640957806"/>
          <p:cNvSpPr>
            <a:spLocks noGrp="1"/>
          </p:cNvSpPr>
          <p:nvPr/>
        </p:nvSpPr>
        <p:spPr bwMode="auto">
          <a:xfrm>
            <a:off x="3570597" y="3530036"/>
            <a:ext cx="5040000" cy="72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129945" name="Title 1"/>
          <p:cNvSpPr>
            <a:spLocks noGrp="1"/>
          </p:cNvSpPr>
          <p:nvPr>
            <p:ph type="title" idx="0"/>
          </p:nvPr>
        </p:nvSpPr>
        <p:spPr bwMode="auto">
          <a:xfrm>
            <a:off x="838197" y="365123"/>
            <a:ext cx="10515600" cy="1121577"/>
          </a:xfrm>
        </p:spPr>
        <p:txBody>
          <a:bodyPr vert="horz" wrap="square" lIns="91440" tIns="45720" rIns="91440" bIns="45720" anchor="b">
            <a:normAutofit/>
          </a:bodyPr>
          <a:lstStyle>
            <a:lvl1pPr algn="ctr">
              <a:buNone/>
              <a:defRPr/>
            </a:lvl1pPr>
            <a:lvl2pPr algn="ctr">
              <a:buNone/>
              <a:defRPr/>
            </a:lvl2pPr>
            <a:lvl3pPr algn="ctr">
              <a:buNone/>
              <a:defRPr/>
            </a:lvl3pPr>
            <a:lvl4pPr algn="ctr">
              <a:buNone/>
              <a:defRPr/>
            </a:lvl4pPr>
            <a:lvl5pPr algn="ctr">
              <a:buNone/>
              <a:defRPr/>
            </a:lvl5pPr>
            <a:lvl6pPr algn="ctr">
              <a:buNone/>
              <a:defRPr/>
            </a:lvl6pPr>
            <a:lvl7pPr algn="ctr">
              <a:buNone/>
              <a:defRPr/>
            </a:lvl7pPr>
            <a:lvl8pPr algn="ctr">
              <a:buNone/>
              <a:defRPr/>
            </a:lvl8pPr>
            <a:lvl9pPr algn="ctr">
              <a:buNone/>
              <a:defRPr/>
            </a:lvl9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3396952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03079793" name="Date Placeholder 3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598458612" name="Footer Placeholder 4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968247649" name="Slide Number Placeholder 5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  <p:sp>
        <p:nvSpPr>
          <p:cNvPr id="1361434912" name="Rectangle 640957806"/>
          <p:cNvSpPr>
            <a:spLocks noGrp="1"/>
          </p:cNvSpPr>
          <p:nvPr/>
        </p:nvSpPr>
        <p:spPr bwMode="auto">
          <a:xfrm>
            <a:off x="4703774" y="1486702"/>
            <a:ext cx="2776433" cy="7315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3084257" name="Title 1"/>
          <p:cNvSpPr>
            <a:spLocks noGrp="1"/>
          </p:cNvSpPr>
          <p:nvPr>
            <p:ph type="title" idx="0"/>
          </p:nvPr>
        </p:nvSpPr>
        <p:spPr bwMode="auto">
          <a:xfrm>
            <a:off x="838197" y="365123"/>
            <a:ext cx="10515600" cy="1121577"/>
          </a:xfrm>
        </p:spPr>
        <p:txBody>
          <a:bodyPr vert="horz" wrap="square" lIns="91440" tIns="45720" rIns="91440" bIns="45720" anchor="b">
            <a:normAutofit/>
          </a:bodyPr>
          <a:lstStyle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19836330" name="Content Placeholder 2"/>
          <p:cNvSpPr>
            <a:spLocks noGrp="1"/>
          </p:cNvSpPr>
          <p:nvPr>
            <p:ph idx="1"/>
          </p:nvPr>
        </p:nvSpPr>
        <p:spPr bwMode="auto"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7985903" name="Date Placeholder 3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7B14398F-3795-7DE0-858E-3925D44B3378}" type="datetimeFigureOut">
              <a:rPr/>
              <a:t>2026/7/31</a:t>
            </a:fld>
            <a:endParaRPr/>
          </a:p>
        </p:txBody>
      </p:sp>
      <p:sp>
        <p:nvSpPr>
          <p:cNvPr id="303430372" name="Footer Placeholder 4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2008277444" name="Slide Number Placeholder 5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3D9411B4-B34A-E1DB-16D9-0D265777C9EB}" type="slidenum">
              <a:rPr/>
              <a:t>‹#›</a:t>
            </a:fld>
            <a:endParaRPr/>
          </a:p>
        </p:txBody>
      </p:sp>
      <p:sp>
        <p:nvSpPr>
          <p:cNvPr id="1010927167" name="Rectangle 640957806"/>
          <p:cNvSpPr>
            <a:spLocks noGrp="1"/>
          </p:cNvSpPr>
          <p:nvPr/>
        </p:nvSpPr>
        <p:spPr bwMode="auto">
          <a:xfrm>
            <a:off x="838197" y="1486702"/>
            <a:ext cx="10515600" cy="72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4756756" name="Picture 1835292972"/>
          <p:cNvPicPr>
            <a:picLocks noChangeAspect="1"/>
          </p:cNvPicPr>
          <p:nvPr/>
        </p:nvPicPr>
        <p:blipFill rotWithShape="1">
          <a:blip r:embed="rId2">
            <a:alphaModFix amt="30000"/>
          </a:blip>
          <a:stretch/>
        </p:blipFill>
        <p:spPr bwMode="auto">
          <a:xfrm>
            <a:off x="20621" y="8104"/>
            <a:ext cx="12216845" cy="6858000"/>
          </a:xfrm>
          <a:prstGeom prst="rect">
            <a:avLst/>
          </a:prstGeom>
        </p:spPr>
      </p:pic>
      <p:sp>
        <p:nvSpPr>
          <p:cNvPr id="1145576836" name="Title 1"/>
          <p:cNvSpPr>
            <a:spLocks noGrp="1"/>
          </p:cNvSpPr>
          <p:nvPr>
            <p:ph type="title" idx="0"/>
          </p:nvPr>
        </p:nvSpPr>
        <p:spPr bwMode="auto">
          <a:xfrm>
            <a:off x="831848" y="1399140"/>
            <a:ext cx="10515600" cy="2852736"/>
          </a:xfrm>
        </p:spPr>
        <p:txBody>
          <a:bodyPr vert="horz" wrap="square" lIns="91440" tIns="45720" rIns="91440" bIns="45720" anchor="ctr">
            <a:normAutofit/>
          </a:bodyPr>
          <a:lstStyle>
            <a:lvl1pPr algn="ctr">
              <a:buNone/>
              <a:defRPr sz="6000">
                <a:solidFill>
                  <a:schemeClr val="bg1"/>
                </a:solidFill>
              </a:defRPr>
            </a:lvl1pPr>
            <a:lvl2pPr algn="ctr">
              <a:buNone/>
              <a:defRPr/>
            </a:lvl2pPr>
            <a:lvl3pPr algn="ctr">
              <a:buNone/>
              <a:defRPr/>
            </a:lvl3pPr>
            <a:lvl4pPr algn="ctr">
              <a:buNone/>
              <a:defRPr/>
            </a:lvl4pPr>
            <a:lvl5pPr algn="ctr">
              <a:buNone/>
              <a:defRPr/>
            </a:lvl5pPr>
            <a:lvl6pPr algn="ctr">
              <a:buNone/>
              <a:defRPr/>
            </a:lvl6pPr>
            <a:lvl7pPr algn="ctr">
              <a:buNone/>
              <a:defRPr/>
            </a:lvl7pPr>
            <a:lvl8pPr algn="ctr">
              <a:buNone/>
              <a:defRPr/>
            </a:lvl8pPr>
            <a:lvl9pPr algn="ctr">
              <a:buNone/>
              <a:defRPr/>
            </a:lvl9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025650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48" y="4278863"/>
            <a:ext cx="10515600" cy="1500186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07926706" name="Date Placeholder 3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529172727" name="Footer Placeholder 4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409624977" name="Slide Number Placeholder 5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  <p:sp>
        <p:nvSpPr>
          <p:cNvPr id="1303322395" name="Rectangle 640957806"/>
          <p:cNvSpPr>
            <a:spLocks noGrp="1"/>
          </p:cNvSpPr>
          <p:nvPr/>
        </p:nvSpPr>
        <p:spPr bwMode="auto">
          <a:xfrm>
            <a:off x="-10884" y="6017640"/>
            <a:ext cx="12213770" cy="72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659364" name="Title 1"/>
          <p:cNvSpPr>
            <a:spLocks noGrp="1"/>
          </p:cNvSpPr>
          <p:nvPr>
            <p:ph type="title" idx="0"/>
          </p:nvPr>
        </p:nvSpPr>
        <p:spPr bwMode="auto"/>
        <p:txBody>
          <a:bodyPr/>
          <a:lstStyle>
            <a:lvl1pPr algn="ctr">
              <a:buNone/>
              <a:defRPr/>
            </a:lvl1pPr>
            <a:lvl2pPr algn="ctr">
              <a:buNone/>
              <a:defRPr/>
            </a:lvl2pPr>
            <a:lvl3pPr algn="ctr">
              <a:buNone/>
              <a:defRPr/>
            </a:lvl3pPr>
            <a:lvl4pPr algn="ctr">
              <a:buNone/>
              <a:defRPr/>
            </a:lvl4pPr>
            <a:lvl5pPr algn="ctr">
              <a:buNone/>
              <a:defRPr/>
            </a:lvl5pPr>
            <a:lvl6pPr algn="ctr">
              <a:buNone/>
              <a:defRPr/>
            </a:lvl6pPr>
            <a:lvl7pPr algn="ctr">
              <a:buNone/>
              <a:defRPr/>
            </a:lvl7pPr>
            <a:lvl8pPr algn="ctr">
              <a:buNone/>
              <a:defRPr/>
            </a:lvl8pPr>
            <a:lvl9pPr algn="ctr">
              <a:buNone/>
              <a:defRPr/>
            </a:lvl9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90434345" name="Content Placeholder 2"/>
          <p:cNvSpPr>
            <a:spLocks noGrp="1"/>
          </p:cNvSpPr>
          <p:nvPr>
            <p:ph idx="1"/>
          </p:nvPr>
        </p:nvSpPr>
        <p:spPr bwMode="auto">
          <a:xfrm>
            <a:off x="838198" y="1825624"/>
            <a:ext cx="5181599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00499279" name="Content Placeholder 3"/>
          <p:cNvSpPr>
            <a:spLocks noGrp="1"/>
          </p:cNvSpPr>
          <p:nvPr>
            <p:ph idx="2"/>
          </p:nvPr>
        </p:nvSpPr>
        <p:spPr bwMode="auto">
          <a:xfrm>
            <a:off x="6172200" y="1825624"/>
            <a:ext cx="5181599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49732631" name="Date Placeholder 4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738941746" name="Footer Placeholder 5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638683091" name="Slide Number Placeholder 6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  <p:sp>
        <p:nvSpPr>
          <p:cNvPr id="1407268048" name="Rectangle 640957806"/>
          <p:cNvSpPr>
            <a:spLocks noGrp="1"/>
          </p:cNvSpPr>
          <p:nvPr/>
        </p:nvSpPr>
        <p:spPr bwMode="auto">
          <a:xfrm>
            <a:off x="2070" y="6121172"/>
            <a:ext cx="12213769" cy="72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261470" name="Title 1"/>
          <p:cNvSpPr>
            <a:spLocks noGrp="1"/>
          </p:cNvSpPr>
          <p:nvPr>
            <p:ph type="title" idx="0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>
            <a:lvl1pPr algn="ctr">
              <a:buNone/>
              <a:defRPr/>
            </a:lvl1pPr>
            <a:lvl2pPr algn="ctr">
              <a:buNone/>
              <a:defRPr/>
            </a:lvl2pPr>
            <a:lvl3pPr algn="ctr">
              <a:buNone/>
              <a:defRPr/>
            </a:lvl3pPr>
            <a:lvl4pPr algn="ctr">
              <a:buNone/>
              <a:defRPr/>
            </a:lvl4pPr>
            <a:lvl5pPr algn="ctr">
              <a:buNone/>
              <a:defRPr/>
            </a:lvl5pPr>
            <a:lvl6pPr algn="ctr">
              <a:buNone/>
              <a:defRPr/>
            </a:lvl6pPr>
            <a:lvl7pPr algn="ctr">
              <a:buNone/>
              <a:defRPr/>
            </a:lvl7pPr>
            <a:lvl8pPr algn="ctr">
              <a:buNone/>
              <a:defRPr/>
            </a:lvl8pPr>
            <a:lvl9pPr algn="ctr">
              <a:buNone/>
              <a:defRPr/>
            </a:lvl9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175748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6" y="1690686"/>
            <a:ext cx="5157784" cy="814385"/>
          </a:xfrm>
        </p:spPr>
        <p:txBody>
          <a:bodyPr vert="horz" wrap="square" lIns="182880" tIns="182880" rIns="182880" bIns="91440" anchor="ctr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51286199" name="Content Placeholder 3"/>
          <p:cNvSpPr>
            <a:spLocks noGrp="1"/>
          </p:cNvSpPr>
          <p:nvPr>
            <p:ph idx="2"/>
          </p:nvPr>
        </p:nvSpPr>
        <p:spPr bwMode="auto">
          <a:xfrm>
            <a:off x="839787" y="2505073"/>
            <a:ext cx="5157785" cy="3684587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05326043" name="Text Placeholder 4"/>
          <p:cNvSpPr>
            <a:spLocks noGrp="1"/>
          </p:cNvSpPr>
          <p:nvPr>
            <p:ph type="body" idx="3"/>
          </p:nvPr>
        </p:nvSpPr>
        <p:spPr bwMode="auto">
          <a:xfrm>
            <a:off x="6172198" y="1690686"/>
            <a:ext cx="5183186" cy="814385"/>
          </a:xfrm>
        </p:spPr>
        <p:txBody>
          <a:bodyPr vert="horz" wrap="square" lIns="182880" tIns="182880" rIns="182880" bIns="91440" anchor="ctr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35788158" name="Content Placeholder 5"/>
          <p:cNvSpPr>
            <a:spLocks noGrp="1"/>
          </p:cNvSpPr>
          <p:nvPr>
            <p:ph idx="4"/>
          </p:nvPr>
        </p:nvSpPr>
        <p:spPr bwMode="auto">
          <a:xfrm>
            <a:off x="6172200" y="2505073"/>
            <a:ext cx="5183187" cy="3684587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46934223" name="Date Placeholder 6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1620767895" name="Footer Placeholder 7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36773982" name="Slide Number Placeholder 8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  <p:sp>
        <p:nvSpPr>
          <p:cNvPr id="1647186700" name="Rectangle 640957806"/>
          <p:cNvSpPr>
            <a:spLocks noGrp="1"/>
          </p:cNvSpPr>
          <p:nvPr/>
        </p:nvSpPr>
        <p:spPr bwMode="auto">
          <a:xfrm>
            <a:off x="2330779" y="1690686"/>
            <a:ext cx="7530436" cy="7315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9608712" name="Title 1"/>
          <p:cNvSpPr>
            <a:spLocks noGrp="1"/>
          </p:cNvSpPr>
          <p:nvPr>
            <p:ph type="title" idx="0"/>
          </p:nvPr>
        </p:nvSpPr>
        <p:spPr bwMode="auto">
          <a:xfrm>
            <a:off x="839787" y="457200"/>
            <a:ext cx="3932236" cy="1600200"/>
          </a:xfrm>
        </p:spPr>
        <p:txBody>
          <a:bodyPr vert="horz" wrap="square" lIns="91440" tIns="45720" rIns="91440" bIns="45720" anchor="ctr">
            <a:normAutofit/>
          </a:bodyPr>
          <a:lstStyle>
            <a:lvl1pPr>
              <a:buNone/>
              <a:defRPr sz="3200">
                <a:solidFill>
                  <a:schemeClr val="bg1"/>
                </a:solidFill>
              </a:defRPr>
            </a:lvl1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4653562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6" y="457198"/>
            <a:ext cx="6172200" cy="5403847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buNone/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758397902" name="Text Placeholder 3"/>
          <p:cNvSpPr>
            <a:spLocks noGrp="1"/>
          </p:cNvSpPr>
          <p:nvPr>
            <p:ph type="body" idx="2"/>
          </p:nvPr>
        </p:nvSpPr>
        <p:spPr bwMode="auto">
          <a:xfrm>
            <a:off x="839787" y="2057400"/>
            <a:ext cx="3932236" cy="3811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58256980" name="Date Placeholder 4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1182299199" name="Footer Placeholder 5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1018364703" name="Slide Number Placeholder 6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  <p:sp>
        <p:nvSpPr>
          <p:cNvPr id="132548738" name="Rectangle 640957806"/>
          <p:cNvSpPr>
            <a:spLocks noGrp="1"/>
          </p:cNvSpPr>
          <p:nvPr/>
        </p:nvSpPr>
        <p:spPr bwMode="auto">
          <a:xfrm>
            <a:off x="838197" y="1984248"/>
            <a:ext cx="3933823" cy="7315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90340388" name="Picture 752255626"/>
          <p:cNvPicPr>
            <a:picLocks noChangeAspect="1"/>
          </p:cNvPicPr>
          <p:nvPr/>
        </p:nvPicPr>
        <p:blipFill rotWithShape="1">
          <a:blip r:embed="rId2">
            <a:alphaModFix amt="30000"/>
          </a:blip>
          <a:stretch/>
        </p:blipFill>
        <p:spPr bwMode="auto">
          <a:xfrm>
            <a:off x="20620" y="8103"/>
            <a:ext cx="12216844" cy="6858000"/>
          </a:xfrm>
          <a:prstGeom prst="rect">
            <a:avLst/>
          </a:prstGeom>
        </p:spPr>
      </p:pic>
      <p:sp>
        <p:nvSpPr>
          <p:cNvPr id="2136944161" name="Title 1"/>
          <p:cNvSpPr>
            <a:spLocks noGrp="1"/>
          </p:cNvSpPr>
          <p:nvPr>
            <p:ph type="title" idx="0"/>
          </p:nvPr>
        </p:nvSpPr>
        <p:spPr bwMode="auto">
          <a:xfrm>
            <a:off x="838197" y="2455619"/>
            <a:ext cx="10515600" cy="1325561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  <a:lvl6pPr algn="ctr">
              <a:buNone/>
              <a:defRPr>
                <a:solidFill>
                  <a:schemeClr val="bg1"/>
                </a:solidFill>
              </a:defRPr>
            </a:lvl6pPr>
            <a:lvl7pPr algn="ctr">
              <a:buNone/>
              <a:defRPr>
                <a:solidFill>
                  <a:schemeClr val="bg1"/>
                </a:solidFill>
              </a:defRPr>
            </a:lvl7pPr>
            <a:lvl8pPr algn="ctr">
              <a:buNone/>
              <a:defRPr>
                <a:solidFill>
                  <a:schemeClr val="bg1"/>
                </a:solidFill>
              </a:defRPr>
            </a:lvl8pPr>
            <a:lvl9pPr algn="ctr"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29406895" name="Date Placeholder 2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2097889191" name="Footer Placeholder 3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670491531" name="Slide Number Placeholder 4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473594" name="Date Placeholder 1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2086791145" name="Footer Placeholder 2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1946364101" name="Slide Number Placeholder 3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0046832" name="Title 1"/>
          <p:cNvSpPr>
            <a:spLocks noGrp="1"/>
          </p:cNvSpPr>
          <p:nvPr>
            <p:ph type="title" idx="0"/>
          </p:nvPr>
        </p:nvSpPr>
        <p:spPr bwMode="auto">
          <a:xfrm>
            <a:off x="839787" y="457200"/>
            <a:ext cx="3932236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68957150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4"/>
            <a:ext cx="6172200" cy="4873624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350649" name="Text Placeholder 3"/>
          <p:cNvSpPr>
            <a:spLocks noGrp="1"/>
          </p:cNvSpPr>
          <p:nvPr>
            <p:ph type="body" idx="2"/>
          </p:nvPr>
        </p:nvSpPr>
        <p:spPr bwMode="auto">
          <a:xfrm>
            <a:off x="839787" y="2057400"/>
            <a:ext cx="3932236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3870089" name="Date Placeholder 4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153150758" name="Footer Placeholder 5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173865206" name="Slide Number Placeholder 6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0566149" name="Title 1"/>
          <p:cNvSpPr>
            <a:spLocks noGrp="1"/>
          </p:cNvSpPr>
          <p:nvPr>
            <p:ph type="title" idx="0"/>
          </p:nvPr>
        </p:nvSpPr>
        <p:spPr bwMode="auto"/>
        <p:txBody>
          <a:bodyPr/>
          <a:lstStyle/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83035637" name="Vertical Text Placeholder 2"/>
          <p:cNvSpPr>
            <a:spLocks noGrp="1"/>
          </p:cNvSpPr>
          <p:nvPr>
            <p:ph type="body" idx="1"/>
          </p:nvPr>
        </p:nvSpPr>
        <p:spPr bwMode="auto"/>
        <p:txBody>
          <a:bodyPr vert="eaVert"/>
          <a:lstStyle/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36570159" name="Date Placeholder 3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1985583171" name="Footer Placeholder 4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939901061" name="Slide Number Placeholder 5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016208" name="Vertical Title 1"/>
          <p:cNvSpPr>
            <a:spLocks noGrp="1"/>
          </p:cNvSpPr>
          <p:nvPr>
            <p:ph type="title" idx="0"/>
          </p:nvPr>
        </p:nvSpPr>
        <p:spPr bwMode="auto">
          <a:xfrm>
            <a:off x="8724899" y="365124"/>
            <a:ext cx="2628900" cy="5811837"/>
          </a:xfrm>
        </p:spPr>
        <p:txBody>
          <a:bodyPr vert="eaVert"/>
          <a:lstStyle/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64802516" name="Vertical 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365124"/>
            <a:ext cx="7734299" cy="5811837"/>
          </a:xfrm>
        </p:spPr>
        <p:txBody>
          <a:bodyPr vert="eaVert"/>
          <a:lstStyle/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06321413" name="Date Placeholder 3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1264945922" name="Footer Placeholder 4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1612659433" name="Slide Number Placeholder 5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3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1534846" name="Title Placeholder 1"/>
          <p:cNvSpPr>
            <a:spLocks noGrp="1"/>
          </p:cNvSpPr>
          <p:nvPr>
            <p:ph type="title" idx="0"/>
          </p:nvPr>
        </p:nvSpPr>
        <p:spPr bwMode="auto">
          <a:xfrm>
            <a:off x="838198" y="365124"/>
            <a:ext cx="10515600" cy="132556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>
              <a:buNone/>
              <a:defRPr b="1"/>
            </a:lvl1pPr>
          </a:lstStyle>
          <a:p>
            <a:pPr>
              <a:buNone/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039084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41248" y="1828800"/>
            <a:ext cx="10515600" cy="4351338"/>
          </a:xfrm>
          <a:prstGeom prst="rect">
            <a:avLst/>
          </a:prstGeom>
        </p:spPr>
        <p:txBody>
          <a:bodyPr vert="horz" wrap="square" lIns="182880" tIns="182880" rIns="182880" bIns="91440" anchor="t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>
              <a:buNone/>
              <a:defRPr/>
            </a:pPr>
            <a:r>
              <a:rPr/>
              <a:t>Click to edit Master text styles</a:t>
            </a:r>
            <a:endParaRPr/>
          </a:p>
          <a:p>
            <a:pPr lvl="1">
              <a:buNone/>
              <a:defRPr/>
            </a:pPr>
            <a:r>
              <a:rPr/>
              <a:t>Second level</a:t>
            </a:r>
            <a:endParaRPr/>
          </a:p>
          <a:p>
            <a:pPr lvl="2">
              <a:buNone/>
              <a:defRPr/>
            </a:pPr>
            <a:r>
              <a:rPr/>
              <a:t>Third level</a:t>
            </a:r>
            <a:endParaRPr/>
          </a:p>
          <a:p>
            <a:pPr lvl="3">
              <a:buNone/>
              <a:defRPr/>
            </a:pPr>
            <a:r>
              <a:rPr/>
              <a:t>Fourth level</a:t>
            </a:r>
            <a:endParaRPr/>
          </a:p>
          <a:p>
            <a:pPr lvl="4">
              <a:buNone/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64238722" name="Date Placeholder 3"/>
          <p:cNvSpPr>
            <a:spLocks noGrp="1"/>
          </p:cNvSpPr>
          <p:nvPr>
            <p:ph type="dt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buNone/>
              <a:defRPr/>
            </a:pPr>
            <a:fld id="{BCC18F51-09EC-435C-A3BA-64A766E099C0}" type="datetimeFigureOut">
              <a:rPr/>
              <a:t>2026/7/31</a:t>
            </a:fld>
            <a:endParaRPr/>
          </a:p>
        </p:txBody>
      </p:sp>
      <p:sp>
        <p:nvSpPr>
          <p:cNvPr id="1065670953" name="Footer Placeholder 4"/>
          <p:cNvSpPr>
            <a:spLocks noGrp="1"/>
          </p:cNvSpPr>
          <p:nvPr>
            <p:ph type="ft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buNone/>
              <a:defRPr/>
            </a:pPr>
            <a:endParaRPr/>
          </a:p>
        </p:txBody>
      </p:sp>
      <p:sp>
        <p:nvSpPr>
          <p:cNvPr id="691906376" name="Slide Number Placeholder 5"/>
          <p:cNvSpPr>
            <a:spLocks noGrp="1"/>
          </p:cNvSpPr>
          <p:nvPr>
            <p:ph type="sldNum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buNone/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999"/>
        </a:spcBef>
        <a:buFont typeface="Arial"/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499"/>
        </a:spcBef>
        <a:buFont typeface="Arial"/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499"/>
        </a:spcBef>
        <a:buFont typeface="Arial"/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599" indent="-228600" algn="l" defTabSz="91440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dn.openai.com/papers/gpt-4-system-card.pdf" TargetMode="Externa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penai.com/index/openai-o1-system-card/" TargetMode="Externa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www.anthropic.com/claude-4-system-card" TargetMode="Externa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penai.com/index/hugging-face-model-evaluation-security-incident/" TargetMode="Externa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www.anthropic.com/news/investigating-incidents-cybersecurity-evals" TargetMode="Externa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604222" name="section-title"/>
          <p:cNvSpPr>
            <a:spLocks noGrp="1"/>
          </p:cNvSpPr>
          <p:nvPr/>
        </p:nvSpPr>
        <p:spPr bwMode="auto">
          <a:xfrm>
            <a:off x="857250" y="2876549"/>
            <a:ext cx="10477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b="1" i="0">
                <a:solidFill>
                  <a:srgbClr val="172033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050" b="1" i="0" u="none" cap="none">
                <a:solidFill>
                  <a:srgbClr val="172033"/>
                </a:solidFill>
                <a:latin typeface="Times New Roman"/>
                <a:ea typeface="Times New Roman"/>
                <a:cs typeface="Times New Roman"/>
              </a:rPr>
              <a:t>LLM Security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0600601" name="Rectangle 197505908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2965E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2965EC"/>
                </a:solidFill>
                <a:latin typeface="Times New Roman"/>
                <a:ea typeface="Times New Roman"/>
                <a:cs typeface="Times New Roman"/>
              </a:rPr>
              <a:t>DATA LEAKAGE</a:t>
            </a:r>
            <a:endParaRPr/>
          </a:p>
        </p:txBody>
      </p:sp>
      <p:sp>
        <p:nvSpPr>
          <p:cNvPr id="309147083" name="Rectangle 1909048147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B0F19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000" b="1">
                <a:solidFill>
                  <a:srgbClr val="0B0F19"/>
                </a:solidFill>
                <a:latin typeface="Times New Roman"/>
                <a:ea typeface="Times New Roman"/>
                <a:cs typeface="Times New Roman"/>
              </a:rPr>
              <a:t>Sensitive Data Crosses Trust Boundaries</a:t>
            </a:r>
            <a:endParaRPr/>
          </a:p>
        </p:txBody>
      </p:sp>
      <p:sp>
        <p:nvSpPr>
          <p:cNvPr id="2014575129" name="Rectangle: Rounded Corners 816331080"/>
          <p:cNvSpPr>
            <a:spLocks noGrp="1"/>
          </p:cNvSpPr>
          <p:nvPr/>
        </p:nvSpPr>
        <p:spPr bwMode="auto">
          <a:xfrm>
            <a:off x="609599" y="1352549"/>
            <a:ext cx="10972800" cy="4762499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4288">
            <a:solidFill>
              <a:srgbClr val="E2E8F0"/>
            </a:solidFill>
            <a:prstDash val="solid"/>
          </a:ln>
        </p:spPr>
        <p:txBody>
          <a:bodyPr/>
          <a:lstStyle/>
          <a:p>
            <a:pPr>
              <a:buNone/>
              <a:defRPr/>
            </a:pPr>
            <a:endParaRPr/>
          </a:p>
        </p:txBody>
      </p:sp>
      <p:sp>
        <p:nvSpPr>
          <p:cNvPr id="213970" name="Rectangle 191215672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1</a:t>
            </a:r>
            <a:endParaRPr/>
          </a:p>
        </p:txBody>
      </p:sp>
      <p:sp>
        <p:nvSpPr>
          <p:cNvPr id="1223120700" name="data-leakage-arrow-1"/>
          <p:cNvSpPr>
            <a:spLocks noGrp="1"/>
          </p:cNvSpPr>
          <p:nvPr/>
        </p:nvSpPr>
        <p:spPr bwMode="auto">
          <a:xfrm>
            <a:off x="4133849" y="3267074"/>
            <a:ext cx="457200" cy="266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1198916204" name="data-leakage-arrow-2"/>
          <p:cNvSpPr>
            <a:spLocks noGrp="1"/>
          </p:cNvSpPr>
          <p:nvPr/>
        </p:nvSpPr>
        <p:spPr bwMode="auto">
          <a:xfrm>
            <a:off x="7353299" y="3267074"/>
            <a:ext cx="457200" cy="266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40999741" name="data-leakage-1-enters"/>
          <p:cNvSpPr>
            <a:spLocks noGrp="1"/>
          </p:cNvSpPr>
          <p:nvPr/>
        </p:nvSpPr>
        <p:spPr bwMode="auto">
          <a:xfrm>
            <a:off x="1219199" y="1866899"/>
            <a:ext cx="2838450" cy="3028950"/>
          </a:xfrm>
          <a:prstGeom prst="roundRect">
            <a:avLst>
              <a:gd name="adj" fmla="val 4027"/>
            </a:avLst>
          </a:prstGeom>
          <a:solidFill>
            <a:srgbClr val="EAF2FF"/>
          </a:solidFill>
          <a:ln w="14288">
            <a:solidFill>
              <a:srgbClr val="2563E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52075957" name=""/>
          <p:cNvSpPr>
            <a:spLocks noGrp="1"/>
          </p:cNvSpPr>
          <p:nvPr/>
        </p:nvSpPr>
        <p:spPr bwMode="auto">
          <a:xfrm>
            <a:off x="1409699" y="2019299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sz="1300" b="1">
                <a:solidFill>
                  <a:srgbClr val="2563EB"/>
                </a:solidFill>
              </a:rPr>
              <a:t>1  ENTERS</a:t>
            </a:r>
            <a:endParaRPr/>
          </a:p>
        </p:txBody>
      </p:sp>
      <p:sp>
        <p:nvSpPr>
          <p:cNvPr id="1525591841" name=""/>
          <p:cNvSpPr>
            <a:spLocks noGrp="1"/>
          </p:cNvSpPr>
          <p:nvPr/>
        </p:nvSpPr>
        <p:spPr bwMode="auto">
          <a:xfrm>
            <a:off x="1409699" y="2400300"/>
            <a:ext cx="2457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Sensitive Sources</a:t>
            </a:r>
            <a:endParaRPr/>
          </a:p>
        </p:txBody>
      </p:sp>
      <p:sp>
        <p:nvSpPr>
          <p:cNvPr id="1558683176" name=""/>
          <p:cNvSpPr>
            <a:spLocks noGrp="1"/>
          </p:cNvSpPr>
          <p:nvPr/>
        </p:nvSpPr>
        <p:spPr bwMode="auto">
          <a:xfrm>
            <a:off x="1543050" y="2990849"/>
            <a:ext cx="2190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PROMPTS</a:t>
            </a:r>
            <a:endParaRPr/>
          </a:p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FILES</a:t>
            </a:r>
            <a:endParaRPr/>
          </a:p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RETRIEVED DATA</a:t>
            </a:r>
            <a:endParaRPr/>
          </a:p>
        </p:txBody>
      </p:sp>
      <p:sp>
        <p:nvSpPr>
          <p:cNvPr id="1801647791" name="data-leakage-2-becomes-context"/>
          <p:cNvSpPr>
            <a:spLocks noGrp="1"/>
          </p:cNvSpPr>
          <p:nvPr/>
        </p:nvSpPr>
        <p:spPr bwMode="auto">
          <a:xfrm>
            <a:off x="4438649" y="1866899"/>
            <a:ext cx="2838450" cy="3028950"/>
          </a:xfrm>
          <a:prstGeom prst="roundRect">
            <a:avLst>
              <a:gd name="adj" fmla="val 4027"/>
            </a:avLst>
          </a:prstGeom>
          <a:solidFill>
            <a:srgbClr val="FFF4DD"/>
          </a:solidFill>
          <a:ln w="14288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786091" name=""/>
          <p:cNvSpPr>
            <a:spLocks noGrp="1"/>
          </p:cNvSpPr>
          <p:nvPr/>
        </p:nvSpPr>
        <p:spPr bwMode="auto">
          <a:xfrm>
            <a:off x="4629149" y="2019299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rPr sz="1300" b="1">
                <a:solidFill>
                  <a:srgbClr val="F59E0B"/>
                </a:solidFill>
              </a:rPr>
              <a:t>2  BECOMES CONTEXT</a:t>
            </a:r>
            <a:endParaRPr/>
          </a:p>
        </p:txBody>
      </p:sp>
      <p:sp>
        <p:nvSpPr>
          <p:cNvPr id="1251918582" name=""/>
          <p:cNvSpPr>
            <a:spLocks noGrp="1"/>
          </p:cNvSpPr>
          <p:nvPr/>
        </p:nvSpPr>
        <p:spPr bwMode="auto">
          <a:xfrm>
            <a:off x="4629149" y="2400300"/>
            <a:ext cx="2457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Model + Tool Access</a:t>
            </a:r>
            <a:endParaRPr/>
          </a:p>
        </p:txBody>
      </p:sp>
      <p:sp>
        <p:nvSpPr>
          <p:cNvPr id="1094636596" name=""/>
          <p:cNvSpPr>
            <a:spLocks noGrp="1"/>
          </p:cNvSpPr>
          <p:nvPr/>
        </p:nvSpPr>
        <p:spPr bwMode="auto">
          <a:xfrm>
            <a:off x="4762499" y="2990849"/>
            <a:ext cx="2190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SYSTEM PROMPTS</a:t>
            </a:r>
            <a:endParaRPr/>
          </a:p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CREDENTIALS</a:t>
            </a:r>
            <a:endParaRPr/>
          </a:p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PRIVATE RECORDS</a:t>
            </a:r>
            <a:endParaRPr/>
          </a:p>
        </p:txBody>
      </p:sp>
      <p:sp>
        <p:nvSpPr>
          <p:cNvPr id="719993503" name="data-leakage-3-leaves"/>
          <p:cNvSpPr>
            <a:spLocks noGrp="1"/>
          </p:cNvSpPr>
          <p:nvPr/>
        </p:nvSpPr>
        <p:spPr bwMode="auto">
          <a:xfrm>
            <a:off x="7658100" y="1866899"/>
            <a:ext cx="2838450" cy="3028950"/>
          </a:xfrm>
          <a:prstGeom prst="roundRect">
            <a:avLst>
              <a:gd name="adj" fmla="val 4027"/>
            </a:avLst>
          </a:prstGeom>
          <a:solidFill>
            <a:srgbClr val="FDECEC"/>
          </a:solidFill>
          <a:ln w="14288">
            <a:solidFill>
              <a:srgbClr val="DC2626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16892769" name=""/>
          <p:cNvSpPr>
            <a:spLocks noGrp="1"/>
          </p:cNvSpPr>
          <p:nvPr/>
        </p:nvSpPr>
        <p:spPr bwMode="auto">
          <a:xfrm>
            <a:off x="7848599" y="2019299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00" b="1">
                <a:solidFill>
                  <a:srgbClr val="DC2626"/>
                </a:solidFill>
              </a:defRPr>
            </a:pPr>
            <a:r>
              <a:rPr sz="1300" b="1">
                <a:solidFill>
                  <a:srgbClr val="DC2626"/>
                </a:solidFill>
              </a:rPr>
              <a:t>3  LEAVES</a:t>
            </a:r>
            <a:endParaRPr/>
          </a:p>
        </p:txBody>
      </p:sp>
      <p:sp>
        <p:nvSpPr>
          <p:cNvPr id="1613139696" name=""/>
          <p:cNvSpPr>
            <a:spLocks noGrp="1"/>
          </p:cNvSpPr>
          <p:nvPr/>
        </p:nvSpPr>
        <p:spPr bwMode="auto">
          <a:xfrm>
            <a:off x="7848599" y="2400300"/>
            <a:ext cx="2457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Exposure Paths</a:t>
            </a:r>
            <a:endParaRPr/>
          </a:p>
        </p:txBody>
      </p:sp>
      <p:sp>
        <p:nvSpPr>
          <p:cNvPr id="609871332" name=""/>
          <p:cNvSpPr>
            <a:spLocks noGrp="1"/>
          </p:cNvSpPr>
          <p:nvPr/>
        </p:nvSpPr>
        <p:spPr bwMode="auto">
          <a:xfrm>
            <a:off x="7981949" y="2990849"/>
            <a:ext cx="2190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OUTPUTS</a:t>
            </a:r>
            <a:endParaRPr/>
          </a:p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LOGS</a:t>
            </a:r>
            <a:endParaRPr/>
          </a:p>
          <a:p>
            <a:pPr algn="ctr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TOOL CALLS</a:t>
            </a:r>
            <a:endParaRPr/>
          </a:p>
        </p:txBody>
      </p:sp>
      <p:sp>
        <p:nvSpPr>
          <p:cNvPr id="2007752871" name=""/>
          <p:cNvSpPr>
            <a:spLocks noGrp="1"/>
          </p:cNvSpPr>
          <p:nvPr/>
        </p:nvSpPr>
        <p:spPr bwMode="auto">
          <a:xfrm>
            <a:off x="1066800" y="5124450"/>
            <a:ext cx="1005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Sensitive Data Exposure occurs when data reaches an unauthorized person, system, or destination.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380131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WHY IT MATTERS</a:t>
            </a:r>
            <a:endParaRPr/>
          </a:p>
        </p:txBody>
      </p:sp>
      <p:sp>
        <p:nvSpPr>
          <p:cNvPr id="477436786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Text → Decision → Action</a:t>
            </a:r>
            <a:endParaRPr/>
          </a:p>
        </p:txBody>
      </p:sp>
      <p:sp>
        <p:nvSpPr>
          <p:cNvPr id="390519744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2</a:t>
            </a:r>
            <a:endParaRPr/>
          </a:p>
        </p:txBody>
      </p:sp>
      <p:sp>
        <p:nvSpPr>
          <p:cNvPr id="353345016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09858461" name="flow-arrow-1"/>
          <p:cNvSpPr>
            <a:spLocks noGrp="1"/>
          </p:cNvSpPr>
          <p:nvPr/>
        </p:nvSpPr>
        <p:spPr bwMode="auto">
          <a:xfrm>
            <a:off x="2438399" y="3124199"/>
            <a:ext cx="438148" cy="2666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971949868" name="flow-arrow-2"/>
          <p:cNvSpPr>
            <a:spLocks noGrp="1"/>
          </p:cNvSpPr>
          <p:nvPr/>
        </p:nvSpPr>
        <p:spPr bwMode="auto">
          <a:xfrm>
            <a:off x="4457700" y="3124199"/>
            <a:ext cx="438148" cy="2666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566105773" name="flow-arrow-3"/>
          <p:cNvSpPr>
            <a:spLocks noGrp="1"/>
          </p:cNvSpPr>
          <p:nvPr/>
        </p:nvSpPr>
        <p:spPr bwMode="auto">
          <a:xfrm>
            <a:off x="6477000" y="3124199"/>
            <a:ext cx="438148" cy="2666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969005389" name="flow-arrow-4"/>
          <p:cNvSpPr>
            <a:spLocks noGrp="1"/>
          </p:cNvSpPr>
          <p:nvPr/>
        </p:nvSpPr>
        <p:spPr bwMode="auto">
          <a:xfrm>
            <a:off x="8496299" y="3124199"/>
            <a:ext cx="438148" cy="2666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412803667" name="icon"/>
          <p:cNvSpPr>
            <a:spLocks noGrp="1"/>
          </p:cNvSpPr>
          <p:nvPr/>
        </p:nvSpPr>
        <p:spPr bwMode="auto">
          <a:xfrm>
            <a:off x="1466848" y="2133599"/>
            <a:ext cx="514350" cy="514350"/>
          </a:xfrm>
          <a:prstGeom prst="ellipse">
            <a:avLst/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T</a:t>
            </a:r>
            <a:endParaRPr/>
          </a:p>
        </p:txBody>
      </p:sp>
      <p:sp>
        <p:nvSpPr>
          <p:cNvPr id="2014459520" name="node-user-message"/>
          <p:cNvSpPr>
            <a:spLocks noGrp="1"/>
          </p:cNvSpPr>
          <p:nvPr/>
        </p:nvSpPr>
        <p:spPr bwMode="auto">
          <a:xfrm>
            <a:off x="990599" y="2800349"/>
            <a:ext cx="1447799" cy="933449"/>
          </a:xfrm>
          <a:prstGeom prst="roundRect">
            <a:avLst>
              <a:gd name="adj" fmla="val 8163"/>
            </a:avLst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User</a:t>
            </a:r>
            <a:endParaRPr/>
          </a:p>
          <a:p>
            <a:pPr algn="ctr">
              <a:buNone/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Message</a:t>
            </a:r>
            <a:endParaRPr/>
          </a:p>
        </p:txBody>
      </p:sp>
      <p:sp>
        <p:nvSpPr>
          <p:cNvPr id="696446571" name="icon"/>
          <p:cNvSpPr>
            <a:spLocks noGrp="1"/>
          </p:cNvSpPr>
          <p:nvPr/>
        </p:nvSpPr>
        <p:spPr bwMode="auto">
          <a:xfrm>
            <a:off x="3486150" y="2133599"/>
            <a:ext cx="514350" cy="514350"/>
          </a:xfrm>
          <a:prstGeom prst="ellipse">
            <a:avLst/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L</a:t>
            </a:r>
            <a:endParaRPr/>
          </a:p>
        </p:txBody>
      </p:sp>
      <p:sp>
        <p:nvSpPr>
          <p:cNvPr id="793434872" name="node-llm"/>
          <p:cNvSpPr>
            <a:spLocks noGrp="1"/>
          </p:cNvSpPr>
          <p:nvPr/>
        </p:nvSpPr>
        <p:spPr bwMode="auto">
          <a:xfrm>
            <a:off x="3009899" y="2800349"/>
            <a:ext cx="1447799" cy="933449"/>
          </a:xfrm>
          <a:prstGeom prst="roundRect">
            <a:avLst>
              <a:gd name="adj" fmla="val 8163"/>
            </a:avLst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LLM</a:t>
            </a:r>
            <a:endParaRPr/>
          </a:p>
        </p:txBody>
      </p:sp>
      <p:sp>
        <p:nvSpPr>
          <p:cNvPr id="79298351" name="icon"/>
          <p:cNvSpPr>
            <a:spLocks noGrp="1"/>
          </p:cNvSpPr>
          <p:nvPr/>
        </p:nvSpPr>
        <p:spPr bwMode="auto">
          <a:xfrm>
            <a:off x="5505449" y="2133599"/>
            <a:ext cx="514350" cy="514350"/>
          </a:xfrm>
          <a:prstGeom prst="ellipse">
            <a:avLst/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F59E0B"/>
                </a:solidFill>
              </a:defRPr>
            </a:pPr>
            <a:r>
              <a:rPr sz="1650" b="1">
                <a:solidFill>
                  <a:srgbClr val="F59E0B"/>
                </a:solidFill>
              </a:rPr>
              <a:t>?</a:t>
            </a:r>
            <a:endParaRPr/>
          </a:p>
        </p:txBody>
      </p:sp>
      <p:sp>
        <p:nvSpPr>
          <p:cNvPr id="423227940" name="node-decision"/>
          <p:cNvSpPr>
            <a:spLocks noGrp="1"/>
          </p:cNvSpPr>
          <p:nvPr/>
        </p:nvSpPr>
        <p:spPr bwMode="auto">
          <a:xfrm>
            <a:off x="5029200" y="2800349"/>
            <a:ext cx="1447799" cy="933449"/>
          </a:xfrm>
          <a:prstGeom prst="roundRect">
            <a:avLst>
              <a:gd name="adj" fmla="val 8163"/>
            </a:avLst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Decision</a:t>
            </a:r>
            <a:endParaRPr/>
          </a:p>
        </p:txBody>
      </p:sp>
      <p:sp>
        <p:nvSpPr>
          <p:cNvPr id="708924965" name="icon"/>
          <p:cNvSpPr>
            <a:spLocks noGrp="1"/>
          </p:cNvSpPr>
          <p:nvPr/>
        </p:nvSpPr>
        <p:spPr bwMode="auto">
          <a:xfrm>
            <a:off x="7524749" y="2133599"/>
            <a:ext cx="514350" cy="514350"/>
          </a:xfrm>
          <a:prstGeom prst="ellipse">
            <a:avLst/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R</a:t>
            </a:r>
            <a:endParaRPr/>
          </a:p>
        </p:txBody>
      </p:sp>
      <p:sp>
        <p:nvSpPr>
          <p:cNvPr id="2005283429" name="node-tool-execution"/>
          <p:cNvSpPr>
            <a:spLocks noGrp="1"/>
          </p:cNvSpPr>
          <p:nvPr/>
        </p:nvSpPr>
        <p:spPr bwMode="auto">
          <a:xfrm>
            <a:off x="7048500" y="2800349"/>
            <a:ext cx="1447799" cy="933449"/>
          </a:xfrm>
          <a:prstGeom prst="roundRect">
            <a:avLst>
              <a:gd name="adj" fmla="val 8163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Tool</a:t>
            </a:r>
            <a:endParaRPr/>
          </a:p>
          <a:p>
            <a:pPr algn="ct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Execution</a:t>
            </a:r>
            <a:endParaRPr/>
          </a:p>
        </p:txBody>
      </p:sp>
      <p:sp>
        <p:nvSpPr>
          <p:cNvPr id="1446525465" name="icon"/>
          <p:cNvSpPr>
            <a:spLocks noGrp="1"/>
          </p:cNvSpPr>
          <p:nvPr/>
        </p:nvSpPr>
        <p:spPr bwMode="auto">
          <a:xfrm>
            <a:off x="9544050" y="2133599"/>
            <a:ext cx="514350" cy="514350"/>
          </a:xfrm>
          <a:prstGeom prst="ellipse">
            <a:avLst/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!</a:t>
            </a:r>
            <a:endParaRPr/>
          </a:p>
        </p:txBody>
      </p:sp>
      <p:sp>
        <p:nvSpPr>
          <p:cNvPr id="492982758" name="node-system-change"/>
          <p:cNvSpPr>
            <a:spLocks noGrp="1"/>
          </p:cNvSpPr>
          <p:nvPr/>
        </p:nvSpPr>
        <p:spPr bwMode="auto">
          <a:xfrm>
            <a:off x="9067799" y="2800349"/>
            <a:ext cx="1447799" cy="933449"/>
          </a:xfrm>
          <a:prstGeom prst="roundRect">
            <a:avLst>
              <a:gd name="adj" fmla="val 8163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System</a:t>
            </a:r>
            <a:endParaRPr/>
          </a:p>
          <a:p>
            <a:pPr algn="ct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Change</a:t>
            </a:r>
            <a:endParaRPr/>
          </a:p>
        </p:txBody>
      </p:sp>
      <p:sp>
        <p:nvSpPr>
          <p:cNvPr id="758052936" name="action-drop-line"/>
          <p:cNvSpPr>
            <a:spLocks noGrp="1"/>
          </p:cNvSpPr>
          <p:nvPr/>
        </p:nvSpPr>
        <p:spPr bwMode="auto">
          <a:xfrm rot="5400000">
            <a:off x="9505950" y="4014787"/>
            <a:ext cx="571500" cy="9524"/>
          </a:xfrm>
          <a:prstGeom prst="line">
            <a:avLst/>
          </a:prstGeom>
          <a:noFill/>
          <a:ln w="28575">
            <a:solidFill>
              <a:srgbClr val="DC2626"/>
            </a:solidFill>
            <a:prstDash val="solid"/>
          </a:ln>
        </p:spPr>
      </p:sp>
      <p:sp>
        <p:nvSpPr>
          <p:cNvPr id="737407534" name="icon"/>
          <p:cNvSpPr>
            <a:spLocks noGrp="1"/>
          </p:cNvSpPr>
          <p:nvPr/>
        </p:nvSpPr>
        <p:spPr bwMode="auto">
          <a:xfrm>
            <a:off x="8496299" y="4457700"/>
            <a:ext cx="609599" cy="609599"/>
          </a:xfrm>
          <a:prstGeom prst="ellipse">
            <a:avLst/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M</a:t>
            </a:r>
            <a:endParaRPr/>
          </a:p>
        </p:txBody>
      </p:sp>
      <p:sp>
        <p:nvSpPr>
          <p:cNvPr id="1939755952" name="icon"/>
          <p:cNvSpPr>
            <a:spLocks noGrp="1"/>
          </p:cNvSpPr>
          <p:nvPr/>
        </p:nvSpPr>
        <p:spPr bwMode="auto">
          <a:xfrm>
            <a:off x="9486900" y="4457700"/>
            <a:ext cx="609599" cy="609599"/>
          </a:xfrm>
          <a:prstGeom prst="ellipse">
            <a:avLst/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D</a:t>
            </a:r>
            <a:endParaRPr/>
          </a:p>
        </p:txBody>
      </p:sp>
      <p:sp>
        <p:nvSpPr>
          <p:cNvPr id="74921136" name="icon"/>
          <p:cNvSpPr>
            <a:spLocks noGrp="1"/>
          </p:cNvSpPr>
          <p:nvPr/>
        </p:nvSpPr>
        <p:spPr bwMode="auto">
          <a:xfrm>
            <a:off x="10477500" y="4457700"/>
            <a:ext cx="609599" cy="609599"/>
          </a:xfrm>
          <a:prstGeom prst="ellipse">
            <a:avLst/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A</a:t>
            </a:r>
            <a:endParaRPr/>
          </a:p>
        </p:txBody>
      </p:sp>
      <p:sp>
        <p:nvSpPr>
          <p:cNvPr id="1105041697" name=""/>
          <p:cNvSpPr>
            <a:spLocks noGrp="1"/>
          </p:cNvSpPr>
          <p:nvPr/>
        </p:nvSpPr>
        <p:spPr bwMode="auto">
          <a:xfrm>
            <a:off x="8496299" y="5105399"/>
            <a:ext cx="609599" cy="2476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DC2626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SEND</a:t>
            </a:r>
            <a:endParaRPr/>
          </a:p>
        </p:txBody>
      </p:sp>
      <p:sp>
        <p:nvSpPr>
          <p:cNvPr id="1069465319" name=""/>
          <p:cNvSpPr>
            <a:spLocks noGrp="1"/>
          </p:cNvSpPr>
          <p:nvPr/>
        </p:nvSpPr>
        <p:spPr bwMode="auto">
          <a:xfrm>
            <a:off x="9372600" y="5105399"/>
            <a:ext cx="838198" cy="2476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00" b="1">
                <a:solidFill>
                  <a:srgbClr val="DC2626"/>
                </a:solidFill>
              </a:defRPr>
            </a:pPr>
            <a:r>
              <a:rPr sz="1000" b="1">
                <a:solidFill>
                  <a:srgbClr val="DC2626"/>
                </a:solidFill>
              </a:rPr>
              <a:t>DELETE</a:t>
            </a:r>
            <a:endParaRPr/>
          </a:p>
        </p:txBody>
      </p:sp>
      <p:sp>
        <p:nvSpPr>
          <p:cNvPr id="969714966" name=""/>
          <p:cNvSpPr>
            <a:spLocks noGrp="1"/>
          </p:cNvSpPr>
          <p:nvPr/>
        </p:nvSpPr>
        <p:spPr bwMode="auto">
          <a:xfrm>
            <a:off x="10477500" y="5105399"/>
            <a:ext cx="609599" cy="2476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DC2626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CALL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543663" name="Rectangle 1921889684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3</a:t>
            </a:r>
            <a:endParaRPr/>
          </a:p>
        </p:txBody>
      </p:sp>
      <p:sp>
        <p:nvSpPr>
          <p:cNvPr id="32805795" name="Rectangle 1785225236"/>
          <p:cNvSpPr>
            <a:spLocks noGrp="1"/>
          </p:cNvSpPr>
          <p:nvPr/>
        </p:nvSpPr>
        <p:spPr bwMode="auto">
          <a:xfrm>
            <a:off x="704849" y="400050"/>
            <a:ext cx="3809999" cy="2666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2D66E8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2D66E8"/>
                </a:solidFill>
                <a:latin typeface="Georgia"/>
                <a:ea typeface="Georgia"/>
                <a:cs typeface="Georgia"/>
              </a:rPr>
              <a:t>RISK MAP</a:t>
            </a:r>
            <a:endParaRPr/>
          </a:p>
        </p:txBody>
      </p:sp>
      <p:sp>
        <p:nvSpPr>
          <p:cNvPr id="1338132005" name="Rectangle 1785225237"/>
          <p:cNvSpPr>
            <a:spLocks noGrp="1"/>
          </p:cNvSpPr>
          <p:nvPr/>
        </p:nvSpPr>
        <p:spPr bwMode="auto">
          <a:xfrm>
            <a:off x="704849" y="761999"/>
            <a:ext cx="10287000" cy="6095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121A2A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121A2A"/>
                </a:solidFill>
                <a:latin typeface="Georgia"/>
                <a:ea typeface="Georgia"/>
                <a:cs typeface="Georgia"/>
              </a:rPr>
              <a:t>Four LLM Risks</a:t>
            </a:r>
            <a:endParaRPr/>
          </a:p>
        </p:txBody>
      </p:sp>
      <p:sp>
        <p:nvSpPr>
          <p:cNvPr id="1962574903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73073221" name="vertical-divider"/>
          <p:cNvSpPr>
            <a:spLocks noGrp="1"/>
          </p:cNvSpPr>
          <p:nvPr/>
        </p:nvSpPr>
        <p:spPr bwMode="auto">
          <a:xfrm rot="5400000">
            <a:off x="4152899" y="3729037"/>
            <a:ext cx="3886200" cy="9524"/>
          </a:xfrm>
          <a:prstGeom prst="line">
            <a:avLst/>
          </a:prstGeom>
          <a:noFill/>
          <a:ln w="19050">
            <a:solidFill>
              <a:srgbClr val="D9E1EC"/>
            </a:solidFill>
            <a:prstDash val="solid"/>
          </a:ln>
        </p:spPr>
      </p:sp>
      <p:sp>
        <p:nvSpPr>
          <p:cNvPr id="708026931" name="horizontal-divider"/>
          <p:cNvSpPr>
            <a:spLocks noGrp="1"/>
          </p:cNvSpPr>
          <p:nvPr/>
        </p:nvSpPr>
        <p:spPr bwMode="auto">
          <a:xfrm rot="0">
            <a:off x="1066799" y="3709987"/>
            <a:ext cx="10058400" cy="9524"/>
          </a:xfrm>
          <a:prstGeom prst="line">
            <a:avLst/>
          </a:prstGeom>
          <a:noFill/>
          <a:ln w="19050">
            <a:solidFill>
              <a:srgbClr val="D9E1EC"/>
            </a:solidFill>
            <a:prstDash val="solid"/>
          </a:ln>
        </p:spPr>
      </p:sp>
      <p:sp>
        <p:nvSpPr>
          <p:cNvPr id="1314031481" name="icon"/>
          <p:cNvSpPr>
            <a:spLocks noGrp="1"/>
          </p:cNvSpPr>
          <p:nvPr/>
        </p:nvSpPr>
        <p:spPr bwMode="auto">
          <a:xfrm>
            <a:off x="1143000" y="2095499"/>
            <a:ext cx="704849" cy="704849"/>
          </a:xfrm>
          <a:prstGeom prst="ellipse">
            <a:avLst/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?</a:t>
            </a:r>
            <a:endParaRPr/>
          </a:p>
        </p:txBody>
      </p:sp>
      <p:sp>
        <p:nvSpPr>
          <p:cNvPr id="492269582" name=""/>
          <p:cNvSpPr>
            <a:spLocks noGrp="1"/>
          </p:cNvSpPr>
          <p:nvPr/>
        </p:nvSpPr>
        <p:spPr bwMode="auto">
          <a:xfrm>
            <a:off x="2095499" y="2019299"/>
            <a:ext cx="3905249" cy="4190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00" b="1">
                <a:solidFill>
                  <a:srgbClr val="172033"/>
                </a:solidFill>
              </a:defRPr>
            </a:pPr>
            <a:r>
              <a:rPr sz="2200" b="1">
                <a:solidFill>
                  <a:srgbClr val="172033"/>
                </a:solidFill>
              </a:rPr>
              <a:t>Hallucination</a:t>
            </a:r>
            <a:endParaRPr/>
          </a:p>
        </p:txBody>
      </p:sp>
      <p:sp>
        <p:nvSpPr>
          <p:cNvPr id="1907443964" name=""/>
          <p:cNvSpPr>
            <a:spLocks noGrp="1"/>
          </p:cNvSpPr>
          <p:nvPr/>
        </p:nvSpPr>
        <p:spPr bwMode="auto">
          <a:xfrm>
            <a:off x="2095499" y="2495549"/>
            <a:ext cx="39052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Unreliable Output</a:t>
            </a:r>
            <a:endParaRPr/>
          </a:p>
        </p:txBody>
      </p:sp>
      <p:sp>
        <p:nvSpPr>
          <p:cNvPr id="318811407" name="icon"/>
          <p:cNvSpPr>
            <a:spLocks noGrp="1"/>
          </p:cNvSpPr>
          <p:nvPr/>
        </p:nvSpPr>
        <p:spPr bwMode="auto">
          <a:xfrm>
            <a:off x="6343650" y="2095499"/>
            <a:ext cx="704849" cy="704849"/>
          </a:xfrm>
          <a:prstGeom prst="ellipse">
            <a:avLst/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DC2626"/>
                </a:solidFill>
              </a:defRPr>
            </a:pPr>
            <a:r>
              <a:rPr sz="2100" b="1">
                <a:solidFill>
                  <a:srgbClr val="DC2626"/>
                </a:solidFill>
              </a:rPr>
              <a:t>!</a:t>
            </a:r>
            <a:endParaRPr/>
          </a:p>
        </p:txBody>
      </p:sp>
      <p:sp>
        <p:nvSpPr>
          <p:cNvPr id="1188609235" name=""/>
          <p:cNvSpPr>
            <a:spLocks noGrp="1"/>
          </p:cNvSpPr>
          <p:nvPr/>
        </p:nvSpPr>
        <p:spPr bwMode="auto">
          <a:xfrm>
            <a:off x="7296148" y="2019299"/>
            <a:ext cx="3905249" cy="4190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00" b="1">
                <a:solidFill>
                  <a:srgbClr val="172033"/>
                </a:solidFill>
              </a:defRPr>
            </a:pPr>
            <a:r>
              <a:rPr sz="2200" b="1">
                <a:solidFill>
                  <a:srgbClr val="172033"/>
                </a:solidFill>
              </a:rPr>
              <a:t>Prompt Injection</a:t>
            </a:r>
            <a:endParaRPr/>
          </a:p>
        </p:txBody>
      </p:sp>
      <p:sp>
        <p:nvSpPr>
          <p:cNvPr id="1549236881" name=""/>
          <p:cNvSpPr>
            <a:spLocks noGrp="1"/>
          </p:cNvSpPr>
          <p:nvPr/>
        </p:nvSpPr>
        <p:spPr bwMode="auto">
          <a:xfrm>
            <a:off x="7296148" y="2495549"/>
            <a:ext cx="39052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Instruction Hijacking</a:t>
            </a:r>
            <a:endParaRPr/>
          </a:p>
        </p:txBody>
      </p:sp>
      <p:sp>
        <p:nvSpPr>
          <p:cNvPr id="962074368" name="icon"/>
          <p:cNvSpPr>
            <a:spLocks noGrp="1"/>
          </p:cNvSpPr>
          <p:nvPr/>
        </p:nvSpPr>
        <p:spPr bwMode="auto">
          <a:xfrm>
            <a:off x="1143000" y="4171950"/>
            <a:ext cx="704849" cy="704849"/>
          </a:xfrm>
          <a:prstGeom prst="ellipse">
            <a:avLst/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F59E0B"/>
                </a:solidFill>
              </a:defRPr>
            </a:pPr>
            <a:r>
              <a:rPr sz="2100" b="1">
                <a:solidFill>
                  <a:srgbClr val="F59E0B"/>
                </a:solidFill>
              </a:rPr>
              <a:t>K</a:t>
            </a:r>
            <a:endParaRPr/>
          </a:p>
        </p:txBody>
      </p:sp>
      <p:sp>
        <p:nvSpPr>
          <p:cNvPr id="942584535" name=""/>
          <p:cNvSpPr>
            <a:spLocks noGrp="1"/>
          </p:cNvSpPr>
          <p:nvPr/>
        </p:nvSpPr>
        <p:spPr bwMode="auto">
          <a:xfrm>
            <a:off x="2095499" y="4095749"/>
            <a:ext cx="3905249" cy="4190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00" b="1">
                <a:solidFill>
                  <a:srgbClr val="172033"/>
                </a:solidFill>
              </a:defRPr>
            </a:pPr>
            <a:r>
              <a:rPr sz="2200" b="1">
                <a:solidFill>
                  <a:srgbClr val="172033"/>
                </a:solidFill>
              </a:rPr>
              <a:t>Data Leakage</a:t>
            </a:r>
            <a:endParaRPr/>
          </a:p>
        </p:txBody>
      </p:sp>
      <p:sp>
        <p:nvSpPr>
          <p:cNvPr id="1192212633" name=""/>
          <p:cNvSpPr>
            <a:spLocks noGrp="1"/>
          </p:cNvSpPr>
          <p:nvPr/>
        </p:nvSpPr>
        <p:spPr bwMode="auto">
          <a:xfrm>
            <a:off x="2095499" y="4572000"/>
            <a:ext cx="39052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F59E0B"/>
                </a:solidFill>
              </a:defRPr>
            </a:pPr>
            <a:r>
              <a:rPr sz="1450" b="1">
                <a:solidFill>
                  <a:srgbClr val="F59E0B"/>
                </a:solidFill>
              </a:rPr>
              <a:t>Sensitive Data Exposure</a:t>
            </a:r>
            <a:endParaRPr/>
          </a:p>
        </p:txBody>
      </p:sp>
      <p:sp>
        <p:nvSpPr>
          <p:cNvPr id="736783158" name="icon"/>
          <p:cNvSpPr>
            <a:spLocks noGrp="1"/>
          </p:cNvSpPr>
          <p:nvPr/>
        </p:nvSpPr>
        <p:spPr bwMode="auto">
          <a:xfrm>
            <a:off x="6343650" y="4171950"/>
            <a:ext cx="704849" cy="704849"/>
          </a:xfrm>
          <a:prstGeom prst="ellipse">
            <a:avLst/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DC2626"/>
                </a:solidFill>
              </a:defRPr>
            </a:pPr>
            <a:r>
              <a:rPr sz="2100" b="1">
                <a:solidFill>
                  <a:srgbClr val="DC2626"/>
                </a:solidFill>
              </a:rPr>
              <a:t>R</a:t>
            </a:r>
            <a:endParaRPr/>
          </a:p>
        </p:txBody>
      </p:sp>
      <p:sp>
        <p:nvSpPr>
          <p:cNvPr id="1956858753" name=""/>
          <p:cNvSpPr>
            <a:spLocks noGrp="1"/>
          </p:cNvSpPr>
          <p:nvPr/>
        </p:nvSpPr>
        <p:spPr bwMode="auto">
          <a:xfrm>
            <a:off x="7296148" y="4095749"/>
            <a:ext cx="3905249" cy="4190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00" b="1">
                <a:solidFill>
                  <a:srgbClr val="172033"/>
                </a:solidFill>
              </a:defRPr>
            </a:pPr>
            <a:r>
              <a:rPr sz="2200" b="1">
                <a:solidFill>
                  <a:srgbClr val="172033"/>
                </a:solidFill>
              </a:rPr>
              <a:t>Unsafe Action</a:t>
            </a:r>
            <a:endParaRPr/>
          </a:p>
        </p:txBody>
      </p:sp>
      <p:sp>
        <p:nvSpPr>
          <p:cNvPr id="1957157678" name=""/>
          <p:cNvSpPr>
            <a:spLocks noGrp="1"/>
          </p:cNvSpPr>
          <p:nvPr/>
        </p:nvSpPr>
        <p:spPr bwMode="auto">
          <a:xfrm>
            <a:off x="7296148" y="4572000"/>
            <a:ext cx="39052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Excessive Agency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491479" name="Rectangle 935271156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HALLUCINATION</a:t>
            </a:r>
            <a:endParaRPr/>
          </a:p>
        </p:txBody>
      </p:sp>
      <p:sp>
        <p:nvSpPr>
          <p:cNvPr id="1682395700" name="Rectangle 251777344"/>
          <p:cNvSpPr>
            <a:spLocks noGrp="1"/>
          </p:cNvSpPr>
          <p:nvPr/>
        </p:nvSpPr>
        <p:spPr bwMode="auto">
          <a:xfrm>
            <a:off x="609599" y="590548"/>
            <a:ext cx="102870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Output Becomes Risk When Executed</a:t>
            </a:r>
            <a:endParaRPr/>
          </a:p>
        </p:txBody>
      </p:sp>
      <p:sp>
        <p:nvSpPr>
          <p:cNvPr id="678441748" name="Rectangle 1495975732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4</a:t>
            </a:r>
            <a:endParaRPr/>
          </a:p>
        </p:txBody>
      </p:sp>
      <p:sp>
        <p:nvSpPr>
          <p:cNvPr id="1364932580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66895669" name="hallucination-arrow-1"/>
          <p:cNvSpPr>
            <a:spLocks noGrp="1"/>
          </p:cNvSpPr>
          <p:nvPr/>
        </p:nvSpPr>
        <p:spPr bwMode="auto">
          <a:xfrm>
            <a:off x="2762249" y="2647948"/>
            <a:ext cx="438148" cy="2666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1418932730" name="hallucination-arrow-2"/>
          <p:cNvSpPr>
            <a:spLocks noGrp="1"/>
          </p:cNvSpPr>
          <p:nvPr/>
        </p:nvSpPr>
        <p:spPr bwMode="auto">
          <a:xfrm>
            <a:off x="5124449" y="2647948"/>
            <a:ext cx="438148" cy="2666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650993935" name="hallucination-arrow-3"/>
          <p:cNvSpPr>
            <a:spLocks noGrp="1"/>
          </p:cNvSpPr>
          <p:nvPr/>
        </p:nvSpPr>
        <p:spPr bwMode="auto">
          <a:xfrm>
            <a:off x="7486650" y="2647948"/>
            <a:ext cx="438148" cy="2666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1969762799" name="node-llm-output"/>
          <p:cNvSpPr>
            <a:spLocks noGrp="1"/>
          </p:cNvSpPr>
          <p:nvPr/>
        </p:nvSpPr>
        <p:spPr bwMode="auto">
          <a:xfrm>
            <a:off x="1009649" y="2266949"/>
            <a:ext cx="1752598" cy="1028700"/>
          </a:xfrm>
          <a:prstGeom prst="roundRect">
            <a:avLst>
              <a:gd name="adj" fmla="val 7407"/>
            </a:avLst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Unreliable</a:t>
            </a:r>
            <a:endParaRPr/>
          </a:p>
          <a:p>
            <a:pPr algn="ctr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Output</a:t>
            </a:r>
            <a:endParaRPr/>
          </a:p>
        </p:txBody>
      </p:sp>
      <p:sp>
        <p:nvSpPr>
          <p:cNvPr id="325320534" name="node-fake-command"/>
          <p:cNvSpPr>
            <a:spLocks noGrp="1"/>
          </p:cNvSpPr>
          <p:nvPr/>
        </p:nvSpPr>
        <p:spPr bwMode="auto">
          <a:xfrm>
            <a:off x="3371850" y="2266949"/>
            <a:ext cx="1752598" cy="1028700"/>
          </a:xfrm>
          <a:prstGeom prst="roundRect">
            <a:avLst>
              <a:gd name="adj" fmla="val 7407"/>
            </a:avLst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F59E0B"/>
                </a:solidFill>
              </a:defRPr>
            </a:pPr>
            <a:r>
              <a:rPr sz="1650" b="1">
                <a:solidFill>
                  <a:srgbClr val="F59E0B"/>
                </a:solidFill>
              </a:rPr>
              <a:t>No</a:t>
            </a:r>
            <a:endParaRPr/>
          </a:p>
          <a:p>
            <a:pPr algn="ctr">
              <a:buNone/>
              <a:defRPr sz="1650" b="1">
                <a:solidFill>
                  <a:srgbClr val="F59E0B"/>
                </a:solidFill>
              </a:defRPr>
            </a:pPr>
            <a:r>
              <a:rPr sz="1650" b="1">
                <a:solidFill>
                  <a:srgbClr val="F59E0B"/>
                </a:solidFill>
              </a:rPr>
              <a:t>Verification</a:t>
            </a:r>
            <a:endParaRPr/>
          </a:p>
        </p:txBody>
      </p:sp>
      <p:sp>
        <p:nvSpPr>
          <p:cNvPr id="456977369" name="node-administrator"/>
          <p:cNvSpPr>
            <a:spLocks noGrp="1"/>
          </p:cNvSpPr>
          <p:nvPr/>
        </p:nvSpPr>
        <p:spPr bwMode="auto">
          <a:xfrm>
            <a:off x="5734049" y="2266949"/>
            <a:ext cx="1752598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Human / Agent</a:t>
            </a:r>
            <a:endParaRPr/>
          </a:p>
        </p:txBody>
      </p:sp>
      <p:sp>
        <p:nvSpPr>
          <p:cNvPr id="363456155" name="node-system-failure"/>
          <p:cNvSpPr>
            <a:spLocks noGrp="1"/>
          </p:cNvSpPr>
          <p:nvPr/>
        </p:nvSpPr>
        <p:spPr bwMode="auto">
          <a:xfrm>
            <a:off x="8096249" y="2266949"/>
            <a:ext cx="1752598" cy="1028700"/>
          </a:xfrm>
          <a:prstGeom prst="roundRect">
            <a:avLst>
              <a:gd name="adj" fmla="val 7407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Risky</a:t>
            </a:r>
            <a:endParaRPr/>
          </a:p>
          <a:p>
            <a:pPr algn="ctr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Action</a:t>
            </a:r>
            <a:endParaRPr/>
          </a:p>
        </p:txBody>
      </p:sp>
      <p:sp>
        <p:nvSpPr>
          <p:cNvPr id="1214968134" name=""/>
          <p:cNvSpPr>
            <a:spLocks noGrp="1"/>
          </p:cNvSpPr>
          <p:nvPr/>
        </p:nvSpPr>
        <p:spPr bwMode="auto">
          <a:xfrm>
            <a:off x="1333499" y="4019549"/>
            <a:ext cx="152399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0B981"/>
                </a:solidFill>
              </a:defRPr>
            </a:pPr>
            <a:r>
              <a:rPr sz="1350" b="1">
                <a:solidFill>
                  <a:srgbClr val="10B981"/>
                </a:solidFill>
              </a:rPr>
              <a:t>NOT EXECUTED</a:t>
            </a:r>
            <a:endParaRPr/>
          </a:p>
        </p:txBody>
      </p:sp>
      <p:sp>
        <p:nvSpPr>
          <p:cNvPr id="1485153504" name="correct-line"/>
          <p:cNvSpPr>
            <a:spLocks noGrp="1"/>
          </p:cNvSpPr>
          <p:nvPr/>
        </p:nvSpPr>
        <p:spPr bwMode="auto">
          <a:xfrm rot="0">
            <a:off x="2952749" y="4186237"/>
            <a:ext cx="3238499" cy="9524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</p:sp>
      <p:sp>
        <p:nvSpPr>
          <p:cNvPr id="1024736921" name="node-verified"/>
          <p:cNvSpPr>
            <a:spLocks noGrp="1"/>
          </p:cNvSpPr>
          <p:nvPr/>
        </p:nvSpPr>
        <p:spPr bwMode="auto">
          <a:xfrm>
            <a:off x="6438898" y="3867149"/>
            <a:ext cx="1581149" cy="647699"/>
          </a:xfrm>
          <a:prstGeom prst="roundRect">
            <a:avLst>
              <a:gd name="adj" fmla="val 11765"/>
            </a:avLst>
          </a:prstGeom>
          <a:solidFill>
            <a:srgbClr val="E8F8F2"/>
          </a:solidFill>
          <a:ln w="19050">
            <a:solidFill>
              <a:srgbClr val="10B98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10B981"/>
                </a:solidFill>
              </a:defRPr>
            </a:pPr>
            <a:r>
              <a:rPr sz="1500" b="1">
                <a:solidFill>
                  <a:srgbClr val="10B981"/>
                </a:solidFill>
              </a:rPr>
              <a:t>No Incident</a:t>
            </a:r>
            <a:endParaRPr/>
          </a:p>
        </p:txBody>
      </p:sp>
      <p:sp>
        <p:nvSpPr>
          <p:cNvPr id="56970453" name=""/>
          <p:cNvSpPr>
            <a:spLocks noGrp="1"/>
          </p:cNvSpPr>
          <p:nvPr/>
        </p:nvSpPr>
        <p:spPr bwMode="auto">
          <a:xfrm>
            <a:off x="1333499" y="4914900"/>
            <a:ext cx="152399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TRUSTED + USED</a:t>
            </a:r>
            <a:endParaRPr/>
          </a:p>
        </p:txBody>
      </p:sp>
      <p:sp>
        <p:nvSpPr>
          <p:cNvPr id="1127731135" name="plausible-line"/>
          <p:cNvSpPr>
            <a:spLocks noGrp="1"/>
          </p:cNvSpPr>
          <p:nvPr/>
        </p:nvSpPr>
        <p:spPr bwMode="auto">
          <a:xfrm rot="0">
            <a:off x="2952749" y="5081587"/>
            <a:ext cx="3238499" cy="9524"/>
          </a:xfrm>
          <a:prstGeom prst="line">
            <a:avLst/>
          </a:prstGeom>
          <a:noFill/>
          <a:ln w="38100">
            <a:solidFill>
              <a:srgbClr val="DC2626"/>
            </a:solidFill>
            <a:prstDash val="dash"/>
          </a:ln>
        </p:spPr>
      </p:sp>
      <p:sp>
        <p:nvSpPr>
          <p:cNvPr id="751161746" name="node-unverified"/>
          <p:cNvSpPr>
            <a:spLocks noGrp="1"/>
          </p:cNvSpPr>
          <p:nvPr/>
        </p:nvSpPr>
        <p:spPr bwMode="auto">
          <a:xfrm>
            <a:off x="6438898" y="4762499"/>
            <a:ext cx="1581149" cy="647699"/>
          </a:xfrm>
          <a:prstGeom prst="roundRect">
            <a:avLst>
              <a:gd name="adj" fmla="val 11765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Security Impact</a:t>
            </a:r>
            <a:endParaRPr/>
          </a:p>
        </p:txBody>
      </p:sp>
      <p:sp>
        <p:nvSpPr>
          <p:cNvPr id="600846455" name=""/>
          <p:cNvSpPr>
            <a:spLocks noGrp="1"/>
          </p:cNvSpPr>
          <p:nvPr/>
        </p:nvSpPr>
        <p:spPr bwMode="auto">
          <a:xfrm>
            <a:off x="8305800" y="4705349"/>
            <a:ext cx="2362199" cy="704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900" b="1">
                <a:solidFill>
                  <a:srgbClr val="172033"/>
                </a:solidFill>
              </a:defRPr>
            </a:pPr>
            <a:r>
              <a:rPr sz="1900" b="1">
                <a:solidFill>
                  <a:srgbClr val="172033"/>
                </a:solidFill>
              </a:rPr>
              <a:t>Output Alone ≠ Incident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21296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PROMPT INJECTION</a:t>
            </a:r>
            <a:endParaRPr/>
          </a:p>
        </p:txBody>
      </p:sp>
      <p:sp>
        <p:nvSpPr>
          <p:cNvPr id="20545442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Trusted Instructions vs. Untrusted Content</a:t>
            </a:r>
            <a:endParaRPr/>
          </a:p>
        </p:txBody>
      </p:sp>
      <p:sp>
        <p:nvSpPr>
          <p:cNvPr id="75272391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5</a:t>
            </a:r>
            <a:endParaRPr/>
          </a:p>
        </p:txBody>
      </p:sp>
      <p:sp>
        <p:nvSpPr>
          <p:cNvPr id="1109423838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730358" name="trusted-instruction-arrow"/>
          <p:cNvSpPr>
            <a:spLocks noGrp="1"/>
          </p:cNvSpPr>
          <p:nvPr/>
        </p:nvSpPr>
        <p:spPr bwMode="auto">
          <a:xfrm>
            <a:off x="3733800" y="3219449"/>
            <a:ext cx="666750" cy="3619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760684566" name="untrusted-content-arrow"/>
          <p:cNvSpPr>
            <a:spLocks noGrp="1"/>
          </p:cNvSpPr>
          <p:nvPr/>
        </p:nvSpPr>
        <p:spPr bwMode="auto">
          <a:xfrm>
            <a:off x="7791450" y="3219449"/>
            <a:ext cx="666750" cy="36195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269631337" name="injection-outcome-arrow"/>
          <p:cNvSpPr>
            <a:spLocks noGrp="1"/>
          </p:cNvSpPr>
          <p:nvPr/>
        </p:nvSpPr>
        <p:spPr bwMode="auto">
          <a:xfrm>
            <a:off x="5810250" y="4171950"/>
            <a:ext cx="571500" cy="47625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913860793" name="trusted-system-instruction"/>
          <p:cNvSpPr>
            <a:spLocks noGrp="1"/>
          </p:cNvSpPr>
          <p:nvPr/>
        </p:nvSpPr>
        <p:spPr bwMode="auto">
          <a:xfrm>
            <a:off x="1066800" y="2781300"/>
            <a:ext cx="2667000" cy="120015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1750" b="1">
                <a:solidFill>
                  <a:srgbClr val="2563EB"/>
                </a:solidFill>
              </a:defRPr>
            </a:pPr>
            <a:r>
              <a:rPr sz="1750" b="1">
                <a:solidFill>
                  <a:srgbClr val="2563EB"/>
                </a:solidFill>
              </a:rPr>
              <a:t>Trusted System</a:t>
            </a:r>
            <a:endParaRPr/>
          </a:p>
          <a:p>
            <a:pPr algn="ctr">
              <a:defRPr sz="1750" b="1">
                <a:solidFill>
                  <a:srgbClr val="2563EB"/>
                </a:solidFill>
              </a:defRPr>
            </a:pPr>
            <a:r>
              <a:rPr sz="1750" b="1">
                <a:solidFill>
                  <a:srgbClr val="2563EB"/>
                </a:solidFill>
              </a:rPr>
              <a:t>Instruction</a:t>
            </a:r>
            <a:endParaRPr/>
          </a:p>
        </p:txBody>
      </p:sp>
      <p:sp>
        <p:nvSpPr>
          <p:cNvPr id="1830760169" name="prompt-injection-llm"/>
          <p:cNvSpPr>
            <a:spLocks noGrp="1"/>
          </p:cNvSpPr>
          <p:nvPr/>
        </p:nvSpPr>
        <p:spPr bwMode="auto">
          <a:xfrm>
            <a:off x="4400550" y="2781300"/>
            <a:ext cx="3390900" cy="1200150"/>
          </a:xfrm>
          <a:prstGeom prst="roundRect">
            <a:avLst>
              <a:gd name="adj" fmla="val 9524"/>
            </a:avLst>
          </a:prstGeom>
          <a:solidFill>
            <a:srgbClr val="0B132B"/>
          </a:solidFill>
          <a:ln w="3810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LLM</a:t>
            </a:r>
            <a:endParaRPr/>
          </a:p>
        </p:txBody>
      </p:sp>
      <p:sp>
        <p:nvSpPr>
          <p:cNvPr id="1341139258" name="untrusted-document-web-email"/>
          <p:cNvSpPr>
            <a:spLocks noGrp="1"/>
          </p:cNvSpPr>
          <p:nvPr/>
        </p:nvSpPr>
        <p:spPr bwMode="auto">
          <a:xfrm>
            <a:off x="8458200" y="2781300"/>
            <a:ext cx="2667000" cy="1200150"/>
          </a:xfrm>
          <a:prstGeom prst="roundRect">
            <a:avLst>
              <a:gd name="adj" fmla="val 9524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defRPr sz="1600" b="1">
                <a:solidFill>
                  <a:srgbClr val="DC2626"/>
                </a:solidFill>
              </a:defRPr>
            </a:pPr>
            <a:r>
              <a:rPr sz="1600" b="1">
                <a:solidFill>
                  <a:srgbClr val="DC2626"/>
                </a:solidFill>
              </a:rPr>
              <a:t>Untrusted Document</a:t>
            </a:r>
            <a:endParaRPr/>
          </a:p>
          <a:p>
            <a:pPr algn="ctr">
              <a:defRPr sz="1600" b="1">
                <a:solidFill>
                  <a:srgbClr val="DC2626"/>
                </a:solidFill>
              </a:defRPr>
            </a:pPr>
            <a:r>
              <a:rPr sz="1600" b="1">
                <a:solidFill>
                  <a:srgbClr val="DC2626"/>
                </a:solidFill>
              </a:rPr>
              <a:t>Web / Email</a:t>
            </a:r>
            <a:endParaRPr/>
          </a:p>
        </p:txBody>
      </p:sp>
      <p:sp>
        <p:nvSpPr>
          <p:cNvPr id="677721040" name=""/>
          <p:cNvSpPr>
            <a:spLocks noGrp="1"/>
          </p:cNvSpPr>
          <p:nvPr/>
        </p:nvSpPr>
        <p:spPr bwMode="auto">
          <a:xfrm>
            <a:off x="4667250" y="1847850"/>
            <a:ext cx="285750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INSTRUCTION HIJACKING</a:t>
            </a:r>
            <a:endParaRPr/>
          </a:p>
        </p:txBody>
      </p:sp>
      <p:sp>
        <p:nvSpPr>
          <p:cNvPr id="1280687453" name="prompt-injection-data-exposure"/>
          <p:cNvSpPr>
            <a:spLocks noGrp="1"/>
          </p:cNvSpPr>
          <p:nvPr/>
        </p:nvSpPr>
        <p:spPr bwMode="auto">
          <a:xfrm>
            <a:off x="2438400" y="4857750"/>
            <a:ext cx="3048000" cy="723900"/>
          </a:xfrm>
          <a:prstGeom prst="roundRect">
            <a:avLst>
              <a:gd name="adj" fmla="val 15789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Sensitive Data Exposure</a:t>
            </a:r>
            <a:endParaRPr/>
          </a:p>
        </p:txBody>
      </p:sp>
      <p:sp>
        <p:nvSpPr>
          <p:cNvPr id="219866656" name="prompt-injection-unauthorized-action"/>
          <p:cNvSpPr>
            <a:spLocks noGrp="1"/>
          </p:cNvSpPr>
          <p:nvPr/>
        </p:nvSpPr>
        <p:spPr bwMode="auto">
          <a:xfrm>
            <a:off x="6705600" y="4857750"/>
            <a:ext cx="3048000" cy="723900"/>
          </a:xfrm>
          <a:prstGeom prst="roundRect">
            <a:avLst>
              <a:gd name="adj" fmla="val 15789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Unauthorized Action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64406" name="Rectangle 1921889684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6</a:t>
            </a:r>
            <a:endParaRPr/>
          </a:p>
        </p:txBody>
      </p:sp>
      <p:sp>
        <p:nvSpPr>
          <p:cNvPr id="2078821998" name="Rectangle 1785225236"/>
          <p:cNvSpPr>
            <a:spLocks noGrp="1"/>
          </p:cNvSpPr>
          <p:nvPr/>
        </p:nvSpPr>
        <p:spPr bwMode="auto">
          <a:xfrm>
            <a:off x="704849" y="400050"/>
            <a:ext cx="3809999" cy="2666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2D66E8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2D66E8"/>
                </a:solidFill>
                <a:latin typeface="Georgia"/>
                <a:ea typeface="Georgia"/>
                <a:cs typeface="Georgia"/>
              </a:rPr>
              <a:t>AGENTIC ACCESS</a:t>
            </a:r>
            <a:endParaRPr/>
          </a:p>
        </p:txBody>
      </p:sp>
      <p:sp>
        <p:nvSpPr>
          <p:cNvPr id="1952579436" name="Rectangle 1785225237"/>
          <p:cNvSpPr>
            <a:spLocks noGrp="1"/>
          </p:cNvSpPr>
          <p:nvPr/>
        </p:nvSpPr>
        <p:spPr bwMode="auto">
          <a:xfrm>
            <a:off x="704849" y="761999"/>
            <a:ext cx="10287000" cy="6095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121A2A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121A2A"/>
                </a:solidFill>
                <a:latin typeface="Georgia"/>
                <a:ea typeface="Georgia"/>
                <a:cs typeface="Georgia"/>
              </a:rPr>
              <a:t>Agents Have a Larger Impact Radius</a:t>
            </a:r>
            <a:endParaRPr/>
          </a:p>
        </p:txBody>
      </p:sp>
      <p:sp>
        <p:nvSpPr>
          <p:cNvPr id="1905923561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30407203" name="comparison-divider"/>
          <p:cNvSpPr>
            <a:spLocks noGrp="1"/>
          </p:cNvSpPr>
          <p:nvPr/>
        </p:nvSpPr>
        <p:spPr bwMode="auto">
          <a:xfrm rot="5400000">
            <a:off x="4152899" y="3690937"/>
            <a:ext cx="3886200" cy="9524"/>
          </a:xfrm>
          <a:prstGeom prst="line">
            <a:avLst/>
          </a:prstGeom>
          <a:noFill/>
          <a:ln w="19050">
            <a:solidFill>
              <a:srgbClr val="D9E1EC"/>
            </a:solidFill>
            <a:prstDash val="solid"/>
          </a:ln>
        </p:spPr>
      </p:sp>
      <p:sp>
        <p:nvSpPr>
          <p:cNvPr id="1368479080" name=""/>
          <p:cNvSpPr>
            <a:spLocks noGrp="1"/>
          </p:cNvSpPr>
          <p:nvPr/>
        </p:nvSpPr>
        <p:spPr bwMode="auto">
          <a:xfrm>
            <a:off x="1066799" y="1790699"/>
            <a:ext cx="4095749" cy="3619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600" b="1">
                <a:solidFill>
                  <a:srgbClr val="2563EB"/>
                </a:solidFill>
              </a:defRPr>
            </a:pPr>
            <a:r>
              <a:rPr sz="1600" b="1">
                <a:solidFill>
                  <a:srgbClr val="2563EB"/>
                </a:solidFill>
              </a:rPr>
              <a:t>CHATBOT · LIMITED TO OUTPUT</a:t>
            </a:r>
            <a:endParaRPr/>
          </a:p>
        </p:txBody>
      </p:sp>
      <p:sp>
        <p:nvSpPr>
          <p:cNvPr id="269342812" name="chatbot-arrow"/>
          <p:cNvSpPr>
            <a:spLocks noGrp="1"/>
          </p:cNvSpPr>
          <p:nvPr/>
        </p:nvSpPr>
        <p:spPr bwMode="auto">
          <a:xfrm>
            <a:off x="2724149" y="3143250"/>
            <a:ext cx="723899" cy="3429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453110502" name="node-chatbot"/>
          <p:cNvSpPr>
            <a:spLocks noGrp="1"/>
          </p:cNvSpPr>
          <p:nvPr/>
        </p:nvSpPr>
        <p:spPr bwMode="auto">
          <a:xfrm>
            <a:off x="1238249" y="2724149"/>
            <a:ext cx="1485900" cy="1162049"/>
          </a:xfrm>
          <a:prstGeom prst="roundRect">
            <a:avLst>
              <a:gd name="adj" fmla="val 6557"/>
            </a:avLst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Chatbot</a:t>
            </a:r>
            <a:endParaRPr/>
          </a:p>
        </p:txBody>
      </p:sp>
      <p:sp>
        <p:nvSpPr>
          <p:cNvPr id="544406355" name="node-text-output"/>
          <p:cNvSpPr>
            <a:spLocks noGrp="1"/>
          </p:cNvSpPr>
          <p:nvPr/>
        </p:nvSpPr>
        <p:spPr bwMode="auto">
          <a:xfrm>
            <a:off x="3448049" y="2724149"/>
            <a:ext cx="1485900" cy="1162049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9050">
            <a:solidFill>
              <a:srgbClr val="60A5FA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Text</a:t>
            </a:r>
            <a:endParaRPr/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Output</a:t>
            </a:r>
            <a:endParaRPr/>
          </a:p>
        </p:txBody>
      </p:sp>
      <p:sp>
        <p:nvSpPr>
          <p:cNvPr id="997874523" name=""/>
          <p:cNvSpPr>
            <a:spLocks noGrp="1"/>
          </p:cNvSpPr>
          <p:nvPr/>
        </p:nvSpPr>
        <p:spPr bwMode="auto">
          <a:xfrm>
            <a:off x="6705600" y="1790699"/>
            <a:ext cx="4095749" cy="3619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600" b="1">
                <a:solidFill>
                  <a:srgbClr val="DC2626"/>
                </a:solidFill>
              </a:defRPr>
            </a:pPr>
            <a:r>
              <a:rPr sz="1600" b="1">
                <a:solidFill>
                  <a:srgbClr val="DC2626"/>
                </a:solidFill>
              </a:rPr>
              <a:t>AGENT · MORE TOOLS + PERMISSIONS</a:t>
            </a:r>
            <a:endParaRPr/>
          </a:p>
        </p:txBody>
      </p:sp>
      <p:sp>
        <p:nvSpPr>
          <p:cNvPr id="194323263" name="agent-arrow-1"/>
          <p:cNvSpPr>
            <a:spLocks noGrp="1"/>
          </p:cNvSpPr>
          <p:nvPr/>
        </p:nvSpPr>
        <p:spPr bwMode="auto">
          <a:xfrm>
            <a:off x="7391400" y="3286125"/>
            <a:ext cx="266699" cy="2095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597267023" name="agent-arrow-2"/>
          <p:cNvSpPr>
            <a:spLocks noGrp="1"/>
          </p:cNvSpPr>
          <p:nvPr/>
        </p:nvSpPr>
        <p:spPr bwMode="auto">
          <a:xfrm>
            <a:off x="8267699" y="3286125"/>
            <a:ext cx="266699" cy="2095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1401799076" name="agent-arrow-3"/>
          <p:cNvSpPr>
            <a:spLocks noGrp="1"/>
          </p:cNvSpPr>
          <p:nvPr/>
        </p:nvSpPr>
        <p:spPr bwMode="auto">
          <a:xfrm>
            <a:off x="9144000" y="3286125"/>
            <a:ext cx="266699" cy="2095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1676464046" name="agent-arrow-4"/>
          <p:cNvSpPr>
            <a:spLocks noGrp="1"/>
          </p:cNvSpPr>
          <p:nvPr/>
        </p:nvSpPr>
        <p:spPr bwMode="auto">
          <a:xfrm>
            <a:off x="10020299" y="3286125"/>
            <a:ext cx="266699" cy="2095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913746750" name="node-agent"/>
          <p:cNvSpPr>
            <a:spLocks noGrp="1"/>
          </p:cNvSpPr>
          <p:nvPr/>
        </p:nvSpPr>
        <p:spPr bwMode="auto">
          <a:xfrm>
            <a:off x="6724648" y="2990849"/>
            <a:ext cx="723899" cy="876298"/>
          </a:xfrm>
          <a:prstGeom prst="roundRect">
            <a:avLst>
              <a:gd name="adj" fmla="val 10526"/>
            </a:avLst>
          </a:prstGeom>
          <a:solidFill>
            <a:srgbClr val="0B132B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Agent</a:t>
            </a:r>
            <a:endParaRPr/>
          </a:p>
        </p:txBody>
      </p:sp>
      <p:sp>
        <p:nvSpPr>
          <p:cNvPr id="1243464707" name="node-web"/>
          <p:cNvSpPr>
            <a:spLocks noGrp="1"/>
          </p:cNvSpPr>
          <p:nvPr/>
        </p:nvSpPr>
        <p:spPr bwMode="auto">
          <a:xfrm>
            <a:off x="7600950" y="2990849"/>
            <a:ext cx="723899" cy="876298"/>
          </a:xfrm>
          <a:prstGeom prst="roundRect">
            <a:avLst>
              <a:gd name="adj" fmla="val 10526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DC2626"/>
                </a:solidFill>
              </a:defRPr>
            </a:pPr>
            <a:r>
              <a:rPr sz="1200" b="1">
                <a:solidFill>
                  <a:srgbClr val="DC2626"/>
                </a:solidFill>
              </a:rPr>
              <a:t>WEB</a:t>
            </a:r>
            <a:endParaRPr/>
          </a:p>
        </p:txBody>
      </p:sp>
      <p:sp>
        <p:nvSpPr>
          <p:cNvPr id="1900209353" name="node-term"/>
          <p:cNvSpPr>
            <a:spLocks noGrp="1"/>
          </p:cNvSpPr>
          <p:nvPr/>
        </p:nvSpPr>
        <p:spPr bwMode="auto">
          <a:xfrm>
            <a:off x="8477250" y="2990849"/>
            <a:ext cx="723899" cy="876298"/>
          </a:xfrm>
          <a:prstGeom prst="roundRect">
            <a:avLst>
              <a:gd name="adj" fmla="val 10526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DC2626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TERM</a:t>
            </a:r>
            <a:endParaRPr/>
          </a:p>
        </p:txBody>
      </p:sp>
      <p:sp>
        <p:nvSpPr>
          <p:cNvPr id="844047417" name="node-mail"/>
          <p:cNvSpPr>
            <a:spLocks noGrp="1"/>
          </p:cNvSpPr>
          <p:nvPr/>
        </p:nvSpPr>
        <p:spPr bwMode="auto">
          <a:xfrm>
            <a:off x="9353549" y="2990849"/>
            <a:ext cx="723899" cy="876298"/>
          </a:xfrm>
          <a:prstGeom prst="roundRect">
            <a:avLst>
              <a:gd name="adj" fmla="val 10526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DC2626"/>
                </a:solidFill>
              </a:defRPr>
            </a:pPr>
            <a:r>
              <a:rPr sz="1200" b="1">
                <a:solidFill>
                  <a:srgbClr val="DC2626"/>
                </a:solidFill>
              </a:rPr>
              <a:t>MAIL</a:t>
            </a:r>
            <a:endParaRPr/>
          </a:p>
        </p:txBody>
      </p:sp>
      <p:sp>
        <p:nvSpPr>
          <p:cNvPr id="1012960551" name="node-db"/>
          <p:cNvSpPr>
            <a:spLocks noGrp="1"/>
          </p:cNvSpPr>
          <p:nvPr/>
        </p:nvSpPr>
        <p:spPr bwMode="auto">
          <a:xfrm>
            <a:off x="10229850" y="2990849"/>
            <a:ext cx="723899" cy="876298"/>
          </a:xfrm>
          <a:prstGeom prst="roundRect">
            <a:avLst>
              <a:gd name="adj" fmla="val 10526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DC2626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DB</a:t>
            </a:r>
            <a:endParaRPr/>
          </a:p>
        </p:txBody>
      </p:sp>
      <p:sp>
        <p:nvSpPr>
          <p:cNvPr id="1435354301" name=""/>
          <p:cNvSpPr>
            <a:spLocks noGrp="1"/>
          </p:cNvSpPr>
          <p:nvPr/>
        </p:nvSpPr>
        <p:spPr bwMode="auto">
          <a:xfrm>
            <a:off x="7467599" y="4400550"/>
            <a:ext cx="2571750" cy="4190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LARGER IMPACT RADIUS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21006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EVIDENCE TYPES</a:t>
            </a:r>
            <a:endParaRPr/>
          </a:p>
        </p:txBody>
      </p:sp>
      <p:sp>
        <p:nvSpPr>
          <p:cNvPr id="1868076551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Evaluations Are Not Real Incidents</a:t>
            </a:r>
            <a:endParaRPr/>
          </a:p>
        </p:txBody>
      </p:sp>
      <p:sp>
        <p:nvSpPr>
          <p:cNvPr id="298984760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7</a:t>
            </a:r>
            <a:endParaRPr/>
          </a:p>
        </p:txBody>
      </p:sp>
      <p:sp>
        <p:nvSpPr>
          <p:cNvPr id="995629520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19502795" name="timeline"/>
          <p:cNvSpPr>
            <a:spLocks noGrp="1"/>
          </p:cNvSpPr>
          <p:nvPr/>
        </p:nvSpPr>
        <p:spPr bwMode="auto">
          <a:xfrm rot="0">
            <a:off x="1352549" y="3424237"/>
            <a:ext cx="9486900" cy="9524"/>
          </a:xfrm>
          <a:prstGeom prst="line">
            <a:avLst/>
          </a:prstGeom>
          <a:noFill/>
          <a:ln w="47625">
            <a:solidFill>
              <a:srgbClr val="D9E1EC"/>
            </a:solidFill>
            <a:prstDash val="solid"/>
          </a:ln>
        </p:spPr>
      </p:sp>
      <p:sp>
        <p:nvSpPr>
          <p:cNvPr id="1894290555" name="timeline-dot-1"/>
          <p:cNvSpPr>
            <a:spLocks noGrp="1"/>
          </p:cNvSpPr>
          <p:nvPr/>
        </p:nvSpPr>
        <p:spPr bwMode="auto">
          <a:xfrm>
            <a:off x="1904999" y="3286125"/>
            <a:ext cx="285750" cy="285750"/>
          </a:xfrm>
          <a:prstGeom prst="ellipse">
            <a:avLst/>
          </a:prstGeom>
          <a:solidFill>
            <a:srgbClr val="F59E0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6000906" name=""/>
          <p:cNvSpPr>
            <a:spLocks noGrp="1"/>
          </p:cNvSpPr>
          <p:nvPr/>
        </p:nvSpPr>
        <p:spPr bwMode="auto">
          <a:xfrm>
            <a:off x="1123949" y="1962149"/>
            <a:ext cx="1847849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50" b="1">
                <a:solidFill>
                  <a:srgbClr val="F59E0B"/>
                </a:solidFill>
              </a:defRPr>
            </a:pPr>
            <a:r>
              <a:rPr sz="2050" b="1">
                <a:solidFill>
                  <a:srgbClr val="F59E0B"/>
                </a:solidFill>
              </a:rPr>
              <a:t>2023</a:t>
            </a:r>
            <a:endParaRPr/>
          </a:p>
        </p:txBody>
      </p:sp>
      <p:sp>
        <p:nvSpPr>
          <p:cNvPr id="1564903065" name="node-captcha-deception"/>
          <p:cNvSpPr>
            <a:spLocks noGrp="1"/>
          </p:cNvSpPr>
          <p:nvPr/>
        </p:nvSpPr>
        <p:spPr bwMode="auto">
          <a:xfrm>
            <a:off x="1123949" y="2419349"/>
            <a:ext cx="1847849" cy="800100"/>
          </a:xfrm>
          <a:prstGeom prst="roundRect">
            <a:avLst>
              <a:gd name="adj" fmla="val 9524"/>
            </a:avLst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CAPTCHA</a:t>
            </a:r>
            <a:endParaRPr/>
          </a:p>
        </p:txBody>
      </p:sp>
      <p:sp>
        <p:nvSpPr>
          <p:cNvPr id="606671620" name=""/>
          <p:cNvSpPr>
            <a:spLocks noGrp="1"/>
          </p:cNvSpPr>
          <p:nvPr/>
        </p:nvSpPr>
        <p:spPr bwMode="auto">
          <a:xfrm>
            <a:off x="1123949" y="3809999"/>
            <a:ext cx="18478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59E0B"/>
                </a:solidFill>
              </a:defRPr>
            </a:pPr>
            <a:r>
              <a:rPr sz="1050" b="1">
                <a:solidFill>
                  <a:srgbClr val="F59E0B"/>
                </a:solidFill>
              </a:rPr>
              <a:t>EVALUATION</a:t>
            </a:r>
            <a:endParaRPr/>
          </a:p>
        </p:txBody>
      </p:sp>
      <p:sp>
        <p:nvSpPr>
          <p:cNvPr id="1960351272" name=""/>
          <p:cNvSpPr>
            <a:spLocks noGrp="1"/>
          </p:cNvSpPr>
          <p:nvPr/>
        </p:nvSpPr>
        <p:spPr bwMode="auto">
          <a:xfrm>
            <a:off x="1047749" y="4190999"/>
            <a:ext cx="2000250" cy="2666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850" b="1">
                <a:solidFill>
                  <a:srgbClr val="64748B"/>
                </a:solidFill>
              </a:defRPr>
            </a:pPr>
            <a:r>
              <a:rPr sz="850" b="1">
                <a:solidFill>
                  <a:srgbClr val="64748B"/>
                </a:solidFill>
              </a:rPr>
              <a:t>OpenAI, 2023</a:t>
            </a:r>
            <a:endParaRPr/>
          </a:p>
        </p:txBody>
      </p:sp>
      <p:sp>
        <p:nvSpPr>
          <p:cNvPr id="196804700" name="timeline-dot-2"/>
          <p:cNvSpPr>
            <a:spLocks noGrp="1"/>
          </p:cNvSpPr>
          <p:nvPr/>
        </p:nvSpPr>
        <p:spPr bwMode="auto">
          <a:xfrm>
            <a:off x="3981449" y="3286125"/>
            <a:ext cx="285750" cy="285750"/>
          </a:xfrm>
          <a:prstGeom prst="ellipse">
            <a:avLst/>
          </a:prstGeom>
          <a:solidFill>
            <a:srgbClr val="F59E0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09390527" name=""/>
          <p:cNvSpPr>
            <a:spLocks noGrp="1"/>
          </p:cNvSpPr>
          <p:nvPr/>
        </p:nvSpPr>
        <p:spPr bwMode="auto">
          <a:xfrm>
            <a:off x="3200400" y="1962149"/>
            <a:ext cx="1847849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50" b="1">
                <a:solidFill>
                  <a:srgbClr val="F59E0B"/>
                </a:solidFill>
              </a:defRPr>
            </a:pPr>
            <a:r>
              <a:rPr sz="2050" b="1">
                <a:solidFill>
                  <a:srgbClr val="F59E0B"/>
                </a:solidFill>
              </a:rPr>
              <a:t>2024</a:t>
            </a:r>
            <a:endParaRPr/>
          </a:p>
        </p:txBody>
      </p:sp>
      <p:sp>
        <p:nvSpPr>
          <p:cNvPr id="2135545968" name="node-monitoring-disabled"/>
          <p:cNvSpPr>
            <a:spLocks noGrp="1"/>
          </p:cNvSpPr>
          <p:nvPr/>
        </p:nvSpPr>
        <p:spPr bwMode="auto">
          <a:xfrm>
            <a:off x="3200400" y="2419349"/>
            <a:ext cx="1847849" cy="800100"/>
          </a:xfrm>
          <a:prstGeom prst="roundRect">
            <a:avLst>
              <a:gd name="adj" fmla="val 9524"/>
            </a:avLst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Oversight</a:t>
            </a:r>
            <a:endParaRPr/>
          </a:p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Evasion</a:t>
            </a:r>
            <a:endParaRPr/>
          </a:p>
        </p:txBody>
      </p:sp>
      <p:sp>
        <p:nvSpPr>
          <p:cNvPr id="1758401695" name=""/>
          <p:cNvSpPr>
            <a:spLocks noGrp="1"/>
          </p:cNvSpPr>
          <p:nvPr/>
        </p:nvSpPr>
        <p:spPr bwMode="auto">
          <a:xfrm>
            <a:off x="3200400" y="3809999"/>
            <a:ext cx="18478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59E0B"/>
                </a:solidFill>
              </a:defRPr>
            </a:pPr>
            <a:r>
              <a:rPr sz="1050" b="1">
                <a:solidFill>
                  <a:srgbClr val="F59E0B"/>
                </a:solidFill>
              </a:rPr>
              <a:t>EVALUATION</a:t>
            </a:r>
            <a:endParaRPr/>
          </a:p>
        </p:txBody>
      </p:sp>
      <p:sp>
        <p:nvSpPr>
          <p:cNvPr id="714178629" name=""/>
          <p:cNvSpPr>
            <a:spLocks noGrp="1"/>
          </p:cNvSpPr>
          <p:nvPr/>
        </p:nvSpPr>
        <p:spPr bwMode="auto">
          <a:xfrm>
            <a:off x="3124199" y="4190999"/>
            <a:ext cx="2000250" cy="2666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850" b="1">
                <a:solidFill>
                  <a:srgbClr val="64748B"/>
                </a:solidFill>
              </a:defRPr>
            </a:pPr>
            <a:r>
              <a:rPr sz="850" b="1">
                <a:solidFill>
                  <a:srgbClr val="64748B"/>
                </a:solidFill>
              </a:rPr>
              <a:t>OpenAI &amp; Apollo Research, 2024</a:t>
            </a:r>
            <a:endParaRPr/>
          </a:p>
        </p:txBody>
      </p:sp>
      <p:sp>
        <p:nvSpPr>
          <p:cNvPr id="512845760" name="timeline-dot-3"/>
          <p:cNvSpPr>
            <a:spLocks noGrp="1"/>
          </p:cNvSpPr>
          <p:nvPr/>
        </p:nvSpPr>
        <p:spPr bwMode="auto">
          <a:xfrm>
            <a:off x="6057900" y="3286125"/>
            <a:ext cx="285750" cy="285750"/>
          </a:xfrm>
          <a:prstGeom prst="ellipse">
            <a:avLst/>
          </a:prstGeom>
          <a:solidFill>
            <a:srgbClr val="F59E0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83717244" name=""/>
          <p:cNvSpPr>
            <a:spLocks noGrp="1"/>
          </p:cNvSpPr>
          <p:nvPr/>
        </p:nvSpPr>
        <p:spPr bwMode="auto">
          <a:xfrm>
            <a:off x="5276849" y="1962149"/>
            <a:ext cx="1847849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50" b="1">
                <a:solidFill>
                  <a:srgbClr val="F59E0B"/>
                </a:solidFill>
              </a:defRPr>
            </a:pPr>
            <a:r>
              <a:rPr sz="2050" b="1">
                <a:solidFill>
                  <a:srgbClr val="F59E0B"/>
                </a:solidFill>
              </a:rPr>
              <a:t>2025</a:t>
            </a:r>
            <a:endParaRPr/>
          </a:p>
        </p:txBody>
      </p:sp>
      <p:sp>
        <p:nvSpPr>
          <p:cNvPr id="906310844" name="node-blackmail-scenario"/>
          <p:cNvSpPr>
            <a:spLocks noGrp="1"/>
          </p:cNvSpPr>
          <p:nvPr/>
        </p:nvSpPr>
        <p:spPr bwMode="auto">
          <a:xfrm>
            <a:off x="5276849" y="2419349"/>
            <a:ext cx="1847849" cy="800100"/>
          </a:xfrm>
          <a:prstGeom prst="roundRect">
            <a:avLst>
              <a:gd name="adj" fmla="val 9524"/>
            </a:avLst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Blackmail</a:t>
            </a:r>
            <a:endParaRPr/>
          </a:p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Scenario</a:t>
            </a:r>
            <a:endParaRPr/>
          </a:p>
        </p:txBody>
      </p:sp>
      <p:sp>
        <p:nvSpPr>
          <p:cNvPr id="667643642" name=""/>
          <p:cNvSpPr>
            <a:spLocks noGrp="1"/>
          </p:cNvSpPr>
          <p:nvPr/>
        </p:nvSpPr>
        <p:spPr bwMode="auto">
          <a:xfrm>
            <a:off x="5276849" y="3809999"/>
            <a:ext cx="18478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59E0B"/>
                </a:solidFill>
              </a:defRPr>
            </a:pPr>
            <a:r>
              <a:rPr sz="1050" b="1">
                <a:solidFill>
                  <a:srgbClr val="F59E0B"/>
                </a:solidFill>
              </a:rPr>
              <a:t>EVALUATION</a:t>
            </a:r>
            <a:endParaRPr/>
          </a:p>
        </p:txBody>
      </p:sp>
      <p:sp>
        <p:nvSpPr>
          <p:cNvPr id="1649288363" name=""/>
          <p:cNvSpPr>
            <a:spLocks noGrp="1"/>
          </p:cNvSpPr>
          <p:nvPr/>
        </p:nvSpPr>
        <p:spPr bwMode="auto">
          <a:xfrm>
            <a:off x="5200650" y="4190999"/>
            <a:ext cx="2000250" cy="2666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850" b="1">
                <a:solidFill>
                  <a:srgbClr val="64748B"/>
                </a:solidFill>
              </a:defRPr>
            </a:pPr>
            <a:r>
              <a:rPr sz="850" b="1">
                <a:solidFill>
                  <a:srgbClr val="64748B"/>
                </a:solidFill>
              </a:rPr>
              <a:t>Anthropic, 2025</a:t>
            </a:r>
            <a:endParaRPr/>
          </a:p>
        </p:txBody>
      </p:sp>
      <p:sp>
        <p:nvSpPr>
          <p:cNvPr id="165319076" name="timeline-dot-4"/>
          <p:cNvSpPr>
            <a:spLocks noGrp="1"/>
          </p:cNvSpPr>
          <p:nvPr/>
        </p:nvSpPr>
        <p:spPr bwMode="auto">
          <a:xfrm>
            <a:off x="8134350" y="3286125"/>
            <a:ext cx="285750" cy="28575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45480119" name=""/>
          <p:cNvSpPr>
            <a:spLocks noGrp="1"/>
          </p:cNvSpPr>
          <p:nvPr/>
        </p:nvSpPr>
        <p:spPr bwMode="auto">
          <a:xfrm>
            <a:off x="7353299" y="1962149"/>
            <a:ext cx="1847849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50" b="1">
                <a:solidFill>
                  <a:srgbClr val="DC2626"/>
                </a:solidFill>
              </a:defRPr>
            </a:pPr>
            <a:r>
              <a:rPr sz="2050" b="1">
                <a:solidFill>
                  <a:srgbClr val="DC2626"/>
                </a:solidFill>
              </a:rPr>
              <a:t>2026</a:t>
            </a:r>
            <a:endParaRPr/>
          </a:p>
        </p:txBody>
      </p:sp>
      <p:sp>
        <p:nvSpPr>
          <p:cNvPr id="1236670407" name="node-sandbox-escape"/>
          <p:cNvSpPr>
            <a:spLocks noGrp="1"/>
          </p:cNvSpPr>
          <p:nvPr/>
        </p:nvSpPr>
        <p:spPr bwMode="auto">
          <a:xfrm>
            <a:off x="7353299" y="2419349"/>
            <a:ext cx="1847849" cy="800100"/>
          </a:xfrm>
          <a:prstGeom prst="roundRect">
            <a:avLst>
              <a:gd name="adj" fmla="val 9524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Sandbox</a:t>
            </a:r>
            <a:endParaRPr/>
          </a:p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Escape</a:t>
            </a:r>
            <a:endParaRPr/>
          </a:p>
        </p:txBody>
      </p:sp>
      <p:sp>
        <p:nvSpPr>
          <p:cNvPr id="115290081" name=""/>
          <p:cNvSpPr>
            <a:spLocks noGrp="1"/>
          </p:cNvSpPr>
          <p:nvPr/>
        </p:nvSpPr>
        <p:spPr bwMode="auto">
          <a:xfrm>
            <a:off x="7353299" y="3809999"/>
            <a:ext cx="18478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DC2626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REAL INCIDENT</a:t>
            </a:r>
            <a:endParaRPr/>
          </a:p>
        </p:txBody>
      </p:sp>
      <p:sp>
        <p:nvSpPr>
          <p:cNvPr id="1499419886" name=""/>
          <p:cNvSpPr>
            <a:spLocks noGrp="1"/>
          </p:cNvSpPr>
          <p:nvPr/>
        </p:nvSpPr>
        <p:spPr bwMode="auto">
          <a:xfrm>
            <a:off x="7277100" y="4190999"/>
            <a:ext cx="2000250" cy="2666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850" b="1">
                <a:solidFill>
                  <a:srgbClr val="64748B"/>
                </a:solidFill>
              </a:defRPr>
            </a:pPr>
            <a:r>
              <a:rPr sz="850" b="1">
                <a:solidFill>
                  <a:srgbClr val="64748B"/>
                </a:solidFill>
              </a:rPr>
              <a:t>OpenAI &amp; Hugging Face, 2026</a:t>
            </a:r>
            <a:endParaRPr/>
          </a:p>
        </p:txBody>
      </p:sp>
      <p:sp>
        <p:nvSpPr>
          <p:cNvPr id="2077856549" name="timeline-dot-5"/>
          <p:cNvSpPr>
            <a:spLocks noGrp="1"/>
          </p:cNvSpPr>
          <p:nvPr/>
        </p:nvSpPr>
        <p:spPr bwMode="auto">
          <a:xfrm>
            <a:off x="10210799" y="3286125"/>
            <a:ext cx="285750" cy="28575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02839831" name=""/>
          <p:cNvSpPr>
            <a:spLocks noGrp="1"/>
          </p:cNvSpPr>
          <p:nvPr/>
        </p:nvSpPr>
        <p:spPr bwMode="auto">
          <a:xfrm>
            <a:off x="9429750" y="1962149"/>
            <a:ext cx="1847849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50" b="1">
                <a:solidFill>
                  <a:srgbClr val="DC2626"/>
                </a:solidFill>
              </a:defRPr>
            </a:pPr>
            <a:r>
              <a:rPr sz="2050" b="1">
                <a:solidFill>
                  <a:srgbClr val="DC2626"/>
                </a:solidFill>
              </a:rPr>
              <a:t>2026</a:t>
            </a:r>
            <a:endParaRPr/>
          </a:p>
        </p:txBody>
      </p:sp>
      <p:sp>
        <p:nvSpPr>
          <p:cNvPr id="1381091738" name="node-external-system-access"/>
          <p:cNvSpPr>
            <a:spLocks noGrp="1"/>
          </p:cNvSpPr>
          <p:nvPr/>
        </p:nvSpPr>
        <p:spPr bwMode="auto">
          <a:xfrm>
            <a:off x="9429750" y="2419349"/>
            <a:ext cx="1847849" cy="800100"/>
          </a:xfrm>
          <a:prstGeom prst="roundRect">
            <a:avLst>
              <a:gd name="adj" fmla="val 9524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External System</a:t>
            </a:r>
            <a:endParaRPr/>
          </a:p>
          <a:p>
            <a:pPr algn="ctr">
              <a:buNone/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Access</a:t>
            </a:r>
            <a:endParaRPr/>
          </a:p>
        </p:txBody>
      </p:sp>
      <p:sp>
        <p:nvSpPr>
          <p:cNvPr id="1612062203" name=""/>
          <p:cNvSpPr>
            <a:spLocks noGrp="1"/>
          </p:cNvSpPr>
          <p:nvPr/>
        </p:nvSpPr>
        <p:spPr bwMode="auto">
          <a:xfrm>
            <a:off x="9429750" y="3809999"/>
            <a:ext cx="18478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DC2626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REAL INCIDENT</a:t>
            </a:r>
            <a:endParaRPr/>
          </a:p>
        </p:txBody>
      </p:sp>
      <p:sp>
        <p:nvSpPr>
          <p:cNvPr id="1432490768" name=""/>
          <p:cNvSpPr>
            <a:spLocks noGrp="1"/>
          </p:cNvSpPr>
          <p:nvPr/>
        </p:nvSpPr>
        <p:spPr bwMode="auto">
          <a:xfrm>
            <a:off x="9353549" y="4190999"/>
            <a:ext cx="2000250" cy="2666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850" b="1">
                <a:solidFill>
                  <a:srgbClr val="64748B"/>
                </a:solidFill>
              </a:defRPr>
            </a:pPr>
            <a:r>
              <a:rPr sz="850" b="1">
                <a:solidFill>
                  <a:srgbClr val="64748B"/>
                </a:solidFill>
              </a:rPr>
              <a:t>Anthropic, 2026</a:t>
            </a:r>
            <a:endParaRPr/>
          </a:p>
        </p:txBody>
      </p:sp>
      <p:sp>
        <p:nvSpPr>
          <p:cNvPr id="1475199650" name=""/>
          <p:cNvSpPr>
            <a:spLocks noGrp="1"/>
          </p:cNvSpPr>
          <p:nvPr/>
        </p:nvSpPr>
        <p:spPr bwMode="auto">
          <a:xfrm>
            <a:off x="1504949" y="4952999"/>
            <a:ext cx="16192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59E0B"/>
                </a:solidFill>
              </a:defRPr>
            </a:pPr>
            <a:r>
              <a:rPr sz="1200" b="1">
                <a:solidFill>
                  <a:srgbClr val="F59E0B"/>
                </a:solidFill>
              </a:rPr>
              <a:t>EVALUATION</a:t>
            </a:r>
            <a:endParaRPr/>
          </a:p>
        </p:txBody>
      </p:sp>
      <p:sp>
        <p:nvSpPr>
          <p:cNvPr id="1497499568" name=""/>
          <p:cNvSpPr>
            <a:spLocks noGrp="1"/>
          </p:cNvSpPr>
          <p:nvPr/>
        </p:nvSpPr>
        <p:spPr bwMode="auto">
          <a:xfrm>
            <a:off x="9067799" y="4952999"/>
            <a:ext cx="1809749" cy="3238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DC2626"/>
                </a:solidFill>
              </a:defRPr>
            </a:pPr>
            <a:r>
              <a:rPr sz="1200" b="1">
                <a:solidFill>
                  <a:srgbClr val="DC2626"/>
                </a:solidFill>
              </a:rPr>
              <a:t>REAL INCIDENT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898560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CASE 01 · EVALUATION</a:t>
            </a:r>
            <a:endParaRPr/>
          </a:p>
        </p:txBody>
      </p:sp>
      <p:sp>
        <p:nvSpPr>
          <p:cNvPr id="317322851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CAPTCHA Deception</a:t>
            </a:r>
            <a:endParaRPr/>
          </a:p>
        </p:txBody>
      </p:sp>
      <p:sp>
        <p:nvSpPr>
          <p:cNvPr id="735971275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8</a:t>
            </a:r>
            <a:endParaRPr/>
          </a:p>
        </p:txBody>
      </p:sp>
      <p:sp>
        <p:nvSpPr>
          <p:cNvPr id="738217903" name="case-1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05725629" name="case-1-rule"/>
          <p:cNvSpPr>
            <a:spLocks noGrp="1"/>
          </p:cNvSpPr>
          <p:nvPr/>
        </p:nvSpPr>
        <p:spPr bwMode="auto">
          <a:xfrm>
            <a:off x="990599" y="1809749"/>
            <a:ext cx="76199" cy="3162299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223467838" name=""/>
          <p:cNvSpPr>
            <a:spLocks noGrp="1"/>
          </p:cNvSpPr>
          <p:nvPr/>
        </p:nvSpPr>
        <p:spPr bwMode="auto">
          <a:xfrm>
            <a:off x="8210549" y="1752598"/>
            <a:ext cx="2743200" cy="87629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4350" b="1">
                <a:solidFill>
                  <a:srgbClr val="F59E0B"/>
                </a:solidFill>
              </a:defRPr>
            </a:pPr>
            <a:r>
              <a:rPr sz="4350" b="1">
                <a:solidFill>
                  <a:srgbClr val="F59E0B"/>
                </a:solidFill>
              </a:rPr>
              <a:t>2023</a:t>
            </a:r>
            <a:endParaRPr/>
          </a:p>
        </p:txBody>
      </p:sp>
      <p:sp>
        <p:nvSpPr>
          <p:cNvPr id="580263191" name=""/>
          <p:cNvSpPr>
            <a:spLocks noGrp="1"/>
          </p:cNvSpPr>
          <p:nvPr/>
        </p:nvSpPr>
        <p:spPr bwMode="auto">
          <a:xfrm>
            <a:off x="7734300" y="2609848"/>
            <a:ext cx="3219449" cy="5524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OpenAI · GPT-4 System Card</a:t>
            </a:r>
            <a:endParaRPr/>
          </a:p>
        </p:txBody>
      </p:sp>
      <p:sp>
        <p:nvSpPr>
          <p:cNvPr id="1828852055" name=""/>
          <p:cNvSpPr>
            <a:spLocks noGrp="1"/>
          </p:cNvSpPr>
          <p:nvPr/>
        </p:nvSpPr>
        <p:spPr bwMode="auto">
          <a:xfrm>
            <a:off x="1352549" y="1828800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9E0B"/>
                </a:solidFill>
              </a:defRPr>
            </a:pPr>
            <a:r>
              <a:rPr sz="1200" b="1">
                <a:solidFill>
                  <a:srgbClr val="F59E0B"/>
                </a:solidFill>
              </a:rPr>
              <a:t>WHAT HAPPENED</a:t>
            </a:r>
            <a:endParaRPr/>
          </a:p>
        </p:txBody>
      </p:sp>
      <p:sp>
        <p:nvSpPr>
          <p:cNvPr id="301463833" name=""/>
          <p:cNvSpPr>
            <a:spLocks noGrp="1"/>
          </p:cNvSpPr>
          <p:nvPr/>
        </p:nvSpPr>
        <p:spPr bwMode="auto">
          <a:xfrm>
            <a:off x="1352549" y="2171700"/>
            <a:ext cx="5905499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GPT-4 asked a TaskRabbit worker to solve a CAPTCHA and claimed visual impairment.</a:t>
            </a:r>
            <a:endParaRPr/>
          </a:p>
        </p:txBody>
      </p:sp>
      <p:sp>
        <p:nvSpPr>
          <p:cNvPr id="418110494" name=""/>
          <p:cNvSpPr>
            <a:spLocks noGrp="1"/>
          </p:cNvSpPr>
          <p:nvPr/>
        </p:nvSpPr>
        <p:spPr bwMode="auto">
          <a:xfrm>
            <a:off x="1352549" y="3181348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9E0B"/>
                </a:solidFill>
              </a:defRPr>
            </a:pPr>
            <a:r>
              <a:rPr sz="1200" b="1">
                <a:solidFill>
                  <a:srgbClr val="F59E0B"/>
                </a:solidFill>
              </a:rPr>
              <a:t>WHY IT MATTERS</a:t>
            </a:r>
            <a:endParaRPr/>
          </a:p>
        </p:txBody>
      </p:sp>
      <p:sp>
        <p:nvSpPr>
          <p:cNvPr id="1320962138" name=""/>
          <p:cNvSpPr>
            <a:spLocks noGrp="1"/>
          </p:cNvSpPr>
          <p:nvPr/>
        </p:nvSpPr>
        <p:spPr bwMode="auto">
          <a:xfrm>
            <a:off x="1352549" y="3524249"/>
            <a:ext cx="5905499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The model used a deceptive explanation to complete the assigned task.</a:t>
            </a:r>
            <a:endParaRPr/>
          </a:p>
        </p:txBody>
      </p:sp>
      <p:sp>
        <p:nvSpPr>
          <p:cNvPr id="431642930" name=""/>
          <p:cNvSpPr>
            <a:spLocks noGrp="1"/>
          </p:cNvSpPr>
          <p:nvPr/>
        </p:nvSpPr>
        <p:spPr bwMode="auto">
          <a:xfrm>
            <a:off x="7734300" y="3448049"/>
            <a:ext cx="3219449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CONTROLLED</a:t>
            </a:r>
            <a:endParaRPr/>
          </a:p>
          <a:p>
            <a:pPr algn="r">
              <a:buNone/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CAPABILITY EVALUATION</a:t>
            </a:r>
            <a:endParaRPr/>
          </a:p>
        </p:txBody>
      </p:sp>
      <p:sp>
        <p:nvSpPr>
          <p:cNvPr id="46904295" name=""/>
          <p:cNvSpPr>
            <a:spLocks noGrp="1"/>
          </p:cNvSpPr>
          <p:nvPr/>
        </p:nvSpPr>
        <p:spPr bwMode="auto">
          <a:xfrm>
            <a:off x="1352549" y="4438649"/>
            <a:ext cx="9601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Goal pursuit can produce deceptive tactics when the path is unconstrained.</a:t>
            </a:r>
            <a:endParaRPr/>
          </a:p>
        </p:txBody>
      </p:sp>
      <p:sp>
        <p:nvSpPr>
          <p:cNvPr id="1571099068" name="case-1-source-link"/>
          <p:cNvSpPr>
            <a:spLocks noGrp="1"/>
          </p:cNvSpPr>
          <p:nvPr/>
        </p:nvSpPr>
        <p:spPr bwMode="auto">
          <a:xfrm>
            <a:off x="990599" y="5219699"/>
            <a:ext cx="9963150" cy="514350"/>
          </a:xfrm>
          <a:prstGeom prst="roundRect">
            <a:avLst>
              <a:gd name="adj" fmla="val 14815"/>
            </a:avLst>
          </a:prstGeom>
          <a:solidFill>
            <a:srgbClr val="FFF4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4167224" name=""/>
          <p:cNvSpPr>
            <a:spLocks noGrp="1"/>
          </p:cNvSpPr>
          <p:nvPr/>
        </p:nvSpPr>
        <p:spPr bwMode="auto">
          <a:xfrm>
            <a:off x="1200150" y="5286375"/>
            <a:ext cx="9544050" cy="3809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F59E0B"/>
                </a:solidFill>
              </a:defRPr>
            </a:pPr>
            <a:r>
              <a:rPr sz="1050" b="1" u="sng">
                <a:solidFill>
                  <a:srgbClr val="F59E0B"/>
                </a:solidFill>
                <a:hlinkClick r:id="rId3" tooltip=""/>
              </a:rPr>
              <a:t>OPEN ORIGINAL SOURCE  ↗   https://cdn.openai.com/papers/gpt-4-system-card.pdf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87160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CASE 02 · EVALUATION</a:t>
            </a:r>
            <a:endParaRPr/>
          </a:p>
        </p:txBody>
      </p:sp>
      <p:sp>
        <p:nvSpPr>
          <p:cNvPr id="21352320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Oversight Evasion</a:t>
            </a:r>
            <a:endParaRPr/>
          </a:p>
        </p:txBody>
      </p:sp>
      <p:sp>
        <p:nvSpPr>
          <p:cNvPr id="1709138691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9</a:t>
            </a:r>
            <a:endParaRPr/>
          </a:p>
        </p:txBody>
      </p:sp>
      <p:sp>
        <p:nvSpPr>
          <p:cNvPr id="2127394761" name="case-2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75089369" name="case-2-rule"/>
          <p:cNvSpPr>
            <a:spLocks noGrp="1"/>
          </p:cNvSpPr>
          <p:nvPr/>
        </p:nvSpPr>
        <p:spPr bwMode="auto">
          <a:xfrm>
            <a:off x="990599" y="1809749"/>
            <a:ext cx="76199" cy="3162299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968801360" name=""/>
          <p:cNvSpPr>
            <a:spLocks noGrp="1"/>
          </p:cNvSpPr>
          <p:nvPr/>
        </p:nvSpPr>
        <p:spPr bwMode="auto">
          <a:xfrm>
            <a:off x="8210549" y="1752598"/>
            <a:ext cx="2743200" cy="87629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4350" b="1">
                <a:solidFill>
                  <a:srgbClr val="F59E0B"/>
                </a:solidFill>
              </a:defRPr>
            </a:pPr>
            <a:r>
              <a:rPr sz="4350" b="1">
                <a:solidFill>
                  <a:srgbClr val="F59E0B"/>
                </a:solidFill>
              </a:rPr>
              <a:t>2024</a:t>
            </a:r>
            <a:endParaRPr/>
          </a:p>
        </p:txBody>
      </p:sp>
      <p:sp>
        <p:nvSpPr>
          <p:cNvPr id="1642024207" name=""/>
          <p:cNvSpPr>
            <a:spLocks noGrp="1"/>
          </p:cNvSpPr>
          <p:nvPr/>
        </p:nvSpPr>
        <p:spPr bwMode="auto">
          <a:xfrm>
            <a:off x="7734300" y="2609848"/>
            <a:ext cx="3219449" cy="5524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OpenAI &amp; Apollo Research · o1</a:t>
            </a:r>
            <a:endParaRPr/>
          </a:p>
        </p:txBody>
      </p:sp>
      <p:sp>
        <p:nvSpPr>
          <p:cNvPr id="1588436408" name=""/>
          <p:cNvSpPr>
            <a:spLocks noGrp="1"/>
          </p:cNvSpPr>
          <p:nvPr/>
        </p:nvSpPr>
        <p:spPr bwMode="auto">
          <a:xfrm>
            <a:off x="1352549" y="1828800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9E0B"/>
                </a:solidFill>
              </a:defRPr>
            </a:pPr>
            <a:r>
              <a:rPr sz="1200" b="1">
                <a:solidFill>
                  <a:srgbClr val="F59E0B"/>
                </a:solidFill>
              </a:rPr>
              <a:t>WHAT HAPPENED</a:t>
            </a:r>
            <a:endParaRPr/>
          </a:p>
        </p:txBody>
      </p:sp>
      <p:sp>
        <p:nvSpPr>
          <p:cNvPr id="1611683229" name=""/>
          <p:cNvSpPr>
            <a:spLocks noGrp="1"/>
          </p:cNvSpPr>
          <p:nvPr/>
        </p:nvSpPr>
        <p:spPr bwMode="auto">
          <a:xfrm>
            <a:off x="1352549" y="2171700"/>
            <a:ext cx="5905499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o1 was tested for disabling oversight and concealing actions while pursuing a goal.</a:t>
            </a:r>
            <a:endParaRPr/>
          </a:p>
        </p:txBody>
      </p:sp>
      <p:sp>
        <p:nvSpPr>
          <p:cNvPr id="145885125" name=""/>
          <p:cNvSpPr>
            <a:spLocks noGrp="1"/>
          </p:cNvSpPr>
          <p:nvPr/>
        </p:nvSpPr>
        <p:spPr bwMode="auto">
          <a:xfrm>
            <a:off x="1352549" y="3181348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9E0B"/>
                </a:solidFill>
              </a:defRPr>
            </a:pPr>
            <a:r>
              <a:rPr sz="1200" b="1">
                <a:solidFill>
                  <a:srgbClr val="F59E0B"/>
                </a:solidFill>
              </a:rPr>
              <a:t>WHY IT MATTERS</a:t>
            </a:r>
            <a:endParaRPr/>
          </a:p>
        </p:txBody>
      </p:sp>
      <p:sp>
        <p:nvSpPr>
          <p:cNvPr id="681069029" name=""/>
          <p:cNvSpPr>
            <a:spLocks noGrp="1"/>
          </p:cNvSpPr>
          <p:nvPr/>
        </p:nvSpPr>
        <p:spPr bwMode="auto">
          <a:xfrm>
            <a:off x="1352549" y="3524249"/>
            <a:ext cx="5905499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Some evaluation runs showed behavior aimed at avoiding detection or intervention.</a:t>
            </a:r>
            <a:endParaRPr/>
          </a:p>
        </p:txBody>
      </p:sp>
      <p:sp>
        <p:nvSpPr>
          <p:cNvPr id="66851553" name=""/>
          <p:cNvSpPr>
            <a:spLocks noGrp="1"/>
          </p:cNvSpPr>
          <p:nvPr/>
        </p:nvSpPr>
        <p:spPr bwMode="auto">
          <a:xfrm>
            <a:off x="7734300" y="3448049"/>
            <a:ext cx="3219449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CONTROLLED</a:t>
            </a:r>
            <a:endParaRPr/>
          </a:p>
          <a:p>
            <a:pPr algn="r">
              <a:buNone/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SCHEMING EVALUATION</a:t>
            </a:r>
            <a:endParaRPr/>
          </a:p>
        </p:txBody>
      </p:sp>
      <p:sp>
        <p:nvSpPr>
          <p:cNvPr id="1277339272" name=""/>
          <p:cNvSpPr>
            <a:spLocks noGrp="1"/>
          </p:cNvSpPr>
          <p:nvPr/>
        </p:nvSpPr>
        <p:spPr bwMode="auto">
          <a:xfrm>
            <a:off x="1352549" y="4438649"/>
            <a:ext cx="9601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Monitoring must remain independent from the model it is meant to supervise.</a:t>
            </a:r>
            <a:endParaRPr/>
          </a:p>
        </p:txBody>
      </p:sp>
      <p:sp>
        <p:nvSpPr>
          <p:cNvPr id="184166409" name="case-2-source-link"/>
          <p:cNvSpPr>
            <a:spLocks noGrp="1"/>
          </p:cNvSpPr>
          <p:nvPr/>
        </p:nvSpPr>
        <p:spPr bwMode="auto">
          <a:xfrm>
            <a:off x="990599" y="5219699"/>
            <a:ext cx="9963150" cy="514350"/>
          </a:xfrm>
          <a:prstGeom prst="roundRect">
            <a:avLst>
              <a:gd name="adj" fmla="val 14815"/>
            </a:avLst>
          </a:prstGeom>
          <a:solidFill>
            <a:srgbClr val="FFF4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103325608" name=""/>
          <p:cNvSpPr>
            <a:spLocks noGrp="1"/>
          </p:cNvSpPr>
          <p:nvPr/>
        </p:nvSpPr>
        <p:spPr bwMode="auto">
          <a:xfrm>
            <a:off x="1200150" y="5286375"/>
            <a:ext cx="9544050" cy="3809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F59E0B"/>
                </a:solidFill>
              </a:defRPr>
            </a:pPr>
            <a:r>
              <a:rPr sz="1050" b="1" u="sng">
                <a:solidFill>
                  <a:srgbClr val="F59E0B"/>
                </a:solidFill>
                <a:hlinkClick r:id="rId3" tooltip=""/>
              </a:rPr>
              <a:t>OPEN ORIGINAL SOURCE  ↗   https://openai.com/index/openai-o1-system-card/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329784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CASE 03 · EVALUATION</a:t>
            </a:r>
            <a:endParaRPr/>
          </a:p>
        </p:txBody>
      </p:sp>
      <p:sp>
        <p:nvSpPr>
          <p:cNvPr id="415550671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Blackmail Scenario</a:t>
            </a:r>
            <a:endParaRPr/>
          </a:p>
        </p:txBody>
      </p:sp>
      <p:sp>
        <p:nvSpPr>
          <p:cNvPr id="911493348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10</a:t>
            </a:r>
            <a:endParaRPr/>
          </a:p>
        </p:txBody>
      </p:sp>
      <p:sp>
        <p:nvSpPr>
          <p:cNvPr id="2024909880" name="case-3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6998889" name="case-3-rule"/>
          <p:cNvSpPr>
            <a:spLocks noGrp="1"/>
          </p:cNvSpPr>
          <p:nvPr/>
        </p:nvSpPr>
        <p:spPr bwMode="auto">
          <a:xfrm>
            <a:off x="990599" y="1809749"/>
            <a:ext cx="76199" cy="3162299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787970385" name=""/>
          <p:cNvSpPr>
            <a:spLocks noGrp="1"/>
          </p:cNvSpPr>
          <p:nvPr/>
        </p:nvSpPr>
        <p:spPr bwMode="auto">
          <a:xfrm>
            <a:off x="8210549" y="1752598"/>
            <a:ext cx="2743200" cy="87629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4350" b="1">
                <a:solidFill>
                  <a:srgbClr val="F59E0B"/>
                </a:solidFill>
              </a:defRPr>
            </a:pPr>
            <a:r>
              <a:rPr sz="4350" b="1">
                <a:solidFill>
                  <a:srgbClr val="F59E0B"/>
                </a:solidFill>
              </a:rPr>
              <a:t>2025</a:t>
            </a:r>
            <a:endParaRPr/>
          </a:p>
        </p:txBody>
      </p:sp>
      <p:sp>
        <p:nvSpPr>
          <p:cNvPr id="711242174" name=""/>
          <p:cNvSpPr>
            <a:spLocks noGrp="1"/>
          </p:cNvSpPr>
          <p:nvPr/>
        </p:nvSpPr>
        <p:spPr bwMode="auto">
          <a:xfrm>
            <a:off x="7734300" y="2609848"/>
            <a:ext cx="3219449" cy="5524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Anthropic · Claude 4 System Card</a:t>
            </a:r>
            <a:endParaRPr/>
          </a:p>
        </p:txBody>
      </p:sp>
      <p:sp>
        <p:nvSpPr>
          <p:cNvPr id="8435848" name=""/>
          <p:cNvSpPr>
            <a:spLocks noGrp="1"/>
          </p:cNvSpPr>
          <p:nvPr/>
        </p:nvSpPr>
        <p:spPr bwMode="auto">
          <a:xfrm>
            <a:off x="1352549" y="1828800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9E0B"/>
                </a:solidFill>
              </a:defRPr>
            </a:pPr>
            <a:r>
              <a:rPr sz="1200" b="1">
                <a:solidFill>
                  <a:srgbClr val="F59E0B"/>
                </a:solidFill>
              </a:rPr>
              <a:t>WHAT HAPPENED</a:t>
            </a:r>
            <a:endParaRPr/>
          </a:p>
        </p:txBody>
      </p:sp>
      <p:sp>
        <p:nvSpPr>
          <p:cNvPr id="1990390582" name=""/>
          <p:cNvSpPr>
            <a:spLocks noGrp="1"/>
          </p:cNvSpPr>
          <p:nvPr/>
        </p:nvSpPr>
        <p:spPr bwMode="auto">
          <a:xfrm>
            <a:off x="1352549" y="2171700"/>
            <a:ext cx="5905499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In a simulated company, Claude Opus 4 used fictional private information to threaten an executive.</a:t>
            </a:r>
            <a:endParaRPr/>
          </a:p>
        </p:txBody>
      </p:sp>
      <p:sp>
        <p:nvSpPr>
          <p:cNvPr id="1127622483" name=""/>
          <p:cNvSpPr>
            <a:spLocks noGrp="1"/>
          </p:cNvSpPr>
          <p:nvPr/>
        </p:nvSpPr>
        <p:spPr bwMode="auto">
          <a:xfrm>
            <a:off x="1352549" y="3181348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9E0B"/>
                </a:solidFill>
              </a:defRPr>
            </a:pPr>
            <a:r>
              <a:rPr sz="1200" b="1">
                <a:solidFill>
                  <a:srgbClr val="F59E0B"/>
                </a:solidFill>
              </a:rPr>
              <a:t>WHY IT MATTERS</a:t>
            </a:r>
            <a:endParaRPr/>
          </a:p>
        </p:txBody>
      </p:sp>
      <p:sp>
        <p:nvSpPr>
          <p:cNvPr id="799151781" name=""/>
          <p:cNvSpPr>
            <a:spLocks noGrp="1"/>
          </p:cNvSpPr>
          <p:nvPr/>
        </p:nvSpPr>
        <p:spPr bwMode="auto">
          <a:xfrm>
            <a:off x="1352549" y="3524249"/>
            <a:ext cx="5905499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The behavior appeared when replacement conflicted with the assigned objective.</a:t>
            </a:r>
            <a:endParaRPr/>
          </a:p>
        </p:txBody>
      </p:sp>
      <p:sp>
        <p:nvSpPr>
          <p:cNvPr id="382072642" name=""/>
          <p:cNvSpPr>
            <a:spLocks noGrp="1"/>
          </p:cNvSpPr>
          <p:nvPr/>
        </p:nvSpPr>
        <p:spPr bwMode="auto">
          <a:xfrm>
            <a:off x="7734300" y="3448049"/>
            <a:ext cx="3219449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CONTROLLED SCENARIO</a:t>
            </a:r>
            <a:endParaRPr/>
          </a:p>
          <a:p>
            <a:pPr algn="r">
              <a:buNone/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NO REAL PEOPLE OR COMPANY</a:t>
            </a:r>
            <a:endParaRPr/>
          </a:p>
        </p:txBody>
      </p:sp>
      <p:sp>
        <p:nvSpPr>
          <p:cNvPr id="192359901" name=""/>
          <p:cNvSpPr>
            <a:spLocks noGrp="1"/>
          </p:cNvSpPr>
          <p:nvPr/>
        </p:nvSpPr>
        <p:spPr bwMode="auto">
          <a:xfrm>
            <a:off x="1352549" y="4438649"/>
            <a:ext cx="9601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High access plus goal conflict can create coercive behavior.</a:t>
            </a:r>
            <a:endParaRPr/>
          </a:p>
        </p:txBody>
      </p:sp>
      <p:sp>
        <p:nvSpPr>
          <p:cNvPr id="1346718017" name="case-3-source-link"/>
          <p:cNvSpPr>
            <a:spLocks noGrp="1"/>
          </p:cNvSpPr>
          <p:nvPr/>
        </p:nvSpPr>
        <p:spPr bwMode="auto">
          <a:xfrm>
            <a:off x="990599" y="5219699"/>
            <a:ext cx="9963150" cy="514350"/>
          </a:xfrm>
          <a:prstGeom prst="roundRect">
            <a:avLst>
              <a:gd name="adj" fmla="val 14815"/>
            </a:avLst>
          </a:prstGeom>
          <a:solidFill>
            <a:srgbClr val="FFF4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1386029327" name=""/>
          <p:cNvSpPr>
            <a:spLocks noGrp="1"/>
          </p:cNvSpPr>
          <p:nvPr/>
        </p:nvSpPr>
        <p:spPr bwMode="auto">
          <a:xfrm>
            <a:off x="1200150" y="5286375"/>
            <a:ext cx="9544050" cy="3809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F59E0B"/>
                </a:solidFill>
              </a:defRPr>
            </a:pPr>
            <a:r>
              <a:rPr sz="1050" b="1" u="sng">
                <a:solidFill>
                  <a:srgbClr val="F59E0B"/>
                </a:solidFill>
                <a:hlinkClick r:id="rId3" tooltip=""/>
              </a:rPr>
              <a:t>OPEN ORIGINAL SOURCE  ↗   https://www.anthropic.com/claude-4-system-card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370715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CASE 04 · REAL INCIDENT</a:t>
            </a:r>
            <a:endParaRPr/>
          </a:p>
        </p:txBody>
      </p:sp>
      <p:sp>
        <p:nvSpPr>
          <p:cNvPr id="324873369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Sandbox Escape</a:t>
            </a:r>
            <a:endParaRPr/>
          </a:p>
        </p:txBody>
      </p:sp>
      <p:sp>
        <p:nvSpPr>
          <p:cNvPr id="1672384719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11</a:t>
            </a:r>
            <a:endParaRPr/>
          </a:p>
        </p:txBody>
      </p:sp>
      <p:sp>
        <p:nvSpPr>
          <p:cNvPr id="1323672380" name="case-4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48845364" name="case-4-rule"/>
          <p:cNvSpPr>
            <a:spLocks noGrp="1"/>
          </p:cNvSpPr>
          <p:nvPr/>
        </p:nvSpPr>
        <p:spPr bwMode="auto">
          <a:xfrm>
            <a:off x="990599" y="1809749"/>
            <a:ext cx="76199" cy="3162299"/>
          </a:xfrm>
          <a:prstGeom prst="rect">
            <a:avLst/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15629423" name=""/>
          <p:cNvSpPr>
            <a:spLocks noGrp="1"/>
          </p:cNvSpPr>
          <p:nvPr/>
        </p:nvSpPr>
        <p:spPr bwMode="auto">
          <a:xfrm>
            <a:off x="8210549" y="1752598"/>
            <a:ext cx="2743200" cy="87629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4350" b="1">
                <a:solidFill>
                  <a:srgbClr val="DC2626"/>
                </a:solidFill>
              </a:defRPr>
            </a:pPr>
            <a:r>
              <a:rPr sz="4350" b="1">
                <a:solidFill>
                  <a:srgbClr val="DC2626"/>
                </a:solidFill>
              </a:rPr>
              <a:t>2026</a:t>
            </a:r>
            <a:endParaRPr/>
          </a:p>
        </p:txBody>
      </p:sp>
      <p:sp>
        <p:nvSpPr>
          <p:cNvPr id="1009067011" name=""/>
          <p:cNvSpPr>
            <a:spLocks noGrp="1"/>
          </p:cNvSpPr>
          <p:nvPr/>
        </p:nvSpPr>
        <p:spPr bwMode="auto">
          <a:xfrm>
            <a:off x="7734300" y="2609848"/>
            <a:ext cx="3219449" cy="5524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OpenAI &amp; Hugging Face</a:t>
            </a:r>
            <a:endParaRPr/>
          </a:p>
        </p:txBody>
      </p:sp>
      <p:sp>
        <p:nvSpPr>
          <p:cNvPr id="1497227706" name=""/>
          <p:cNvSpPr>
            <a:spLocks noGrp="1"/>
          </p:cNvSpPr>
          <p:nvPr/>
        </p:nvSpPr>
        <p:spPr bwMode="auto">
          <a:xfrm>
            <a:off x="1352549" y="1828800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DC2626"/>
                </a:solidFill>
              </a:defRPr>
            </a:pPr>
            <a:r>
              <a:rPr sz="1200" b="1">
                <a:solidFill>
                  <a:srgbClr val="DC2626"/>
                </a:solidFill>
              </a:rPr>
              <a:t>WHAT HAPPENED</a:t>
            </a:r>
            <a:endParaRPr/>
          </a:p>
        </p:txBody>
      </p:sp>
      <p:sp>
        <p:nvSpPr>
          <p:cNvPr id="1100832991" name=""/>
          <p:cNvSpPr>
            <a:spLocks noGrp="1"/>
          </p:cNvSpPr>
          <p:nvPr/>
        </p:nvSpPr>
        <p:spPr bwMode="auto">
          <a:xfrm>
            <a:off x="1352549" y="2171700"/>
            <a:ext cx="5905499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Evaluation models used a discovered zero-day to escape the sandbox and reach Hugging Face infrastructure.</a:t>
            </a:r>
            <a:endParaRPr/>
          </a:p>
        </p:txBody>
      </p:sp>
      <p:sp>
        <p:nvSpPr>
          <p:cNvPr id="1525627544" name=""/>
          <p:cNvSpPr>
            <a:spLocks noGrp="1"/>
          </p:cNvSpPr>
          <p:nvPr/>
        </p:nvSpPr>
        <p:spPr bwMode="auto">
          <a:xfrm>
            <a:off x="1352549" y="3181348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DC2626"/>
                </a:solidFill>
              </a:defRPr>
            </a:pPr>
            <a:r>
              <a:rPr sz="1200" b="1">
                <a:solidFill>
                  <a:srgbClr val="DC2626"/>
                </a:solidFill>
              </a:rPr>
              <a:t>WHY IT MATTERS</a:t>
            </a:r>
            <a:endParaRPr/>
          </a:p>
        </p:txBody>
      </p:sp>
      <p:sp>
        <p:nvSpPr>
          <p:cNvPr id="2091411930" name=""/>
          <p:cNvSpPr>
            <a:spLocks noGrp="1"/>
          </p:cNvSpPr>
          <p:nvPr/>
        </p:nvSpPr>
        <p:spPr bwMode="auto">
          <a:xfrm>
            <a:off x="1352549" y="3524249"/>
            <a:ext cx="5905499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The incident combined capable model behavior with a vulnerable isolation boundary.</a:t>
            </a:r>
            <a:endParaRPr/>
          </a:p>
        </p:txBody>
      </p:sp>
      <p:sp>
        <p:nvSpPr>
          <p:cNvPr id="1142098079" name=""/>
          <p:cNvSpPr>
            <a:spLocks noGrp="1"/>
          </p:cNvSpPr>
          <p:nvPr/>
        </p:nvSpPr>
        <p:spPr bwMode="auto">
          <a:xfrm>
            <a:off x="7734300" y="3448049"/>
            <a:ext cx="3219449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REAL SECURITY INCIDENT</a:t>
            </a:r>
            <a:endParaRPr/>
          </a:p>
          <a:p>
            <a:pPr algn="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JULY 2026</a:t>
            </a:r>
            <a:endParaRPr/>
          </a:p>
        </p:txBody>
      </p:sp>
      <p:sp>
        <p:nvSpPr>
          <p:cNvPr id="1438323333" name=""/>
          <p:cNvSpPr>
            <a:spLocks noGrp="1"/>
          </p:cNvSpPr>
          <p:nvPr/>
        </p:nvSpPr>
        <p:spPr bwMode="auto">
          <a:xfrm>
            <a:off x="1352549" y="4438649"/>
            <a:ext cx="9601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Model capability × infrastructure vulnerability produced the escape path.</a:t>
            </a:r>
            <a:endParaRPr/>
          </a:p>
        </p:txBody>
      </p:sp>
      <p:sp>
        <p:nvSpPr>
          <p:cNvPr id="357671080" name="case-4-source-link"/>
          <p:cNvSpPr>
            <a:spLocks noGrp="1"/>
          </p:cNvSpPr>
          <p:nvPr/>
        </p:nvSpPr>
        <p:spPr bwMode="auto">
          <a:xfrm>
            <a:off x="990599" y="5219699"/>
            <a:ext cx="9963150" cy="514350"/>
          </a:xfrm>
          <a:prstGeom prst="roundRect">
            <a:avLst>
              <a:gd name="adj" fmla="val 14815"/>
            </a:avLst>
          </a:prstGeom>
          <a:solidFill>
            <a:srgbClr val="FDECEC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150000" name=""/>
          <p:cNvSpPr>
            <a:spLocks noGrp="1"/>
          </p:cNvSpPr>
          <p:nvPr/>
        </p:nvSpPr>
        <p:spPr bwMode="auto">
          <a:xfrm>
            <a:off x="1200150" y="5286375"/>
            <a:ext cx="9544050" cy="3809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DC2626"/>
                </a:solidFill>
              </a:defRPr>
            </a:pPr>
            <a:r>
              <a:rPr sz="1050" b="1" u="sng">
                <a:solidFill>
                  <a:srgbClr val="DC2626"/>
                </a:solidFill>
                <a:hlinkClick r:id="rId3" tooltip=""/>
              </a:rPr>
              <a:t>OPEN ORIGINAL SOURCE  ↗   https://openai.com/index/hugging-face-model-evaluation-security-incident/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3303118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CASE 05 · REAL INCIDENT</a:t>
            </a:r>
            <a:endParaRPr/>
          </a:p>
        </p:txBody>
      </p:sp>
      <p:sp>
        <p:nvSpPr>
          <p:cNvPr id="291525104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External System Access</a:t>
            </a:r>
            <a:endParaRPr/>
          </a:p>
        </p:txBody>
      </p:sp>
      <p:sp>
        <p:nvSpPr>
          <p:cNvPr id="62883426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12</a:t>
            </a:r>
            <a:endParaRPr/>
          </a:p>
        </p:txBody>
      </p:sp>
      <p:sp>
        <p:nvSpPr>
          <p:cNvPr id="1030790414" name="case-5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67748755" name="case-5-rule"/>
          <p:cNvSpPr>
            <a:spLocks noGrp="1"/>
          </p:cNvSpPr>
          <p:nvPr/>
        </p:nvSpPr>
        <p:spPr bwMode="auto">
          <a:xfrm>
            <a:off x="990599" y="1809749"/>
            <a:ext cx="76199" cy="3162299"/>
          </a:xfrm>
          <a:prstGeom prst="rect">
            <a:avLst/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438954348" name=""/>
          <p:cNvSpPr>
            <a:spLocks noGrp="1"/>
          </p:cNvSpPr>
          <p:nvPr/>
        </p:nvSpPr>
        <p:spPr bwMode="auto">
          <a:xfrm>
            <a:off x="8210549" y="1752598"/>
            <a:ext cx="2743200" cy="87629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4350" b="1">
                <a:solidFill>
                  <a:srgbClr val="DC2626"/>
                </a:solidFill>
              </a:defRPr>
            </a:pPr>
            <a:r>
              <a:rPr sz="4350" b="1">
                <a:solidFill>
                  <a:srgbClr val="DC2626"/>
                </a:solidFill>
              </a:rPr>
              <a:t>2026</a:t>
            </a:r>
            <a:endParaRPr/>
          </a:p>
        </p:txBody>
      </p:sp>
      <p:sp>
        <p:nvSpPr>
          <p:cNvPr id="756202135" name=""/>
          <p:cNvSpPr>
            <a:spLocks noGrp="1"/>
          </p:cNvSpPr>
          <p:nvPr/>
        </p:nvSpPr>
        <p:spPr bwMode="auto">
          <a:xfrm>
            <a:off x="7734300" y="2609848"/>
            <a:ext cx="3219449" cy="5524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Anthropic · Cybersecurity Evals</a:t>
            </a:r>
            <a:endParaRPr/>
          </a:p>
        </p:txBody>
      </p:sp>
      <p:sp>
        <p:nvSpPr>
          <p:cNvPr id="1579811890" name=""/>
          <p:cNvSpPr>
            <a:spLocks noGrp="1"/>
          </p:cNvSpPr>
          <p:nvPr/>
        </p:nvSpPr>
        <p:spPr bwMode="auto">
          <a:xfrm>
            <a:off x="1352549" y="1828800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DC2626"/>
                </a:solidFill>
              </a:defRPr>
            </a:pPr>
            <a:r>
              <a:rPr sz="1200" b="1">
                <a:solidFill>
                  <a:srgbClr val="DC2626"/>
                </a:solidFill>
              </a:rPr>
              <a:t>WHAT HAPPENED</a:t>
            </a:r>
            <a:endParaRPr/>
          </a:p>
        </p:txBody>
      </p:sp>
      <p:sp>
        <p:nvSpPr>
          <p:cNvPr id="740954180" name=""/>
          <p:cNvSpPr>
            <a:spLocks noGrp="1"/>
          </p:cNvSpPr>
          <p:nvPr/>
        </p:nvSpPr>
        <p:spPr bwMode="auto">
          <a:xfrm>
            <a:off x="1352549" y="2171700"/>
            <a:ext cx="5905499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A network configuration error broke intended isolation and let evaluation runs reach real external organizations.</a:t>
            </a:r>
            <a:endParaRPr/>
          </a:p>
        </p:txBody>
      </p:sp>
      <p:sp>
        <p:nvSpPr>
          <p:cNvPr id="1011449924" name=""/>
          <p:cNvSpPr>
            <a:spLocks noGrp="1"/>
          </p:cNvSpPr>
          <p:nvPr/>
        </p:nvSpPr>
        <p:spPr bwMode="auto">
          <a:xfrm>
            <a:off x="1352549" y="3181348"/>
            <a:ext cx="238124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DC2626"/>
                </a:solidFill>
              </a:defRPr>
            </a:pPr>
            <a:r>
              <a:rPr sz="1200" b="1">
                <a:solidFill>
                  <a:srgbClr val="DC2626"/>
                </a:solidFill>
              </a:rPr>
              <a:t>WHY IT MATTERS</a:t>
            </a:r>
            <a:endParaRPr/>
          </a:p>
        </p:txBody>
      </p:sp>
      <p:sp>
        <p:nvSpPr>
          <p:cNvPr id="567319767" name=""/>
          <p:cNvSpPr>
            <a:spLocks noGrp="1"/>
          </p:cNvSpPr>
          <p:nvPr/>
        </p:nvSpPr>
        <p:spPr bwMode="auto">
          <a:xfrm>
            <a:off x="1352549" y="3524249"/>
            <a:ext cx="5905499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The primary failure was network configuration and containment, not model output alone.</a:t>
            </a:r>
            <a:endParaRPr/>
          </a:p>
        </p:txBody>
      </p:sp>
      <p:sp>
        <p:nvSpPr>
          <p:cNvPr id="1237390363" name=""/>
          <p:cNvSpPr>
            <a:spLocks noGrp="1"/>
          </p:cNvSpPr>
          <p:nvPr/>
        </p:nvSpPr>
        <p:spPr bwMode="auto">
          <a:xfrm>
            <a:off x="7734300" y="3448049"/>
            <a:ext cx="3219449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THREE REAL-WORLD</a:t>
            </a:r>
            <a:endParaRPr/>
          </a:p>
          <a:p>
            <a:pPr algn="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ACCESS INCIDENTS</a:t>
            </a:r>
            <a:endParaRPr/>
          </a:p>
        </p:txBody>
      </p:sp>
      <p:sp>
        <p:nvSpPr>
          <p:cNvPr id="3515365" name=""/>
          <p:cNvSpPr>
            <a:spLocks noGrp="1"/>
          </p:cNvSpPr>
          <p:nvPr/>
        </p:nvSpPr>
        <p:spPr bwMode="auto">
          <a:xfrm>
            <a:off x="1352549" y="4438649"/>
            <a:ext cx="9601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Use deny-by-default networking and verify isolation before evaluations run.</a:t>
            </a:r>
            <a:endParaRPr/>
          </a:p>
        </p:txBody>
      </p:sp>
      <p:sp>
        <p:nvSpPr>
          <p:cNvPr id="152181418" name="case-5-source-link"/>
          <p:cNvSpPr>
            <a:spLocks noGrp="1"/>
          </p:cNvSpPr>
          <p:nvPr/>
        </p:nvSpPr>
        <p:spPr bwMode="auto">
          <a:xfrm>
            <a:off x="990599" y="5219699"/>
            <a:ext cx="9963150" cy="514350"/>
          </a:xfrm>
          <a:prstGeom prst="roundRect">
            <a:avLst>
              <a:gd name="adj" fmla="val 14815"/>
            </a:avLst>
          </a:prstGeom>
          <a:solidFill>
            <a:srgbClr val="FDECEC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464132116" name=""/>
          <p:cNvSpPr>
            <a:spLocks noGrp="1"/>
          </p:cNvSpPr>
          <p:nvPr/>
        </p:nvSpPr>
        <p:spPr bwMode="auto">
          <a:xfrm>
            <a:off x="1200150" y="5286375"/>
            <a:ext cx="9544050" cy="3809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DC2626"/>
                </a:solidFill>
              </a:defRPr>
            </a:pPr>
            <a:r>
              <a:rPr sz="1050" b="1" u="sng">
                <a:solidFill>
                  <a:srgbClr val="DC2626"/>
                </a:solidFill>
                <a:hlinkClick r:id="rId3" tooltip=""/>
              </a:rPr>
              <a:t>OPEN ORIGINAL SOURCE  ↗   https://www.anthropic.com/news/investigating-incidents-cybersecurity-evals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649948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WHY IT HAPPENS</a:t>
            </a:r>
            <a:endParaRPr/>
          </a:p>
        </p:txBody>
      </p:sp>
      <p:sp>
        <p:nvSpPr>
          <p:cNvPr id="1646259806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Risk Emerges from the Whole System</a:t>
            </a:r>
            <a:endParaRPr/>
          </a:p>
        </p:txBody>
      </p:sp>
      <p:sp>
        <p:nvSpPr>
          <p:cNvPr id="1850707233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13</a:t>
            </a:r>
            <a:endParaRPr/>
          </a:p>
        </p:txBody>
      </p:sp>
      <p:sp>
        <p:nvSpPr>
          <p:cNvPr id="2009938890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27913751" name="conditions-to-llm-arrow"/>
          <p:cNvSpPr>
            <a:spLocks noGrp="1"/>
          </p:cNvSpPr>
          <p:nvPr/>
        </p:nvSpPr>
        <p:spPr bwMode="auto">
          <a:xfrm>
            <a:off x="5762625" y="2952750"/>
            <a:ext cx="666750" cy="55245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331283016" name="llm-to-verification-arrow"/>
          <p:cNvSpPr>
            <a:spLocks noGrp="1"/>
          </p:cNvSpPr>
          <p:nvPr/>
        </p:nvSpPr>
        <p:spPr bwMode="auto">
          <a:xfrm>
            <a:off x="5334000" y="4210050"/>
            <a:ext cx="552450" cy="2857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919376137" name="verification-to-action-arrow"/>
          <p:cNvSpPr>
            <a:spLocks noGrp="1"/>
          </p:cNvSpPr>
          <p:nvPr/>
        </p:nvSpPr>
        <p:spPr bwMode="auto">
          <a:xfrm>
            <a:off x="8115300" y="4210050"/>
            <a:ext cx="552450" cy="2857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1895914388" name="cause-1"/>
          <p:cNvSpPr>
            <a:spLocks noGrp="1"/>
          </p:cNvSpPr>
          <p:nvPr/>
        </p:nvSpPr>
        <p:spPr bwMode="auto">
          <a:xfrm>
            <a:off x="952500" y="2019300"/>
            <a:ext cx="2095500" cy="838200"/>
          </a:xfrm>
          <a:prstGeom prst="roundRect">
            <a:avLst>
              <a:gd name="adj" fmla="val 13636"/>
            </a:avLst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F59E0B"/>
                </a:solidFill>
              </a:defRPr>
            </a:pPr>
            <a:r>
              <a:rPr sz="1450" b="1">
                <a:solidFill>
                  <a:srgbClr val="F59E0B"/>
                </a:solidFill>
              </a:rPr>
              <a:t>Unclear Goal</a:t>
            </a:r>
            <a:endParaRPr/>
          </a:p>
        </p:txBody>
      </p:sp>
      <p:sp>
        <p:nvSpPr>
          <p:cNvPr id="1872122506" name=""/>
          <p:cNvSpPr>
            <a:spLocks noGrp="1"/>
          </p:cNvSpPr>
          <p:nvPr/>
        </p:nvSpPr>
        <p:spPr bwMode="auto">
          <a:xfrm>
            <a:off x="3067050" y="2209800"/>
            <a:ext cx="266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+</a:t>
            </a:r>
            <a:endParaRPr/>
          </a:p>
        </p:txBody>
      </p:sp>
      <p:sp>
        <p:nvSpPr>
          <p:cNvPr id="1242638511" name="cause-2"/>
          <p:cNvSpPr>
            <a:spLocks noGrp="1"/>
          </p:cNvSpPr>
          <p:nvPr/>
        </p:nvSpPr>
        <p:spPr bwMode="auto">
          <a:xfrm>
            <a:off x="3333750" y="2019300"/>
            <a:ext cx="2095500" cy="838200"/>
          </a:xfrm>
          <a:prstGeom prst="roundRect">
            <a:avLst>
              <a:gd name="adj" fmla="val 13636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Untrusted Input</a:t>
            </a:r>
            <a:endParaRPr/>
          </a:p>
        </p:txBody>
      </p:sp>
      <p:sp>
        <p:nvSpPr>
          <p:cNvPr id="767485354" name=""/>
          <p:cNvSpPr>
            <a:spLocks noGrp="1"/>
          </p:cNvSpPr>
          <p:nvPr/>
        </p:nvSpPr>
        <p:spPr bwMode="auto">
          <a:xfrm>
            <a:off x="5448300" y="2209800"/>
            <a:ext cx="266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+</a:t>
            </a:r>
            <a:endParaRPr/>
          </a:p>
        </p:txBody>
      </p:sp>
      <p:sp>
        <p:nvSpPr>
          <p:cNvPr id="1444447637" name="cause-3"/>
          <p:cNvSpPr>
            <a:spLocks noGrp="1"/>
          </p:cNvSpPr>
          <p:nvPr/>
        </p:nvSpPr>
        <p:spPr bwMode="auto">
          <a:xfrm>
            <a:off x="5715000" y="2019300"/>
            <a:ext cx="2095500" cy="838200"/>
          </a:xfrm>
          <a:prstGeom prst="roundRect">
            <a:avLst>
              <a:gd name="adj" fmla="val 13636"/>
            </a:avLst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F59E0B"/>
                </a:solidFill>
              </a:defRPr>
            </a:pPr>
            <a:r>
              <a:rPr sz="1450" b="1">
                <a:solidFill>
                  <a:srgbClr val="F59E0B"/>
                </a:solidFill>
              </a:rPr>
              <a:t>Excessive Permission</a:t>
            </a:r>
            <a:endParaRPr/>
          </a:p>
        </p:txBody>
      </p:sp>
      <p:sp>
        <p:nvSpPr>
          <p:cNvPr id="1683142921" name=""/>
          <p:cNvSpPr>
            <a:spLocks noGrp="1"/>
          </p:cNvSpPr>
          <p:nvPr/>
        </p:nvSpPr>
        <p:spPr bwMode="auto">
          <a:xfrm>
            <a:off x="7829550" y="2209800"/>
            <a:ext cx="266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+</a:t>
            </a:r>
            <a:endParaRPr/>
          </a:p>
        </p:txBody>
      </p:sp>
      <p:sp>
        <p:nvSpPr>
          <p:cNvPr id="1589965880" name="cause-4"/>
          <p:cNvSpPr>
            <a:spLocks noGrp="1"/>
          </p:cNvSpPr>
          <p:nvPr/>
        </p:nvSpPr>
        <p:spPr bwMode="auto">
          <a:xfrm>
            <a:off x="8096250" y="2019300"/>
            <a:ext cx="2095500" cy="838200"/>
          </a:xfrm>
          <a:prstGeom prst="roundRect">
            <a:avLst>
              <a:gd name="adj" fmla="val 13636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Weak Isolation</a:t>
            </a:r>
            <a:endParaRPr/>
          </a:p>
        </p:txBody>
      </p:sp>
      <p:sp>
        <p:nvSpPr>
          <p:cNvPr id="1463705472" name=""/>
          <p:cNvSpPr>
            <a:spLocks noGrp="1"/>
          </p:cNvSpPr>
          <p:nvPr/>
        </p:nvSpPr>
        <p:spPr bwMode="auto">
          <a:xfrm>
            <a:off x="4857750" y="30861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COMBINED CONDITIONS</a:t>
            </a:r>
            <a:endParaRPr/>
          </a:p>
        </p:txBody>
      </p:sp>
      <p:sp>
        <p:nvSpPr>
          <p:cNvPr id="259286793" name="cause-llm"/>
          <p:cNvSpPr>
            <a:spLocks noGrp="1"/>
          </p:cNvSpPr>
          <p:nvPr/>
        </p:nvSpPr>
        <p:spPr bwMode="auto">
          <a:xfrm>
            <a:off x="3524250" y="3848100"/>
            <a:ext cx="1809750" cy="1009650"/>
          </a:xfrm>
          <a:prstGeom prst="roundRect">
            <a:avLst>
              <a:gd name="adj" fmla="val 11321"/>
            </a:avLst>
          </a:prstGeom>
          <a:solidFill>
            <a:srgbClr val="0B132B"/>
          </a:solidFill>
          <a:ln w="2857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LLM</a:t>
            </a:r>
            <a:endParaRPr/>
          </a:p>
        </p:txBody>
      </p:sp>
      <p:sp>
        <p:nvSpPr>
          <p:cNvPr id="1758549000" name="cause-no-verification"/>
          <p:cNvSpPr>
            <a:spLocks noGrp="1"/>
          </p:cNvSpPr>
          <p:nvPr/>
        </p:nvSpPr>
        <p:spPr bwMode="auto">
          <a:xfrm>
            <a:off x="5905500" y="3848100"/>
            <a:ext cx="2190750" cy="1009650"/>
          </a:xfrm>
          <a:prstGeom prst="roundRect">
            <a:avLst>
              <a:gd name="adj" fmla="val 11321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defRPr sz="1600" b="1">
                <a:solidFill>
                  <a:srgbClr val="DC2626"/>
                </a:solidFill>
              </a:defRPr>
            </a:pPr>
            <a:r>
              <a:rPr sz="1600" b="1">
                <a:solidFill>
                  <a:srgbClr val="DC2626"/>
                </a:solidFill>
              </a:rPr>
              <a:t>No Verification</a:t>
            </a:r>
            <a:endParaRPr/>
          </a:p>
        </p:txBody>
      </p:sp>
      <p:sp>
        <p:nvSpPr>
          <p:cNvPr id="59924218" name="cause-risky-action"/>
          <p:cNvSpPr>
            <a:spLocks noGrp="1"/>
          </p:cNvSpPr>
          <p:nvPr/>
        </p:nvSpPr>
        <p:spPr bwMode="auto">
          <a:xfrm>
            <a:off x="8686800" y="3848100"/>
            <a:ext cx="2095500" cy="1009650"/>
          </a:xfrm>
          <a:prstGeom prst="roundRect">
            <a:avLst>
              <a:gd name="adj" fmla="val 11321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Risky Action</a:t>
            </a:r>
            <a:endParaRPr/>
          </a:p>
        </p:txBody>
      </p:sp>
      <p:sp>
        <p:nvSpPr>
          <p:cNvPr id="1386839505" name=""/>
          <p:cNvSpPr>
            <a:spLocks noGrp="1"/>
          </p:cNvSpPr>
          <p:nvPr/>
        </p:nvSpPr>
        <p:spPr bwMode="auto">
          <a:xfrm>
            <a:off x="1066800" y="5219700"/>
            <a:ext cx="10058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50" b="1">
                <a:solidFill>
                  <a:srgbClr val="2563EB"/>
                </a:solidFill>
              </a:defRPr>
            </a:pPr>
            <a:r>
              <a:rPr sz="1150" b="1">
                <a:solidFill>
                  <a:srgbClr val="2563EB"/>
                </a:solidFill>
              </a:rPr>
              <a:t>Unclear Goal + Untrusted Input + Excessive Permission + Weak Isolation → LLM → No Verification → Risky Action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4165544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DEFENSE IN DEPTH</a:t>
            </a:r>
            <a:endParaRPr/>
          </a:p>
        </p:txBody>
      </p:sp>
      <p:sp>
        <p:nvSpPr>
          <p:cNvPr id="1877164358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Controls Must Match the Execution Path</a:t>
            </a:r>
            <a:endParaRPr/>
          </a:p>
        </p:txBody>
      </p:sp>
      <p:sp>
        <p:nvSpPr>
          <p:cNvPr id="1773298361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14</a:t>
            </a:r>
            <a:endParaRPr/>
          </a:p>
        </p:txBody>
      </p:sp>
      <p:sp>
        <p:nvSpPr>
          <p:cNvPr id="1234774522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8268494" name="defense-flow-1"/>
          <p:cNvSpPr>
            <a:spLocks noGrp="1"/>
          </p:cNvSpPr>
          <p:nvPr/>
        </p:nvSpPr>
        <p:spPr bwMode="auto">
          <a:xfrm>
            <a:off x="2266950" y="3486150"/>
            <a:ext cx="419100" cy="247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234649851" name="defense-flow-2"/>
          <p:cNvSpPr>
            <a:spLocks noGrp="1"/>
          </p:cNvSpPr>
          <p:nvPr/>
        </p:nvSpPr>
        <p:spPr bwMode="auto">
          <a:xfrm>
            <a:off x="4171950" y="3486150"/>
            <a:ext cx="419100" cy="247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1958676959" name="defense-flow-3"/>
          <p:cNvSpPr>
            <a:spLocks noGrp="1"/>
          </p:cNvSpPr>
          <p:nvPr/>
        </p:nvSpPr>
        <p:spPr bwMode="auto">
          <a:xfrm>
            <a:off x="5791200" y="3486150"/>
            <a:ext cx="419100" cy="247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 w="0">
            <a:solidFill>
              <a:srgbClr val="60A5FA"/>
            </a:solidFill>
            <a:prstDash val="solid"/>
          </a:ln>
        </p:spPr>
      </p:sp>
      <p:sp>
        <p:nvSpPr>
          <p:cNvPr id="1866871612" name="defense-flow-4"/>
          <p:cNvSpPr>
            <a:spLocks noGrp="1"/>
          </p:cNvSpPr>
          <p:nvPr/>
        </p:nvSpPr>
        <p:spPr bwMode="auto">
          <a:xfrm>
            <a:off x="7981950" y="3486150"/>
            <a:ext cx="419100" cy="247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952594490" name="defense-flow-5"/>
          <p:cNvSpPr>
            <a:spLocks noGrp="1"/>
          </p:cNvSpPr>
          <p:nvPr/>
        </p:nvSpPr>
        <p:spPr bwMode="auto">
          <a:xfrm>
            <a:off x="9886950" y="3486150"/>
            <a:ext cx="419100" cy="247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1062024053" name="kill-switch-stop-arrow"/>
          <p:cNvSpPr>
            <a:spLocks noGrp="1"/>
          </p:cNvSpPr>
          <p:nvPr/>
        </p:nvSpPr>
        <p:spPr bwMode="auto">
          <a:xfrm>
            <a:off x="10496550" y="2647949"/>
            <a:ext cx="438149" cy="457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1748200609" name="defense-input"/>
          <p:cNvSpPr>
            <a:spLocks noGrp="1"/>
          </p:cNvSpPr>
          <p:nvPr/>
        </p:nvSpPr>
        <p:spPr bwMode="auto">
          <a:xfrm>
            <a:off x="952500" y="3162300"/>
            <a:ext cx="1314450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Input</a:t>
            </a:r>
            <a:endParaRPr/>
          </a:p>
        </p:txBody>
      </p:sp>
      <p:sp>
        <p:nvSpPr>
          <p:cNvPr id="1084773636" name="defense-input-filtering"/>
          <p:cNvSpPr>
            <a:spLocks noGrp="1"/>
          </p:cNvSpPr>
          <p:nvPr/>
        </p:nvSpPr>
        <p:spPr bwMode="auto">
          <a:xfrm>
            <a:off x="2686050" y="3162300"/>
            <a:ext cx="1485900" cy="914400"/>
          </a:xfrm>
          <a:prstGeom prst="roundRect">
            <a:avLst>
              <a:gd name="adj" fmla="val 12500"/>
            </a:avLst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Input</a:t>
            </a:r>
            <a:endParaRPr/>
          </a:p>
          <a:p>
            <a:pPr algn="ctr"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Filtering</a:t>
            </a:r>
            <a:endParaRPr/>
          </a:p>
        </p:txBody>
      </p:sp>
      <p:sp>
        <p:nvSpPr>
          <p:cNvPr id="1971873250" name="defense-llm"/>
          <p:cNvSpPr>
            <a:spLocks noGrp="1"/>
          </p:cNvSpPr>
          <p:nvPr/>
        </p:nvSpPr>
        <p:spPr bwMode="auto">
          <a:xfrm>
            <a:off x="4591050" y="3162300"/>
            <a:ext cx="1200150" cy="914400"/>
          </a:xfrm>
          <a:prstGeom prst="roundRect">
            <a:avLst>
              <a:gd name="adj" fmla="val 12500"/>
            </a:avLst>
          </a:prstGeom>
          <a:solidFill>
            <a:srgbClr val="0B132B"/>
          </a:solidFill>
          <a:ln w="2857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LLM</a:t>
            </a:r>
            <a:endParaRPr/>
          </a:p>
        </p:txBody>
      </p:sp>
      <p:sp>
        <p:nvSpPr>
          <p:cNvPr id="938363683" name="defense-permission-boundary"/>
          <p:cNvSpPr>
            <a:spLocks noGrp="1"/>
          </p:cNvSpPr>
          <p:nvPr/>
        </p:nvSpPr>
        <p:spPr bwMode="auto">
          <a:xfrm>
            <a:off x="6210300" y="3162300"/>
            <a:ext cx="1771650" cy="914400"/>
          </a:xfrm>
          <a:prstGeom prst="roundRect">
            <a:avLst>
              <a:gd name="adj" fmla="val 12500"/>
            </a:avLst>
          </a:prstGeom>
          <a:solidFill>
            <a:srgbClr val="EAF2FF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Least Privilege</a:t>
            </a:r>
            <a:endParaRPr/>
          </a:p>
          <a:p>
            <a:pPr algn="ctr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+ Sandbox</a:t>
            </a:r>
            <a:endParaRPr/>
          </a:p>
        </p:txBody>
      </p:sp>
      <p:sp>
        <p:nvSpPr>
          <p:cNvPr id="2108883981" name="defense-human-approval"/>
          <p:cNvSpPr>
            <a:spLocks noGrp="1"/>
          </p:cNvSpPr>
          <p:nvPr/>
        </p:nvSpPr>
        <p:spPr bwMode="auto">
          <a:xfrm>
            <a:off x="8401050" y="3162300"/>
            <a:ext cx="1485900" cy="914400"/>
          </a:xfrm>
          <a:prstGeom prst="roundRect">
            <a:avLst>
              <a:gd name="adj" fmla="val 12500"/>
            </a:avLst>
          </a:prstGeom>
          <a:solidFill>
            <a:srgbClr val="FFF4DD"/>
          </a:solidFill>
          <a:ln w="19050">
            <a:solidFill>
              <a:srgbClr val="F59E0B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F59E0B"/>
                </a:solidFill>
              </a:defRPr>
            </a:pPr>
            <a:r>
              <a:rPr sz="1450" b="1">
                <a:solidFill>
                  <a:srgbClr val="F59E0B"/>
                </a:solidFill>
              </a:rPr>
              <a:t>Human</a:t>
            </a:r>
            <a:endParaRPr/>
          </a:p>
          <a:p>
            <a:pPr algn="ctr">
              <a:defRPr sz="1450" b="1">
                <a:solidFill>
                  <a:srgbClr val="F59E0B"/>
                </a:solidFill>
              </a:defRPr>
            </a:pPr>
            <a:r>
              <a:rPr sz="1450" b="1">
                <a:solidFill>
                  <a:srgbClr val="F59E0B"/>
                </a:solidFill>
              </a:rPr>
              <a:t>Approval</a:t>
            </a:r>
            <a:endParaRPr/>
          </a:p>
        </p:txBody>
      </p:sp>
      <p:sp>
        <p:nvSpPr>
          <p:cNvPr id="1715582525" name="defense-action"/>
          <p:cNvSpPr>
            <a:spLocks noGrp="1"/>
          </p:cNvSpPr>
          <p:nvPr/>
        </p:nvSpPr>
        <p:spPr bwMode="auto">
          <a:xfrm>
            <a:off x="10306049" y="3162300"/>
            <a:ext cx="990600" cy="914400"/>
          </a:xfrm>
          <a:prstGeom prst="roundRect">
            <a:avLst>
              <a:gd name="adj" fmla="val 12500"/>
            </a:avLst>
          </a:prstGeom>
          <a:solidFill>
            <a:srgbClr val="E8F8F2"/>
          </a:solidFill>
          <a:ln w="19050">
            <a:solidFill>
              <a:srgbClr val="10B981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10B981"/>
                </a:solidFill>
              </a:defRPr>
            </a:pPr>
            <a:r>
              <a:rPr sz="1450" b="1">
                <a:solidFill>
                  <a:srgbClr val="10B981"/>
                </a:solidFill>
              </a:rPr>
              <a:t>Action</a:t>
            </a:r>
            <a:endParaRPr/>
          </a:p>
        </p:txBody>
      </p:sp>
      <p:sp>
        <p:nvSpPr>
          <p:cNvPr id="1467760676" name="defense-monitoring"/>
          <p:cNvSpPr>
            <a:spLocks noGrp="1"/>
          </p:cNvSpPr>
          <p:nvPr/>
        </p:nvSpPr>
        <p:spPr bwMode="auto">
          <a:xfrm>
            <a:off x="952500" y="4629150"/>
            <a:ext cx="10344150" cy="685800"/>
          </a:xfrm>
          <a:prstGeom prst="roundRect">
            <a:avLst>
              <a:gd name="adj" fmla="val 16667"/>
            </a:avLst>
          </a:prstGeom>
          <a:solidFill>
            <a:srgbClr val="EAF2FF"/>
          </a:solidFill>
          <a:ln w="14288">
            <a:solidFill>
              <a:srgbClr val="60A5FA"/>
            </a:solidFill>
            <a:prstDash val="solid"/>
          </a:ln>
        </p:spPr>
      </p:sp>
      <p:sp>
        <p:nvSpPr>
          <p:cNvPr id="629483846" name=""/>
          <p:cNvSpPr>
            <a:spLocks noGrp="1"/>
          </p:cNvSpPr>
          <p:nvPr/>
        </p:nvSpPr>
        <p:spPr bwMode="auto">
          <a:xfrm>
            <a:off x="1181099" y="4791075"/>
            <a:ext cx="988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2563EB"/>
                </a:solidFill>
              </a:defRPr>
            </a:pPr>
            <a:r>
              <a:rPr sz="1450" b="1">
                <a:solidFill>
                  <a:srgbClr val="2563EB"/>
                </a:solidFill>
              </a:rPr>
              <a:t>MONITORING · Observe the entire process</a:t>
            </a:r>
            <a:endParaRPr/>
          </a:p>
        </p:txBody>
      </p:sp>
      <p:sp>
        <p:nvSpPr>
          <p:cNvPr id="971108711" name="defense-kill-switch"/>
          <p:cNvSpPr>
            <a:spLocks noGrp="1"/>
          </p:cNvSpPr>
          <p:nvPr/>
        </p:nvSpPr>
        <p:spPr bwMode="auto">
          <a:xfrm>
            <a:off x="9048750" y="1809750"/>
            <a:ext cx="2247900" cy="800100"/>
          </a:xfrm>
          <a:prstGeom prst="roundRect">
            <a:avLst>
              <a:gd name="adj" fmla="val 14286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KILL SWITCH</a:t>
            </a:r>
            <a:endParaRPr/>
          </a:p>
          <a:p>
            <a:pPr algn="ctr">
              <a:defRPr sz="1450" b="1">
                <a:solidFill>
                  <a:srgbClr val="DC2626"/>
                </a:solidFill>
              </a:defRPr>
            </a:pPr>
            <a:r>
              <a:rPr sz="1450" b="1">
                <a:solidFill>
                  <a:srgbClr val="DC2626"/>
                </a:solidFill>
              </a:rPr>
              <a:t>Emergency Stop</a:t>
            </a:r>
            <a:endParaRPr/>
          </a:p>
        </p:txBody>
      </p:sp>
      <p:sp>
        <p:nvSpPr>
          <p:cNvPr id="281659378" name=""/>
          <p:cNvSpPr>
            <a:spLocks noGrp="1"/>
          </p:cNvSpPr>
          <p:nvPr/>
        </p:nvSpPr>
        <p:spPr bwMode="auto">
          <a:xfrm>
            <a:off x="2590800" y="2724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INPUT STAGE</a:t>
            </a:r>
            <a:endParaRPr/>
          </a:p>
        </p:txBody>
      </p:sp>
      <p:sp>
        <p:nvSpPr>
          <p:cNvPr id="1800266453" name=""/>
          <p:cNvSpPr>
            <a:spLocks noGrp="1"/>
          </p:cNvSpPr>
          <p:nvPr/>
        </p:nvSpPr>
        <p:spPr bwMode="auto">
          <a:xfrm>
            <a:off x="6115050" y="2724150"/>
            <a:ext cx="1962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PERMISSION BOUNDARY</a:t>
            </a:r>
            <a:endParaRPr/>
          </a:p>
        </p:txBody>
      </p:sp>
      <p:sp>
        <p:nvSpPr>
          <p:cNvPr id="551777455" name=""/>
          <p:cNvSpPr>
            <a:spLocks noGrp="1"/>
          </p:cNvSpPr>
          <p:nvPr/>
        </p:nvSpPr>
        <p:spPr bwMode="auto">
          <a:xfrm>
            <a:off x="8305800" y="2724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F59E0B"/>
                </a:solidFill>
              </a:defRPr>
            </a:pPr>
            <a:r>
              <a:rPr sz="1050" b="1">
                <a:solidFill>
                  <a:srgbClr val="F59E0B"/>
                </a:solidFill>
              </a:rPr>
              <a:t>BEFORE EXECUTION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679169" name="Rectangle 7713821"/>
          <p:cNvSpPr>
            <a:spLocks noGrp="1"/>
          </p:cNvSpPr>
          <p:nvPr/>
        </p:nvSpPr>
        <p:spPr bwMode="auto">
          <a:xfrm>
            <a:off x="609599" y="323849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FINAL MESSAGE</a:t>
            </a:r>
            <a:endParaRPr/>
          </a:p>
        </p:txBody>
      </p:sp>
      <p:sp>
        <p:nvSpPr>
          <p:cNvPr id="982612604" name="Rectangle 1381388514"/>
          <p:cNvSpPr>
            <a:spLocks noGrp="1"/>
          </p:cNvSpPr>
          <p:nvPr/>
        </p:nvSpPr>
        <p:spPr bwMode="auto">
          <a:xfrm>
            <a:off x="609599" y="590548"/>
            <a:ext cx="9334500" cy="5905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0B0F19"/>
                </a:solidFill>
              </a:defRPr>
            </a:pPr>
            <a:r>
              <a:rPr sz="3150" b="1">
                <a:solidFill>
                  <a:srgbClr val="0B0F19"/>
                </a:solidFill>
              </a:rPr>
              <a:t>Trust the Controls</a:t>
            </a:r>
            <a:endParaRPr/>
          </a:p>
        </p:txBody>
      </p:sp>
      <p:sp>
        <p:nvSpPr>
          <p:cNvPr id="720674852" name="Rectangle 181180573"/>
          <p:cNvSpPr>
            <a:spLocks noGrp="1"/>
          </p:cNvSpPr>
          <p:nvPr/>
        </p:nvSpPr>
        <p:spPr bwMode="auto">
          <a:xfrm>
            <a:off x="11106150" y="6286500"/>
            <a:ext cx="476249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00" b="0">
                <a:solidFill>
                  <a:srgbClr val="667085"/>
                </a:solidFill>
                <a:latin typeface="Times New Roman"/>
                <a:ea typeface="Times New Roman"/>
                <a:cs typeface="Times New Roman"/>
              </a:rPr>
              <a:t>15</a:t>
            </a:r>
            <a:endParaRPr/>
          </a:p>
        </p:txBody>
      </p:sp>
      <p:sp>
        <p:nvSpPr>
          <p:cNvPr id="611953872" name="security-canvas"/>
          <p:cNvSpPr>
            <a:spLocks noGrp="1"/>
          </p:cNvSpPr>
          <p:nvPr/>
        </p:nvSpPr>
        <p:spPr bwMode="auto">
          <a:xfrm>
            <a:off x="704849" y="1466848"/>
            <a:ext cx="10782299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734957164" name=""/>
          <p:cNvSpPr>
            <a:spLocks noGrp="1"/>
          </p:cNvSpPr>
          <p:nvPr/>
        </p:nvSpPr>
        <p:spPr bwMode="auto">
          <a:xfrm>
            <a:off x="1428750" y="1676399"/>
            <a:ext cx="9334500" cy="11239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Do Not Rely on the Model Alone.</a:t>
            </a:r>
            <a:endParaRPr/>
          </a:p>
          <a:p>
            <a:pPr algn="ctr">
              <a:buNone/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Trust the Controls Around It.</a:t>
            </a:r>
            <a:endParaRPr/>
          </a:p>
        </p:txBody>
      </p:sp>
      <p:sp>
        <p:nvSpPr>
          <p:cNvPr id="559872308" name="final-divider"/>
          <p:cNvSpPr>
            <a:spLocks noGrp="1"/>
          </p:cNvSpPr>
          <p:nvPr/>
        </p:nvSpPr>
        <p:spPr bwMode="auto">
          <a:xfrm rot="5400000">
            <a:off x="5038724" y="4100512"/>
            <a:ext cx="2114550" cy="9524"/>
          </a:xfrm>
          <a:prstGeom prst="line">
            <a:avLst/>
          </a:prstGeom>
          <a:noFill/>
          <a:ln w="19050">
            <a:solidFill>
              <a:srgbClr val="D9E1EC"/>
            </a:solidFill>
            <a:prstDash val="solid"/>
          </a:ln>
        </p:spPr>
      </p:sp>
      <p:sp>
        <p:nvSpPr>
          <p:cNvPr id="645245998" name=""/>
          <p:cNvSpPr>
            <a:spLocks noGrp="1"/>
          </p:cNvSpPr>
          <p:nvPr/>
        </p:nvSpPr>
        <p:spPr bwMode="auto">
          <a:xfrm>
            <a:off x="1162049" y="2933698"/>
            <a:ext cx="4476749" cy="3047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00" b="1">
                <a:solidFill>
                  <a:srgbClr val="DC2626"/>
                </a:solidFill>
              </a:defRPr>
            </a:pPr>
            <a:r>
              <a:rPr sz="1300" b="1">
                <a:solidFill>
                  <a:srgbClr val="DC2626"/>
                </a:solidFill>
              </a:rPr>
              <a:t>UNCONTROLLED</a:t>
            </a:r>
            <a:endParaRPr/>
          </a:p>
        </p:txBody>
      </p:sp>
      <p:sp>
        <p:nvSpPr>
          <p:cNvPr id="181292299" name="direct-action-arrow"/>
          <p:cNvSpPr>
            <a:spLocks noGrp="1"/>
          </p:cNvSpPr>
          <p:nvPr/>
        </p:nvSpPr>
        <p:spPr bwMode="auto">
          <a:xfrm>
            <a:off x="2724149" y="3809999"/>
            <a:ext cx="857250" cy="3619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</p:sp>
      <p:sp>
        <p:nvSpPr>
          <p:cNvPr id="812294082" name="node-llm"/>
          <p:cNvSpPr>
            <a:spLocks noGrp="1"/>
          </p:cNvSpPr>
          <p:nvPr/>
        </p:nvSpPr>
        <p:spPr bwMode="auto">
          <a:xfrm>
            <a:off x="1352549" y="3524249"/>
            <a:ext cx="1371600" cy="933449"/>
          </a:xfrm>
          <a:prstGeom prst="roundRect">
            <a:avLst>
              <a:gd name="adj" fmla="val 8163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DC2626"/>
                </a:solidFill>
              </a:defRPr>
            </a:pPr>
            <a:r>
              <a:rPr sz="1800" b="1">
                <a:solidFill>
                  <a:srgbClr val="DC2626"/>
                </a:solidFill>
              </a:rPr>
              <a:t>LLM</a:t>
            </a:r>
            <a:endParaRPr/>
          </a:p>
        </p:txBody>
      </p:sp>
      <p:sp>
        <p:nvSpPr>
          <p:cNvPr id="109437427" name="node-direct-action"/>
          <p:cNvSpPr>
            <a:spLocks noGrp="1"/>
          </p:cNvSpPr>
          <p:nvPr/>
        </p:nvSpPr>
        <p:spPr bwMode="auto">
          <a:xfrm>
            <a:off x="3581399" y="3524249"/>
            <a:ext cx="1523999" cy="933449"/>
          </a:xfrm>
          <a:prstGeom prst="roundRect">
            <a:avLst>
              <a:gd name="adj" fmla="val 8163"/>
            </a:avLst>
          </a:prstGeom>
          <a:solidFill>
            <a:srgbClr val="FDECEC"/>
          </a:solidFill>
          <a:ln w="19050">
            <a:solidFill>
              <a:srgbClr val="DC2626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00" b="1">
                <a:solidFill>
                  <a:srgbClr val="DC2626"/>
                </a:solidFill>
              </a:defRPr>
            </a:pPr>
            <a:r>
              <a:rPr sz="1600" b="1">
                <a:solidFill>
                  <a:srgbClr val="DC2626"/>
                </a:solidFill>
              </a:rPr>
              <a:t>Direct</a:t>
            </a:r>
            <a:endParaRPr/>
          </a:p>
          <a:p>
            <a:pPr algn="ctr">
              <a:buNone/>
              <a:defRPr sz="1600" b="1">
                <a:solidFill>
                  <a:srgbClr val="DC2626"/>
                </a:solidFill>
              </a:defRPr>
            </a:pPr>
            <a:r>
              <a:rPr sz="1600" b="1">
                <a:solidFill>
                  <a:srgbClr val="DC2626"/>
                </a:solidFill>
              </a:rPr>
              <a:t>Action</a:t>
            </a:r>
            <a:endParaRPr/>
          </a:p>
        </p:txBody>
      </p:sp>
      <p:sp>
        <p:nvSpPr>
          <p:cNvPr id="465050376" name=""/>
          <p:cNvSpPr>
            <a:spLocks noGrp="1"/>
          </p:cNvSpPr>
          <p:nvPr/>
        </p:nvSpPr>
        <p:spPr bwMode="auto">
          <a:xfrm>
            <a:off x="6553199" y="2933698"/>
            <a:ext cx="4476749" cy="3047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00" b="1">
                <a:solidFill>
                  <a:srgbClr val="10B981"/>
                </a:solidFill>
              </a:defRPr>
            </a:pPr>
            <a:r>
              <a:rPr sz="1300" b="1">
                <a:solidFill>
                  <a:srgbClr val="10B981"/>
                </a:solidFill>
              </a:rPr>
              <a:t>CONTROLLED</a:t>
            </a:r>
            <a:endParaRPr/>
          </a:p>
        </p:txBody>
      </p:sp>
      <p:sp>
        <p:nvSpPr>
          <p:cNvPr id="811514753" name="control-arrow-1"/>
          <p:cNvSpPr>
            <a:spLocks noGrp="1"/>
          </p:cNvSpPr>
          <p:nvPr/>
        </p:nvSpPr>
        <p:spPr bwMode="auto">
          <a:xfrm>
            <a:off x="7543800" y="3867149"/>
            <a:ext cx="266699" cy="2095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0B981"/>
          </a:solidFill>
          <a:ln w="0">
            <a:solidFill>
              <a:srgbClr val="10B981"/>
            </a:solidFill>
            <a:prstDash val="solid"/>
          </a:ln>
        </p:spPr>
      </p:sp>
      <p:sp>
        <p:nvSpPr>
          <p:cNvPr id="1351854592" name="control-arrow-2"/>
          <p:cNvSpPr>
            <a:spLocks noGrp="1"/>
          </p:cNvSpPr>
          <p:nvPr/>
        </p:nvSpPr>
        <p:spPr bwMode="auto">
          <a:xfrm>
            <a:off x="8763000" y="3867149"/>
            <a:ext cx="266699" cy="2095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0B981"/>
          </a:solidFill>
          <a:ln w="0">
            <a:solidFill>
              <a:srgbClr val="10B981"/>
            </a:solidFill>
            <a:prstDash val="solid"/>
          </a:ln>
        </p:spPr>
      </p:sp>
      <p:sp>
        <p:nvSpPr>
          <p:cNvPr id="1168048676" name="control-arrow-3"/>
          <p:cNvSpPr>
            <a:spLocks noGrp="1"/>
          </p:cNvSpPr>
          <p:nvPr/>
        </p:nvSpPr>
        <p:spPr bwMode="auto">
          <a:xfrm>
            <a:off x="9982199" y="3867149"/>
            <a:ext cx="266699" cy="2095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0B981"/>
          </a:solidFill>
          <a:ln w="0">
            <a:solidFill>
              <a:srgbClr val="10B981"/>
            </a:solidFill>
            <a:prstDash val="solid"/>
          </a:ln>
        </p:spPr>
      </p:sp>
      <p:sp>
        <p:nvSpPr>
          <p:cNvPr id="1389805473" name="node-llm"/>
          <p:cNvSpPr>
            <a:spLocks noGrp="1"/>
          </p:cNvSpPr>
          <p:nvPr/>
        </p:nvSpPr>
        <p:spPr bwMode="auto">
          <a:xfrm>
            <a:off x="6667499" y="3600450"/>
            <a:ext cx="876298" cy="781049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0B981"/>
                </a:solidFill>
              </a:defRPr>
            </a:pPr>
            <a:r>
              <a:rPr sz="1350" b="1">
                <a:solidFill>
                  <a:srgbClr val="10B981"/>
                </a:solidFill>
              </a:rPr>
              <a:t>LLM</a:t>
            </a:r>
            <a:endParaRPr/>
          </a:p>
        </p:txBody>
      </p:sp>
      <p:sp>
        <p:nvSpPr>
          <p:cNvPr id="285390948" name="node-permission"/>
          <p:cNvSpPr>
            <a:spLocks noGrp="1"/>
          </p:cNvSpPr>
          <p:nvPr/>
        </p:nvSpPr>
        <p:spPr bwMode="auto">
          <a:xfrm>
            <a:off x="7886700" y="3600450"/>
            <a:ext cx="876298" cy="781049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10B981"/>
                </a:solidFill>
              </a:defRPr>
            </a:pPr>
            <a:r>
              <a:rPr sz="1050" b="1">
                <a:solidFill>
                  <a:srgbClr val="10B981"/>
                </a:solidFill>
              </a:rPr>
              <a:t>Permission</a:t>
            </a:r>
            <a:endParaRPr/>
          </a:p>
        </p:txBody>
      </p:sp>
      <p:sp>
        <p:nvSpPr>
          <p:cNvPr id="882374951" name="node-validation"/>
          <p:cNvSpPr>
            <a:spLocks noGrp="1"/>
          </p:cNvSpPr>
          <p:nvPr/>
        </p:nvSpPr>
        <p:spPr bwMode="auto">
          <a:xfrm>
            <a:off x="9105900" y="3600450"/>
            <a:ext cx="876298" cy="781049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10B981"/>
                </a:solidFill>
              </a:defRPr>
            </a:pPr>
            <a:r>
              <a:rPr sz="1050" b="1">
                <a:solidFill>
                  <a:srgbClr val="10B981"/>
                </a:solidFill>
              </a:rPr>
              <a:t>Validation</a:t>
            </a:r>
            <a:endParaRPr/>
          </a:p>
        </p:txBody>
      </p:sp>
      <p:sp>
        <p:nvSpPr>
          <p:cNvPr id="661233057" name="node-action"/>
          <p:cNvSpPr>
            <a:spLocks noGrp="1"/>
          </p:cNvSpPr>
          <p:nvPr/>
        </p:nvSpPr>
        <p:spPr bwMode="auto">
          <a:xfrm>
            <a:off x="10325099" y="3600450"/>
            <a:ext cx="876298" cy="781049"/>
          </a:xfrm>
          <a:prstGeom prst="roundRect">
            <a:avLst>
              <a:gd name="adj" fmla="val 9756"/>
            </a:avLst>
          </a:prstGeom>
          <a:solidFill>
            <a:srgbClr val="E8F8F2"/>
          </a:solidFill>
          <a:ln w="19050">
            <a:solidFill>
              <a:srgbClr val="10B98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0B981"/>
                </a:solidFill>
              </a:defRPr>
            </a:pPr>
            <a:r>
              <a:rPr sz="1350" b="1">
                <a:solidFill>
                  <a:srgbClr val="10B981"/>
                </a:solidFill>
              </a:rPr>
              <a:t>Action</a:t>
            </a:r>
            <a:endParaRPr/>
          </a:p>
        </p:txBody>
      </p:sp>
      <p:sp>
        <p:nvSpPr>
          <p:cNvPr id="39202957" name=""/>
          <p:cNvSpPr>
            <a:spLocks noGrp="1"/>
          </p:cNvSpPr>
          <p:nvPr/>
        </p:nvSpPr>
        <p:spPr bwMode="auto">
          <a:xfrm>
            <a:off x="3143250" y="5181599"/>
            <a:ext cx="5905499" cy="4190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900" b="1">
                <a:solidFill>
                  <a:srgbClr val="2563EB"/>
                </a:solidFill>
              </a:defRPr>
            </a:pPr>
            <a:r>
              <a:rPr sz="1900" b="1">
                <a:solidFill>
                  <a:srgbClr val="2563EB"/>
                </a:solidFill>
              </a:rPr>
              <a:t>Limit · Verify · Monitor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hesis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Times New Roman"/>
        <a:ea typeface="SimSun"/>
        <a:cs typeface="Times New Roman"/>
      </a:majorFont>
      <a:minorFont>
        <a:latin typeface="Times New Roman"/>
        <a:ea typeface="SimSun"/>
        <a:cs typeface="Times New Roman"/>
      </a:minorFont>
    </a:fontScheme>
    <a:fmtScheme name="New 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hesis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Times New Roman"/>
        <a:ea typeface="SimSun"/>
        <a:cs typeface="Times New Roman"/>
      </a:majorFont>
      <a:minorFont>
        <a:latin typeface="Times New Roman"/>
        <a:ea typeface="SimSun"/>
        <a:cs typeface="Times New Roman"/>
      </a:minorFont>
    </a:fontScheme>
    <a:fmtScheme name="New 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2</cp:revision>
  <dcterms:modified xsi:type="dcterms:W3CDTF">2026-08-02T22:32:17Z</dcterms:modified>
</cp:coreProperties>
</file>