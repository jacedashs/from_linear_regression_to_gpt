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1"/>
          <a:sy n="1" d="1"/>
        </p:scale>
        <p:origin x="0" y="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096079" name="Header Placeholder"/>
          <p:cNvSpPr/>
          <p:nvPr>
            <p:ph type="hdr" sz="quarter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346931" name="Date Placeholder"/>
          <p:cNvSpPr/>
          <p:nvPr>
            <p:ph type="dt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878317" name="Slide Image Placeholder"/>
          <p:cNvSpPr/>
          <p:nvPr>
            <p:ph type="sldImg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334793" name="Notes Placeholder"/>
          <p:cNvSpPr/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860492" name="Footer Placeholder"/>
          <p:cNvSpPr/>
          <p:nvPr>
            <p:ph type="ftr" sz="quarter" idx="4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279512" name="Slide Number Placeholder"/>
          <p:cNvSpPr/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837819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6722954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Section divider created for the revised learning sequence.</a:t>
            </a:r>
            <a:endParaRPr/>
          </a:p>
        </p:txBody>
      </p:sp>
      <p:sp>
        <p:nvSpPr>
          <p:cNvPr id="142831965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4801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886903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User-supplied diffusion image: https://miro.medium.com/v2/resize:fit:1400/1*yvClU5LgylulNWLPNpOCfA.png</a:t>
            </a:r>
            <a:endParaRPr/>
          </a:p>
          <a:p>
            <a:pPr>
              <a:buNone/>
              <a:defRPr/>
            </a:pPr>
            <a:r>
              <a:rPr/>
              <a:t>Ho et al., 2020, 'Denoising Diffusion Probabilistic Models': https://arxiv.org/abs/2006.11239</a:t>
            </a:r>
            <a:endParaRPr/>
          </a:p>
        </p:txBody>
      </p:sp>
      <p:sp>
        <p:nvSpPr>
          <p:cNvPr id="1206205101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23369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68828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Mercury family overview: https://www.inceptionlabs.ai/blog/introducing-mercury</a:t>
            </a:r>
            <a:endParaRPr/>
          </a:p>
          <a:p>
            <a:pPr>
              <a:buNone/>
              <a:defRPr/>
            </a:pPr>
            <a:r>
              <a:rPr/>
              <a:t>Educational framing of diffusion-LM generation.</a:t>
            </a:r>
            <a:endParaRPr/>
          </a:p>
        </p:txBody>
      </p:sp>
      <p:sp>
        <p:nvSpPr>
          <p:cNvPr id="130826016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03229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58756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</a:t>
            </a:r>
            <a:r>
              <a:rPr lang="ko-KR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Autoregressive Model(자기회귀 모델)</a:t>
            </a:r>
            <a:endParaRPr/>
          </a:p>
        </p:txBody>
      </p:sp>
      <p:sp>
        <p:nvSpPr>
          <p:cNvPr id="54579956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93649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41653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Mercury family overview: https://www.inceptionlabs.ai/blog/introducing-mercury</a:t>
            </a:r>
            <a:endParaRPr/>
          </a:p>
          <a:p>
            <a:pPr>
              <a:buNone/>
              <a:defRPr/>
            </a:pPr>
            <a:r>
              <a:rPr/>
              <a:t>Educational framing of diffusion-LM generation.</a:t>
            </a:r>
            <a:endParaRPr/>
          </a:p>
        </p:txBody>
      </p:sp>
      <p:sp>
        <p:nvSpPr>
          <p:cNvPr id="965491890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22210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722592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Mercury family overview: https://www.inceptionlabs.ai/blog/introducing-mercury</a:t>
            </a:r>
            <a:endParaRPr/>
          </a:p>
          <a:p>
            <a:pPr>
              <a:buNone/>
              <a:defRPr/>
            </a:pPr>
            <a:r>
              <a:rPr/>
              <a:t>Educational framing of diffusion-LM generation.</a:t>
            </a:r>
            <a:endParaRPr/>
          </a:p>
        </p:txBody>
      </p:sp>
      <p:sp>
        <p:nvSpPr>
          <p:cNvPr id="1832375752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282387" name="Picture 2116695055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>
            <a:off x="-3046" y="9144"/>
            <a:ext cx="12198094" cy="6848854"/>
          </a:xfrm>
          <a:prstGeom prst="rect">
            <a:avLst/>
          </a:prstGeom>
        </p:spPr>
      </p:pic>
      <p:sp>
        <p:nvSpPr>
          <p:cNvPr id="1347281141" name="Rectangle 376226509"/>
          <p:cNvSpPr>
            <a:spLocks noGrp="1"/>
          </p:cNvSpPr>
          <p:nvPr/>
        </p:nvSpPr>
        <p:spPr bwMode="auto">
          <a:xfrm>
            <a:off x="6079" y="4051"/>
            <a:ext cx="12179837" cy="6849891"/>
          </a:xfrm>
          <a:prstGeom prst="rect">
            <a:avLst/>
          </a:prstGeom>
          <a:gradFill>
            <a:gsLst>
              <a:gs pos="1000">
                <a:schemeClr val="tx2">
                  <a:alpha val="23000"/>
                </a:schemeClr>
              </a:gs>
              <a:gs pos="75000">
                <a:schemeClr val="tx2">
                  <a:lumMod val="50000"/>
                  <a:alpha val="23000"/>
                </a:schemeClr>
              </a:gs>
            </a:gsLst>
            <a:path path="circle"/>
          </a:gra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816874658" name="Title 1"/>
          <p:cNvSpPr>
            <a:spLocks noGrp="1"/>
          </p:cNvSpPr>
          <p:nvPr>
            <p:ph type="ctrTitle" idx="0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8949635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7048" y="3602734"/>
            <a:ext cx="9144000" cy="1655760"/>
          </a:xfrm>
        </p:spPr>
        <p:txBody>
          <a:bodyPr vert="horz" wrap="square" lIns="91440" tIns="274318" rIns="91440" bIns="45720" anchor="t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buNone/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356912621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425509485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272684225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091101752" name="Rectangle 640957806"/>
          <p:cNvSpPr>
            <a:spLocks noGrp="1"/>
          </p:cNvSpPr>
          <p:nvPr/>
        </p:nvSpPr>
        <p:spPr bwMode="auto">
          <a:xfrm>
            <a:off x="3570597" y="3530036"/>
            <a:ext cx="50400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085804" name="Title 1"/>
          <p:cNvSpPr>
            <a:spLocks noGrp="1"/>
          </p:cNvSpPr>
          <p:nvPr>
            <p:ph type="title" idx="0"/>
          </p:nvPr>
        </p:nvSpPr>
        <p:spPr bwMode="auto">
          <a:xfrm>
            <a:off x="838197" y="365123"/>
            <a:ext cx="10515600" cy="1121577"/>
          </a:xfrm>
        </p:spPr>
        <p:txBody>
          <a:bodyPr vert="horz" wrap="square" lIns="91440" tIns="45720" rIns="91440" bIns="45720" anchor="b">
            <a:normAutofit/>
          </a:bodyPr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290365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81964544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974543645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988295181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21726681" name="Rectangle 640957806"/>
          <p:cNvSpPr>
            <a:spLocks noGrp="1"/>
          </p:cNvSpPr>
          <p:nvPr/>
        </p:nvSpPr>
        <p:spPr bwMode="auto">
          <a:xfrm>
            <a:off x="4703774" y="1486702"/>
            <a:ext cx="2776433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15217" name="Title 1"/>
          <p:cNvSpPr>
            <a:spLocks noGrp="1"/>
          </p:cNvSpPr>
          <p:nvPr>
            <p:ph type="title" idx="0"/>
          </p:nvPr>
        </p:nvSpPr>
        <p:spPr bwMode="auto">
          <a:xfrm>
            <a:off x="838197" y="365123"/>
            <a:ext cx="10515600" cy="1121577"/>
          </a:xfrm>
        </p:spPr>
        <p:txBody>
          <a:bodyPr vert="horz" wrap="square" lIns="91440" tIns="45720" rIns="91440" bIns="45720" anchor="b">
            <a:normAutofit/>
          </a:bodyPr>
          <a:lstStyle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81257269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04633401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7B14398F-3795-7DE0-858E-3925D44B3378}" type="datetimeFigureOut">
              <a:rPr/>
              <a:t>2026/7/31</a:t>
            </a:fld>
            <a:endParaRPr/>
          </a:p>
        </p:txBody>
      </p:sp>
      <p:sp>
        <p:nvSpPr>
          <p:cNvPr id="757635093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138596648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3D9411B4-B34A-E1DB-16D9-0D265777C9EB}" type="slidenum">
              <a:rPr/>
              <a:t>‹#›</a:t>
            </a:fld>
            <a:endParaRPr/>
          </a:p>
        </p:txBody>
      </p:sp>
      <p:sp>
        <p:nvSpPr>
          <p:cNvPr id="1084993295" name="Rectangle 640957806"/>
          <p:cNvSpPr>
            <a:spLocks noGrp="1"/>
          </p:cNvSpPr>
          <p:nvPr/>
        </p:nvSpPr>
        <p:spPr bwMode="auto">
          <a:xfrm>
            <a:off x="838197" y="1486702"/>
            <a:ext cx="105156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2864537" name="Picture 1835292972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>
            <a:off x="20621" y="8104"/>
            <a:ext cx="12216845" cy="6858000"/>
          </a:xfrm>
          <a:prstGeom prst="rect">
            <a:avLst/>
          </a:prstGeom>
        </p:spPr>
      </p:pic>
      <p:sp>
        <p:nvSpPr>
          <p:cNvPr id="1210075383" name="Title 1"/>
          <p:cNvSpPr>
            <a:spLocks noGrp="1"/>
          </p:cNvSpPr>
          <p:nvPr>
            <p:ph type="title" idx="0"/>
          </p:nvPr>
        </p:nvSpPr>
        <p:spPr bwMode="auto">
          <a:xfrm>
            <a:off x="831848" y="1399140"/>
            <a:ext cx="10515600" cy="2852736"/>
          </a:xfrm>
        </p:spPr>
        <p:txBody>
          <a:bodyPr vert="horz" wrap="square" lIns="91440" tIns="45720" rIns="91440" bIns="45720"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685452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8" y="4278863"/>
            <a:ext cx="10515600" cy="15001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33342002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098180703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259523948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2045599504" name="Rectangle 640957806"/>
          <p:cNvSpPr>
            <a:spLocks noGrp="1"/>
          </p:cNvSpPr>
          <p:nvPr/>
        </p:nvSpPr>
        <p:spPr bwMode="auto">
          <a:xfrm>
            <a:off x="-10884" y="6017640"/>
            <a:ext cx="1221377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405052" name="Title 1"/>
          <p:cNvSpPr>
            <a:spLocks noGrp="1"/>
          </p:cNvSpPr>
          <p:nvPr>
            <p:ph type="title" idx="0"/>
          </p:nvPr>
        </p:nvSpPr>
        <p:spPr bwMode="auto"/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63462317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25230932" name="Content Placeholder 3"/>
          <p:cNvSpPr>
            <a:spLocks noGrp="1"/>
          </p:cNvSpPr>
          <p:nvPr>
            <p:ph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96723908" name="Date Placeholder 4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797200168" name="Footer Placeholder 5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162859474" name="Slide Number Placeholder 6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294231897" name="Rectangle 640957806"/>
          <p:cNvSpPr>
            <a:spLocks noGrp="1"/>
          </p:cNvSpPr>
          <p:nvPr/>
        </p:nvSpPr>
        <p:spPr bwMode="auto">
          <a:xfrm>
            <a:off x="2070" y="6121172"/>
            <a:ext cx="12213769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176273" name="Title 1"/>
          <p:cNvSpPr>
            <a:spLocks noGrp="1"/>
          </p:cNvSpPr>
          <p:nvPr>
            <p:ph type="title" idx="0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718716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6" y="1690686"/>
            <a:ext cx="5157784" cy="814385"/>
          </a:xfrm>
        </p:spPr>
        <p:txBody>
          <a:bodyPr vert="horz" wrap="square" lIns="182880" tIns="182880" rIns="182880" bIns="91440" anchor="ctr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90410161" name="Content Placeholder 3"/>
          <p:cNvSpPr>
            <a:spLocks noGrp="1"/>
          </p:cNvSpPr>
          <p:nvPr>
            <p:ph idx="2"/>
          </p:nvPr>
        </p:nvSpPr>
        <p:spPr bwMode="auto">
          <a:xfrm>
            <a:off x="839787" y="2505073"/>
            <a:ext cx="5157785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874701" name="Text Placeholder 4"/>
          <p:cNvSpPr>
            <a:spLocks noGrp="1"/>
          </p:cNvSpPr>
          <p:nvPr>
            <p:ph type="body" idx="3"/>
          </p:nvPr>
        </p:nvSpPr>
        <p:spPr bwMode="auto">
          <a:xfrm>
            <a:off x="6172198" y="1690686"/>
            <a:ext cx="5183186" cy="814385"/>
          </a:xfrm>
        </p:spPr>
        <p:txBody>
          <a:bodyPr vert="horz" wrap="square" lIns="182880" tIns="182880" rIns="182880" bIns="91440" anchor="ctr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84434588" name="Content Placeholder 5"/>
          <p:cNvSpPr>
            <a:spLocks noGrp="1"/>
          </p:cNvSpPr>
          <p:nvPr>
            <p:ph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09991253" name="Date Placeholder 6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759877838" name="Footer Placeholder 7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945956495" name="Slide Number Placeholder 8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136877252" name="Rectangle 640957806"/>
          <p:cNvSpPr>
            <a:spLocks noGrp="1"/>
          </p:cNvSpPr>
          <p:nvPr/>
        </p:nvSpPr>
        <p:spPr bwMode="auto">
          <a:xfrm>
            <a:off x="2330779" y="1690686"/>
            <a:ext cx="7530436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71426" name="Title 1"/>
          <p:cNvSpPr>
            <a:spLocks noGrp="1"/>
          </p:cNvSpPr>
          <p:nvPr>
            <p:ph type="title" idx="0"/>
          </p:nvPr>
        </p:nvSpPr>
        <p:spPr bwMode="auto">
          <a:xfrm>
            <a:off x="839787" y="457200"/>
            <a:ext cx="3932236" cy="1600200"/>
          </a:xfrm>
        </p:spPr>
        <p:txBody>
          <a:bodyPr vert="horz" wrap="square" lIns="91440" tIns="45720" rIns="91440" bIns="45720" anchor="ctr">
            <a:normAutofit/>
          </a:bodyPr>
          <a:lstStyle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7990286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6" y="457198"/>
            <a:ext cx="6172200" cy="540384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buNone/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376704951" name="Text Placeholder 3"/>
          <p:cNvSpPr>
            <a:spLocks noGrp="1"/>
          </p:cNvSpPr>
          <p:nvPr>
            <p:ph type="body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8709488" name="Date Placeholder 4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738095266" name="Footer Placeholder 5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280000509" name="Slide Number Placeholder 6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985125965" name="Rectangle 640957806"/>
          <p:cNvSpPr>
            <a:spLocks noGrp="1"/>
          </p:cNvSpPr>
          <p:nvPr/>
        </p:nvSpPr>
        <p:spPr bwMode="auto">
          <a:xfrm>
            <a:off x="838197" y="1984248"/>
            <a:ext cx="3933823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1058139" name="Picture 752255626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>
            <a:off x="20620" y="8103"/>
            <a:ext cx="12216844" cy="6858000"/>
          </a:xfrm>
          <a:prstGeom prst="rect">
            <a:avLst/>
          </a:prstGeom>
        </p:spPr>
      </p:pic>
      <p:sp>
        <p:nvSpPr>
          <p:cNvPr id="668592901" name="Title 1"/>
          <p:cNvSpPr>
            <a:spLocks noGrp="1"/>
          </p:cNvSpPr>
          <p:nvPr>
            <p:ph type="title" idx="0"/>
          </p:nvPr>
        </p:nvSpPr>
        <p:spPr bwMode="auto">
          <a:xfrm>
            <a:off x="838197" y="2455619"/>
            <a:ext cx="10515600" cy="1325561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  <a:lvl6pPr algn="ctr">
              <a:buNone/>
              <a:defRPr>
                <a:solidFill>
                  <a:schemeClr val="bg1"/>
                </a:solidFill>
              </a:defRPr>
            </a:lvl6pPr>
            <a:lvl7pPr algn="ctr">
              <a:buNone/>
              <a:defRPr>
                <a:solidFill>
                  <a:schemeClr val="bg1"/>
                </a:solidFill>
              </a:defRPr>
            </a:lvl7pPr>
            <a:lvl8pPr algn="ctr">
              <a:buNone/>
              <a:defRPr>
                <a:solidFill>
                  <a:schemeClr val="bg1"/>
                </a:solidFill>
              </a:defRPr>
            </a:lvl8pPr>
            <a:lvl9pPr algn="ctr"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76150172" name="Date Placeholder 2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241561961" name="Footer Placeholder 3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877350460" name="Slide Number 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610167" name="Date Placeholder 1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789638897" name="Footer Placeholder 2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715926136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088410" name="Title 1"/>
          <p:cNvSpPr>
            <a:spLocks noGrp="1"/>
          </p:cNvSpPr>
          <p:nvPr>
            <p:ph type="title" idx="0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7968345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02689178" name="Text Placeholder 3"/>
          <p:cNvSpPr>
            <a:spLocks noGrp="1"/>
          </p:cNvSpPr>
          <p:nvPr>
            <p:ph type="body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85578432" name="Date Placeholder 4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280710592" name="Footer Placeholder 5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69806382" name="Slide Number Placeholder 6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22235" name="Title 1"/>
          <p:cNvSpPr>
            <a:spLocks noGrp="1"/>
          </p:cNvSpPr>
          <p:nvPr>
            <p:ph type="title" idx="0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01279510" name="Vertical Text Placeholder 2"/>
          <p:cNvSpPr>
            <a:spLocks noGrp="1"/>
          </p:cNvSpPr>
          <p:nvPr>
            <p:ph type="body" idx="1"/>
          </p:nvPr>
        </p:nvSpPr>
        <p:spPr bwMode="auto"/>
        <p:txBody>
          <a:bodyPr vert="eaVert"/>
          <a:lstStyle/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12343093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321394680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639763281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428973" name="Vertical Title 1"/>
          <p:cNvSpPr>
            <a:spLocks noGrp="1"/>
          </p:cNvSpPr>
          <p:nvPr>
            <p:ph type="title" idx="0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08343676" name="Vertical 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39948159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02835285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291872283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36471" name="Title Placeholder 1"/>
          <p:cNvSpPr>
            <a:spLocks noGrp="1"/>
          </p:cNvSpPr>
          <p:nvPr>
            <p:ph type="title" idx="0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b="1"/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702035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41248" y="1828800"/>
            <a:ext cx="10515600" cy="4351338"/>
          </a:xfrm>
          <a:prstGeom prst="rect">
            <a:avLst/>
          </a:prstGeom>
        </p:spPr>
        <p:txBody>
          <a:bodyPr vert="horz" wrap="square" lIns="182880" tIns="182880" rIns="182880" bIns="91440" anchor="t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4383168" name="Date Placeholder 3"/>
          <p:cNvSpPr>
            <a:spLocks noGrp="1"/>
          </p:cNvSpPr>
          <p:nvPr>
            <p:ph type="dt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661789775" name="Footer Placeholder 4"/>
          <p:cNvSpPr>
            <a:spLocks noGrp="1"/>
          </p:cNvSpPr>
          <p:nvPr>
            <p:ph type="ft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832008145" name="Slide Number Placeholder 5"/>
          <p:cNvSpPr>
            <a:spLocks noGrp="1"/>
          </p:cNvSpPr>
          <p:nvPr>
            <p:ph type="sldNum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599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266741" name="section-title"/>
          <p:cNvSpPr>
            <a:spLocks noGrp="1"/>
          </p:cNvSpPr>
          <p:nvPr/>
        </p:nvSpPr>
        <p:spPr bwMode="auto">
          <a:xfrm>
            <a:off x="857250" y="2876549"/>
            <a:ext cx="1047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4050" b="1" i="0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1" i="0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897662" name="Rectangle 935271156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Diffusion</a:t>
            </a:r>
            <a:endParaRPr/>
          </a:p>
        </p:txBody>
      </p:sp>
      <p:sp>
        <p:nvSpPr>
          <p:cNvPr id="15569869" name="Rectangle 251777344"/>
          <p:cNvSpPr>
            <a:spLocks noGrp="1"/>
          </p:cNvSpPr>
          <p:nvPr/>
        </p:nvSpPr>
        <p:spPr bwMode="auto">
          <a:xfrm>
            <a:off x="609599" y="590548"/>
            <a:ext cx="102870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Diffusion learns to reverse noise</a:t>
            </a:r>
            <a:endParaRPr/>
          </a:p>
        </p:txBody>
      </p:sp>
      <p:sp>
        <p:nvSpPr>
          <p:cNvPr id="1362675388" name="Rectangle: Rounded Corners 1456392341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721275627" name="Rectangle 1495975732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85</a:t>
            </a:r>
            <a:endParaRPr/>
          </a:p>
        </p:txBody>
      </p:sp>
      <p:pic>
        <p:nvPicPr>
          <p:cNvPr id="1322196156" name="Picture 1495975738"/>
          <p:cNvPicPr>
            <a:picLocks noChangeAspect="1"/>
          </p:cNvPicPr>
          <p:nvPr/>
        </p:nvPicPr>
        <p:blipFill rotWithShape="1">
          <a:blip r:embed="rId3"/>
          <a:srcRect l="0" t="15961" r="0" b="15959"/>
          <a:stretch/>
        </p:blipFill>
        <p:spPr bwMode="auto">
          <a:xfrm>
            <a:off x="1000125" y="1695449"/>
            <a:ext cx="10191750" cy="3905249"/>
          </a:xfrm>
          <a:prstGeom prst="rect">
            <a:avLst/>
          </a:prstGeom>
        </p:spPr>
      </p:pic>
      <p:sp>
        <p:nvSpPr>
          <p:cNvPr id="9357548" name="diffusion-forward-label"/>
          <p:cNvSpPr>
            <a:spLocks noGrp="1"/>
          </p:cNvSpPr>
          <p:nvPr/>
        </p:nvSpPr>
        <p:spPr bwMode="auto">
          <a:xfrm>
            <a:off x="1571625" y="16002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Forward: gradually add noise →</a:t>
            </a:r>
            <a:endParaRPr/>
          </a:p>
        </p:txBody>
      </p:sp>
      <p:sp>
        <p:nvSpPr>
          <p:cNvPr id="1694184220" name="diffusion-reverse-label"/>
          <p:cNvSpPr>
            <a:spLocks noGrp="1"/>
          </p:cNvSpPr>
          <p:nvPr/>
        </p:nvSpPr>
        <p:spPr bwMode="auto">
          <a:xfrm>
            <a:off x="6381749" y="5467349"/>
            <a:ext cx="4381499" cy="3809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← Generation: predict and remove noise step by step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599267" name="Rectangle 55039960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  <a:endParaRPr/>
          </a:p>
        </p:txBody>
      </p:sp>
      <p:sp>
        <p:nvSpPr>
          <p:cNvPr id="563728017" name="Rectangle 882538346"/>
          <p:cNvSpPr>
            <a:spLocks noGrp="1"/>
          </p:cNvSpPr>
          <p:nvPr/>
        </p:nvSpPr>
        <p:spPr bwMode="auto">
          <a:xfrm>
            <a:off x="609599" y="590548"/>
            <a:ext cx="102870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Mercury models use diffusion-style parallel refinement</a:t>
            </a:r>
            <a:endParaRPr/>
          </a:p>
        </p:txBody>
      </p:sp>
      <p:sp>
        <p:nvSpPr>
          <p:cNvPr id="2104087284" name="Rectangle: Rounded Corners 1990867235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42879811" name="Rectangle 9623160"/>
          <p:cNvSpPr>
            <a:spLocks noGrp="1"/>
          </p:cNvSpPr>
          <p:nvPr/>
        </p:nvSpPr>
        <p:spPr bwMode="auto">
          <a:xfrm>
            <a:off x="1123949" y="22860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667085"/>
                </a:solidFill>
              </a:defRPr>
            </a:pPr>
            <a:r>
              <a:rPr sz="1650" b="1">
                <a:solidFill>
                  <a:srgbClr val="667085"/>
                </a:solidFill>
              </a:rPr>
              <a:t>noise</a:t>
            </a:r>
            <a:endParaRPr/>
          </a:p>
        </p:txBody>
      </p:sp>
      <p:sp>
        <p:nvSpPr>
          <p:cNvPr id="77722673" name="Rectangle: Rounded Corners 114855872"/>
          <p:cNvSpPr>
            <a:spLocks noGrp="1"/>
          </p:cNvSpPr>
          <p:nvPr/>
        </p:nvSpPr>
        <p:spPr bwMode="auto">
          <a:xfrm>
            <a:off x="2619374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337082446" name="Rectangle: Rounded Corners 734158913"/>
          <p:cNvSpPr>
            <a:spLocks noGrp="1"/>
          </p:cNvSpPr>
          <p:nvPr/>
        </p:nvSpPr>
        <p:spPr bwMode="auto">
          <a:xfrm>
            <a:off x="3619499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283767767" name="Rectangle: Rounded Corners 1596678256"/>
          <p:cNvSpPr>
            <a:spLocks noGrp="1"/>
          </p:cNvSpPr>
          <p:nvPr/>
        </p:nvSpPr>
        <p:spPr bwMode="auto">
          <a:xfrm>
            <a:off x="4619624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980816228" name="Rectangle: Rounded Corners 2059288131"/>
          <p:cNvSpPr>
            <a:spLocks noGrp="1"/>
          </p:cNvSpPr>
          <p:nvPr/>
        </p:nvSpPr>
        <p:spPr bwMode="auto">
          <a:xfrm>
            <a:off x="5619749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651426504" name="Rectangle: Rounded Corners 1010991302"/>
          <p:cNvSpPr>
            <a:spLocks noGrp="1"/>
          </p:cNvSpPr>
          <p:nvPr/>
        </p:nvSpPr>
        <p:spPr bwMode="auto">
          <a:xfrm>
            <a:off x="6619875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923508112" name="Rectangle: Rounded Corners 1730168992"/>
          <p:cNvSpPr>
            <a:spLocks noGrp="1"/>
          </p:cNvSpPr>
          <p:nvPr/>
        </p:nvSpPr>
        <p:spPr bwMode="auto">
          <a:xfrm>
            <a:off x="7620000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2022647695" name="Straight Connector 427538637"/>
          <p:cNvSpPr>
            <a:spLocks noGrp="1"/>
          </p:cNvSpPr>
          <p:nvPr/>
        </p:nvSpPr>
        <p:spPr bwMode="auto">
          <a:xfrm>
            <a:off x="5524499" y="2819399"/>
            <a:ext cx="9524" cy="285750"/>
          </a:xfrm>
          <a:prstGeom prst="line">
            <a:avLst/>
          </a:prstGeom>
          <a:noFill/>
          <a:ln w="23813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350511089" name="Rectangle 317775176"/>
          <p:cNvSpPr>
            <a:spLocks noGrp="1"/>
          </p:cNvSpPr>
          <p:nvPr/>
        </p:nvSpPr>
        <p:spPr bwMode="auto">
          <a:xfrm>
            <a:off x="1123949" y="33147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step 1</a:t>
            </a:r>
            <a:endParaRPr/>
          </a:p>
        </p:txBody>
      </p:sp>
      <p:sp>
        <p:nvSpPr>
          <p:cNvPr id="1375840226" name="Rectangle: Rounded Corners 947755655"/>
          <p:cNvSpPr>
            <a:spLocks noGrp="1"/>
          </p:cNvSpPr>
          <p:nvPr/>
        </p:nvSpPr>
        <p:spPr bwMode="auto">
          <a:xfrm>
            <a:off x="2619374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F97316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The</a:t>
            </a:r>
            <a:endParaRPr/>
          </a:p>
        </p:txBody>
      </p:sp>
      <p:sp>
        <p:nvSpPr>
          <p:cNvPr id="949852907" name="Rectangle: Rounded Corners 1310797679"/>
          <p:cNvSpPr>
            <a:spLocks noGrp="1"/>
          </p:cNvSpPr>
          <p:nvPr/>
        </p:nvSpPr>
        <p:spPr bwMode="auto">
          <a:xfrm>
            <a:off x="3619499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734607231" name="Rectangle: Rounded Corners 1996140323"/>
          <p:cNvSpPr>
            <a:spLocks noGrp="1"/>
          </p:cNvSpPr>
          <p:nvPr/>
        </p:nvSpPr>
        <p:spPr bwMode="auto">
          <a:xfrm>
            <a:off x="4619624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F97316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learns</a:t>
            </a:r>
            <a:endParaRPr/>
          </a:p>
        </p:txBody>
      </p:sp>
      <p:sp>
        <p:nvSpPr>
          <p:cNvPr id="1071413215" name="Rectangle: Rounded Corners 242163070"/>
          <p:cNvSpPr>
            <a:spLocks noGrp="1"/>
          </p:cNvSpPr>
          <p:nvPr/>
        </p:nvSpPr>
        <p:spPr bwMode="auto">
          <a:xfrm>
            <a:off x="5619749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2059088454" name="Rectangle: Rounded Corners 787924439"/>
          <p:cNvSpPr>
            <a:spLocks noGrp="1"/>
          </p:cNvSpPr>
          <p:nvPr/>
        </p:nvSpPr>
        <p:spPr bwMode="auto">
          <a:xfrm>
            <a:off x="6619875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488505224" name="Rectangle: Rounded Corners 2036973233"/>
          <p:cNvSpPr>
            <a:spLocks noGrp="1"/>
          </p:cNvSpPr>
          <p:nvPr/>
        </p:nvSpPr>
        <p:spPr bwMode="auto">
          <a:xfrm>
            <a:off x="7620000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F97316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.</a:t>
            </a:r>
            <a:endParaRPr/>
          </a:p>
        </p:txBody>
      </p:sp>
      <p:sp>
        <p:nvSpPr>
          <p:cNvPr id="691595041" name="Straight Connector 2017847098"/>
          <p:cNvSpPr>
            <a:spLocks noGrp="1"/>
          </p:cNvSpPr>
          <p:nvPr/>
        </p:nvSpPr>
        <p:spPr bwMode="auto">
          <a:xfrm>
            <a:off x="5524499" y="3848099"/>
            <a:ext cx="9524" cy="285750"/>
          </a:xfrm>
          <a:prstGeom prst="line">
            <a:avLst/>
          </a:prstGeom>
          <a:noFill/>
          <a:ln w="23813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603699758" name="Rectangle 420069148"/>
          <p:cNvSpPr>
            <a:spLocks noGrp="1"/>
          </p:cNvSpPr>
          <p:nvPr/>
        </p:nvSpPr>
        <p:spPr bwMode="auto">
          <a:xfrm>
            <a:off x="1123949" y="43434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10B981"/>
                </a:solidFill>
              </a:defRPr>
            </a:pPr>
            <a:r>
              <a:rPr sz="1650" b="1">
                <a:solidFill>
                  <a:srgbClr val="10B981"/>
                </a:solidFill>
              </a:rPr>
              <a:t>step 2</a:t>
            </a:r>
            <a:endParaRPr/>
          </a:p>
        </p:txBody>
      </p:sp>
      <p:sp>
        <p:nvSpPr>
          <p:cNvPr id="778788406" name="Rectangle: Rounded Corners 1532010383"/>
          <p:cNvSpPr>
            <a:spLocks noGrp="1"/>
          </p:cNvSpPr>
          <p:nvPr/>
        </p:nvSpPr>
        <p:spPr bwMode="auto">
          <a:xfrm>
            <a:off x="2619374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The</a:t>
            </a:r>
            <a:endParaRPr/>
          </a:p>
        </p:txBody>
      </p:sp>
      <p:sp>
        <p:nvSpPr>
          <p:cNvPr id="1993641438" name="Rectangle: Rounded Corners 1983276117"/>
          <p:cNvSpPr>
            <a:spLocks noGrp="1"/>
          </p:cNvSpPr>
          <p:nvPr/>
        </p:nvSpPr>
        <p:spPr bwMode="auto">
          <a:xfrm>
            <a:off x="3619499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model</a:t>
            </a:r>
            <a:endParaRPr/>
          </a:p>
        </p:txBody>
      </p:sp>
      <p:sp>
        <p:nvSpPr>
          <p:cNvPr id="1717597830" name="Rectangle: Rounded Corners 1047163946"/>
          <p:cNvSpPr>
            <a:spLocks noGrp="1"/>
          </p:cNvSpPr>
          <p:nvPr/>
        </p:nvSpPr>
        <p:spPr bwMode="auto">
          <a:xfrm>
            <a:off x="4619624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learns</a:t>
            </a:r>
            <a:endParaRPr/>
          </a:p>
        </p:txBody>
      </p:sp>
      <p:sp>
        <p:nvSpPr>
          <p:cNvPr id="1176271932" name="Rectangle: Rounded Corners 523171807"/>
          <p:cNvSpPr>
            <a:spLocks noGrp="1"/>
          </p:cNvSpPr>
          <p:nvPr/>
        </p:nvSpPr>
        <p:spPr bwMode="auto">
          <a:xfrm>
            <a:off x="5619749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from</a:t>
            </a:r>
            <a:endParaRPr/>
          </a:p>
        </p:txBody>
      </p:sp>
      <p:sp>
        <p:nvSpPr>
          <p:cNvPr id="968670806" name="Rectangle: Rounded Corners 752356456"/>
          <p:cNvSpPr>
            <a:spLocks noGrp="1"/>
          </p:cNvSpPr>
          <p:nvPr/>
        </p:nvSpPr>
        <p:spPr bwMode="auto">
          <a:xfrm>
            <a:off x="6619875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517836860" name="Rectangle: Rounded Corners 816374805"/>
          <p:cNvSpPr>
            <a:spLocks noGrp="1"/>
          </p:cNvSpPr>
          <p:nvPr/>
        </p:nvSpPr>
        <p:spPr bwMode="auto">
          <a:xfrm>
            <a:off x="7620000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.</a:t>
            </a:r>
            <a:endParaRPr/>
          </a:p>
        </p:txBody>
      </p:sp>
      <p:sp>
        <p:nvSpPr>
          <p:cNvPr id="1415551836" name="Straight Connector 1386166301"/>
          <p:cNvSpPr>
            <a:spLocks noGrp="1"/>
          </p:cNvSpPr>
          <p:nvPr/>
        </p:nvSpPr>
        <p:spPr bwMode="auto">
          <a:xfrm>
            <a:off x="5524499" y="4876799"/>
            <a:ext cx="9524" cy="285750"/>
          </a:xfrm>
          <a:prstGeom prst="line">
            <a:avLst/>
          </a:prstGeom>
          <a:noFill/>
          <a:ln w="23813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591597539" name="Rectangle 1180679312"/>
          <p:cNvSpPr>
            <a:spLocks noGrp="1"/>
          </p:cNvSpPr>
          <p:nvPr/>
        </p:nvSpPr>
        <p:spPr bwMode="auto">
          <a:xfrm>
            <a:off x="1123949" y="53721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text</a:t>
            </a:r>
            <a:endParaRPr/>
          </a:p>
        </p:txBody>
      </p:sp>
      <p:sp>
        <p:nvSpPr>
          <p:cNvPr id="1362823119" name="Rectangle: Rounded Corners 1119801345"/>
          <p:cNvSpPr>
            <a:spLocks noGrp="1"/>
          </p:cNvSpPr>
          <p:nvPr/>
        </p:nvSpPr>
        <p:spPr bwMode="auto">
          <a:xfrm>
            <a:off x="2619374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The</a:t>
            </a:r>
            <a:endParaRPr/>
          </a:p>
        </p:txBody>
      </p:sp>
      <p:sp>
        <p:nvSpPr>
          <p:cNvPr id="127476755" name="Rectangle: Rounded Corners 563472098"/>
          <p:cNvSpPr>
            <a:spLocks noGrp="1"/>
          </p:cNvSpPr>
          <p:nvPr/>
        </p:nvSpPr>
        <p:spPr bwMode="auto">
          <a:xfrm>
            <a:off x="3619499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model</a:t>
            </a:r>
            <a:endParaRPr/>
          </a:p>
        </p:txBody>
      </p:sp>
      <p:sp>
        <p:nvSpPr>
          <p:cNvPr id="1716301458" name="Rectangle: Rounded Corners 1869507790"/>
          <p:cNvSpPr>
            <a:spLocks noGrp="1"/>
          </p:cNvSpPr>
          <p:nvPr/>
        </p:nvSpPr>
        <p:spPr bwMode="auto">
          <a:xfrm>
            <a:off x="4619624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learns</a:t>
            </a:r>
            <a:endParaRPr/>
          </a:p>
        </p:txBody>
      </p:sp>
      <p:sp>
        <p:nvSpPr>
          <p:cNvPr id="36366099" name="Rectangle: Rounded Corners 2113559938"/>
          <p:cNvSpPr>
            <a:spLocks noGrp="1"/>
          </p:cNvSpPr>
          <p:nvPr/>
        </p:nvSpPr>
        <p:spPr bwMode="auto">
          <a:xfrm>
            <a:off x="5619749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from</a:t>
            </a:r>
            <a:endParaRPr/>
          </a:p>
        </p:txBody>
      </p:sp>
      <p:sp>
        <p:nvSpPr>
          <p:cNvPr id="1628467732" name="Rectangle: Rounded Corners 274418513"/>
          <p:cNvSpPr>
            <a:spLocks noGrp="1"/>
          </p:cNvSpPr>
          <p:nvPr/>
        </p:nvSpPr>
        <p:spPr bwMode="auto">
          <a:xfrm>
            <a:off x="6619875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data</a:t>
            </a:r>
            <a:endParaRPr/>
          </a:p>
        </p:txBody>
      </p:sp>
      <p:sp>
        <p:nvSpPr>
          <p:cNvPr id="1241671808" name="Rectangle: Rounded Corners 1941550636"/>
          <p:cNvSpPr>
            <a:spLocks noGrp="1"/>
          </p:cNvSpPr>
          <p:nvPr/>
        </p:nvSpPr>
        <p:spPr bwMode="auto">
          <a:xfrm>
            <a:off x="7620000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.</a:t>
            </a:r>
            <a:endParaRPr/>
          </a:p>
        </p:txBody>
      </p:sp>
      <p:sp>
        <p:nvSpPr>
          <p:cNvPr id="311372966" name="Rectangle 1798355039"/>
          <p:cNvSpPr>
            <a:spLocks noGrp="1"/>
          </p:cNvSpPr>
          <p:nvPr/>
        </p:nvSpPr>
        <p:spPr bwMode="auto">
          <a:xfrm>
            <a:off x="7562850" y="1704974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not always left-to-right</a:t>
            </a:r>
            <a:endParaRPr/>
          </a:p>
        </p:txBody>
      </p:sp>
      <p:sp>
        <p:nvSpPr>
          <p:cNvPr id="1147971407" name="Rectangle 1161886986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86</a:t>
            </a:r>
            <a:endParaRPr/>
          </a:p>
        </p:txBody>
      </p:sp>
      <p:sp>
        <p:nvSpPr>
          <p:cNvPr id="1084489824" name="mercury-example-divider"/>
          <p:cNvSpPr>
            <a:spLocks noGrp="1"/>
          </p:cNvSpPr>
          <p:nvPr/>
        </p:nvSpPr>
        <p:spPr bwMode="auto">
          <a:xfrm>
            <a:off x="8763000" y="2266949"/>
            <a:ext cx="9524" cy="2857500"/>
          </a:xfrm>
          <a:prstGeom prst="line">
            <a:avLst/>
          </a:prstGeom>
          <a:noFill/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041421340" name="mercury-example-label"/>
          <p:cNvSpPr>
            <a:spLocks noGrp="1"/>
          </p:cNvSpPr>
          <p:nvPr/>
        </p:nvSpPr>
        <p:spPr bwMode="auto">
          <a:xfrm>
            <a:off x="9067799" y="2362198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MERCURY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520558" name="Rectangle 1487198538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Faster inference</a:t>
            </a:r>
            <a:endParaRPr/>
          </a:p>
        </p:txBody>
      </p:sp>
      <p:sp>
        <p:nvSpPr>
          <p:cNvPr id="568655474" name="Rectangle 1518038747"/>
          <p:cNvSpPr>
            <a:spLocks noGrp="1"/>
          </p:cNvSpPr>
          <p:nvPr/>
        </p:nvSpPr>
        <p:spPr bwMode="auto">
          <a:xfrm>
            <a:off x="609599" y="590548"/>
            <a:ext cx="102870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Speculative decoding uses a draft-and-verify loop</a:t>
            </a:r>
            <a:endParaRPr/>
          </a:p>
        </p:txBody>
      </p:sp>
      <p:sp>
        <p:nvSpPr>
          <p:cNvPr id="1336943066" name="Rectangle: Rounded Corners 1531743003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225037980" name="Rectangle 918919992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87</a:t>
            </a:r>
            <a:endParaRPr/>
          </a:p>
        </p:txBody>
      </p:sp>
      <p:sp>
        <p:nvSpPr>
          <p:cNvPr id="1729342418" name=""/>
          <p:cNvSpPr txBox="1"/>
          <p:nvPr/>
        </p:nvSpPr>
        <p:spPr bwMode="auto">
          <a:xfrm rot="0" flipH="0" flipV="0">
            <a:off x="7785570" y="5490366"/>
            <a:ext cx="351017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https://arxiv.org/html/2510.02358v1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20989627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45526" y="1921388"/>
            <a:ext cx="9900947" cy="3183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358441" name="Rectangle 550399601"/>
          <p:cNvSpPr>
            <a:spLocks noGrp="1"/>
          </p:cNvSpPr>
          <p:nvPr/>
        </p:nvSpPr>
        <p:spPr bwMode="auto">
          <a:xfrm>
            <a:off x="609598" y="323848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  <a:endParaRPr/>
          </a:p>
        </p:txBody>
      </p:sp>
      <p:sp>
        <p:nvSpPr>
          <p:cNvPr id="854216925" name="Rectangle 882538346"/>
          <p:cNvSpPr>
            <a:spLocks noGrp="1"/>
          </p:cNvSpPr>
          <p:nvPr/>
        </p:nvSpPr>
        <p:spPr bwMode="auto">
          <a:xfrm>
            <a:off x="609598" y="590547"/>
            <a:ext cx="10287000" cy="5905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ko-KR"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sglang</a:t>
            </a:r>
            <a:endParaRPr/>
          </a:p>
        </p:txBody>
      </p:sp>
      <p:sp>
        <p:nvSpPr>
          <p:cNvPr id="238128452" name="Rectangle: Rounded Corners 1990867235"/>
          <p:cNvSpPr>
            <a:spLocks noGrp="1"/>
          </p:cNvSpPr>
          <p:nvPr/>
        </p:nvSpPr>
        <p:spPr bwMode="auto">
          <a:xfrm>
            <a:off x="704848" y="1466847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454364616" name="Rectangle 1161886986"/>
          <p:cNvSpPr>
            <a:spLocks noGrp="1"/>
          </p:cNvSpPr>
          <p:nvPr/>
        </p:nvSpPr>
        <p:spPr bwMode="auto">
          <a:xfrm>
            <a:off x="11106150" y="6286500"/>
            <a:ext cx="4762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86</a:t>
            </a:r>
            <a:endParaRPr/>
          </a:p>
        </p:txBody>
      </p:sp>
      <p:pic>
        <p:nvPicPr>
          <p:cNvPr id="5745571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40924" y="1609722"/>
            <a:ext cx="9553574" cy="4229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321653" name="Rectangle 550399601"/>
          <p:cNvSpPr>
            <a:spLocks noGrp="1"/>
          </p:cNvSpPr>
          <p:nvPr/>
        </p:nvSpPr>
        <p:spPr bwMode="auto">
          <a:xfrm>
            <a:off x="609598" y="323848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  <a:endParaRPr/>
          </a:p>
        </p:txBody>
      </p:sp>
      <p:sp>
        <p:nvSpPr>
          <p:cNvPr id="1592134708" name="Rectangle 882538346"/>
          <p:cNvSpPr>
            <a:spLocks noGrp="1"/>
          </p:cNvSpPr>
          <p:nvPr/>
        </p:nvSpPr>
        <p:spPr bwMode="auto">
          <a:xfrm>
            <a:off x="609598" y="590547"/>
            <a:ext cx="10287000" cy="5905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ko-KR"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sglang</a:t>
            </a:r>
            <a:endParaRPr/>
          </a:p>
        </p:txBody>
      </p:sp>
      <p:sp>
        <p:nvSpPr>
          <p:cNvPr id="1154645206" name="Rectangle: Rounded Corners 1990867235"/>
          <p:cNvSpPr>
            <a:spLocks noGrp="1"/>
          </p:cNvSpPr>
          <p:nvPr/>
        </p:nvSpPr>
        <p:spPr bwMode="auto">
          <a:xfrm>
            <a:off x="704848" y="1466847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963908747" name="Rectangle 1161886986"/>
          <p:cNvSpPr>
            <a:spLocks noGrp="1"/>
          </p:cNvSpPr>
          <p:nvPr/>
        </p:nvSpPr>
        <p:spPr bwMode="auto">
          <a:xfrm>
            <a:off x="11106150" y="6286500"/>
            <a:ext cx="4762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86</a:t>
            </a:r>
            <a:endParaRPr/>
          </a:p>
        </p:txBody>
      </p:sp>
      <p:pic>
        <p:nvPicPr>
          <p:cNvPr id="20087687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34177" y="1855859"/>
            <a:ext cx="3970458" cy="1619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New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New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5</cp:revision>
  <dcterms:modified xsi:type="dcterms:W3CDTF">2026-08-02T20:42:18Z</dcterms:modified>
</cp:coreProperties>
</file>