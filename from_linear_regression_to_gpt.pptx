
<file path=[Content_Types].xml><?xml version="1.0" encoding="utf-8"?>
<Types xmlns="http://schemas.openxmlformats.org/package/2006/content-types">
  <Default Extension="jpg" ContentType="image/jpeg"/>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Default Extension="svg" ContentType="image/svg+xml"/>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notesSlides/notesSlide63.xml" ContentType="application/vnd.openxmlformats-officedocument.presentationml.notesSlide+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slides/slide15.xml" ContentType="application/vnd.openxmlformats-officedocument.presentationml.slide+xml"/>
  <Override PartName="/ppt/notesSlides/notesSlide48.xml" ContentType="application/vnd.openxmlformats-officedocument.presentationml.notesSlide+xml"/>
  <Override PartName="/docProps/app.xml" ContentType="application/vnd.openxmlformats-officedocument.extended-properties+xml"/>
  <Override PartName="/ppt/viewProps.xml" ContentType="application/vnd.openxmlformats-officedocument.presentationml.viewProps+xml"/>
  <Override PartName="/ppt/notesSlides/notesSlide60.xml" ContentType="application/vnd.openxmlformats-officedocument.presentationml.notesSlide+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slides/slide23.xml" ContentType="application/vnd.openxmlformats-officedocument.presentationml.slide+xml"/>
  <Override PartName="/ppt/notesMasters/notesMaster1.xml" ContentType="application/vnd.openxmlformats-officedocument.presentationml.notesMaster+xml"/>
  <Override PartName="/ppt/notesSlides/notesSlide67.xml" ContentType="application/vnd.openxmlformats-officedocument.presentationml.notesSlide+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39.xml" ContentType="application/vnd.openxmlformats-officedocument.presentationml.slide+xml"/>
  <Override PartName="/ppt/notesSlides/notesSlide64.xml" ContentType="application/vnd.openxmlformats-officedocument.presentationml.notesSlide+xml"/>
  <Override PartName="/ppt/slideLayouts/slideLayout2.xml" ContentType="application/vnd.openxmlformats-officedocument.presentationml.slideLayout+xml"/>
  <Override PartName="/ppt/slides/slide38.xml" ContentType="application/vnd.openxmlformats-officedocument.presentationml.slide+xml"/>
  <Override PartName="/ppt/notesSlides/notesSlide65.xml" ContentType="application/vnd.openxmlformats-officedocument.presentationml.notesSlide+xml"/>
  <Override PartName="/ppt/slideLayouts/slideLayout3.xml" ContentType="application/vnd.openxmlformats-officedocument.presentationml.slideLayout+xml"/>
  <Override PartName="/ppt/notesSlides/notesSlide62.xml" ContentType="application/vnd.openxmlformats-officedocument.presentationml.notesSlide+xml"/>
  <Override PartName="/ppt/slideLayouts/slideLayout4.xml" ContentType="application/vnd.openxmlformats-officedocument.presentationml.slideLayout+xml"/>
  <Override PartName="/ppt/notesSlides/notesSlide61.xml" ContentType="application/vnd.openxmlformats-officedocument.presentationml.notesSlide+xml"/>
  <Override PartName="/ppt/slideLayouts/slideLayout7.xml" ContentType="application/vnd.openxmlformats-officedocument.presentationml.slideLayout+xml"/>
  <Override PartName="/ppt/slides/slide33.xml" ContentType="application/vnd.openxmlformats-officedocument.presentationml.slide+xml"/>
  <Override PartName="/ppt/slideLayouts/slideLayout8.xml" ContentType="application/vnd.openxmlformats-officedocument.presentationml.slideLayout+xml"/>
  <Override PartName="/ppt/slides/slide32.xml" ContentType="application/vnd.openxmlformats-officedocument.presentationml.slide+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s/slide29.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0.xml" ContentType="application/vnd.openxmlformats-officedocument.presentationml.slide+xml"/>
  <Override PartName="/ppt/slides/slide4.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4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3.xml" ContentType="application/vnd.openxmlformats-officedocument.presentationml.slide+xml"/>
  <Override PartName="/ppt/notesSlides/notesSlide19.xml" ContentType="application/vnd.openxmlformats-officedocument.presentationml.notesSlide+xml"/>
  <Override PartName="/ppt/slides/slide44.xml" ContentType="application/vnd.openxmlformats-officedocument.presentationml.slide+xml"/>
  <Override PartName="/ppt/notesSlides/notesSlide18.xml" ContentType="application/vnd.openxmlformats-officedocument.presentationml.notes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5.xml" ContentType="application/vnd.openxmlformats-officedocument.presentationml.notesSlide+xml"/>
  <Override PartName="/ppt/slides/slide48.xml" ContentType="application/vnd.openxmlformats-officedocument.presentationml.slide+xml"/>
  <Override PartName="/ppt/notesSlides/notesSlide14.xml" ContentType="application/vnd.openxmlformats-officedocument.presentationml.notes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Slides/notesSlide39.xml" ContentType="application/vnd.openxmlformats-officedocument.presentationml.notesSlide+xml"/>
  <Override PartName="/ppt/slides/slide64.xml" ContentType="application/vnd.openxmlformats-officedocument.presentationml.slide+xml"/>
  <Override PartName="/ppt/notesSlides/notesSlide38.xml" ContentType="application/vnd.openxmlformats-officedocument.presentationml.notes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Slides/notesSlide35.xml" ContentType="application/vnd.openxmlformats-officedocument.presentationml.notesSlide+xml"/>
  <Override PartName="/ppt/slides/slide68.xml" ContentType="application/vnd.openxmlformats-officedocument.presentationml.slide+xml"/>
  <Override PartName="/ppt/notesSlides/notesSlide34.xml" ContentType="application/vnd.openxmlformats-officedocument.presentationml.notes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6.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75"/>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 d="1"/>
          <a:sy n="1" d="1"/>
        </p:scale>
        <p:origin x="0" y="0"/>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notesMaster" Target="notesMasters/notesMaster1.xml"/><Relationship Id="rId76" Type="http://schemas.openxmlformats.org/officeDocument/2006/relationships/presProps" Target="presProps.xml" /><Relationship Id="rId77" Type="http://schemas.openxmlformats.org/officeDocument/2006/relationships/tableStyles" Target="tableStyles.xml" /><Relationship Id="rId78"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53996173" name="Header Placeholder"/>
          <p:cNvSpPr/>
          <p:nvPr>
            <p:ph type="hdr" sz="quarter"/>
          </p:nvPr>
        </p:nvSpPr>
        <p:spPr bwMode="auto">
          <a:prstGeom prst="rect">
            <a:avLst/>
          </a:prstGeom>
        </p:spPr>
        <p:txBody>
          <a:bodyPr/>
          <a:lstStyle/>
          <a:p>
            <a:pPr>
              <a:defRPr/>
            </a:pPr>
            <a:endParaRPr/>
          </a:p>
        </p:txBody>
      </p:sp>
      <p:sp>
        <p:nvSpPr>
          <p:cNvPr id="260025387" name="Date Placeholder"/>
          <p:cNvSpPr/>
          <p:nvPr>
            <p:ph type="dt" sz="quarter" idx="1"/>
          </p:nvPr>
        </p:nvSpPr>
        <p:spPr bwMode="auto">
          <a:prstGeom prst="rect">
            <a:avLst/>
          </a:prstGeom>
        </p:spPr>
        <p:txBody>
          <a:bodyPr/>
          <a:lstStyle/>
          <a:p>
            <a:pPr>
              <a:defRPr/>
            </a:pPr>
            <a:endParaRPr/>
          </a:p>
        </p:txBody>
      </p:sp>
      <p:sp>
        <p:nvSpPr>
          <p:cNvPr id="1109257470" name="Slide Image Placeholder"/>
          <p:cNvSpPr/>
          <p:nvPr>
            <p:ph type="sldImg" idx="2"/>
          </p:nvPr>
        </p:nvSpPr>
        <p:spPr bwMode="auto">
          <a:prstGeom prst="rect">
            <a:avLst/>
          </a:prstGeom>
        </p:spPr>
        <p:txBody>
          <a:bodyPr/>
          <a:lstStyle/>
          <a:p>
            <a:pPr>
              <a:defRPr/>
            </a:pPr>
            <a:endParaRPr/>
          </a:p>
        </p:txBody>
      </p:sp>
      <p:sp>
        <p:nvSpPr>
          <p:cNvPr id="57197825" name="Notes Placeholder"/>
          <p:cNvSpPr/>
          <p:nvPr>
            <p:ph type="body" sz="quarter" idx="3"/>
          </p:nvPr>
        </p:nvSpPr>
        <p:spPr bwMode="auto">
          <a:prstGeom prst="rect">
            <a:avLst/>
          </a:prstGeom>
        </p:spPr>
        <p:txBody>
          <a:bodyPr/>
          <a:lstStyle/>
          <a:p>
            <a:pPr>
              <a:defRPr/>
            </a:pPr>
            <a:endParaRPr/>
          </a:p>
        </p:txBody>
      </p:sp>
      <p:sp>
        <p:nvSpPr>
          <p:cNvPr id="1241625135" name="Footer Placeholder"/>
          <p:cNvSpPr/>
          <p:nvPr>
            <p:ph type="ftr" sz="quarter" idx="4"/>
          </p:nvPr>
        </p:nvSpPr>
        <p:spPr bwMode="auto">
          <a:prstGeom prst="rect">
            <a:avLst/>
          </a:prstGeom>
        </p:spPr>
        <p:txBody>
          <a:bodyPr/>
          <a:lstStyle/>
          <a:p>
            <a:pPr>
              <a:defRPr/>
            </a:pPr>
            <a:endParaRPr/>
          </a:p>
        </p:txBody>
      </p:sp>
      <p:sp>
        <p:nvSpPr>
          <p:cNvPr id="1725333916" name="Slide Number Placeholder"/>
          <p:cNvSpPr/>
          <p:nvPr>
            <p:ph type="sldNum" sz="quarter" idx="5"/>
          </p:nvPr>
        </p:nvSpPr>
        <p:spPr bwMode="auto">
          <a:prstGeom prst="rect">
            <a:avLst/>
          </a:prstGeom>
        </p:spPr>
        <p:txBody>
          <a:bodyPr/>
          <a:lstStyle/>
          <a:p>
            <a:pPr>
              <a:defRPr/>
            </a:pPr>
            <a:endParaRPr/>
          </a:p>
        </p:txBody>
      </p:sp>
    </p:spTree>
  </p:cSld>
  <p:clrMap bg1="lt1" tx1="dk1" bg2="lt2" tx2="dk2" accent1="accent1" accent2="accent2" accent3="accent3" accent4="accent4" accent5="accent5" accent6="accent6" hlink="hlink" folHlink="folHlink"/>
  <p:notesStyle>
    <a:lvl1pPr marL="0" algn="l" defTabSz="914400" rtl="0">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03618551" name="Slide Image Placeholder 1"/>
          <p:cNvSpPr>
            <a:spLocks noGrp="1"/>
          </p:cNvSpPr>
          <p:nvPr>
            <p:ph type="sldImg" idx="0"/>
          </p:nvPr>
        </p:nvSpPr>
        <p:spPr bwMode="auto"/>
      </p:sp>
      <p:sp>
        <p:nvSpPr>
          <p:cNvPr id="2067439320" name="Notes Placeholder 2"/>
          <p:cNvSpPr>
            <a:spLocks noGrp="1"/>
          </p:cNvSpPr>
          <p:nvPr>
            <p:ph type="body" idx="1"/>
          </p:nvPr>
        </p:nvSpPr>
        <p:spPr bwMode="auto"/>
        <p:txBody>
          <a:bodyPr/>
          <a:lstStyle/>
          <a:p>
            <a:pPr>
              <a:buNone/>
              <a:defRPr/>
            </a:pPr>
            <a:r>
              <a:rPr/>
              <a:t>[Sources]</a:t>
            </a:r>
            <a:endParaRPr/>
          </a:p>
          <a:p>
            <a:pPr>
              <a:buNone/>
              <a:defRPr/>
            </a:pPr>
            <a:r>
              <a:rPr/>
              <a:t>This slide now functions as the table of contents: foundations, language representation, attention, Transformer, and GPT.</a:t>
            </a:r>
            <a:endParaRPr/>
          </a:p>
        </p:txBody>
      </p:sp>
      <p:sp>
        <p:nvSpPr>
          <p:cNvPr id="126519147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29042367" name="Slide Image Placeholder 1"/>
          <p:cNvSpPr>
            <a:spLocks noGrp="1"/>
          </p:cNvSpPr>
          <p:nvPr>
            <p:ph type="sldImg" idx="0"/>
          </p:nvPr>
        </p:nvSpPr>
        <p:spPr bwMode="auto"/>
      </p:sp>
      <p:sp>
        <p:nvSpPr>
          <p:cNvPr id="73757954" name="Notes Placeholder 2"/>
          <p:cNvSpPr>
            <a:spLocks noGrp="1"/>
          </p:cNvSpPr>
          <p:nvPr>
            <p:ph type="body" idx="1"/>
          </p:nvPr>
        </p:nvSpPr>
        <p:spPr bwMode="auto"/>
        <p:txBody>
          <a:bodyPr/>
          <a:lstStyle/>
          <a:p>
            <a:pPr>
              <a:buNone/>
              <a:defRPr/>
            </a:pPr>
            <a:r>
              <a:rPr/>
              <a:t>[Sources]</a:t>
            </a:r>
            <a:endParaRPr/>
          </a:p>
          <a:p>
            <a:pPr>
              <a:buNone/>
              <a:defRPr/>
            </a:pPr>
            <a:r>
              <a:rPr/>
              <a:t>AI landscape image supplied by the user: https://media.licdn.com/dms/image/v2/D4D22AQEwD7fMcLTAdQ/feedshare-shrink_800/B4DZd9bUoRG8Ag-/0/1750156005031?e=2147483647&amp;v=beta&amp;t=dCR6tdHvBihBUouwX60e8hqjI_j5cD386Zc8Bszzw_M</a:t>
            </a:r>
            <a:endParaRPr/>
          </a:p>
          <a:p>
            <a:pPr>
              <a:buNone/>
              <a:defRPr/>
            </a:pPr>
            <a:r>
              <a:rPr/>
              <a:t>The image is presented as an orientation graphic; labels are reproduced from the supplied source.</a:t>
            </a:r>
            <a:endParaRPr/>
          </a:p>
        </p:txBody>
      </p:sp>
      <p:sp>
        <p:nvSpPr>
          <p:cNvPr id="28863664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9793945" name="Slide Image Placeholder 1"/>
          <p:cNvSpPr>
            <a:spLocks noGrp="1"/>
          </p:cNvSpPr>
          <p:nvPr>
            <p:ph type="sldImg" idx="0"/>
          </p:nvPr>
        </p:nvSpPr>
        <p:spPr bwMode="auto"/>
      </p:sp>
      <p:sp>
        <p:nvSpPr>
          <p:cNvPr id="286309709"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89453286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94235583" name="Slide Image Placeholder 1"/>
          <p:cNvSpPr>
            <a:spLocks noGrp="1"/>
          </p:cNvSpPr>
          <p:nvPr>
            <p:ph type="sldImg" idx="0"/>
          </p:nvPr>
        </p:nvSpPr>
        <p:spPr bwMode="auto"/>
      </p:sp>
      <p:sp>
        <p:nvSpPr>
          <p:cNvPr id="1459068793"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44450502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16725249" name="Slide Image Placeholder 1"/>
          <p:cNvSpPr>
            <a:spLocks noGrp="1"/>
          </p:cNvSpPr>
          <p:nvPr>
            <p:ph type="sldImg" idx="0"/>
          </p:nvPr>
        </p:nvSpPr>
        <p:spPr bwMode="auto"/>
      </p:sp>
      <p:sp>
        <p:nvSpPr>
          <p:cNvPr id="1814070493"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79316571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34529844" name="Slide Image Placeholder 1"/>
          <p:cNvSpPr>
            <a:spLocks noGrp="1"/>
          </p:cNvSpPr>
          <p:nvPr>
            <p:ph type="sldImg" idx="0"/>
          </p:nvPr>
        </p:nvSpPr>
        <p:spPr bwMode="auto"/>
      </p:sp>
      <p:sp>
        <p:nvSpPr>
          <p:cNvPr id="1550821005"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78904400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48653757" name="Slide Image Placeholder 1"/>
          <p:cNvSpPr>
            <a:spLocks noGrp="1"/>
          </p:cNvSpPr>
          <p:nvPr>
            <p:ph type="sldImg" idx="0"/>
          </p:nvPr>
        </p:nvSpPr>
        <p:spPr bwMode="auto"/>
      </p:sp>
      <p:sp>
        <p:nvSpPr>
          <p:cNvPr id="138412118"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09444692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09746057" name="Slide Image Placeholder 1"/>
          <p:cNvSpPr>
            <a:spLocks noGrp="1"/>
          </p:cNvSpPr>
          <p:nvPr>
            <p:ph type="sldImg" idx="0"/>
          </p:nvPr>
        </p:nvSpPr>
        <p:spPr bwMode="auto"/>
      </p:sp>
      <p:sp>
        <p:nvSpPr>
          <p:cNvPr id="498234817"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42177002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12059535" name="Slide Image Placeholder 1"/>
          <p:cNvSpPr>
            <a:spLocks noGrp="1"/>
          </p:cNvSpPr>
          <p:nvPr>
            <p:ph type="sldImg" idx="0"/>
          </p:nvPr>
        </p:nvSpPr>
        <p:spPr bwMode="auto"/>
      </p:sp>
      <p:sp>
        <p:nvSpPr>
          <p:cNvPr id="1532184101"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train/validation/test model evaluation practice.</a:t>
            </a:r>
            <a:endParaRPr/>
          </a:p>
          <a:p>
            <a:pPr>
              <a:buNone/>
              <a:defRPr/>
            </a:pPr>
            <a:r>
              <a:rPr/>
              <a:t>Train data is used to fit parameters. Validation data is used for model selection and hyperparameter tuning, so it can influence the development process. Test data is held out until the end to estimate final generalization.</a:t>
            </a:r>
            <a:endParaRPr/>
          </a:p>
        </p:txBody>
      </p:sp>
      <p:sp>
        <p:nvSpPr>
          <p:cNvPr id="176140570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49969976" name="Slide Image Placeholder 1"/>
          <p:cNvSpPr>
            <a:spLocks noGrp="1"/>
          </p:cNvSpPr>
          <p:nvPr>
            <p:ph type="sldImg" idx="0"/>
          </p:nvPr>
        </p:nvSpPr>
        <p:spPr bwMode="auto"/>
      </p:sp>
      <p:sp>
        <p:nvSpPr>
          <p:cNvPr id="21207850"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train/validation/test evaluation concepts.</a:t>
            </a:r>
            <a:endParaRPr/>
          </a:p>
        </p:txBody>
      </p:sp>
      <p:sp>
        <p:nvSpPr>
          <p:cNvPr id="176277585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48714049" name="Slide Image Placeholder 1"/>
          <p:cNvSpPr>
            <a:spLocks noGrp="1"/>
          </p:cNvSpPr>
          <p:nvPr>
            <p:ph type="sldImg" idx="0"/>
          </p:nvPr>
        </p:nvSpPr>
        <p:spPr bwMode="auto"/>
      </p:sp>
      <p:sp>
        <p:nvSpPr>
          <p:cNvPr id="1994551969"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44678070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14650686" name="Slide Image Placeholder 1"/>
          <p:cNvSpPr>
            <a:spLocks noGrp="1"/>
          </p:cNvSpPr>
          <p:nvPr>
            <p:ph type="sldImg" idx="0"/>
          </p:nvPr>
        </p:nvSpPr>
        <p:spPr bwMode="auto"/>
      </p:sp>
      <p:sp>
        <p:nvSpPr>
          <p:cNvPr id="778598700"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10509591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11683784" name="Slide Image Placeholder 1"/>
          <p:cNvSpPr>
            <a:spLocks noGrp="1"/>
          </p:cNvSpPr>
          <p:nvPr>
            <p:ph type="sldImg" idx="0"/>
          </p:nvPr>
        </p:nvSpPr>
        <p:spPr bwMode="auto"/>
      </p:sp>
      <p:sp>
        <p:nvSpPr>
          <p:cNvPr id="1879696130"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43569076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05439735" name="Slide Image Placeholder 1"/>
          <p:cNvSpPr>
            <a:spLocks noGrp="1"/>
          </p:cNvSpPr>
          <p:nvPr>
            <p:ph type="sldImg" idx="0"/>
          </p:nvPr>
        </p:nvSpPr>
        <p:spPr bwMode="auto"/>
      </p:sp>
      <p:sp>
        <p:nvSpPr>
          <p:cNvPr id="66998044"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a:p>
            <a:pPr>
              <a:buNone/>
              <a:defRPr/>
            </a:pPr>
            <a:endParaRPr/>
          </a:p>
          <a:p>
            <a:pPr>
              <a:buNone/>
              <a:defRPr/>
            </a:pPr>
            <a:r>
              <a:rPr sz="1200"/>
              <a:t>Backtracking line search shrinks bad steps</a:t>
            </a:r>
            <a:r>
              <a:rPr/>
              <a:t>는 다음 의미입니다.</a:t>
            </a:r>
            <a:endParaRPr/>
          </a:p>
          <a:p>
            <a:pPr>
              <a:buNone/>
              <a:defRPr/>
            </a:pPr>
            <a:r>
              <a:rPr/>
              <a:t>경사하강법은 우선 비교적 큰 학습률 \(\alpha\)로 이동을 시도합니다.</a:t>
            </a:r>
            <a:endParaRPr/>
          </a:p>
          <a:p>
            <a:pPr>
              <a:buNone/>
              <a:defRPr/>
            </a:pPr>
            <a:r>
              <a:rPr/>
              <a:t>\[ \theta_{\text{new}}=\theta-\alpha\nabla L(\theta) \]</a:t>
            </a:r>
            <a:endParaRPr/>
          </a:p>
          <a:p>
            <a:pPr>
              <a:buNone/>
              <a:defRPr/>
            </a:pPr>
            <a:r>
              <a:rPr/>
              <a:t>이동한 뒤 손실 \(L\)이 충분히 감소했는지 확인합니다.</a:t>
            </a:r>
            <a:endParaRPr/>
          </a:p>
          <a:p>
            <a:pPr>
              <a:buNone/>
              <a:defRPr/>
            </a:pPr>
            <a:r>
              <a:rPr/>
              <a:t>손실이 충분히 감소하면 해당 이동을 </a:t>
            </a:r>
            <a:r>
              <a:rPr sz="1200"/>
              <a:t>accept</a:t>
            </a:r>
            <a:endParaRPr/>
          </a:p>
          <a:p>
            <a:pPr>
              <a:buNone/>
              <a:defRPr/>
            </a:pPr>
            <a:r>
              <a:rPr/>
              <a:t>감소하지 않거나 오히려 증가하면 </a:t>
            </a:r>
            <a:r>
              <a:rPr sz="1200"/>
              <a:t>reject</a:t>
            </a:r>
            <a:endParaRPr/>
          </a:p>
          <a:p>
            <a:pPr>
              <a:buNone/>
              <a:defRPr/>
            </a:pPr>
            <a:r>
              <a:rPr/>
              <a:t>거부되면 학습률을 줄여 다시 시도</a:t>
            </a:r>
            <a:endParaRPr/>
          </a:p>
          <a:p>
            <a:pPr>
              <a:buNone/>
              <a:defRPr/>
            </a:pPr>
            <a:r>
              <a:rPr/>
              <a:t>\[ \alpha \leftarrow \rho\alpha,\qquad 0&lt;\rho&lt;1 \]</a:t>
            </a:r>
            <a:endParaRPr/>
          </a:p>
          <a:p>
            <a:pPr>
              <a:buNone/>
              <a:defRPr/>
            </a:pPr>
            <a:r>
              <a:rPr/>
              <a:t>일반적으로 \(\rho=0.5\)라면 다음처럼 진행됩니다.</a:t>
            </a:r>
            <a:endParaRPr/>
          </a:p>
          <a:p>
            <a:pPr>
              <a:buNone/>
              <a:defRPr/>
            </a:pPr>
            <a:r>
              <a:rPr/>
              <a:t>\[ \alpha,\quad \frac{\alpha}{2},\quad \frac{\alpha}{4},\quad \frac{\alpha}{8},\dots \]</a:t>
            </a:r>
            <a:endParaRPr/>
          </a:p>
          <a:p>
            <a:pPr>
              <a:buNone/>
              <a:defRPr/>
            </a:pPr>
            <a:r>
              <a:rPr/>
              <a:t>예를 들면:</a:t>
            </a:r>
            <a:endParaRPr/>
          </a:p>
          <a:p>
            <a:pPr>
              <a:buNone/>
              <a:defRPr/>
            </a:pPr>
            <a:r>
              <a:rPr/>
              <a:t>\(\alpha=1.0\)으로 이동 → 손실 증가 → reject</a:t>
            </a:r>
            <a:endParaRPr/>
          </a:p>
          <a:p>
            <a:pPr>
              <a:buNone/>
              <a:defRPr/>
            </a:pPr>
            <a:r>
              <a:rPr/>
              <a:t>\(\alpha=0.5\)로 다시 이동 → 감소량 부족 → reject</a:t>
            </a:r>
            <a:endParaRPr/>
          </a:p>
          <a:p>
            <a:pPr>
              <a:buNone/>
              <a:defRPr/>
            </a:pPr>
            <a:r>
              <a:rPr/>
              <a:t>\(\alpha=0.25\)로 이동 → 손실 충분히 감소 → accept</a:t>
            </a:r>
            <a:endParaRPr/>
          </a:p>
          <a:p>
            <a:pPr>
              <a:buNone/>
              <a:defRPr/>
            </a:pPr>
            <a:r>
              <a:rPr/>
              <a:t>즉, 제목은 “너무 큰 보폭으로 잘못 이동하려 하면, 보폭을 계속 줄여 안전하게 내려간다”는 뜻입니다. 15번 그림에는 </a:t>
            </a:r>
            <a:r>
              <a:rPr sz="1200"/>
              <a:t>현재 위치 → 큰 α 이동은 reject → α/2 이동은 accept</a:t>
            </a:r>
            <a:r>
              <a:rPr/>
              <a:t>가 표시되어야 의미가 더 분명해집니다.</a:t>
            </a:r>
            <a:endParaRPr/>
          </a:p>
          <a:p>
            <a:pPr>
              <a:buNone/>
              <a:defRPr/>
            </a:pPr>
            <a:endParaRPr/>
          </a:p>
        </p:txBody>
      </p:sp>
      <p:sp>
        <p:nvSpPr>
          <p:cNvPr id="126707888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976904" name="Slide Image Placeholder 1"/>
          <p:cNvSpPr>
            <a:spLocks noGrp="1"/>
          </p:cNvSpPr>
          <p:nvPr>
            <p:ph type="sldImg" idx="0"/>
          </p:nvPr>
        </p:nvSpPr>
        <p:spPr bwMode="auto"/>
      </p:sp>
      <p:sp>
        <p:nvSpPr>
          <p:cNvPr id="948810073" name="Notes Placeholder 2"/>
          <p:cNvSpPr>
            <a:spLocks noGrp="1"/>
          </p:cNvSpPr>
          <p:nvPr>
            <p:ph type="body" idx="1"/>
          </p:nvPr>
        </p:nvSpPr>
        <p:spPr bwMode="auto"/>
        <p:txBody>
          <a:bodyPr/>
          <a:lstStyle/>
          <a:p>
            <a:pPr>
              <a:buNone/>
              <a:defRPr/>
            </a:pPr>
            <a:r>
              <a:rPr/>
              <a:t>[Sources]</a:t>
            </a:r>
            <a:endParaRPr/>
          </a:p>
          <a:p>
            <a:pPr>
              <a:buNone/>
              <a:defRPr/>
            </a:pPr>
            <a:r>
              <a:rPr/>
              <a:t>3D loss landscape image provided by user: https://miro.medium.com/v2/resize:fit:1400/1*_SYK3prTMdNrTW98Uic4Pg.jpeg</a:t>
            </a:r>
            <a:endParaRPr/>
          </a:p>
          <a:p>
            <a:pPr>
              <a:buNone/>
              <a:defRPr/>
            </a:pPr>
            <a:r>
              <a:rPr/>
              <a:t>Educational synthesis based on simulated annealing and learning-rate scheduling concepts.</a:t>
            </a:r>
            <a:endParaRPr/>
          </a:p>
          <a:p>
            <a:pPr>
              <a:buNone/>
              <a:defRPr/>
            </a:pPr>
            <a:endParaRPr/>
          </a:p>
          <a:p>
            <a:pPr>
              <a:buNone/>
              <a:defRPr/>
            </a:pPr>
            <a:r>
              <a:rPr sz="1200" b="0" i="0" u="none">
                <a:solidFill>
                  <a:srgbClr val="000000"/>
                </a:solidFill>
                <a:latin typeface="Times New Roman"/>
                <a:ea typeface="Times New Roman"/>
                <a:cs typeface="Times New Roman"/>
              </a:rPr>
              <a:t>어닐링 그래프는 “처음에는 크게 탐색하고, 시간이 갈수록 조심스럽게 수렴한다”는 뜻입니다.</a:t>
            </a:r>
            <a:endParaRPr/>
          </a:p>
          <a:p>
            <a:pPr>
              <a:buNone/>
              <a:defRPr/>
            </a:pPr>
            <a:r>
              <a:rPr sz="1200" b="0" i="0" u="none">
                <a:solidFill>
                  <a:srgbClr val="000000"/>
                </a:solidFill>
                <a:latin typeface="Times New Roman"/>
                <a:ea typeface="Times New Roman"/>
                <a:cs typeface="Times New Roman"/>
              </a:rPr>
              <a:t>가로축 </a:t>
            </a:r>
            <a:r>
              <a:rPr sz="1000" b="0" i="0" u="none">
                <a:solidFill>
                  <a:srgbClr val="000000"/>
                </a:solidFill>
                <a:latin typeface="Courier New"/>
                <a:ea typeface="Courier New"/>
                <a:cs typeface="Courier New"/>
              </a:rPr>
              <a:t>time</a:t>
            </a:r>
            <a:r>
              <a:rPr sz="1200" b="0" i="0" u="none">
                <a:solidFill>
                  <a:srgbClr val="000000"/>
                </a:solidFill>
                <a:latin typeface="Times New Roman"/>
                <a:ea typeface="Times New Roman"/>
                <a:cs typeface="Times New Roman"/>
              </a:rPr>
              <a:t>: 학습이 진행되는 시간 또는 step</a:t>
            </a:r>
            <a:br>
              <a:rPr/>
            </a:br>
            <a:r>
              <a:rPr sz="1200" b="0" i="0" u="none">
                <a:solidFill>
                  <a:srgbClr val="000000"/>
                </a:solidFill>
                <a:latin typeface="Times New Roman"/>
                <a:ea typeface="Times New Roman"/>
                <a:cs typeface="Times New Roman"/>
              </a:rPr>
              <a:t>세로축 </a:t>
            </a:r>
            <a:r>
              <a:rPr sz="1000" b="0" i="0" u="none">
                <a:solidFill>
                  <a:srgbClr val="000000"/>
                </a:solidFill>
                <a:latin typeface="Courier New"/>
                <a:ea typeface="Courier New"/>
                <a:cs typeface="Courier New"/>
              </a:rPr>
              <a:t>temperature / learning rate</a:t>
            </a:r>
            <a:r>
              <a:rPr sz="1200" b="0" i="0" u="none">
                <a:solidFill>
                  <a:srgbClr val="000000"/>
                </a:solidFill>
                <a:latin typeface="Times New Roman"/>
                <a:ea typeface="Times New Roman"/>
                <a:cs typeface="Times New Roman"/>
              </a:rPr>
              <a:t>: 움직임의 크기 또는 랜덤성</a:t>
            </a:r>
            <a:endParaRPr/>
          </a:p>
          <a:p>
            <a:pPr>
              <a:buNone/>
              <a:defRPr/>
            </a:pPr>
            <a:r>
              <a:rPr sz="1200" b="0" i="0" u="none">
                <a:solidFill>
                  <a:srgbClr val="000000"/>
                </a:solidFill>
                <a:latin typeface="Times New Roman"/>
                <a:ea typeface="Times New Roman"/>
                <a:cs typeface="Times New Roman"/>
              </a:rPr>
              <a:t>처음, 주황색 </a:t>
            </a:r>
            <a:r>
              <a:rPr sz="1000" b="0" i="0" u="none">
                <a:solidFill>
                  <a:srgbClr val="000000"/>
                </a:solidFill>
                <a:latin typeface="Courier New"/>
                <a:ea typeface="Courier New"/>
                <a:cs typeface="Courier New"/>
              </a:rPr>
              <a:t>explore</a:t>
            </a:r>
            <a:r>
              <a:rPr sz="1200" b="0" i="0" u="none">
                <a:solidFill>
                  <a:srgbClr val="000000"/>
                </a:solidFill>
                <a:latin typeface="Times New Roman"/>
                <a:ea typeface="Times New Roman"/>
                <a:cs typeface="Times New Roman"/>
              </a:rPr>
              <a:t> 구간에서는 값이 높습니다. 그래서 모델이 크게 움직이거나 더 랜덤하게 탐색합니다. 이때는 좋은 방향을 넓게 찾는 단계입니다.</a:t>
            </a:r>
            <a:endParaRPr/>
          </a:p>
          <a:p>
            <a:pPr>
              <a:buNone/>
              <a:defRPr/>
            </a:pPr>
            <a:r>
              <a:rPr sz="1200" b="0" i="0" u="none">
                <a:solidFill>
                  <a:srgbClr val="000000"/>
                </a:solidFill>
                <a:latin typeface="Times New Roman"/>
                <a:ea typeface="Times New Roman"/>
                <a:cs typeface="Times New Roman"/>
              </a:rPr>
              <a:t>시간이 지나면 파란 곡선이 내려갑니다. 즉 learning rate나 temperature를 줄입니다. 그러면 업데이트 폭이 작아지고, 모델이 더 안정적으로 움직입니다.</a:t>
            </a:r>
            <a:endParaRPr/>
          </a:p>
          <a:p>
            <a:pPr>
              <a:buNone/>
              <a:defRPr/>
            </a:pPr>
            <a:r>
              <a:rPr sz="1200" b="0" i="0" u="none">
                <a:solidFill>
                  <a:srgbClr val="000000"/>
                </a:solidFill>
                <a:latin typeface="Times New Roman"/>
                <a:ea typeface="Times New Roman"/>
                <a:cs typeface="Times New Roman"/>
              </a:rPr>
              <a:t>마지막, 초록색 </a:t>
            </a:r>
            <a:r>
              <a:rPr sz="1000" b="0" i="0" u="none">
                <a:solidFill>
                  <a:srgbClr val="000000"/>
                </a:solidFill>
                <a:latin typeface="Courier New"/>
                <a:ea typeface="Courier New"/>
                <a:cs typeface="Courier New"/>
              </a:rPr>
              <a:t>settle</a:t>
            </a:r>
            <a:r>
              <a:rPr sz="1200" b="0" i="0" u="none">
                <a:solidFill>
                  <a:srgbClr val="000000"/>
                </a:solidFill>
                <a:latin typeface="Times New Roman"/>
                <a:ea typeface="Times New Roman"/>
                <a:cs typeface="Times New Roman"/>
              </a:rPr>
              <a:t> 구간에서는 값이 낮습니다. 이미 찾은 좋은 해 근처에서 미세 조정하는 단계입니다.</a:t>
            </a:r>
            <a:endParaRPr/>
          </a:p>
          <a:p>
            <a:pPr>
              <a:buNone/>
              <a:defRPr/>
            </a:pPr>
            <a:r>
              <a:rPr sz="1200" b="0" i="0" u="none">
                <a:solidFill>
                  <a:srgbClr val="000000"/>
                </a:solidFill>
                <a:latin typeface="Times New Roman"/>
                <a:ea typeface="Times New Roman"/>
                <a:cs typeface="Times New Roman"/>
              </a:rPr>
              <a:t>요약하면:</a:t>
            </a:r>
            <a:endParaRPr/>
          </a:p>
          <a:p>
            <a:pPr>
              <a:buNone/>
              <a:defRPr/>
            </a:pPr>
            <a:r>
              <a:rPr sz="1000" b="0" i="0" u="none">
                <a:solidFill>
                  <a:srgbClr val="000000"/>
                </a:solidFill>
                <a:latin typeface="Courier New"/>
                <a:ea typeface="Courier New"/>
                <a:cs typeface="Courier New"/>
              </a:rPr>
              <a:t>high randomness / large step</a:t>
            </a:r>
            <a:r>
              <a:rPr sz="1200" b="0" i="0" u="none">
                <a:solidFill>
                  <a:srgbClr val="000000"/>
                </a:solidFill>
                <a:latin typeface="Times New Roman"/>
                <a:ea typeface="Times New Roman"/>
                <a:cs typeface="Times New Roman"/>
              </a:rPr>
              <a:t> -&gt; </a:t>
            </a:r>
            <a:r>
              <a:rPr sz="1000" b="0" i="0" u="none">
                <a:solidFill>
                  <a:srgbClr val="000000"/>
                </a:solidFill>
                <a:latin typeface="Courier New"/>
                <a:ea typeface="Courier New"/>
                <a:cs typeface="Courier New"/>
              </a:rPr>
              <a:t>wide search</a:t>
            </a:r>
            <a:br>
              <a:rPr/>
            </a:br>
            <a:r>
              <a:rPr sz="1000" b="0" i="0" u="none">
                <a:solidFill>
                  <a:srgbClr val="000000"/>
                </a:solidFill>
                <a:latin typeface="Courier New"/>
                <a:ea typeface="Courier New"/>
                <a:cs typeface="Courier New"/>
              </a:rPr>
              <a:t>low randomness / small step</a:t>
            </a:r>
            <a:r>
              <a:rPr sz="1200" b="0" i="0" u="none">
                <a:solidFill>
                  <a:srgbClr val="000000"/>
                </a:solidFill>
                <a:latin typeface="Times New Roman"/>
                <a:ea typeface="Times New Roman"/>
                <a:cs typeface="Times New Roman"/>
              </a:rPr>
              <a:t> -&gt; </a:t>
            </a:r>
            <a:r>
              <a:rPr sz="1000" b="0" i="0" u="none">
                <a:solidFill>
                  <a:srgbClr val="000000"/>
                </a:solidFill>
                <a:latin typeface="Courier New"/>
                <a:ea typeface="Courier New"/>
                <a:cs typeface="Courier New"/>
              </a:rPr>
              <a:t>stable convergence</a:t>
            </a:r>
            <a:endParaRPr/>
          </a:p>
          <a:p>
            <a:pPr>
              <a:buNone/>
              <a:defRPr/>
            </a:pPr>
            <a:r>
              <a:rPr sz="1200" b="0" i="0" u="none">
                <a:solidFill>
                  <a:srgbClr val="000000"/>
                </a:solidFill>
                <a:latin typeface="Times New Roman"/>
                <a:ea typeface="Times New Roman"/>
                <a:cs typeface="Times New Roman"/>
              </a:rPr>
              <a:t>그래서 슬라이드 문장인 “early search is wide; later updates become stable”은 어닐링의 핵심을 말하는 겁니다.</a:t>
            </a:r>
            <a:endParaRPr/>
          </a:p>
        </p:txBody>
      </p:sp>
      <p:sp>
        <p:nvSpPr>
          <p:cNvPr id="56989736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9976259" name="Slide Image Placeholder 1"/>
          <p:cNvSpPr>
            <a:spLocks noGrp="1"/>
          </p:cNvSpPr>
          <p:nvPr>
            <p:ph type="sldImg" idx="0"/>
          </p:nvPr>
        </p:nvSpPr>
        <p:spPr bwMode="auto"/>
      </p:sp>
      <p:sp>
        <p:nvSpPr>
          <p:cNvPr id="1216075738"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9348990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45029276" name="Slide Image Placeholder 1"/>
          <p:cNvSpPr>
            <a:spLocks noGrp="1"/>
          </p:cNvSpPr>
          <p:nvPr>
            <p:ph type="sldImg" idx="0"/>
          </p:nvPr>
        </p:nvSpPr>
        <p:spPr bwMode="auto"/>
      </p:sp>
      <p:sp>
        <p:nvSpPr>
          <p:cNvPr id="271671553"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neural-network concepts.</a:t>
            </a:r>
            <a:endParaRPr/>
          </a:p>
        </p:txBody>
      </p:sp>
      <p:sp>
        <p:nvSpPr>
          <p:cNvPr id="188383665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38411313" name="Slide Image Placeholder 1"/>
          <p:cNvSpPr>
            <a:spLocks noGrp="1"/>
          </p:cNvSpPr>
          <p:nvPr>
            <p:ph type="sldImg" idx="0"/>
          </p:nvPr>
        </p:nvSpPr>
        <p:spPr bwMode="auto"/>
      </p:sp>
      <p:sp>
        <p:nvSpPr>
          <p:cNvPr id="885531502"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neural-network activation-function concepts.</a:t>
            </a:r>
            <a:endParaRPr/>
          </a:p>
        </p:txBody>
      </p:sp>
      <p:sp>
        <p:nvSpPr>
          <p:cNvPr id="135515510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425037" name="Slide Image Placeholder 1"/>
          <p:cNvSpPr>
            <a:spLocks noGrp="1"/>
          </p:cNvSpPr>
          <p:nvPr>
            <p:ph type="sldImg" idx="0"/>
          </p:nvPr>
        </p:nvSpPr>
        <p:spPr bwMode="auto"/>
      </p:sp>
      <p:sp>
        <p:nvSpPr>
          <p:cNvPr id="522421303" name="Notes Placeholder 2"/>
          <p:cNvSpPr>
            <a:spLocks noGrp="1"/>
          </p:cNvSpPr>
          <p:nvPr>
            <p:ph type="body" idx="1"/>
          </p:nvPr>
        </p:nvSpPr>
        <p:spPr bwMode="auto"/>
        <p:txBody>
          <a:bodyPr/>
          <a:lstStyle/>
          <a:p>
            <a:pPr>
              <a:buNone/>
              <a:defRPr/>
            </a:pPr>
            <a:r>
              <a:rPr/>
              <a:t>[Sources]</a:t>
            </a:r>
            <a:endParaRPr/>
          </a:p>
          <a:p>
            <a:pPr>
              <a:buNone/>
              <a:defRPr/>
            </a:pPr>
            <a:r>
              <a:rPr/>
              <a:t>Activation-function figure supplied by the user: https://www.researchgate.net/profile/Aaron-Stebner-2/publication/341310767/figure/fig7/AS:890211844255749@1589254451431/Common-activation-functions-in-artificial-neural-networks-NNs-that-introduce.ppm</a:t>
            </a:r>
            <a:endParaRPr/>
          </a:p>
        </p:txBody>
      </p:sp>
      <p:sp>
        <p:nvSpPr>
          <p:cNvPr id="69518010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27478213" name="Slide Image Placeholder 1"/>
          <p:cNvSpPr>
            <a:spLocks noGrp="1"/>
          </p:cNvSpPr>
          <p:nvPr>
            <p:ph type="sldImg" idx="0"/>
          </p:nvPr>
        </p:nvSpPr>
        <p:spPr bwMode="auto"/>
      </p:sp>
      <p:sp>
        <p:nvSpPr>
          <p:cNvPr id="910136177" name="Notes Placeholder 2"/>
          <p:cNvSpPr>
            <a:spLocks noGrp="1"/>
          </p:cNvSpPr>
          <p:nvPr>
            <p:ph type="body" idx="1"/>
          </p:nvPr>
        </p:nvSpPr>
        <p:spPr bwMode="auto"/>
        <p:txBody>
          <a:bodyPr/>
          <a:lstStyle/>
          <a:p>
            <a:pPr>
              <a:buNone/>
              <a:defRPr/>
            </a:pPr>
            <a:r>
              <a:rPr/>
              <a:t>[Sources]</a:t>
            </a:r>
            <a:endParaRPr/>
          </a:p>
          <a:p>
            <a:pPr>
              <a:buNone/>
              <a:defRPr/>
            </a:pPr>
            <a:r>
              <a:rPr/>
              <a:t>Educational synthesis based on the standard chain rule in calculus.</a:t>
            </a:r>
            <a:endParaRPr/>
          </a:p>
        </p:txBody>
      </p:sp>
      <p:sp>
        <p:nvSpPr>
          <p:cNvPr id="139005448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96921103" name="Slide Image Placeholder 1"/>
          <p:cNvSpPr>
            <a:spLocks noGrp="1"/>
          </p:cNvSpPr>
          <p:nvPr>
            <p:ph type="sldImg" idx="0"/>
          </p:nvPr>
        </p:nvSpPr>
        <p:spPr bwMode="auto"/>
      </p:sp>
      <p:sp>
        <p:nvSpPr>
          <p:cNvPr id="1168183540" name="Notes Placeholder 2"/>
          <p:cNvSpPr>
            <a:spLocks noGrp="1"/>
          </p:cNvSpPr>
          <p:nvPr>
            <p:ph type="body" idx="1"/>
          </p:nvPr>
        </p:nvSpPr>
        <p:spPr bwMode="auto"/>
        <p:txBody>
          <a:bodyPr/>
          <a:lstStyle/>
          <a:p>
            <a:pPr>
              <a:buNone/>
              <a:defRPr/>
            </a:pPr>
            <a:r>
              <a:rPr/>
              <a:t>[Sources]</a:t>
            </a:r>
            <a:endParaRPr/>
          </a:p>
          <a:p>
            <a:pPr>
              <a:buNone/>
              <a:defRPr/>
            </a:pPr>
            <a:r>
              <a:rPr/>
              <a:t>Educational synthesis based on the standard chain rule in calculus.</a:t>
            </a:r>
            <a:endParaRPr/>
          </a:p>
        </p:txBody>
      </p:sp>
      <p:sp>
        <p:nvSpPr>
          <p:cNvPr id="18829859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06614757" name="Slide Image Placeholder 1"/>
          <p:cNvSpPr>
            <a:spLocks noGrp="1"/>
          </p:cNvSpPr>
          <p:nvPr>
            <p:ph type="sldImg" idx="0"/>
          </p:nvPr>
        </p:nvSpPr>
        <p:spPr bwMode="auto"/>
      </p:sp>
      <p:sp>
        <p:nvSpPr>
          <p:cNvPr id="467051358"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backpropagation and gradient descent.</a:t>
            </a:r>
            <a:endParaRPr/>
          </a:p>
        </p:txBody>
      </p:sp>
      <p:sp>
        <p:nvSpPr>
          <p:cNvPr id="66617447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45490257" name="Slide Image Placeholder 1"/>
          <p:cNvSpPr>
            <a:spLocks noGrp="1"/>
          </p:cNvSpPr>
          <p:nvPr>
            <p:ph type="sldImg" idx="0"/>
          </p:nvPr>
        </p:nvSpPr>
        <p:spPr bwMode="auto"/>
      </p:sp>
      <p:sp>
        <p:nvSpPr>
          <p:cNvPr id="542645891"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69265895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72757375" name="Slide Image Placeholder 1"/>
          <p:cNvSpPr>
            <a:spLocks noGrp="1"/>
          </p:cNvSpPr>
          <p:nvPr>
            <p:ph type="sldImg" idx="0"/>
          </p:nvPr>
        </p:nvSpPr>
        <p:spPr bwMode="auto"/>
      </p:sp>
      <p:sp>
        <p:nvSpPr>
          <p:cNvPr id="1904863998"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dense-layer matrix multiplication.</a:t>
            </a:r>
            <a:endParaRPr/>
          </a:p>
        </p:txBody>
      </p:sp>
      <p:sp>
        <p:nvSpPr>
          <p:cNvPr id="87975551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39633670" name="Slide Image Placeholder 1"/>
          <p:cNvSpPr>
            <a:spLocks noGrp="1"/>
          </p:cNvSpPr>
          <p:nvPr>
            <p:ph type="sldImg" idx="0"/>
          </p:nvPr>
        </p:nvSpPr>
        <p:spPr bwMode="auto"/>
      </p:sp>
      <p:sp>
        <p:nvSpPr>
          <p:cNvPr id="1149506244" name="Notes Placeholder 2"/>
          <p:cNvSpPr>
            <a:spLocks noGrp="1"/>
          </p:cNvSpPr>
          <p:nvPr>
            <p:ph type="body" idx="1"/>
          </p:nvPr>
        </p:nvSpPr>
        <p:spPr bwMode="auto"/>
        <p:txBody>
          <a:bodyPr/>
          <a:lstStyle/>
          <a:p>
            <a:pPr>
              <a:buNone/>
              <a:defRPr/>
            </a:pPr>
            <a:r>
              <a:rPr/>
              <a:t>[Sources]</a:t>
            </a:r>
            <a:endParaRPr/>
          </a:p>
          <a:p>
            <a:pPr>
              <a:buNone/>
              <a:defRPr/>
            </a:pPr>
            <a:r>
              <a:rPr/>
              <a:t>CNN overview and claims about local connectivity, feature maps, pooling, and parameter sharing: https://developersbreach.com/convolution-neural-network-deep-learning/</a:t>
            </a:r>
            <a:endParaRPr/>
          </a:p>
          <a:p>
            <a:pPr>
              <a:buNone/>
              <a:defRPr/>
            </a:pPr>
            <a:r>
              <a:rPr/>
              <a:t>CNN architecture image supplied by the user: https://i0.wp.com/developersbreach.com/wp-content/uploads/2020/08/cnn_banner.png?fit=1200%2C564&amp;ssl=1</a:t>
            </a:r>
            <a:endParaRPr/>
          </a:p>
        </p:txBody>
      </p:sp>
      <p:sp>
        <p:nvSpPr>
          <p:cNvPr id="202373828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75075992" name="Slide Image Placeholder 1"/>
          <p:cNvSpPr>
            <a:spLocks noGrp="1"/>
          </p:cNvSpPr>
          <p:nvPr>
            <p:ph type="sldImg" idx="0"/>
          </p:nvPr>
        </p:nvSpPr>
        <p:spPr bwMode="auto"/>
      </p:sp>
      <p:sp>
        <p:nvSpPr>
          <p:cNvPr id="277705668"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convolutional neural-network concepts.</a:t>
            </a:r>
            <a:endParaRPr/>
          </a:p>
        </p:txBody>
      </p:sp>
      <p:sp>
        <p:nvSpPr>
          <p:cNvPr id="17287009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9336824" name="Slide Image Placeholder 1"/>
          <p:cNvSpPr>
            <a:spLocks noGrp="1"/>
          </p:cNvSpPr>
          <p:nvPr>
            <p:ph type="sldImg" idx="0"/>
          </p:nvPr>
        </p:nvSpPr>
        <p:spPr bwMode="auto"/>
      </p:sp>
      <p:sp>
        <p:nvSpPr>
          <p:cNvPr id="594058358" name="Notes Placeholder 2"/>
          <p:cNvSpPr>
            <a:spLocks noGrp="1"/>
          </p:cNvSpPr>
          <p:nvPr>
            <p:ph type="body" idx="1"/>
          </p:nvPr>
        </p:nvSpPr>
        <p:spPr bwMode="auto"/>
        <p:txBody>
          <a:bodyPr/>
          <a:lstStyle/>
          <a:p>
            <a:pPr>
              <a:buNone/>
              <a:defRPr/>
            </a:pPr>
            <a:r>
              <a:rPr/>
              <a:t>[Sources]</a:t>
            </a:r>
            <a:endParaRPr/>
          </a:p>
          <a:p>
            <a:pPr>
              <a:buNone/>
              <a:defRPr/>
            </a:pPr>
            <a:r>
              <a:rPr/>
              <a:t>Image supplied by the user: https://miro.medium.com/v2/resize:fit:1100/format:webp/1*AeKfV2uAPeMg9j8HhQZk2w.png</a:t>
            </a:r>
            <a:endParaRPr/>
          </a:p>
          <a:p>
            <a:pPr>
              <a:buNone/>
              <a:defRPr/>
            </a:pPr>
            <a:r>
              <a:rPr/>
              <a:t>Educational synthesis based on standard recurrent neural-network concepts.</a:t>
            </a:r>
            <a:endParaRPr/>
          </a:p>
        </p:txBody>
      </p:sp>
      <p:sp>
        <p:nvSpPr>
          <p:cNvPr id="29011543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60775963" name="Slide Image Placeholder 1"/>
          <p:cNvSpPr>
            <a:spLocks noGrp="1"/>
          </p:cNvSpPr>
          <p:nvPr>
            <p:ph type="sldImg" idx="0"/>
          </p:nvPr>
        </p:nvSpPr>
        <p:spPr bwMode="auto"/>
      </p:sp>
      <p:sp>
        <p:nvSpPr>
          <p:cNvPr id="725463512"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RNN, LSTM, and GRU architectures.</a:t>
            </a:r>
            <a:endParaRPr/>
          </a:p>
        </p:txBody>
      </p:sp>
      <p:sp>
        <p:nvSpPr>
          <p:cNvPr id="116192443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24874878" name="Slide Image Placeholder 1"/>
          <p:cNvSpPr>
            <a:spLocks noGrp="1"/>
          </p:cNvSpPr>
          <p:nvPr>
            <p:ph type="sldImg" idx="0"/>
          </p:nvPr>
        </p:nvSpPr>
        <p:spPr bwMode="auto"/>
      </p:sp>
      <p:sp>
        <p:nvSpPr>
          <p:cNvPr id="523940516" name="Notes Placeholder 2"/>
          <p:cNvSpPr>
            <a:spLocks noGrp="1"/>
          </p:cNvSpPr>
          <p:nvPr>
            <p:ph type="body" idx="1"/>
          </p:nvPr>
        </p:nvSpPr>
        <p:spPr bwMode="auto"/>
        <p:txBody>
          <a:bodyPr/>
          <a:lstStyle/>
          <a:p>
            <a:pPr>
              <a:buNone/>
              <a:defRPr/>
            </a:pPr>
            <a:r>
              <a:rPr/>
              <a:t>[Sources]</a:t>
            </a:r>
            <a:endParaRPr/>
          </a:p>
          <a:p>
            <a:pPr>
              <a:buNone/>
              <a:defRPr/>
            </a:pPr>
            <a:r>
              <a:rPr/>
              <a:t>Image supplied by the user: https://miro.medium.com/v2/resize:fit:1100/format:webp/1*H_heJCepouMYEqd8IwF0mQ.png</a:t>
            </a:r>
            <a:endParaRPr/>
          </a:p>
          <a:p>
            <a:pPr>
              <a:buNone/>
              <a:defRPr/>
            </a:pPr>
            <a:r>
              <a:rPr/>
              <a:t>Educational synthesis based on standard encoder-decoder sequence-to-sequence concepts.</a:t>
            </a:r>
            <a:endParaRPr/>
          </a:p>
        </p:txBody>
      </p:sp>
      <p:sp>
        <p:nvSpPr>
          <p:cNvPr id="55460385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51056318" name="Slide Image Placeholder 1"/>
          <p:cNvSpPr>
            <a:spLocks noGrp="1"/>
          </p:cNvSpPr>
          <p:nvPr>
            <p:ph type="sldImg" idx="0"/>
          </p:nvPr>
        </p:nvSpPr>
        <p:spPr bwMode="auto"/>
      </p:sp>
      <p:sp>
        <p:nvSpPr>
          <p:cNvPr id="493947101"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sequence-to-sequence attention concepts.</a:t>
            </a:r>
            <a:endParaRPr/>
          </a:p>
        </p:txBody>
      </p:sp>
      <p:sp>
        <p:nvSpPr>
          <p:cNvPr id="124330214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4560546" name="Slide Image Placeholder 1"/>
          <p:cNvSpPr>
            <a:spLocks noGrp="1"/>
          </p:cNvSpPr>
          <p:nvPr>
            <p:ph type="sldImg" idx="0"/>
          </p:nvPr>
        </p:nvSpPr>
        <p:spPr bwMode="auto"/>
      </p:sp>
      <p:sp>
        <p:nvSpPr>
          <p:cNvPr id="1852705602" name="Notes Placeholder 2"/>
          <p:cNvSpPr>
            <a:spLocks noGrp="1"/>
          </p:cNvSpPr>
          <p:nvPr>
            <p:ph type="body" idx="1"/>
          </p:nvPr>
        </p:nvSpPr>
        <p:spPr bwMode="auto"/>
        <p:txBody>
          <a:bodyPr/>
          <a:lstStyle/>
          <a:p>
            <a:pPr>
              <a:buNone/>
              <a:defRPr/>
            </a:pPr>
            <a:r>
              <a:rPr/>
              <a:t>[Sources]</a:t>
            </a:r>
            <a:endParaRPr/>
          </a:p>
          <a:p>
            <a:pPr>
              <a:buNone/>
              <a:defRPr/>
            </a:pPr>
            <a:r>
              <a:rPr/>
              <a:t>Transformer architecture image supplied by the user: https://qiita-user-contents.imgix.net/https%3A%2F%2Fqiita-image-store.s3.ap-northeast-1.amazonaws.com%2F0%2F146659%2F90f26267-2445-f2dc-b0c6-80f384054ae0.png?ixlib=rb-4.0.0&amp;auto=format&amp;gif-q=60&amp;q=75&amp;s=17811178f02900b58011bbcc4220f974</a:t>
            </a:r>
            <a:endParaRPr/>
          </a:p>
        </p:txBody>
      </p:sp>
      <p:sp>
        <p:nvSpPr>
          <p:cNvPr id="201867363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84409557" name="Slide Image Placeholder 1"/>
          <p:cNvSpPr>
            <a:spLocks noGrp="1"/>
          </p:cNvSpPr>
          <p:nvPr>
            <p:ph type="sldImg" idx="0"/>
          </p:nvPr>
        </p:nvSpPr>
        <p:spPr bwMode="auto"/>
      </p:sp>
      <p:sp>
        <p:nvSpPr>
          <p:cNvPr id="864344156" name="Notes Placeholder 2"/>
          <p:cNvSpPr>
            <a:spLocks noGrp="1"/>
          </p:cNvSpPr>
          <p:nvPr>
            <p:ph type="body" idx="1"/>
          </p:nvPr>
        </p:nvSpPr>
        <p:spPr bwMode="auto"/>
        <p:txBody>
          <a:bodyPr/>
          <a:lstStyle/>
          <a:p>
            <a:pPr>
              <a:buNone/>
              <a:defRPr/>
            </a:pPr>
            <a:r>
              <a:rPr/>
              <a:t>[Sources]</a:t>
            </a:r>
            <a:endParaRPr/>
          </a:p>
          <a:p>
            <a:pPr>
              <a:buNone/>
              <a:defRPr/>
            </a:pPr>
            <a:r>
              <a:rPr/>
              <a:t>Educational synthesis based on the standard Transformer architecture.</a:t>
            </a:r>
            <a:endParaRPr/>
          </a:p>
        </p:txBody>
      </p:sp>
      <p:sp>
        <p:nvSpPr>
          <p:cNvPr id="171252021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50779009" name="Slide Image Placeholder 1"/>
          <p:cNvSpPr>
            <a:spLocks noGrp="1"/>
          </p:cNvSpPr>
          <p:nvPr>
            <p:ph type="sldImg" idx="0"/>
          </p:nvPr>
        </p:nvSpPr>
        <p:spPr bwMode="auto"/>
      </p:sp>
      <p:sp>
        <p:nvSpPr>
          <p:cNvPr id="1945485780" name="Notes Placeholder 2"/>
          <p:cNvSpPr>
            <a:spLocks noGrp="1"/>
          </p:cNvSpPr>
          <p:nvPr>
            <p:ph type="body" idx="1"/>
          </p:nvPr>
        </p:nvSpPr>
        <p:spPr bwMode="auto"/>
        <p:txBody>
          <a:bodyPr/>
          <a:lstStyle/>
          <a:p>
            <a:pPr>
              <a:buNone/>
              <a:defRPr/>
            </a:pPr>
            <a:r>
              <a:rPr/>
              <a:t>[Sources]</a:t>
            </a:r>
            <a:endParaRPr/>
          </a:p>
          <a:p>
            <a:pPr>
              <a:buNone/>
              <a:defRPr/>
            </a:pPr>
            <a:r>
              <a:rPr/>
              <a:t>Educational synthesis based on the standard Transformer architecture.</a:t>
            </a:r>
            <a:endParaRPr/>
          </a:p>
        </p:txBody>
      </p:sp>
      <p:sp>
        <p:nvSpPr>
          <p:cNvPr id="169056202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76089097" name="Slide Image Placeholder 1"/>
          <p:cNvSpPr>
            <a:spLocks noGrp="1"/>
          </p:cNvSpPr>
          <p:nvPr>
            <p:ph type="sldImg" idx="0"/>
          </p:nvPr>
        </p:nvSpPr>
        <p:spPr bwMode="auto"/>
      </p:sp>
      <p:sp>
        <p:nvSpPr>
          <p:cNvPr id="1911972386" name="Notes Placeholder 2"/>
          <p:cNvSpPr>
            <a:spLocks noGrp="1"/>
          </p:cNvSpPr>
          <p:nvPr>
            <p:ph type="body" idx="1"/>
          </p:nvPr>
        </p:nvSpPr>
        <p:spPr bwMode="auto"/>
        <p:txBody>
          <a:bodyPr/>
          <a:lstStyle/>
          <a:p>
            <a:pPr>
              <a:buNone/>
              <a:defRPr/>
            </a:pPr>
            <a:r>
              <a:rPr/>
              <a:t>[Sources]</a:t>
            </a:r>
            <a:endParaRPr/>
          </a:p>
          <a:p>
            <a:pPr>
              <a:buNone/>
              <a:defRPr/>
            </a:pPr>
            <a:r>
              <a:rPr/>
              <a:t>Educational synthesis based on the standard Transformer architecture.</a:t>
            </a:r>
            <a:endParaRPr/>
          </a:p>
        </p:txBody>
      </p:sp>
      <p:sp>
        <p:nvSpPr>
          <p:cNvPr id="57094457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7703500" name="Slide Image Placeholder 1"/>
          <p:cNvSpPr>
            <a:spLocks noGrp="1"/>
          </p:cNvSpPr>
          <p:nvPr>
            <p:ph type="sldImg" idx="0"/>
          </p:nvPr>
        </p:nvSpPr>
        <p:spPr bwMode="auto"/>
      </p:sp>
      <p:sp>
        <p:nvSpPr>
          <p:cNvPr id="218495736" name="Notes Placeholder 2"/>
          <p:cNvSpPr>
            <a:spLocks noGrp="1"/>
          </p:cNvSpPr>
          <p:nvPr>
            <p:ph type="body" idx="1"/>
          </p:nvPr>
        </p:nvSpPr>
        <p:spPr bwMode="auto"/>
        <p:txBody>
          <a:bodyPr/>
          <a:lstStyle/>
          <a:p>
            <a:pPr>
              <a:buNone/>
              <a:defRPr/>
            </a:pPr>
            <a:r>
              <a:rPr/>
              <a:t>[Sources]</a:t>
            </a:r>
            <a:endParaRPr/>
          </a:p>
          <a:p>
            <a:pPr>
              <a:buNone/>
              <a:defRPr/>
            </a:pPr>
            <a:r>
              <a:rPr/>
              <a:t>Educational synthesis based on the standard Transformer architecture.</a:t>
            </a:r>
            <a:endParaRPr/>
          </a:p>
        </p:txBody>
      </p:sp>
      <p:sp>
        <p:nvSpPr>
          <p:cNvPr id="16717703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5113751" name="Slide Image Placeholder 1"/>
          <p:cNvSpPr>
            <a:spLocks noGrp="1"/>
          </p:cNvSpPr>
          <p:nvPr>
            <p:ph type="sldImg" idx="0"/>
          </p:nvPr>
        </p:nvSpPr>
        <p:spPr bwMode="auto"/>
      </p:sp>
      <p:sp>
        <p:nvSpPr>
          <p:cNvPr id="87114386" name="Notes Placeholder 2"/>
          <p:cNvSpPr>
            <a:spLocks noGrp="1"/>
          </p:cNvSpPr>
          <p:nvPr>
            <p:ph type="body" idx="1"/>
          </p:nvPr>
        </p:nvSpPr>
        <p:spPr bwMode="auto"/>
        <p:txBody>
          <a:bodyPr/>
          <a:lstStyle/>
          <a:p>
            <a:pPr>
              <a:buNone/>
              <a:defRPr/>
            </a:pPr>
            <a:r>
              <a:rPr/>
              <a:t>[Sources]</a:t>
            </a:r>
            <a:endParaRPr/>
          </a:p>
          <a:p>
            <a:pPr>
              <a:buNone/>
              <a:defRPr/>
            </a:pPr>
            <a:r>
              <a:rPr/>
              <a:t>Educational synthesis based on the standard Transformer architecture.</a:t>
            </a:r>
            <a:endParaRPr/>
          </a:p>
        </p:txBody>
      </p:sp>
      <p:sp>
        <p:nvSpPr>
          <p:cNvPr id="90939925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71417833" name="Slide Image Placeholder 1"/>
          <p:cNvSpPr>
            <a:spLocks noGrp="1"/>
          </p:cNvSpPr>
          <p:nvPr>
            <p:ph type="sldImg" idx="0"/>
          </p:nvPr>
        </p:nvSpPr>
        <p:spPr bwMode="auto"/>
      </p:sp>
      <p:sp>
        <p:nvSpPr>
          <p:cNvPr id="70041512" name="Notes Placeholder 2"/>
          <p:cNvSpPr>
            <a:spLocks noGrp="1"/>
          </p:cNvSpPr>
          <p:nvPr>
            <p:ph type="body" idx="1"/>
          </p:nvPr>
        </p:nvSpPr>
        <p:spPr bwMode="auto"/>
        <p:txBody>
          <a:bodyPr/>
          <a:lstStyle/>
          <a:p>
            <a:pPr>
              <a:buNone/>
              <a:defRPr/>
            </a:pPr>
            <a:r>
              <a:rPr/>
              <a:t>[Sources]</a:t>
            </a:r>
            <a:endParaRPr/>
          </a:p>
          <a:p>
            <a:pPr>
              <a:buNone/>
              <a:defRPr/>
            </a:pPr>
            <a:r>
              <a:rPr/>
              <a:t>Educational synthesis based on the standard Transformer architecture.</a:t>
            </a:r>
            <a:endParaRPr/>
          </a:p>
        </p:txBody>
      </p:sp>
      <p:sp>
        <p:nvSpPr>
          <p:cNvPr id="28912194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3129470" name="Slide Image Placeholder 1"/>
          <p:cNvSpPr>
            <a:spLocks noGrp="1"/>
          </p:cNvSpPr>
          <p:nvPr>
            <p:ph type="sldImg" idx="0"/>
          </p:nvPr>
        </p:nvSpPr>
        <p:spPr bwMode="auto"/>
      </p:sp>
      <p:sp>
        <p:nvSpPr>
          <p:cNvPr id="105938300" name="Notes Placeholder 2"/>
          <p:cNvSpPr>
            <a:spLocks noGrp="1"/>
          </p:cNvSpPr>
          <p:nvPr>
            <p:ph type="body" idx="1"/>
          </p:nvPr>
        </p:nvSpPr>
        <p:spPr bwMode="auto"/>
        <p:txBody>
          <a:bodyPr/>
          <a:lstStyle/>
          <a:p>
            <a:pPr>
              <a:buNone/>
              <a:defRPr/>
            </a:pPr>
            <a:r>
              <a:rPr/>
              <a:t>[Sources]</a:t>
            </a:r>
            <a:endParaRPr/>
          </a:p>
          <a:p>
            <a:pPr>
              <a:buNone/>
              <a:defRPr/>
            </a:pPr>
            <a:r>
              <a:rPr/>
              <a:t>Educational synthesis based on the standard Transformer architecture.</a:t>
            </a:r>
            <a:endParaRPr/>
          </a:p>
        </p:txBody>
      </p:sp>
      <p:sp>
        <p:nvSpPr>
          <p:cNvPr id="192488676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90692050" name="Slide Image Placeholder 1"/>
          <p:cNvSpPr>
            <a:spLocks noGrp="1"/>
          </p:cNvSpPr>
          <p:nvPr>
            <p:ph type="sldImg" idx="0"/>
          </p:nvPr>
        </p:nvSpPr>
        <p:spPr bwMode="auto"/>
      </p:sp>
      <p:sp>
        <p:nvSpPr>
          <p:cNvPr id="736696653" name="Notes Placeholder 2"/>
          <p:cNvSpPr>
            <a:spLocks noGrp="1"/>
          </p:cNvSpPr>
          <p:nvPr>
            <p:ph type="body" idx="1"/>
          </p:nvPr>
        </p:nvSpPr>
        <p:spPr bwMode="auto"/>
        <p:txBody>
          <a:bodyPr/>
          <a:lstStyle/>
          <a:p>
            <a:pPr>
              <a:buNone/>
              <a:defRPr/>
            </a:pPr>
            <a:r>
              <a:rPr/>
              <a:t>[Sources]</a:t>
            </a:r>
            <a:endParaRPr/>
          </a:p>
          <a:p>
            <a:pPr>
              <a:buNone/>
              <a:defRPr/>
            </a:pPr>
            <a:r>
              <a:rPr/>
              <a:t>Educational synthesis based on the standard Transformer architecture.</a:t>
            </a:r>
            <a:endParaRPr/>
          </a:p>
        </p:txBody>
      </p:sp>
      <p:sp>
        <p:nvSpPr>
          <p:cNvPr id="37609727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22676670" name="Slide Image Placeholder 1"/>
          <p:cNvSpPr>
            <a:spLocks noGrp="1"/>
          </p:cNvSpPr>
          <p:nvPr>
            <p:ph type="sldImg" idx="0"/>
          </p:nvPr>
        </p:nvSpPr>
        <p:spPr bwMode="auto"/>
      </p:sp>
      <p:sp>
        <p:nvSpPr>
          <p:cNvPr id="530853897" name="Notes Placeholder 2"/>
          <p:cNvSpPr>
            <a:spLocks noGrp="1"/>
          </p:cNvSpPr>
          <p:nvPr>
            <p:ph type="body" idx="1"/>
          </p:nvPr>
        </p:nvSpPr>
        <p:spPr bwMode="auto"/>
        <p:txBody>
          <a:bodyPr/>
          <a:lstStyle/>
          <a:p>
            <a:pPr>
              <a:buNone/>
              <a:defRPr/>
            </a:pPr>
            <a:r>
              <a:rPr/>
              <a:t>[Sources]</a:t>
            </a:r>
            <a:endParaRPr/>
          </a:p>
          <a:p>
            <a:pPr>
              <a:buNone/>
              <a:defRPr/>
            </a:pPr>
            <a:r>
              <a:rPr/>
              <a:t>Educational synthesis based on the standard Transformer architecture.</a:t>
            </a:r>
            <a:endParaRPr/>
          </a:p>
        </p:txBody>
      </p:sp>
      <p:sp>
        <p:nvSpPr>
          <p:cNvPr id="141701244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56068046" name="Slide Image Placeholder 1"/>
          <p:cNvSpPr>
            <a:spLocks noGrp="1"/>
          </p:cNvSpPr>
          <p:nvPr>
            <p:ph type="sldImg" idx="0"/>
          </p:nvPr>
        </p:nvSpPr>
        <p:spPr bwMode="auto"/>
      </p:sp>
      <p:sp>
        <p:nvSpPr>
          <p:cNvPr id="895387473"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56243375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45342250" name="Slide Image Placeholder 1"/>
          <p:cNvSpPr>
            <a:spLocks noGrp="1"/>
          </p:cNvSpPr>
          <p:nvPr>
            <p:ph type="sldImg" idx="0"/>
          </p:nvPr>
        </p:nvSpPr>
        <p:spPr bwMode="auto"/>
      </p:sp>
      <p:sp>
        <p:nvSpPr>
          <p:cNvPr id="645862103"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70618385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93135049" name="Slide Image Placeholder 1"/>
          <p:cNvSpPr>
            <a:spLocks noGrp="1"/>
          </p:cNvSpPr>
          <p:nvPr>
            <p:ph type="sldImg" idx="0"/>
          </p:nvPr>
        </p:nvSpPr>
        <p:spPr bwMode="auto"/>
      </p:sp>
      <p:sp>
        <p:nvSpPr>
          <p:cNvPr id="2001168553"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77876330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26952974" name="Slide Image Placeholder 1"/>
          <p:cNvSpPr>
            <a:spLocks noGrp="1"/>
          </p:cNvSpPr>
          <p:nvPr>
            <p:ph type="sldImg" idx="0"/>
          </p:nvPr>
        </p:nvSpPr>
        <p:spPr bwMode="auto"/>
      </p:sp>
      <p:sp>
        <p:nvSpPr>
          <p:cNvPr id="1923574907"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135600372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64138935" name="Slide Image Placeholder 1"/>
          <p:cNvSpPr>
            <a:spLocks noGrp="1"/>
          </p:cNvSpPr>
          <p:nvPr>
            <p:ph type="sldImg" idx="0"/>
          </p:nvPr>
        </p:nvSpPr>
        <p:spPr bwMode="auto"/>
      </p:sp>
      <p:sp>
        <p:nvSpPr>
          <p:cNvPr id="1059127429"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168427188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882662" name="Slide Image Placeholder 1"/>
          <p:cNvSpPr>
            <a:spLocks noGrp="1"/>
          </p:cNvSpPr>
          <p:nvPr>
            <p:ph type="sldImg" idx="0"/>
          </p:nvPr>
        </p:nvSpPr>
        <p:spPr bwMode="auto"/>
      </p:sp>
      <p:sp>
        <p:nvSpPr>
          <p:cNvPr id="2064213459"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103167167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59015915" name="Slide Image Placeholder 1"/>
          <p:cNvSpPr>
            <a:spLocks noGrp="1"/>
          </p:cNvSpPr>
          <p:nvPr>
            <p:ph type="sldImg" idx="0"/>
          </p:nvPr>
        </p:nvSpPr>
        <p:spPr bwMode="auto"/>
      </p:sp>
      <p:sp>
        <p:nvSpPr>
          <p:cNvPr id="1623549218"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41120946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91470731" name="Slide Image Placeholder 1"/>
          <p:cNvSpPr>
            <a:spLocks noGrp="1"/>
          </p:cNvSpPr>
          <p:nvPr>
            <p:ph type="sldImg" idx="0"/>
          </p:nvPr>
        </p:nvSpPr>
        <p:spPr bwMode="auto"/>
      </p:sp>
      <p:sp>
        <p:nvSpPr>
          <p:cNvPr id="2071620011"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179974576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9404747" name="Slide Image Placeholder 1"/>
          <p:cNvSpPr>
            <a:spLocks noGrp="1"/>
          </p:cNvSpPr>
          <p:nvPr>
            <p:ph type="sldImg" idx="0"/>
          </p:nvPr>
        </p:nvSpPr>
        <p:spPr bwMode="auto"/>
      </p:sp>
      <p:sp>
        <p:nvSpPr>
          <p:cNvPr id="846084658"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184966745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71818635" name="Slide Image Placeholder 1"/>
          <p:cNvSpPr>
            <a:spLocks noGrp="1"/>
          </p:cNvSpPr>
          <p:nvPr>
            <p:ph type="sldImg" idx="0"/>
          </p:nvPr>
        </p:nvSpPr>
        <p:spPr bwMode="auto"/>
      </p:sp>
      <p:sp>
        <p:nvSpPr>
          <p:cNvPr id="2080558719"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52723159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51625045" name="Slide Image Placeholder 1"/>
          <p:cNvSpPr>
            <a:spLocks noGrp="1"/>
          </p:cNvSpPr>
          <p:nvPr>
            <p:ph type="sldImg" idx="0"/>
          </p:nvPr>
        </p:nvSpPr>
        <p:spPr bwMode="auto"/>
      </p:sp>
      <p:sp>
        <p:nvSpPr>
          <p:cNvPr id="1642100542"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85907788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92517862" name="Slide Image Placeholder 1"/>
          <p:cNvSpPr>
            <a:spLocks noGrp="1"/>
          </p:cNvSpPr>
          <p:nvPr>
            <p:ph type="sldImg" idx="0"/>
          </p:nvPr>
        </p:nvSpPr>
        <p:spPr bwMode="auto"/>
      </p:sp>
      <p:sp>
        <p:nvSpPr>
          <p:cNvPr id="2028651127"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167699385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96234951" name="Slide Image Placeholder 1"/>
          <p:cNvSpPr>
            <a:spLocks noGrp="1"/>
          </p:cNvSpPr>
          <p:nvPr>
            <p:ph type="sldImg" idx="0"/>
          </p:nvPr>
        </p:nvSpPr>
        <p:spPr bwMode="auto"/>
      </p:sp>
      <p:sp>
        <p:nvSpPr>
          <p:cNvPr id="744380331"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19343473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35383467" name="Slide Image Placeholder 1"/>
          <p:cNvSpPr>
            <a:spLocks noGrp="1"/>
          </p:cNvSpPr>
          <p:nvPr>
            <p:ph type="sldImg" idx="0"/>
          </p:nvPr>
        </p:nvSpPr>
        <p:spPr bwMode="auto"/>
      </p:sp>
      <p:sp>
        <p:nvSpPr>
          <p:cNvPr id="1509462488"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14658231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1686185" name="Slide Image Placeholder 1"/>
          <p:cNvSpPr>
            <a:spLocks noGrp="1"/>
          </p:cNvSpPr>
          <p:nvPr>
            <p:ph type="sldImg" idx="0"/>
          </p:nvPr>
        </p:nvSpPr>
        <p:spPr bwMode="auto"/>
      </p:sp>
      <p:sp>
        <p:nvSpPr>
          <p:cNvPr id="409343882" name="Notes Placeholder 2"/>
          <p:cNvSpPr>
            <a:spLocks noGrp="1"/>
          </p:cNvSpPr>
          <p:nvPr>
            <p:ph type="body" idx="1"/>
          </p:nvPr>
        </p:nvSpPr>
        <p:spPr bwMode="auto"/>
        <p:txBody>
          <a:bodyPr/>
          <a:lstStyle/>
          <a:p>
            <a:pPr>
              <a:buNone/>
              <a:defRPr/>
            </a:pPr>
            <a:r>
              <a:rPr/>
              <a:t>[Sources]</a:t>
            </a:r>
            <a:endParaRPr/>
          </a:p>
          <a:p>
            <a:pPr>
              <a:buNone/>
              <a:defRPr/>
            </a:pPr>
            <a:r>
              <a:rPr/>
              <a:t>GPT architecture image supplied by the user: https://img.sbbit.jp/article/image/114721/l_bit202308301441497020.jpg</a:t>
            </a:r>
            <a:endParaRPr/>
          </a:p>
        </p:txBody>
      </p:sp>
      <p:sp>
        <p:nvSpPr>
          <p:cNvPr id="92898661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1464397" name="Slide Image Placeholder 1"/>
          <p:cNvSpPr>
            <a:spLocks noGrp="1"/>
          </p:cNvSpPr>
          <p:nvPr>
            <p:ph type="sldImg" idx="0"/>
          </p:nvPr>
        </p:nvSpPr>
        <p:spPr bwMode="auto"/>
      </p:sp>
      <p:sp>
        <p:nvSpPr>
          <p:cNvPr id="1380666504" name="Notes Placeholder 2"/>
          <p:cNvSpPr>
            <a:spLocks noGrp="1"/>
          </p:cNvSpPr>
          <p:nvPr>
            <p:ph type="body" idx="1"/>
          </p:nvPr>
        </p:nvSpPr>
        <p:spPr bwMode="auto"/>
        <p:txBody>
          <a:bodyPr/>
          <a:lstStyle/>
          <a:p>
            <a:pPr>
              <a:buNone/>
              <a:defRPr/>
            </a:pPr>
            <a:r>
              <a:rPr/>
              <a:t>[Sources]</a:t>
            </a:r>
            <a:endParaRPr/>
          </a:p>
          <a:p>
            <a:pPr>
              <a:buNone/>
              <a:defRPr/>
            </a:pPr>
            <a:r>
              <a:rPr/>
              <a:t>Radford et al., 2018, 'Improving Language Understanding by Generative Pre-Training', OpenAI.</a:t>
            </a:r>
            <a:endParaRPr/>
          </a:p>
          <a:p>
            <a:pPr>
              <a:buNone/>
              <a:defRPr/>
            </a:pPr>
            <a:r>
              <a:rPr/>
              <a:t>Radford et al., 2019, 'Language Models are Unsupervised Multitask Learners', OpenAI.</a:t>
            </a:r>
            <a:endParaRPr/>
          </a:p>
          <a:p>
            <a:pPr>
              <a:buNone/>
              <a:defRPr/>
            </a:pPr>
            <a:r>
              <a:rPr/>
              <a:t>Brown et al., 2020, 'Language Models are Few-Shot Learners', arXiv:2005.14165, https://arxiv.org/abs/2005.14165</a:t>
            </a:r>
            <a:endParaRPr/>
          </a:p>
        </p:txBody>
      </p:sp>
      <p:sp>
        <p:nvSpPr>
          <p:cNvPr id="61215981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43153048" name="Slide Image Placeholder 1"/>
          <p:cNvSpPr>
            <a:spLocks noGrp="1"/>
          </p:cNvSpPr>
          <p:nvPr>
            <p:ph type="sldImg" idx="0"/>
          </p:nvPr>
        </p:nvSpPr>
        <p:spPr bwMode="auto"/>
      </p:sp>
      <p:sp>
        <p:nvSpPr>
          <p:cNvPr id="713501145" name="Notes Placeholder 2"/>
          <p:cNvSpPr>
            <a:spLocks noGrp="1"/>
          </p:cNvSpPr>
          <p:nvPr>
            <p:ph type="body" idx="1"/>
          </p:nvPr>
        </p:nvSpPr>
        <p:spPr bwMode="auto"/>
        <p:txBody>
          <a:bodyPr/>
          <a:lstStyle/>
          <a:p>
            <a:pPr>
              <a:buNone/>
              <a:defRPr/>
            </a:pPr>
            <a:r>
              <a:rPr/>
              <a:t>[Sources]</a:t>
            </a:r>
            <a:endParaRPr/>
          </a:p>
          <a:p>
            <a:pPr>
              <a:buNone/>
              <a:defRPr/>
            </a:pPr>
            <a:r>
              <a:rPr/>
              <a:t>Radford et al., 2018, 'Improving Language Understanding by Generative Pre-Training', OpenAI.</a:t>
            </a:r>
            <a:endParaRPr/>
          </a:p>
          <a:p>
            <a:pPr>
              <a:buNone/>
              <a:defRPr/>
            </a:pPr>
            <a:r>
              <a:rPr/>
              <a:t>Radford et al., 2019, 'Language Models are Unsupervised Multitask Learners', OpenAI.</a:t>
            </a:r>
            <a:endParaRPr/>
          </a:p>
          <a:p>
            <a:pPr>
              <a:buNone/>
              <a:defRPr/>
            </a:pPr>
            <a:r>
              <a:rPr/>
              <a:t>Brown et al., 2020, 'Language Models are Few-Shot Learners', arXiv:2005.14165, https://arxiv.org/abs/2005.14165</a:t>
            </a:r>
            <a:endParaRPr/>
          </a:p>
        </p:txBody>
      </p:sp>
      <p:sp>
        <p:nvSpPr>
          <p:cNvPr id="97790710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9288275" name="Slide Image Placeholder 1"/>
          <p:cNvSpPr>
            <a:spLocks noGrp="1"/>
          </p:cNvSpPr>
          <p:nvPr>
            <p:ph type="sldImg" idx="0"/>
          </p:nvPr>
        </p:nvSpPr>
        <p:spPr bwMode="auto"/>
      </p:sp>
      <p:sp>
        <p:nvSpPr>
          <p:cNvPr id="1238294637" name="Notes Placeholder 2"/>
          <p:cNvSpPr>
            <a:spLocks noGrp="1"/>
          </p:cNvSpPr>
          <p:nvPr>
            <p:ph type="body" idx="1"/>
          </p:nvPr>
        </p:nvSpPr>
        <p:spPr bwMode="auto"/>
        <p:txBody>
          <a:bodyPr/>
          <a:lstStyle/>
          <a:p>
            <a:pPr>
              <a:buNone/>
              <a:defRPr/>
            </a:pPr>
            <a:r>
              <a:rPr/>
              <a:t>[Sources]</a:t>
            </a:r>
            <a:endParaRPr/>
          </a:p>
          <a:p>
            <a:pPr>
              <a:buNone/>
              <a:defRPr/>
            </a:pPr>
            <a:r>
              <a:rPr/>
              <a:t>Radford et al., 2018, 'Improving Language Understanding by Generative Pre-Training', OpenAI.</a:t>
            </a:r>
            <a:endParaRPr/>
          </a:p>
          <a:p>
            <a:pPr>
              <a:buNone/>
              <a:defRPr/>
            </a:pPr>
            <a:r>
              <a:rPr/>
              <a:t>Radford et al., 2019, 'Language Models are Unsupervised Multitask Learners', OpenAI.</a:t>
            </a:r>
            <a:endParaRPr/>
          </a:p>
          <a:p>
            <a:pPr>
              <a:buNone/>
              <a:defRPr/>
            </a:pPr>
            <a:r>
              <a:rPr/>
              <a:t>Brown et al., 2020, 'Language Models are Few-Shot Learners', arXiv:2005.14165, https://arxiv.org/abs/2005.14165</a:t>
            </a:r>
            <a:endParaRPr/>
          </a:p>
        </p:txBody>
      </p:sp>
      <p:sp>
        <p:nvSpPr>
          <p:cNvPr id="34120930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67328428" name="Slide Image Placeholder 1"/>
          <p:cNvSpPr>
            <a:spLocks noGrp="1"/>
          </p:cNvSpPr>
          <p:nvPr>
            <p:ph type="sldImg" idx="0"/>
          </p:nvPr>
        </p:nvSpPr>
        <p:spPr bwMode="auto"/>
      </p:sp>
      <p:sp>
        <p:nvSpPr>
          <p:cNvPr id="1845035127" name="Notes Placeholder 2"/>
          <p:cNvSpPr>
            <a:spLocks noGrp="1"/>
          </p:cNvSpPr>
          <p:nvPr>
            <p:ph type="body" idx="1"/>
          </p:nvPr>
        </p:nvSpPr>
        <p:spPr bwMode="auto"/>
        <p:txBody>
          <a:bodyPr/>
          <a:lstStyle/>
          <a:p>
            <a:pPr>
              <a:buNone/>
              <a:defRPr/>
            </a:pPr>
            <a:r>
              <a:rPr/>
              <a:t>[Sources]</a:t>
            </a:r>
            <a:endParaRPr/>
          </a:p>
          <a:p>
            <a:pPr>
              <a:buNone/>
              <a:defRPr/>
            </a:pPr>
            <a:r>
              <a:rPr/>
              <a:t>Hugging Face Transformers, Loading models: https://huggingface.co/docs/transformers/en/models</a:t>
            </a:r>
            <a:endParaRPr/>
          </a:p>
          <a:p>
            <a:pPr>
              <a:buNone/>
              <a:defRPr/>
            </a:pPr>
            <a:r>
              <a:rPr/>
              <a:t>Hugging Face Transformers, Auto Classes: https://huggingface.co/docs/transformers/model_doc/auto</a:t>
            </a:r>
            <a:endParaRPr/>
          </a:p>
        </p:txBody>
      </p:sp>
      <p:sp>
        <p:nvSpPr>
          <p:cNvPr id="81341579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63383398" name="Slide Image Placeholder 1"/>
          <p:cNvSpPr>
            <a:spLocks noGrp="1"/>
          </p:cNvSpPr>
          <p:nvPr>
            <p:ph type="sldImg" idx="0"/>
          </p:nvPr>
        </p:nvSpPr>
        <p:spPr bwMode="auto"/>
      </p:sp>
      <p:sp>
        <p:nvSpPr>
          <p:cNvPr id="1323805477" name="Notes Placeholder 2"/>
          <p:cNvSpPr>
            <a:spLocks noGrp="1"/>
          </p:cNvSpPr>
          <p:nvPr>
            <p:ph type="body" idx="1"/>
          </p:nvPr>
        </p:nvSpPr>
        <p:spPr bwMode="auto"/>
        <p:txBody>
          <a:bodyPr/>
          <a:lstStyle/>
          <a:p>
            <a:pPr>
              <a:buNone/>
              <a:defRPr/>
            </a:pPr>
            <a:r>
              <a:rPr/>
              <a:t>[Sources]</a:t>
            </a:r>
            <a:endParaRPr/>
          </a:p>
          <a:p>
            <a:pPr>
              <a:buNone/>
              <a:defRPr/>
            </a:pPr>
            <a:r>
              <a:rPr/>
              <a:t>Radford et al., 2018, 'Improving Language Understanding by Generative Pre-Training', OpenAI.</a:t>
            </a:r>
            <a:endParaRPr/>
          </a:p>
          <a:p>
            <a:pPr>
              <a:buNone/>
              <a:defRPr/>
            </a:pPr>
            <a:r>
              <a:rPr/>
              <a:t>Radford et al., 2019, 'Language Models are Unsupervised Multitask Learners', OpenAI.</a:t>
            </a:r>
            <a:endParaRPr/>
          </a:p>
          <a:p>
            <a:pPr>
              <a:buNone/>
              <a:defRPr/>
            </a:pPr>
            <a:r>
              <a:rPr/>
              <a:t>Brown et al., 2020, 'Language Models are Few-Shot Learners', arXiv:2005.14165, https://arxiv.org/abs/2005.14165</a:t>
            </a:r>
            <a:endParaRPr/>
          </a:p>
        </p:txBody>
      </p:sp>
      <p:sp>
        <p:nvSpPr>
          <p:cNvPr id="173859129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86964360" name="Slide Image Placeholder 1"/>
          <p:cNvSpPr>
            <a:spLocks noGrp="1"/>
          </p:cNvSpPr>
          <p:nvPr>
            <p:ph type="sldImg" idx="0"/>
          </p:nvPr>
        </p:nvSpPr>
        <p:spPr bwMode="auto"/>
      </p:sp>
      <p:sp>
        <p:nvSpPr>
          <p:cNvPr id="1141597594" name="Notes Placeholder 2"/>
          <p:cNvSpPr>
            <a:spLocks noGrp="1"/>
          </p:cNvSpPr>
          <p:nvPr>
            <p:ph type="body" idx="1"/>
          </p:nvPr>
        </p:nvSpPr>
        <p:spPr bwMode="auto"/>
        <p:txBody>
          <a:bodyPr/>
          <a:lstStyle/>
          <a:p>
            <a:pPr>
              <a:buNone/>
              <a:defRPr/>
            </a:pPr>
            <a:r>
              <a:rPr/>
              <a:t>[Sources]</a:t>
            </a:r>
            <a:endParaRPr/>
          </a:p>
          <a:p>
            <a:pPr>
              <a:buNone/>
              <a:defRPr/>
            </a:pPr>
            <a:r>
              <a:rPr/>
              <a:t>Radford et al., 2018, 'Improving Language Understanding by Generative Pre-Training', OpenAI.</a:t>
            </a:r>
            <a:endParaRPr/>
          </a:p>
          <a:p>
            <a:pPr>
              <a:buNone/>
              <a:defRPr/>
            </a:pPr>
            <a:r>
              <a:rPr/>
              <a:t>Radford et al., 2019, 'Language Models are Unsupervised Multitask Learners', OpenAI.</a:t>
            </a:r>
            <a:endParaRPr/>
          </a:p>
          <a:p>
            <a:pPr>
              <a:buNone/>
              <a:defRPr/>
            </a:pPr>
            <a:r>
              <a:rPr/>
              <a:t>Brown et al., 2020, 'Language Models are Few-Shot Learners', arXiv:2005.14165, https://arxiv.org/abs/2005.14165</a:t>
            </a:r>
            <a:endParaRPr/>
          </a:p>
        </p:txBody>
      </p:sp>
      <p:sp>
        <p:nvSpPr>
          <p:cNvPr id="116304701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77802428" name="Slide Image Placeholder 1"/>
          <p:cNvSpPr>
            <a:spLocks noGrp="1"/>
          </p:cNvSpPr>
          <p:nvPr>
            <p:ph type="sldImg" idx="0"/>
          </p:nvPr>
        </p:nvSpPr>
        <p:spPr bwMode="auto"/>
      </p:sp>
      <p:sp>
        <p:nvSpPr>
          <p:cNvPr id="438831906" name="Notes Placeholder 2"/>
          <p:cNvSpPr>
            <a:spLocks noGrp="1"/>
          </p:cNvSpPr>
          <p:nvPr>
            <p:ph type="body" idx="1"/>
          </p:nvPr>
        </p:nvSpPr>
        <p:spPr bwMode="auto"/>
        <p:txBody>
          <a:bodyPr/>
          <a:lstStyle/>
          <a:p>
            <a:pPr>
              <a:buNone/>
              <a:defRPr/>
            </a:pPr>
            <a:r>
              <a:rPr/>
              <a:t>[Sources]</a:t>
            </a:r>
            <a:endParaRPr/>
          </a:p>
          <a:p>
            <a:pPr>
              <a:buNone/>
              <a:defRPr/>
            </a:pPr>
            <a:r>
              <a:rPr/>
              <a:t>OpenAI API Reference, Responses create parameters: https://platform.openai.com/docs/api-reference/responses/create</a:t>
            </a:r>
            <a:endParaRPr/>
          </a:p>
          <a:p>
            <a:pPr>
              <a:buNone/>
              <a:defRPr/>
            </a:pPr>
            <a:r>
              <a:rPr/>
              <a:t>OpenAI API Reference, Chat create parameters: https://platform.openai.com/docs/api-reference/chat/create</a:t>
            </a:r>
            <a:endParaRPr/>
          </a:p>
          <a:p>
            <a:pPr>
              <a:buNone/>
              <a:defRPr/>
            </a:pPr>
            <a:r>
              <a:rPr/>
              <a:t>Temperature changes distribution sharpness. Top-p nucleus sampling limits sampling to a cumulative probability mass.</a:t>
            </a:r>
            <a:endParaRPr/>
          </a:p>
        </p:txBody>
      </p:sp>
      <p:sp>
        <p:nvSpPr>
          <p:cNvPr id="86761020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4156232" name="Slide Image Placeholder 1"/>
          <p:cNvSpPr>
            <a:spLocks noGrp="1"/>
          </p:cNvSpPr>
          <p:nvPr>
            <p:ph type="sldImg" idx="0"/>
          </p:nvPr>
        </p:nvSpPr>
        <p:spPr bwMode="auto"/>
      </p:sp>
      <p:sp>
        <p:nvSpPr>
          <p:cNvPr id="22091889"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a:p>
            <a:pPr>
              <a:buNone/>
              <a:defRPr/>
            </a:pPr>
            <a:r>
              <a:rPr/>
              <a:t>Radford et al., 2018, 'Improving Language Understanding by Generative Pre-Training', OpenAI.</a:t>
            </a:r>
            <a:endParaRPr/>
          </a:p>
          <a:p>
            <a:pPr>
              <a:buNone/>
              <a:defRPr/>
            </a:pPr>
            <a:r>
              <a:rPr/>
              <a:t>Radford et al., 2019, 'Language Models are Unsupervised Multitask Learners', OpenAI.</a:t>
            </a:r>
            <a:endParaRPr/>
          </a:p>
          <a:p>
            <a:pPr>
              <a:buNone/>
              <a:defRPr/>
            </a:pPr>
            <a:r>
              <a:rPr/>
              <a:t>Brown et al., 2020, 'Language Models are Few-Shot Learners', arXiv:2005.14165, https://arxiv.org/abs/2005.14165</a:t>
            </a:r>
            <a:endParaRPr/>
          </a:p>
        </p:txBody>
      </p:sp>
      <p:sp>
        <p:nvSpPr>
          <p:cNvPr id="128052976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10100319" name="Slide Image Placeholder 1"/>
          <p:cNvSpPr>
            <a:spLocks noGrp="1"/>
          </p:cNvSpPr>
          <p:nvPr>
            <p:ph type="sldImg" idx="0"/>
          </p:nvPr>
        </p:nvSpPr>
        <p:spPr bwMode="auto"/>
      </p:sp>
      <p:sp>
        <p:nvSpPr>
          <p:cNvPr id="1521683410" name="Notes Placeholder 2"/>
          <p:cNvSpPr>
            <a:spLocks noGrp="1"/>
          </p:cNvSpPr>
          <p:nvPr>
            <p:ph type="body" idx="1"/>
          </p:nvPr>
        </p:nvSpPr>
        <p:spPr bwMode="auto"/>
        <p:txBody>
          <a:bodyPr/>
          <a:lstStyle/>
          <a:p>
            <a:pPr>
              <a:buNone/>
              <a:defRPr/>
            </a:pPr>
            <a:r>
              <a:rPr/>
              <a:t>[Sources]</a:t>
            </a:r>
            <a:endParaRPr/>
          </a:p>
          <a:p>
            <a:pPr>
              <a:buNone/>
              <a:defRPr/>
            </a:pPr>
            <a:r>
              <a:rPr/>
              <a:t>Conceptual explanation of special tokens in language-model systems.</a:t>
            </a:r>
            <a:endParaRPr/>
          </a:p>
          <a:p>
            <a:pPr>
              <a:buNone/>
              <a:defRPr/>
            </a:pPr>
            <a:r>
              <a:rPr/>
              <a:t>OpenAI API documentation describes tool calling and finish reasons at https://platform.openai.com/docs</a:t>
            </a:r>
            <a:endParaRPr/>
          </a:p>
        </p:txBody>
      </p:sp>
      <p:sp>
        <p:nvSpPr>
          <p:cNvPr id="74259961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27814680" name="Slide Image Placeholder 1"/>
          <p:cNvSpPr>
            <a:spLocks noGrp="1"/>
          </p:cNvSpPr>
          <p:nvPr>
            <p:ph type="sldImg" idx="0"/>
          </p:nvPr>
        </p:nvSpPr>
        <p:spPr bwMode="auto"/>
      </p:sp>
      <p:sp>
        <p:nvSpPr>
          <p:cNvPr id="392805767" name="Notes Placeholder 2"/>
          <p:cNvSpPr>
            <a:spLocks noGrp="1"/>
          </p:cNvSpPr>
          <p:nvPr>
            <p:ph type="body" idx="1"/>
          </p:nvPr>
        </p:nvSpPr>
        <p:spPr bwMode="auto"/>
        <p:txBody>
          <a:bodyPr/>
          <a:lstStyle/>
          <a:p>
            <a:pPr>
              <a:buNone/>
              <a:defRPr/>
            </a:pPr>
            <a:r>
              <a:rPr/>
              <a:t>[Sources]</a:t>
            </a:r>
            <a:endParaRPr/>
          </a:p>
          <a:p>
            <a:pPr>
              <a:buNone/>
              <a:defRPr/>
            </a:pPr>
            <a:r>
              <a:rPr/>
              <a:t>Conceptual explanation of tool-call and end-of-generation control behavior.</a:t>
            </a:r>
            <a:endParaRPr/>
          </a:p>
          <a:p>
            <a:pPr>
              <a:buNone/>
              <a:defRPr/>
            </a:pPr>
            <a:r>
              <a:rPr/>
              <a:t>OpenAI API documentation describes tool calling and finish reasons at https://platform.openai.com/docs</a:t>
            </a:r>
            <a:endParaRPr/>
          </a:p>
        </p:txBody>
      </p:sp>
      <p:sp>
        <p:nvSpPr>
          <p:cNvPr id="79553493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76565799" name="Slide Image Placeholder 1"/>
          <p:cNvSpPr>
            <a:spLocks noGrp="1"/>
          </p:cNvSpPr>
          <p:nvPr>
            <p:ph type="sldImg" idx="0"/>
          </p:nvPr>
        </p:nvSpPr>
        <p:spPr bwMode="auto"/>
      </p:sp>
      <p:sp>
        <p:nvSpPr>
          <p:cNvPr id="749066310" name="Notes Placeholder 2"/>
          <p:cNvSpPr>
            <a:spLocks noGrp="1"/>
          </p:cNvSpPr>
          <p:nvPr>
            <p:ph type="body" idx="1"/>
          </p:nvPr>
        </p:nvSpPr>
        <p:spPr bwMode="auto"/>
        <p:txBody>
          <a:bodyPr/>
          <a:lstStyle/>
          <a:p>
            <a:pPr>
              <a:buNone/>
              <a:defRPr/>
            </a:pPr>
            <a:r>
              <a:rPr/>
              <a:t>[Sources]</a:t>
            </a:r>
            <a:endParaRPr/>
          </a:p>
          <a:p>
            <a:pPr>
              <a:buNone/>
              <a:defRPr/>
            </a:pPr>
            <a:r>
              <a:rPr/>
              <a:t>User-supplied FFN / knowledge-neuron figure: https://i0.wp.com/syncedreview.com/wp-content/uploads/2021/04/image-114.png?resize=652%2C863&amp;ssl=1</a:t>
            </a:r>
            <a:endParaRPr/>
          </a:p>
          <a:p>
            <a:pPr>
              <a:buNone/>
              <a:defRPr/>
            </a:pPr>
            <a:r>
              <a:rPr/>
              <a:t>Dai et al., 2022, 'Knowledge Neurons in Pretrained Transformers': https://aclanthology.org/2022.acl-long.581/</a:t>
            </a:r>
            <a:endParaRPr/>
          </a:p>
          <a:p>
            <a:pPr>
              <a:buNone/>
              <a:defRPr/>
            </a:pPr>
            <a:r>
              <a:rPr/>
              <a:t>Smithline and Mascioli, 2026, 'Sparsity Moves Computation: How FFN Architecture Reshapes Attention in Small Transformers': https://arxiv.org/abs/2605.09403</a:t>
            </a:r>
            <a:endParaRPr/>
          </a:p>
        </p:txBody>
      </p:sp>
      <p:sp>
        <p:nvSpPr>
          <p:cNvPr id="178310232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18058802" name="Slide Image Placeholder 1"/>
          <p:cNvSpPr>
            <a:spLocks noGrp="1"/>
          </p:cNvSpPr>
          <p:nvPr>
            <p:ph type="sldImg" idx="0"/>
          </p:nvPr>
        </p:nvSpPr>
        <p:spPr bwMode="auto"/>
      </p:sp>
      <p:sp>
        <p:nvSpPr>
          <p:cNvPr id="1689819620" name="Notes Placeholder 2"/>
          <p:cNvSpPr>
            <a:spLocks noGrp="1"/>
          </p:cNvSpPr>
          <p:nvPr>
            <p:ph type="body" idx="1"/>
          </p:nvPr>
        </p:nvSpPr>
        <p:spPr bwMode="auto"/>
        <p:txBody>
          <a:bodyPr/>
          <a:lstStyle/>
          <a:p>
            <a:pPr>
              <a:buNone/>
              <a:defRPr/>
            </a:pPr>
            <a:r>
              <a:rPr/>
              <a:t>[Sources]</a:t>
            </a:r>
            <a:endParaRPr/>
          </a:p>
          <a:p>
            <a:pPr>
              <a:buNone/>
              <a:defRPr/>
            </a:pPr>
            <a:r>
              <a:rPr/>
              <a:t>User-supplied diffusion image: https://miro.medium.com/v2/resize:fit:1400/1*yvClU5LgylulNWLPNpOCfA.png</a:t>
            </a:r>
            <a:endParaRPr/>
          </a:p>
          <a:p>
            <a:pPr>
              <a:buNone/>
              <a:defRPr/>
            </a:pPr>
            <a:r>
              <a:rPr/>
              <a:t>Ho et al., 2020, 'Denoising Diffusion Probabilistic Models': https://arxiv.org/abs/2006.11239</a:t>
            </a:r>
            <a:endParaRPr/>
          </a:p>
        </p:txBody>
      </p:sp>
      <p:sp>
        <p:nvSpPr>
          <p:cNvPr id="30378782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13168044" name="Slide Image Placeholder 1"/>
          <p:cNvSpPr>
            <a:spLocks noGrp="1"/>
          </p:cNvSpPr>
          <p:nvPr>
            <p:ph type="sldImg" idx="0"/>
          </p:nvPr>
        </p:nvSpPr>
        <p:spPr bwMode="auto"/>
      </p:sp>
      <p:sp>
        <p:nvSpPr>
          <p:cNvPr id="206703011" name="Notes Placeholder 2"/>
          <p:cNvSpPr>
            <a:spLocks noGrp="1"/>
          </p:cNvSpPr>
          <p:nvPr>
            <p:ph type="body" idx="1"/>
          </p:nvPr>
        </p:nvSpPr>
        <p:spPr bwMode="auto"/>
        <p:txBody>
          <a:bodyPr/>
          <a:lstStyle/>
          <a:p>
            <a:pPr>
              <a:buNone/>
              <a:defRPr/>
            </a:pPr>
            <a:r>
              <a:rPr/>
              <a:t>[Sources]</a:t>
            </a:r>
            <a:endParaRPr/>
          </a:p>
          <a:p>
            <a:pPr>
              <a:buNone/>
              <a:defRPr/>
            </a:pPr>
            <a:r>
              <a:rPr/>
              <a:t>Inception, Introducing Mercury 2: https://www.inceptionlabs.ai/blog/introducing-mercury-2</a:t>
            </a:r>
            <a:endParaRPr/>
          </a:p>
          <a:p>
            <a:pPr>
              <a:buNone/>
              <a:defRPr/>
            </a:pPr>
            <a:r>
              <a:rPr/>
              <a:t>Khanna et al., 2025, 'Mercury: Ultra-Fast Language Models Based on Diffusion': https://arxiv.org/abs/2506.17298</a:t>
            </a:r>
            <a:endParaRPr/>
          </a:p>
        </p:txBody>
      </p:sp>
      <p:sp>
        <p:nvSpPr>
          <p:cNvPr id="104671900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34292081" name="Slide Image Placeholder 1"/>
          <p:cNvSpPr>
            <a:spLocks noGrp="1"/>
          </p:cNvSpPr>
          <p:nvPr>
            <p:ph type="sldImg" idx="0"/>
          </p:nvPr>
        </p:nvSpPr>
        <p:spPr bwMode="auto"/>
      </p:sp>
      <p:sp>
        <p:nvSpPr>
          <p:cNvPr id="570957968" name="Notes Placeholder 2"/>
          <p:cNvSpPr>
            <a:spLocks noGrp="1"/>
          </p:cNvSpPr>
          <p:nvPr>
            <p:ph type="body" idx="1"/>
          </p:nvPr>
        </p:nvSpPr>
        <p:spPr bwMode="auto"/>
        <p:txBody>
          <a:bodyPr/>
          <a:lstStyle/>
          <a:p>
            <a:pPr>
              <a:buNone/>
              <a:defRPr/>
            </a:pPr>
            <a:r>
              <a:rPr/>
              <a:t>[Sources]</a:t>
            </a:r>
            <a:endParaRPr/>
          </a:p>
          <a:p>
            <a:pPr>
              <a:buNone/>
              <a:defRPr/>
            </a:pPr>
            <a:r>
              <a:rPr/>
              <a:t>Leviathan, Kalman, and Matias, 2023, 'Fast Inference from Transformers via Speculative Decoding': https://arxiv.org/abs/2211.17192</a:t>
            </a:r>
            <a:endParaRPr/>
          </a:p>
        </p:txBody>
      </p:sp>
      <p:sp>
        <p:nvSpPr>
          <p:cNvPr id="174487591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61002082" name="Slide Image Placeholder 1"/>
          <p:cNvSpPr>
            <a:spLocks noGrp="1"/>
          </p:cNvSpPr>
          <p:nvPr>
            <p:ph type="sldImg" idx="0"/>
          </p:nvPr>
        </p:nvSpPr>
        <p:spPr bwMode="auto"/>
      </p:sp>
      <p:sp>
        <p:nvSpPr>
          <p:cNvPr id="2117886216" name="Notes Placeholder 2"/>
          <p:cNvSpPr>
            <a:spLocks noGrp="1"/>
          </p:cNvSpPr>
          <p:nvPr>
            <p:ph type="body" idx="1"/>
          </p:nvPr>
        </p:nvSpPr>
        <p:spPr bwMode="auto"/>
        <p:txBody>
          <a:bodyPr/>
          <a:lstStyle/>
          <a:p>
            <a:pPr>
              <a:buNone/>
              <a:defRPr/>
            </a:pPr>
            <a:r>
              <a:rPr/>
              <a:t>[Sources]</a:t>
            </a:r>
            <a:endParaRPr/>
          </a:p>
          <a:p>
            <a:pPr>
              <a:buNone/>
              <a:defRPr/>
            </a:pPr>
            <a:r>
              <a:rPr/>
              <a:t>Scaling Laws for Neural Language Models: https://arxiv.org/abs/2001.08361</a:t>
            </a:r>
            <a:endParaRPr/>
          </a:p>
          <a:p>
            <a:pPr>
              <a:buNone/>
              <a:defRPr/>
            </a:pPr>
            <a:r>
              <a:rPr/>
              <a:t>Training Compute-Optimal Large Language Models: https://arxiv.org/abs/2203.15556</a:t>
            </a:r>
            <a:endParaRPr/>
          </a:p>
          <a:p>
            <a:pPr>
              <a:buNone/>
              <a:defRPr/>
            </a:pPr>
            <a:r>
              <a:rPr/>
              <a:t>Mixtral of Experts: https://arxiv.org/abs/2401.04088</a:t>
            </a:r>
            <a:endParaRPr/>
          </a:p>
          <a:p>
            <a:pPr>
              <a:buNone/>
              <a:defRPr/>
            </a:pPr>
            <a:r>
              <a:rPr/>
              <a:t>DeepSeek-V3 Technical Report: https://arxiv.org/abs/2412.19437</a:t>
            </a:r>
            <a:endParaRPr/>
          </a:p>
          <a:p>
            <a:pPr>
              <a:buNone/>
              <a:defRPr/>
            </a:pPr>
            <a:r>
              <a:rPr/>
              <a:t>OpenAI, Learning to reason with LLMs: https://openai.com/index/learning-to-reason-with-llms/</a:t>
            </a:r>
            <a:endParaRPr/>
          </a:p>
          <a:p>
            <a:pPr>
              <a:buNone/>
              <a:defRPr/>
            </a:pPr>
            <a:r>
              <a:rPr/>
              <a:t>DeepSeek-R1: https://arxiv.org/abs/2501.12948</a:t>
            </a:r>
            <a:endParaRPr/>
          </a:p>
        </p:txBody>
      </p:sp>
      <p:sp>
        <p:nvSpPr>
          <p:cNvPr id="142157260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15148472" name="Slide Image Placeholder 1"/>
          <p:cNvSpPr>
            <a:spLocks noGrp="1"/>
          </p:cNvSpPr>
          <p:nvPr>
            <p:ph type="sldImg" idx="0"/>
          </p:nvPr>
        </p:nvSpPr>
        <p:spPr bwMode="auto"/>
      </p:sp>
      <p:sp>
        <p:nvSpPr>
          <p:cNvPr id="77221100" name="Notes Placeholder 2"/>
          <p:cNvSpPr>
            <a:spLocks noGrp="1"/>
          </p:cNvSpPr>
          <p:nvPr>
            <p:ph type="body" idx="1"/>
          </p:nvPr>
        </p:nvSpPr>
        <p:spPr bwMode="auto"/>
        <p:txBody>
          <a:bodyPr/>
          <a:lstStyle/>
          <a:p>
            <a:pPr>
              <a:buNone/>
              <a:defRPr/>
            </a:pPr>
            <a:r>
              <a:rPr/>
              <a:t>[Sources]</a:t>
            </a:r>
            <a:endParaRPr/>
          </a:p>
          <a:p>
            <a:pPr>
              <a:buNone/>
              <a:defRPr/>
            </a:pPr>
            <a:r>
              <a:rPr/>
              <a:t>Distilling the Knowledge in a Neural Network: https://arxiv.org/abs/1503.02531</a:t>
            </a:r>
            <a:endParaRPr/>
          </a:p>
          <a:p>
            <a:pPr>
              <a:buNone/>
              <a:defRPr/>
            </a:pPr>
            <a:r>
              <a:rPr/>
              <a:t>DistilBERT, a distilled version of BERT: https://arxiv.org/abs/1910.01108</a:t>
            </a:r>
            <a:endParaRPr/>
          </a:p>
        </p:txBody>
      </p:sp>
      <p:sp>
        <p:nvSpPr>
          <p:cNvPr id="1212028400" name="Slide Number Placeholder 3"/>
          <p:cNvSpPr>
            <a:spLocks noGrp="1"/>
          </p:cNvSpPr>
          <p:nvPr>
            <p:ph type="sldNum" idx="5"/>
          </p:nvPr>
        </p:nvSpPr>
        <p:spPr bwMode="auto"/>
        <p:txBody>
          <a:bodyPr/>
          <a:lstStyle/>
          <a:p>
            <a:pPr>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bg>
      <p:bgPr shadeToTitle="0">
        <a:gradFill>
          <a:gsLst>
            <a:gs pos="14000">
              <a:schemeClr val="tx2"/>
            </a:gs>
            <a:gs pos="100000">
              <a:schemeClr val="tx2">
                <a:lumMod val="75000"/>
              </a:schemeClr>
            </a:gs>
          </a:gsLst>
          <a:path path="circle"/>
        </a:gradFill>
      </p:bgPr>
    </p:bg>
    <p:spTree>
      <p:nvGrpSpPr>
        <p:cNvPr id="1" name=""/>
        <p:cNvGrpSpPr/>
        <p:nvPr/>
      </p:nvGrpSpPr>
      <p:grpSpPr bwMode="auto">
        <a:xfrm>
          <a:off x="0" y="0"/>
          <a:ext cx="0" cy="0"/>
          <a:chOff x="0" y="0"/>
          <a:chExt cx="0" cy="0"/>
        </a:xfrm>
      </p:grpSpPr>
      <p:pic>
        <p:nvPicPr>
          <p:cNvPr id="2116695056" name=""/>
          <p:cNvPicPr>
            <a:picLocks noChangeAspect="1"/>
          </p:cNvPicPr>
          <p:nvPr/>
        </p:nvPicPr>
        <p:blipFill rotWithShape="1">
          <a:blip r:embed="rId2">
            <a:alphaModFix amt="30000"/>
          </a:blip>
          <a:stretch/>
        </p:blipFill>
        <p:spPr bwMode="auto">
          <a:xfrm rot="0" flipH="0" flipV="0">
            <a:off x="-3046" y="9144"/>
            <a:ext cx="12198094" cy="6848854"/>
          </a:xfrm>
          <a:prstGeom prst="rect">
            <a:avLst/>
          </a:prstGeom>
        </p:spPr>
      </p:pic>
      <p:sp>
        <p:nvSpPr>
          <p:cNvPr id="376226510" name=""/>
          <p:cNvSpPr>
            <a:spLocks noGrp="1"/>
          </p:cNvSpPr>
          <p:nvPr/>
        </p:nvSpPr>
        <p:spPr bwMode="auto">
          <a:xfrm rot="0" flipH="0" flipV="0">
            <a:off x="6079" y="4051"/>
            <a:ext cx="12179837" cy="6849891"/>
          </a:xfrm>
          <a:prstGeom prst="rect">
            <a:avLst/>
          </a:prstGeom>
          <a:gradFill>
            <a:gsLst>
              <a:gs pos="1000">
                <a:schemeClr val="tx2">
                  <a:alpha val="23000"/>
                </a:schemeClr>
              </a:gs>
              <a:gs pos="75000">
                <a:schemeClr val="tx2">
                  <a:lumMod val="50000"/>
                  <a:alpha val="23000"/>
                </a:schemeClr>
              </a:gs>
            </a:gsLst>
            <a:path path="circle"/>
          </a:gradFill>
          <a:ln w="12700"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defRPr/>
            </a:pPr>
            <a:endParaRPr/>
          </a:p>
        </p:txBody>
      </p:sp>
      <p:sp>
        <p:nvSpPr>
          <p:cNvPr id="265080443" name="Title 1"/>
          <p:cNvSpPr>
            <a:spLocks noGrp="1"/>
          </p:cNvSpPr>
          <p:nvPr>
            <p:ph type="ctrTitle" idx="0"/>
          </p:nvPr>
        </p:nvSpPr>
        <p:spPr bwMode="auto">
          <a:xfrm>
            <a:off x="1523999" y="1122363"/>
            <a:ext cx="9144000" cy="2387599"/>
          </a:xfrm>
        </p:spPr>
        <p:txBody>
          <a:bodyPr anchor="b"/>
          <a:lstStyle>
            <a:lvl1pPr algn="ctr">
              <a:buNone/>
              <a:defRPr sz="6000">
                <a:solidFill>
                  <a:schemeClr val="bg1"/>
                </a:solidFill>
              </a:defRPr>
            </a:lvl1pPr>
          </a:lstStyle>
          <a:p>
            <a:pPr>
              <a:buNone/>
              <a:defRPr/>
            </a:pPr>
            <a:r>
              <a:rPr/>
              <a:t>Click to edit Master title style</a:t>
            </a:r>
            <a:endParaRPr/>
          </a:p>
        </p:txBody>
      </p:sp>
      <p:sp>
        <p:nvSpPr>
          <p:cNvPr id="1728568006" name="Subtitle 2"/>
          <p:cNvSpPr>
            <a:spLocks noGrp="1"/>
          </p:cNvSpPr>
          <p:nvPr>
            <p:ph type="subTitle" idx="1"/>
          </p:nvPr>
        </p:nvSpPr>
        <p:spPr bwMode="auto">
          <a:xfrm rot="0" flipH="0" flipV="0">
            <a:off x="1527048" y="3602734"/>
            <a:ext cx="9144000" cy="1655760"/>
          </a:xfrm>
        </p:spPr>
        <p:txBody>
          <a:bodyPr vert="horz" wrap="square" lIns="91440" tIns="274318" rIns="91440" bIns="45720" anchor="t">
            <a:normAutofit/>
          </a:bodyPr>
          <a:lstStyle>
            <a:lvl1pPr marL="0" indent="0" algn="ctr">
              <a:buNone/>
              <a:defRPr sz="2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buNone/>
              <a:defRPr/>
            </a:pPr>
            <a:r>
              <a:rPr/>
              <a:t>Click to edit Master subtitle style</a:t>
            </a:r>
            <a:endParaRPr/>
          </a:p>
        </p:txBody>
      </p:sp>
      <p:sp>
        <p:nvSpPr>
          <p:cNvPr id="1813093414" name="Date Placeholder 3"/>
          <p:cNvSpPr>
            <a:spLocks noGrp="1"/>
          </p:cNvSpPr>
          <p:nvPr>
            <p:ph type="dt" idx="10"/>
          </p:nvPr>
        </p:nvSpPr>
        <p:spPr bwMode="auto"/>
        <p:txBody>
          <a:bodyPr/>
          <a:lstStyle/>
          <a:p>
            <a:pPr>
              <a:buNone/>
              <a:defRPr/>
            </a:pPr>
            <a:fld id="{BCC18F51-09EC-435C-A3BA-64A766E099C0}" type="datetimeFigureOut">
              <a:rPr/>
              <a:t>30.10.2013</a:t>
            </a:fld>
            <a:endParaRPr/>
          </a:p>
        </p:txBody>
      </p:sp>
      <p:sp>
        <p:nvSpPr>
          <p:cNvPr id="1376905005" name="Footer Placeholder 4"/>
          <p:cNvSpPr>
            <a:spLocks noGrp="1"/>
          </p:cNvSpPr>
          <p:nvPr>
            <p:ph type="ftr" idx="11"/>
          </p:nvPr>
        </p:nvSpPr>
        <p:spPr bwMode="auto"/>
        <p:txBody>
          <a:bodyPr/>
          <a:lstStyle/>
          <a:p>
            <a:pPr>
              <a:buNone/>
              <a:defRPr/>
            </a:pPr>
            <a:endParaRPr/>
          </a:p>
        </p:txBody>
      </p:sp>
      <p:sp>
        <p:nvSpPr>
          <p:cNvPr id="1811355376" name="Slide Number Placeholder 5"/>
          <p:cNvSpPr>
            <a:spLocks noGrp="1"/>
          </p:cNvSpPr>
          <p:nvPr>
            <p:ph type="sldNum" idx="12"/>
          </p:nvPr>
        </p:nvSpPr>
        <p:spPr bwMode="auto"/>
        <p:txBody>
          <a:bodyPr/>
          <a:lstStyle/>
          <a:p>
            <a:pPr>
              <a:buNone/>
              <a:defRPr/>
            </a:pPr>
            <a:fld id="{08395586-F03A-48D1-94DF-16B239DF4FB5}" type="slidenum">
              <a:rPr/>
              <a:t>‹#›</a:t>
            </a:fld>
            <a:endParaRPr/>
          </a:p>
        </p:txBody>
      </p:sp>
      <p:sp>
        <p:nvSpPr>
          <p:cNvPr id="1482692214" name="Rectangle 640957806"/>
          <p:cNvSpPr>
            <a:spLocks noGrp="1"/>
          </p:cNvSpPr>
          <p:nvPr/>
        </p:nvSpPr>
        <p:spPr bwMode="auto">
          <a:xfrm rot="0" flipH="0" flipV="0">
            <a:off x="3570597" y="3530036"/>
            <a:ext cx="5040000" cy="72000"/>
          </a:xfrm>
          <a:prstGeom prst="rect">
            <a:avLst/>
          </a:prstGeom>
          <a:solidFill>
            <a:schemeClr val="accent2">
              <a:lumMod val="75000"/>
            </a:schemeClr>
          </a:solidFill>
          <a:ln w="12700" cmpd="sng">
            <a:noFill/>
            <a:prstDash val="solid"/>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bg>
      <p:bgPr shadeToTitle="0">
        <a:gradFill>
          <a:gsLst>
            <a:gs pos="0">
              <a:schemeClr val="tx2">
                <a:lumMod val="20000"/>
                <a:lumOff val="80000"/>
              </a:schemeClr>
            </a:gs>
            <a:gs pos="100000">
              <a:schemeClr val="bg1"/>
            </a:gs>
          </a:gsLst>
          <a:path path="circle"/>
        </a:gradFill>
      </p:bgPr>
    </p:bg>
    <p:spTree>
      <p:nvGrpSpPr>
        <p:cNvPr id="1" name=""/>
        <p:cNvGrpSpPr/>
        <p:nvPr/>
      </p:nvGrpSpPr>
      <p:grpSpPr bwMode="auto">
        <a:xfrm>
          <a:off x="0" y="0"/>
          <a:ext cx="0" cy="0"/>
          <a:chOff x="0" y="0"/>
          <a:chExt cx="0" cy="0"/>
        </a:xfrm>
      </p:grpSpPr>
      <p:sp>
        <p:nvSpPr>
          <p:cNvPr id="306536002" name="Title 1"/>
          <p:cNvSpPr>
            <a:spLocks noGrp="1"/>
          </p:cNvSpPr>
          <p:nvPr>
            <p:ph type="title" idx="0"/>
          </p:nvPr>
        </p:nvSpPr>
        <p:spPr bwMode="auto">
          <a:xfrm flipH="0" flipV="0">
            <a:off x="838197" y="365123"/>
            <a:ext cx="10515600" cy="1121577"/>
          </a:xfrm>
        </p:spPr>
        <p:txBody>
          <a:bodyPr vert="horz" wrap="square" lIns="91440" tIns="45720" rIns="91440" bIns="45720" anchor="b">
            <a:normAutofit/>
          </a:bodyPr>
          <a:lstStyle>
            <a:lvl1pPr algn="ctr">
              <a:buNone/>
              <a:defRPr/>
            </a:lvl1pPr>
            <a:lvl2pPr algn="ctr">
              <a:buNone/>
              <a:defRPr/>
            </a:lvl2pPr>
            <a:lvl3pPr algn="ctr">
              <a:buNone/>
              <a:defRPr/>
            </a:lvl3pPr>
            <a:lvl4pPr algn="ctr">
              <a:buNone/>
              <a:defRPr/>
            </a:lvl4pPr>
            <a:lvl5pPr algn="ctr">
              <a:buNone/>
              <a:defRPr/>
            </a:lvl5pPr>
            <a:lvl6pPr algn="ctr">
              <a:buNone/>
              <a:defRPr/>
            </a:lvl6pPr>
            <a:lvl7pPr algn="ctr">
              <a:buNone/>
              <a:defRPr/>
            </a:lvl7pPr>
            <a:lvl8pPr algn="ctr">
              <a:buNone/>
              <a:defRPr/>
            </a:lvl8pPr>
            <a:lvl9pPr algn="ctr">
              <a:buNone/>
              <a:defRPr/>
            </a:lvl9pPr>
          </a:lstStyle>
          <a:p>
            <a:pPr>
              <a:buNone/>
              <a:defRPr/>
            </a:pPr>
            <a:r>
              <a:rPr/>
              <a:t>Click to edit Master title style</a:t>
            </a:r>
            <a:endParaRPr/>
          </a:p>
        </p:txBody>
      </p:sp>
      <p:sp>
        <p:nvSpPr>
          <p:cNvPr id="322116656" name="Content Placeholder 2"/>
          <p:cNvSpPr>
            <a:spLocks noGrp="1"/>
          </p:cNvSpPr>
          <p:nvPr>
            <p:ph idx="1"/>
          </p:nvPr>
        </p:nvSpPr>
        <p:spPr bwMode="auto"/>
        <p:txBody>
          <a:bodyPr/>
          <a:lstStyle>
            <a:lvl1pPr>
              <a:buFont typeface="Arial"/>
              <a:buChar char="•"/>
              <a:defRPr/>
            </a:lvl1pPr>
            <a:lvl2pPr>
              <a:buFont typeface="Arial"/>
              <a:buChar char="•"/>
              <a:defRPr/>
            </a:lvl2pPr>
            <a:lvl3pPr>
              <a:buFont typeface="Arial"/>
              <a:buChar char="•"/>
              <a:defRPr/>
            </a:lvl3pPr>
            <a:lvl4pPr>
              <a:buFont typeface="Arial"/>
              <a:buChar char="•"/>
              <a:defRPr/>
            </a:lvl4pPr>
            <a:lvl5pPr>
              <a:buFont typeface="Arial"/>
              <a:buChar char="•"/>
              <a:defRPr/>
            </a:lvl5pPr>
            <a:lvl6pPr>
              <a:buFont typeface="Arial"/>
              <a:buChar char="•"/>
              <a:defRPr/>
            </a:lvl6pPr>
            <a:lvl7pPr>
              <a:buFont typeface="Arial"/>
              <a:buChar char="•"/>
              <a:defRPr/>
            </a:lvl7pPr>
            <a:lvl8pPr>
              <a:buFont typeface="Arial"/>
              <a:buChar char="•"/>
              <a:defRPr/>
            </a:lvl8pPr>
            <a:lvl9pPr>
              <a:buFont typeface="Arial"/>
              <a:buChar char="•"/>
              <a:defRPr/>
            </a:lvl9pPr>
          </a:lstStyle>
          <a:p>
            <a:pPr lvl="0">
              <a:buNone/>
              <a:defRPr/>
            </a:pPr>
            <a:r>
              <a:rPr/>
              <a:t>Click to edit Master text styles</a:t>
            </a:r>
            <a:endParaRPr/>
          </a:p>
          <a:p>
            <a:pPr lvl="1">
              <a:buNone/>
              <a:defRPr/>
            </a:pPr>
            <a:r>
              <a:rPr/>
              <a:t>Second level</a:t>
            </a:r>
            <a:endParaRPr/>
          </a:p>
          <a:p>
            <a:pPr lvl="2">
              <a:buNone/>
              <a:defRPr/>
            </a:pPr>
            <a:r>
              <a:rPr/>
              <a:t>Third level</a:t>
            </a:r>
            <a:endParaRPr/>
          </a:p>
          <a:p>
            <a:pPr lvl="3">
              <a:buNone/>
              <a:defRPr/>
            </a:pPr>
            <a:r>
              <a:rPr/>
              <a:t>Fourth level</a:t>
            </a:r>
            <a:endParaRPr/>
          </a:p>
          <a:p>
            <a:pPr lvl="4">
              <a:buNone/>
              <a:defRPr/>
            </a:pPr>
            <a:r>
              <a:rPr/>
              <a:t>Fifth level</a:t>
            </a:r>
            <a:endParaRPr/>
          </a:p>
        </p:txBody>
      </p:sp>
      <p:sp>
        <p:nvSpPr>
          <p:cNvPr id="368707016" name="Date Placeholder 3"/>
          <p:cNvSpPr>
            <a:spLocks noGrp="1"/>
          </p:cNvSpPr>
          <p:nvPr>
            <p:ph type="dt" idx="10"/>
          </p:nvPr>
        </p:nvSpPr>
        <p:spPr bwMode="auto"/>
        <p:txBody>
          <a:bodyPr/>
          <a:lstStyle/>
          <a:p>
            <a:pPr>
              <a:buNone/>
              <a:defRPr/>
            </a:pPr>
            <a:fld id="{BCC18F51-09EC-435C-A3BA-64A766E099C0}" type="datetimeFigureOut">
              <a:rPr/>
              <a:t>30.10.2013</a:t>
            </a:fld>
            <a:endParaRPr/>
          </a:p>
        </p:txBody>
      </p:sp>
      <p:sp>
        <p:nvSpPr>
          <p:cNvPr id="1474598802" name="Footer Placeholder 4"/>
          <p:cNvSpPr>
            <a:spLocks noGrp="1"/>
          </p:cNvSpPr>
          <p:nvPr>
            <p:ph type="ftr" idx="11"/>
          </p:nvPr>
        </p:nvSpPr>
        <p:spPr bwMode="auto"/>
        <p:txBody>
          <a:bodyPr/>
          <a:lstStyle/>
          <a:p>
            <a:pPr>
              <a:buNone/>
              <a:defRPr/>
            </a:pPr>
            <a:endParaRPr/>
          </a:p>
        </p:txBody>
      </p:sp>
      <p:sp>
        <p:nvSpPr>
          <p:cNvPr id="959594494" name="Slide Number Placeholder 5"/>
          <p:cNvSpPr>
            <a:spLocks noGrp="1"/>
          </p:cNvSpPr>
          <p:nvPr>
            <p:ph type="sldNum" idx="12"/>
          </p:nvPr>
        </p:nvSpPr>
        <p:spPr bwMode="auto"/>
        <p:txBody>
          <a:bodyPr/>
          <a:lstStyle/>
          <a:p>
            <a:pPr>
              <a:buNone/>
              <a:defRPr/>
            </a:pPr>
            <a:fld id="{08395586-F03A-48D1-94DF-16B239DF4FB5}" type="slidenum">
              <a:rPr/>
              <a:t>‹#›</a:t>
            </a:fld>
            <a:endParaRPr/>
          </a:p>
        </p:txBody>
      </p:sp>
      <p:sp>
        <p:nvSpPr>
          <p:cNvPr id="879750812" name="Rectangle 640957806"/>
          <p:cNvSpPr>
            <a:spLocks noGrp="1"/>
          </p:cNvSpPr>
          <p:nvPr/>
        </p:nvSpPr>
        <p:spPr bwMode="auto">
          <a:xfrm rot="0" flipH="0" flipV="0">
            <a:off x="4703774" y="1486702"/>
            <a:ext cx="2776433" cy="73152"/>
          </a:xfrm>
          <a:prstGeom prst="rect">
            <a:avLst/>
          </a:prstGeom>
          <a:solidFill>
            <a:schemeClr val="accent2">
              <a:lumMod val="75000"/>
            </a:schemeClr>
          </a:solidFill>
          <a:ln w="12700" cmpd="sng">
            <a:noFill/>
            <a:prstDash val="solid"/>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bg>
      <p:bgPr shadeToTitle="0">
        <a:solidFill>
          <a:schemeClr val="accent2">
            <a:alpha val="60000"/>
          </a:schemeClr>
        </a:solidFill>
      </p:bgPr>
    </p:bg>
    <p:spTree>
      <p:nvGrpSpPr>
        <p:cNvPr id="1" name=""/>
        <p:cNvGrpSpPr/>
        <p:nvPr/>
      </p:nvGrpSpPr>
      <p:grpSpPr bwMode="auto">
        <a:xfrm>
          <a:off x="0" y="0"/>
          <a:ext cx="0" cy="0"/>
          <a:chOff x="0" y="0"/>
          <a:chExt cx="0" cy="0"/>
        </a:xfrm>
      </p:grpSpPr>
      <p:sp>
        <p:nvSpPr>
          <p:cNvPr id="137136548" name="Title 1"/>
          <p:cNvSpPr>
            <a:spLocks noGrp="1"/>
          </p:cNvSpPr>
          <p:nvPr>
            <p:ph type="title" idx="0"/>
          </p:nvPr>
        </p:nvSpPr>
        <p:spPr bwMode="auto">
          <a:xfrm flipH="0" flipV="0">
            <a:off x="838197" y="365123"/>
            <a:ext cx="10515600" cy="1121577"/>
          </a:xfrm>
        </p:spPr>
        <p:txBody>
          <a:bodyPr vert="horz" wrap="square" lIns="91440" tIns="45720" rIns="91440" bIns="45720" anchor="b">
            <a:normAutofit/>
          </a:bodyPr>
          <a:lstStyle>
            <a:lvl1pPr algn="l">
              <a:buNone/>
              <a:defRPr/>
            </a:lvl1pPr>
            <a:lvl2pPr algn="l">
              <a:buNone/>
              <a:defRPr/>
            </a:lvl2pPr>
            <a:lvl3pPr algn="l">
              <a:buNone/>
              <a:defRPr/>
            </a:lvl3pPr>
            <a:lvl4pPr algn="l">
              <a:buNone/>
              <a:defRPr/>
            </a:lvl4pPr>
            <a:lvl5pPr algn="l">
              <a:buNone/>
              <a:defRPr/>
            </a:lvl5pPr>
            <a:lvl6pPr algn="l">
              <a:buNone/>
              <a:defRPr/>
            </a:lvl6pPr>
            <a:lvl7pPr algn="l">
              <a:buNone/>
              <a:defRPr/>
            </a:lvl7pPr>
            <a:lvl8pPr algn="l">
              <a:buNone/>
              <a:defRPr/>
            </a:lvl8pPr>
            <a:lvl9pPr algn="l">
              <a:buNone/>
              <a:defRPr/>
            </a:lvl9pPr>
          </a:lstStyle>
          <a:p>
            <a:pPr>
              <a:buNone/>
              <a:defRPr/>
            </a:pPr>
            <a:r>
              <a:rPr/>
              <a:t>Click to edit Master title style</a:t>
            </a:r>
            <a:endParaRPr/>
          </a:p>
        </p:txBody>
      </p:sp>
      <p:sp>
        <p:nvSpPr>
          <p:cNvPr id="1484215758" name="Content Placeholder 2"/>
          <p:cNvSpPr>
            <a:spLocks noGrp="1"/>
          </p:cNvSpPr>
          <p:nvPr>
            <p:ph idx="1"/>
          </p:nvPr>
        </p:nvSpPr>
        <p:spPr bwMode="auto">
          <a:prstGeom prst="rect">
            <a:avLst/>
          </a:prstGeom>
          <a:solidFill>
            <a:schemeClr val="bg1"/>
          </a:solidFill>
        </p:spPr>
        <p:txBody>
          <a:bodyPr/>
          <a:lstStyle>
            <a:lvl1pPr>
              <a:buFont typeface="Arial"/>
              <a:buChar char="•"/>
              <a:defRPr/>
            </a:lvl1pPr>
            <a:lvl2pPr>
              <a:buFont typeface="Arial"/>
              <a:buChar char="•"/>
              <a:defRPr/>
            </a:lvl2pPr>
            <a:lvl3pPr>
              <a:buFont typeface="Arial"/>
              <a:buChar char="•"/>
              <a:defRPr/>
            </a:lvl3pPr>
            <a:lvl4pPr>
              <a:buFont typeface="Arial"/>
              <a:buChar char="•"/>
              <a:defRPr/>
            </a:lvl4pPr>
            <a:lvl5pPr>
              <a:buFont typeface="Arial"/>
              <a:buChar char="•"/>
              <a:defRPr/>
            </a:lvl5pPr>
            <a:lvl6pPr>
              <a:buFont typeface="Arial"/>
              <a:buChar char="•"/>
              <a:defRPr/>
            </a:lvl6pPr>
            <a:lvl7pPr>
              <a:buFont typeface="Arial"/>
              <a:buChar char="•"/>
              <a:defRPr/>
            </a:lvl7pPr>
            <a:lvl8pPr>
              <a:buFont typeface="Arial"/>
              <a:buChar char="•"/>
              <a:defRPr/>
            </a:lvl8pPr>
            <a:lvl9pPr>
              <a:buFont typeface="Arial"/>
              <a:buChar char="•"/>
              <a:defRPr/>
            </a:lvl9pPr>
          </a:lstStyle>
          <a:p>
            <a:pPr lvl="0">
              <a:buNone/>
              <a:defRPr/>
            </a:pPr>
            <a:r>
              <a:rPr/>
              <a:t>Click to edit Master text styles</a:t>
            </a:r>
            <a:endParaRPr/>
          </a:p>
          <a:p>
            <a:pPr lvl="1">
              <a:buNone/>
              <a:defRPr/>
            </a:pPr>
            <a:r>
              <a:rPr/>
              <a:t>Second level</a:t>
            </a:r>
            <a:endParaRPr/>
          </a:p>
          <a:p>
            <a:pPr lvl="2">
              <a:buNone/>
              <a:defRPr/>
            </a:pPr>
            <a:r>
              <a:rPr/>
              <a:t>Third level</a:t>
            </a:r>
            <a:endParaRPr/>
          </a:p>
          <a:p>
            <a:pPr lvl="3">
              <a:buNone/>
              <a:defRPr/>
            </a:pPr>
            <a:r>
              <a:rPr/>
              <a:t>Fourth level</a:t>
            </a:r>
            <a:endParaRPr/>
          </a:p>
          <a:p>
            <a:pPr lvl="4">
              <a:buNone/>
              <a:defRPr/>
            </a:pPr>
            <a:r>
              <a:rPr/>
              <a:t>Fifth level</a:t>
            </a:r>
            <a:endParaRPr/>
          </a:p>
        </p:txBody>
      </p:sp>
      <p:sp>
        <p:nvSpPr>
          <p:cNvPr id="1463479072" name="Date Placeholder 3"/>
          <p:cNvSpPr>
            <a:spLocks noGrp="1"/>
          </p:cNvSpPr>
          <p:nvPr>
            <p:ph type="dt" idx="10"/>
          </p:nvPr>
        </p:nvSpPr>
        <p:spPr bwMode="auto"/>
        <p:txBody>
          <a:bodyPr/>
          <a:lstStyle/>
          <a:p>
            <a:pPr>
              <a:buNone/>
              <a:defRPr/>
            </a:pPr>
            <a:fld id="{7B14398F-3795-7DE0-858E-3925D44B3378}" type="datetimeFigureOut">
              <a:rPr/>
              <a:t/>
            </a:fld>
            <a:endParaRPr/>
          </a:p>
        </p:txBody>
      </p:sp>
      <p:sp>
        <p:nvSpPr>
          <p:cNvPr id="1264382992" name="Footer Placeholder 4"/>
          <p:cNvSpPr>
            <a:spLocks noGrp="1"/>
          </p:cNvSpPr>
          <p:nvPr>
            <p:ph type="ftr" idx="11"/>
          </p:nvPr>
        </p:nvSpPr>
        <p:spPr bwMode="auto"/>
        <p:txBody>
          <a:bodyPr/>
          <a:lstStyle/>
          <a:p>
            <a:pPr>
              <a:buNone/>
              <a:defRPr/>
            </a:pPr>
            <a:endParaRPr/>
          </a:p>
        </p:txBody>
      </p:sp>
      <p:sp>
        <p:nvSpPr>
          <p:cNvPr id="1987632979" name="Slide Number Placeholder 5"/>
          <p:cNvSpPr>
            <a:spLocks noGrp="1"/>
          </p:cNvSpPr>
          <p:nvPr>
            <p:ph type="sldNum" idx="12"/>
          </p:nvPr>
        </p:nvSpPr>
        <p:spPr bwMode="auto"/>
        <p:txBody>
          <a:bodyPr/>
          <a:lstStyle/>
          <a:p>
            <a:pPr>
              <a:buNone/>
              <a:defRPr/>
            </a:pPr>
            <a:fld id="{3D9411B4-B34A-E1DB-16D9-0D265777C9EB}" type="slidenum">
              <a:rPr/>
              <a:t/>
            </a:fld>
            <a:endParaRPr/>
          </a:p>
        </p:txBody>
      </p:sp>
      <p:sp>
        <p:nvSpPr>
          <p:cNvPr id="165163985" name="Rectangle 640957806"/>
          <p:cNvSpPr>
            <a:spLocks noGrp="1"/>
          </p:cNvSpPr>
          <p:nvPr/>
        </p:nvSpPr>
        <p:spPr bwMode="auto">
          <a:xfrm rot="0" flipH="0" flipV="0">
            <a:off x="838197" y="1486702"/>
            <a:ext cx="10515600" cy="72000"/>
          </a:xfrm>
          <a:prstGeom prst="rect">
            <a:avLst/>
          </a:prstGeom>
          <a:solidFill>
            <a:schemeClr val="accent2">
              <a:lumMod val="75000"/>
            </a:schemeClr>
          </a:solidFill>
          <a:ln w="12700" cmpd="sng">
            <a:noFill/>
            <a:prstDash val="solid"/>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bg>
      <p:bgPr shadeToTitle="0">
        <a:gradFill>
          <a:gsLst>
            <a:gs pos="5000">
              <a:schemeClr val="tx2"/>
            </a:gs>
            <a:gs pos="84000">
              <a:schemeClr val="tx2">
                <a:lumMod val="75000"/>
              </a:schemeClr>
            </a:gs>
          </a:gsLst>
          <a:lin ang="5400000" scaled="1"/>
        </a:gradFill>
      </p:bgPr>
    </p:bg>
    <p:spTree>
      <p:nvGrpSpPr>
        <p:cNvPr id="1" name=""/>
        <p:cNvGrpSpPr/>
        <p:nvPr/>
      </p:nvGrpSpPr>
      <p:grpSpPr bwMode="auto">
        <a:xfrm>
          <a:off x="0" y="0"/>
          <a:ext cx="0" cy="0"/>
          <a:chOff x="0" y="0"/>
          <a:chExt cx="0" cy="0"/>
        </a:xfrm>
      </p:grpSpPr>
      <p:pic>
        <p:nvPicPr>
          <p:cNvPr id="1835292973" name=""/>
          <p:cNvPicPr>
            <a:picLocks noChangeAspect="1"/>
          </p:cNvPicPr>
          <p:nvPr/>
        </p:nvPicPr>
        <p:blipFill rotWithShape="1">
          <a:blip r:embed="rId2">
            <a:alphaModFix amt="30000"/>
          </a:blip>
          <a:stretch/>
        </p:blipFill>
        <p:spPr bwMode="auto">
          <a:xfrm flipH="0" flipV="0">
            <a:off x="20621" y="8104"/>
            <a:ext cx="12216845" cy="6858000"/>
          </a:xfrm>
          <a:prstGeom prst="rect">
            <a:avLst/>
          </a:prstGeom>
        </p:spPr>
      </p:pic>
      <p:sp>
        <p:nvSpPr>
          <p:cNvPr id="76668864" name="Title 1"/>
          <p:cNvSpPr>
            <a:spLocks noGrp="1"/>
          </p:cNvSpPr>
          <p:nvPr>
            <p:ph type="title" idx="0"/>
          </p:nvPr>
        </p:nvSpPr>
        <p:spPr bwMode="auto">
          <a:xfrm>
            <a:off x="831848" y="1399140"/>
            <a:ext cx="10515600" cy="2852736"/>
          </a:xfrm>
        </p:spPr>
        <p:txBody>
          <a:bodyPr vert="horz" wrap="square" lIns="91440" tIns="45720" rIns="91440" bIns="45720" anchor="ctr">
            <a:normAutofit/>
          </a:bodyPr>
          <a:lstStyle>
            <a:lvl1pPr algn="ctr">
              <a:buNone/>
              <a:defRPr sz="6000">
                <a:solidFill>
                  <a:schemeClr val="bg1"/>
                </a:solidFill>
              </a:defRPr>
            </a:lvl1pPr>
            <a:lvl2pPr algn="ctr">
              <a:buNone/>
              <a:defRPr/>
            </a:lvl2pPr>
            <a:lvl3pPr algn="ctr">
              <a:buNone/>
              <a:defRPr/>
            </a:lvl3pPr>
            <a:lvl4pPr algn="ctr">
              <a:buNone/>
              <a:defRPr/>
            </a:lvl4pPr>
            <a:lvl5pPr algn="ctr">
              <a:buNone/>
              <a:defRPr/>
            </a:lvl5pPr>
            <a:lvl6pPr algn="ctr">
              <a:buNone/>
              <a:defRPr/>
            </a:lvl6pPr>
            <a:lvl7pPr algn="ctr">
              <a:buNone/>
              <a:defRPr/>
            </a:lvl7pPr>
            <a:lvl8pPr algn="ctr">
              <a:buNone/>
              <a:defRPr/>
            </a:lvl8pPr>
            <a:lvl9pPr algn="ctr">
              <a:buNone/>
              <a:defRPr/>
            </a:lvl9pPr>
          </a:lstStyle>
          <a:p>
            <a:pPr>
              <a:buNone/>
              <a:defRPr/>
            </a:pPr>
            <a:r>
              <a:rPr/>
              <a:t>Click to edit Master title style</a:t>
            </a:r>
            <a:endParaRPr/>
          </a:p>
        </p:txBody>
      </p:sp>
      <p:sp>
        <p:nvSpPr>
          <p:cNvPr id="364030295" name="Text Placeholder 2"/>
          <p:cNvSpPr>
            <a:spLocks noGrp="1"/>
          </p:cNvSpPr>
          <p:nvPr>
            <p:ph type="body" idx="1"/>
          </p:nvPr>
        </p:nvSpPr>
        <p:spPr bwMode="auto">
          <a:xfrm>
            <a:off x="831848" y="4278863"/>
            <a:ext cx="10515600" cy="1500186"/>
          </a:xfrm>
        </p:spPr>
        <p:txBody>
          <a:bodyPr/>
          <a:lstStyle>
            <a:lvl1pPr marL="0" indent="0" algn="ctr">
              <a:buNone/>
              <a:defRPr sz="2400">
                <a:solidFill>
                  <a:schemeClr val="bg1"/>
                </a:solidFill>
              </a:defRPr>
            </a:lvl1pPr>
            <a:lvl2pPr marL="457200" indent="0" algn="ctr">
              <a:buNone/>
              <a:defRPr sz="2000">
                <a:solidFill>
                  <a:schemeClr val="tx1">
                    <a:tint val="75000"/>
                  </a:schemeClr>
                </a:solidFill>
              </a:defRPr>
            </a:lvl2pPr>
            <a:lvl3pPr marL="914400" indent="0" algn="ctr">
              <a:buNone/>
              <a:defRPr sz="1800">
                <a:solidFill>
                  <a:schemeClr val="tx1">
                    <a:tint val="75000"/>
                  </a:schemeClr>
                </a:solidFill>
              </a:defRPr>
            </a:lvl3pPr>
            <a:lvl4pPr marL="1371600" indent="0" algn="ctr">
              <a:buNone/>
              <a:defRPr sz="1600">
                <a:solidFill>
                  <a:schemeClr val="tx1">
                    <a:tint val="75000"/>
                  </a:schemeClr>
                </a:solidFill>
              </a:defRPr>
            </a:lvl4pPr>
            <a:lvl5pPr marL="1828800" indent="0" algn="ctr">
              <a:buNone/>
              <a:defRPr sz="1600">
                <a:solidFill>
                  <a:schemeClr val="tx1">
                    <a:tint val="75000"/>
                  </a:schemeClr>
                </a:solidFill>
              </a:defRPr>
            </a:lvl5pPr>
            <a:lvl6pPr marL="2286000" indent="0" algn="ctr">
              <a:buNone/>
              <a:defRPr sz="1600">
                <a:solidFill>
                  <a:schemeClr val="tx1">
                    <a:tint val="75000"/>
                  </a:schemeClr>
                </a:solidFill>
              </a:defRPr>
            </a:lvl6pPr>
            <a:lvl7pPr marL="2743200" indent="0" algn="ctr">
              <a:buNone/>
              <a:defRPr sz="1600">
                <a:solidFill>
                  <a:schemeClr val="tx1">
                    <a:tint val="75000"/>
                  </a:schemeClr>
                </a:solidFill>
              </a:defRPr>
            </a:lvl7pPr>
            <a:lvl8pPr marL="3200400" indent="0" algn="ctr">
              <a:buNone/>
              <a:defRPr sz="1600">
                <a:solidFill>
                  <a:schemeClr val="tx1">
                    <a:tint val="75000"/>
                  </a:schemeClr>
                </a:solidFill>
              </a:defRPr>
            </a:lvl8pPr>
            <a:lvl9pPr marL="3657600" indent="0" algn="ctr">
              <a:buNone/>
              <a:defRPr sz="1600">
                <a:solidFill>
                  <a:schemeClr val="tx1">
                    <a:tint val="75000"/>
                  </a:schemeClr>
                </a:solidFill>
              </a:defRPr>
            </a:lvl9pPr>
          </a:lstStyle>
          <a:p>
            <a:pPr lvl="0">
              <a:buNone/>
              <a:defRPr/>
            </a:pPr>
            <a:r>
              <a:rPr/>
              <a:t>Click to edit Master text styles</a:t>
            </a:r>
            <a:endParaRPr/>
          </a:p>
        </p:txBody>
      </p:sp>
      <p:sp>
        <p:nvSpPr>
          <p:cNvPr id="685578883" name="Date Placeholder 3"/>
          <p:cNvSpPr>
            <a:spLocks noGrp="1"/>
          </p:cNvSpPr>
          <p:nvPr>
            <p:ph type="dt" idx="10"/>
          </p:nvPr>
        </p:nvSpPr>
        <p:spPr bwMode="auto"/>
        <p:txBody>
          <a:bodyPr/>
          <a:lstStyle/>
          <a:p>
            <a:pPr>
              <a:buNone/>
              <a:defRPr/>
            </a:pPr>
            <a:fld id="{BCC18F51-09EC-435C-A3BA-64A766E099C0}" type="datetimeFigureOut">
              <a:rPr/>
              <a:t>30.10.2013</a:t>
            </a:fld>
            <a:endParaRPr/>
          </a:p>
        </p:txBody>
      </p:sp>
      <p:sp>
        <p:nvSpPr>
          <p:cNvPr id="2146880099" name="Footer Placeholder 4"/>
          <p:cNvSpPr>
            <a:spLocks noGrp="1"/>
          </p:cNvSpPr>
          <p:nvPr>
            <p:ph type="ftr" idx="11"/>
          </p:nvPr>
        </p:nvSpPr>
        <p:spPr bwMode="auto"/>
        <p:txBody>
          <a:bodyPr/>
          <a:lstStyle/>
          <a:p>
            <a:pPr>
              <a:buNone/>
              <a:defRPr/>
            </a:pPr>
            <a:endParaRPr/>
          </a:p>
        </p:txBody>
      </p:sp>
      <p:sp>
        <p:nvSpPr>
          <p:cNvPr id="1262172429" name="Slide Number Placeholder 5"/>
          <p:cNvSpPr>
            <a:spLocks noGrp="1"/>
          </p:cNvSpPr>
          <p:nvPr>
            <p:ph type="sldNum" idx="12"/>
          </p:nvPr>
        </p:nvSpPr>
        <p:spPr bwMode="auto"/>
        <p:txBody>
          <a:bodyPr/>
          <a:lstStyle/>
          <a:p>
            <a:pPr>
              <a:buNone/>
              <a:defRPr/>
            </a:pPr>
            <a:fld id="{08395586-F03A-48D1-94DF-16B239DF4FB5}" type="slidenum">
              <a:rPr/>
              <a:t>‹#›</a:t>
            </a:fld>
            <a:endParaRPr/>
          </a:p>
        </p:txBody>
      </p:sp>
      <p:sp>
        <p:nvSpPr>
          <p:cNvPr id="1708351068" name="Rectangle 640957806"/>
          <p:cNvSpPr>
            <a:spLocks noGrp="1"/>
          </p:cNvSpPr>
          <p:nvPr/>
        </p:nvSpPr>
        <p:spPr bwMode="auto">
          <a:xfrm rot="0" flipH="0" flipV="0">
            <a:off x="-10884" y="6017640"/>
            <a:ext cx="12213770" cy="72000"/>
          </a:xfrm>
          <a:prstGeom prst="rect">
            <a:avLst/>
          </a:prstGeom>
          <a:solidFill>
            <a:schemeClr val="accent2">
              <a:lumMod val="75000"/>
            </a:schemeClr>
          </a:solidFill>
          <a:ln w="12700" cmpd="sng">
            <a:noFill/>
            <a:prstDash val="solid"/>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bg>
      <p:bgPr shadeToTitle="0">
        <a:gradFill>
          <a:gsLst>
            <a:gs pos="0">
              <a:schemeClr val="tx2">
                <a:lumMod val="20000"/>
                <a:lumOff val="80000"/>
                <a:alpha val="44999"/>
              </a:schemeClr>
            </a:gs>
            <a:gs pos="80000">
              <a:srgbClr val="FFFFFF">
                <a:alpha val="44999"/>
              </a:srgbClr>
            </a:gs>
          </a:gsLst>
          <a:lin ang="5400000" scaled="1"/>
        </a:gradFill>
      </p:bgPr>
    </p:bg>
    <p:spTree>
      <p:nvGrpSpPr>
        <p:cNvPr id="1" name=""/>
        <p:cNvGrpSpPr/>
        <p:nvPr/>
      </p:nvGrpSpPr>
      <p:grpSpPr bwMode="auto">
        <a:xfrm>
          <a:off x="0" y="0"/>
          <a:ext cx="0" cy="0"/>
          <a:chOff x="0" y="0"/>
          <a:chExt cx="0" cy="0"/>
        </a:xfrm>
      </p:grpSpPr>
      <p:sp>
        <p:nvSpPr>
          <p:cNvPr id="831284119" name="Title 1"/>
          <p:cNvSpPr>
            <a:spLocks noGrp="1"/>
          </p:cNvSpPr>
          <p:nvPr>
            <p:ph type="title" idx="0"/>
          </p:nvPr>
        </p:nvSpPr>
        <p:spPr bwMode="auto"/>
        <p:txBody>
          <a:bodyPr/>
          <a:lstStyle>
            <a:lvl1pPr algn="ctr">
              <a:buNone/>
              <a:defRPr/>
            </a:lvl1pPr>
            <a:lvl2pPr algn="ctr">
              <a:buNone/>
              <a:defRPr/>
            </a:lvl2pPr>
            <a:lvl3pPr algn="ctr">
              <a:buNone/>
              <a:defRPr/>
            </a:lvl3pPr>
            <a:lvl4pPr algn="ctr">
              <a:buNone/>
              <a:defRPr/>
            </a:lvl4pPr>
            <a:lvl5pPr algn="ctr">
              <a:buNone/>
              <a:defRPr/>
            </a:lvl5pPr>
            <a:lvl6pPr algn="ctr">
              <a:buNone/>
              <a:defRPr/>
            </a:lvl6pPr>
            <a:lvl7pPr algn="ctr">
              <a:buNone/>
              <a:defRPr/>
            </a:lvl7pPr>
            <a:lvl8pPr algn="ctr">
              <a:buNone/>
              <a:defRPr/>
            </a:lvl8pPr>
            <a:lvl9pPr algn="ctr">
              <a:buNone/>
              <a:defRPr/>
            </a:lvl9pPr>
          </a:lstStyle>
          <a:p>
            <a:pPr>
              <a:buNone/>
              <a:defRPr/>
            </a:pPr>
            <a:r>
              <a:rPr/>
              <a:t>Click to edit Master title style</a:t>
            </a:r>
            <a:endParaRPr/>
          </a:p>
        </p:txBody>
      </p:sp>
      <p:sp>
        <p:nvSpPr>
          <p:cNvPr id="347708642" name="Content Placeholder 2"/>
          <p:cNvSpPr>
            <a:spLocks noGrp="1"/>
          </p:cNvSpPr>
          <p:nvPr>
            <p:ph idx="1"/>
          </p:nvPr>
        </p:nvSpPr>
        <p:spPr bwMode="auto">
          <a:xfrm>
            <a:off x="838198" y="1825624"/>
            <a:ext cx="5181599" cy="4351338"/>
          </a:xfrm>
        </p:spPr>
        <p:txBody>
          <a:bodyPr/>
          <a:lstStyle>
            <a:lvl1pPr>
              <a:buFont typeface="Arial"/>
              <a:buChar char="•"/>
              <a:defRPr/>
            </a:lvl1pPr>
            <a:lvl2pPr>
              <a:buFont typeface="Arial"/>
              <a:buChar char="•"/>
              <a:defRPr/>
            </a:lvl2pPr>
            <a:lvl3pPr>
              <a:buFont typeface="Arial"/>
              <a:buChar char="•"/>
              <a:defRPr/>
            </a:lvl3pPr>
            <a:lvl4pPr>
              <a:buFont typeface="Arial"/>
              <a:buChar char="•"/>
              <a:defRPr/>
            </a:lvl4pPr>
            <a:lvl5pPr>
              <a:buFont typeface="Arial"/>
              <a:buChar char="•"/>
              <a:defRPr/>
            </a:lvl5pPr>
            <a:lvl6pPr>
              <a:buFont typeface="Arial"/>
              <a:buChar char="•"/>
              <a:defRPr/>
            </a:lvl6pPr>
            <a:lvl7pPr>
              <a:buFont typeface="Arial"/>
              <a:buChar char="•"/>
              <a:defRPr/>
            </a:lvl7pPr>
            <a:lvl8pPr>
              <a:buFont typeface="Arial"/>
              <a:buChar char="•"/>
              <a:defRPr/>
            </a:lvl8pPr>
            <a:lvl9pPr>
              <a:buFont typeface="Arial"/>
              <a:buChar char="•"/>
              <a:defRPr/>
            </a:lvl9pPr>
          </a:lstStyle>
          <a:p>
            <a:pPr lvl="0">
              <a:buNone/>
              <a:defRPr/>
            </a:pPr>
            <a:r>
              <a:rPr/>
              <a:t>Click to edit Master text styles</a:t>
            </a:r>
            <a:endParaRPr/>
          </a:p>
          <a:p>
            <a:pPr lvl="1">
              <a:buNone/>
              <a:defRPr/>
            </a:pPr>
            <a:r>
              <a:rPr/>
              <a:t>Second level</a:t>
            </a:r>
            <a:endParaRPr/>
          </a:p>
          <a:p>
            <a:pPr lvl="2">
              <a:buNone/>
              <a:defRPr/>
            </a:pPr>
            <a:r>
              <a:rPr/>
              <a:t>Third level</a:t>
            </a:r>
            <a:endParaRPr/>
          </a:p>
          <a:p>
            <a:pPr lvl="3">
              <a:buNone/>
              <a:defRPr/>
            </a:pPr>
            <a:r>
              <a:rPr/>
              <a:t>Fourth level</a:t>
            </a:r>
            <a:endParaRPr/>
          </a:p>
          <a:p>
            <a:pPr lvl="4">
              <a:buNone/>
              <a:defRPr/>
            </a:pPr>
            <a:r>
              <a:rPr/>
              <a:t>Fifth level</a:t>
            </a:r>
            <a:endParaRPr/>
          </a:p>
        </p:txBody>
      </p:sp>
      <p:sp>
        <p:nvSpPr>
          <p:cNvPr id="1028303294" name="Content Placeholder 3"/>
          <p:cNvSpPr>
            <a:spLocks noGrp="1"/>
          </p:cNvSpPr>
          <p:nvPr>
            <p:ph idx="2"/>
          </p:nvPr>
        </p:nvSpPr>
        <p:spPr bwMode="auto">
          <a:xfrm>
            <a:off x="6172200" y="1825624"/>
            <a:ext cx="5181599" cy="4351338"/>
          </a:xfrm>
        </p:spPr>
        <p:txBody>
          <a:bodyPr/>
          <a:lstStyle>
            <a:lvl1pPr>
              <a:buFont typeface="Arial"/>
              <a:buChar char="•"/>
              <a:defRPr/>
            </a:lvl1pPr>
            <a:lvl2pPr>
              <a:buFont typeface="Arial"/>
              <a:buChar char="•"/>
              <a:defRPr/>
            </a:lvl2pPr>
            <a:lvl3pPr>
              <a:buFont typeface="Arial"/>
              <a:buChar char="•"/>
              <a:defRPr/>
            </a:lvl3pPr>
            <a:lvl4pPr>
              <a:buFont typeface="Arial"/>
              <a:buChar char="•"/>
              <a:defRPr/>
            </a:lvl4pPr>
            <a:lvl5pPr>
              <a:buFont typeface="Arial"/>
              <a:buChar char="•"/>
              <a:defRPr/>
            </a:lvl5pPr>
            <a:lvl6pPr>
              <a:buFont typeface="Arial"/>
              <a:buChar char="•"/>
              <a:defRPr/>
            </a:lvl6pPr>
            <a:lvl7pPr>
              <a:buFont typeface="Arial"/>
              <a:buChar char="•"/>
              <a:defRPr/>
            </a:lvl7pPr>
            <a:lvl8pPr>
              <a:buFont typeface="Arial"/>
              <a:buChar char="•"/>
              <a:defRPr/>
            </a:lvl8pPr>
            <a:lvl9pPr>
              <a:buFont typeface="Arial"/>
              <a:buChar char="•"/>
              <a:defRPr/>
            </a:lvl9pPr>
          </a:lstStyle>
          <a:p>
            <a:pPr lvl="0">
              <a:buNone/>
              <a:defRPr/>
            </a:pPr>
            <a:r>
              <a:rPr/>
              <a:t>Click to edit Master text styles</a:t>
            </a:r>
            <a:endParaRPr/>
          </a:p>
          <a:p>
            <a:pPr lvl="1">
              <a:buNone/>
              <a:defRPr/>
            </a:pPr>
            <a:r>
              <a:rPr/>
              <a:t>Second level</a:t>
            </a:r>
            <a:endParaRPr/>
          </a:p>
          <a:p>
            <a:pPr lvl="2">
              <a:buNone/>
              <a:defRPr/>
            </a:pPr>
            <a:r>
              <a:rPr/>
              <a:t>Third level</a:t>
            </a:r>
            <a:endParaRPr/>
          </a:p>
          <a:p>
            <a:pPr lvl="3">
              <a:buNone/>
              <a:defRPr/>
            </a:pPr>
            <a:r>
              <a:rPr/>
              <a:t>Fourth level</a:t>
            </a:r>
            <a:endParaRPr/>
          </a:p>
          <a:p>
            <a:pPr lvl="4">
              <a:buNone/>
              <a:defRPr/>
            </a:pPr>
            <a:r>
              <a:rPr/>
              <a:t>Fifth level</a:t>
            </a:r>
            <a:endParaRPr/>
          </a:p>
        </p:txBody>
      </p:sp>
      <p:sp>
        <p:nvSpPr>
          <p:cNvPr id="763486738" name="Date Placeholder 4"/>
          <p:cNvSpPr>
            <a:spLocks noGrp="1"/>
          </p:cNvSpPr>
          <p:nvPr>
            <p:ph type="dt" idx="10"/>
          </p:nvPr>
        </p:nvSpPr>
        <p:spPr bwMode="auto"/>
        <p:txBody>
          <a:bodyPr/>
          <a:lstStyle/>
          <a:p>
            <a:pPr>
              <a:buNone/>
              <a:defRPr/>
            </a:pPr>
            <a:fld id="{BCC18F51-09EC-435C-A3BA-64A766E099C0}" type="datetimeFigureOut">
              <a:rPr/>
              <a:t>30.10.2013</a:t>
            </a:fld>
            <a:endParaRPr/>
          </a:p>
        </p:txBody>
      </p:sp>
      <p:sp>
        <p:nvSpPr>
          <p:cNvPr id="317275645" name="Footer Placeholder 5"/>
          <p:cNvSpPr>
            <a:spLocks noGrp="1"/>
          </p:cNvSpPr>
          <p:nvPr>
            <p:ph type="ftr" idx="11"/>
          </p:nvPr>
        </p:nvSpPr>
        <p:spPr bwMode="auto"/>
        <p:txBody>
          <a:bodyPr/>
          <a:lstStyle/>
          <a:p>
            <a:pPr>
              <a:buNone/>
              <a:defRPr/>
            </a:pPr>
            <a:endParaRPr/>
          </a:p>
        </p:txBody>
      </p:sp>
      <p:sp>
        <p:nvSpPr>
          <p:cNvPr id="1961623890" name="Slide Number Placeholder 6"/>
          <p:cNvSpPr>
            <a:spLocks noGrp="1"/>
          </p:cNvSpPr>
          <p:nvPr>
            <p:ph type="sldNum" idx="12"/>
          </p:nvPr>
        </p:nvSpPr>
        <p:spPr bwMode="auto"/>
        <p:txBody>
          <a:bodyPr/>
          <a:lstStyle/>
          <a:p>
            <a:pPr>
              <a:buNone/>
              <a:defRPr/>
            </a:pPr>
            <a:fld id="{08395586-F03A-48D1-94DF-16B239DF4FB5}" type="slidenum">
              <a:rPr/>
              <a:t>‹#›</a:t>
            </a:fld>
            <a:endParaRPr/>
          </a:p>
        </p:txBody>
      </p:sp>
      <p:sp>
        <p:nvSpPr>
          <p:cNvPr id="1090699181" name="Rectangle 640957806"/>
          <p:cNvSpPr>
            <a:spLocks noGrp="1"/>
          </p:cNvSpPr>
          <p:nvPr/>
        </p:nvSpPr>
        <p:spPr bwMode="auto">
          <a:xfrm rot="0" flipH="0" flipV="0">
            <a:off x="2070" y="6121172"/>
            <a:ext cx="12213769" cy="72000"/>
          </a:xfrm>
          <a:prstGeom prst="rect">
            <a:avLst/>
          </a:prstGeom>
          <a:solidFill>
            <a:schemeClr val="accent2">
              <a:lumMod val="75000"/>
            </a:schemeClr>
          </a:solidFill>
          <a:ln w="12700" cmpd="sng">
            <a:noFill/>
            <a:prstDash val="solid"/>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bg>
      <p:bgPr shadeToTitle="0">
        <a:gradFill>
          <a:gsLst>
            <a:gs pos="0">
              <a:schemeClr val="tx2">
                <a:lumMod val="20000"/>
                <a:lumOff val="80000"/>
                <a:alpha val="44999"/>
              </a:schemeClr>
            </a:gs>
            <a:gs pos="50000">
              <a:srgbClr val="FFFFFF">
                <a:alpha val="44999"/>
              </a:srgbClr>
            </a:gs>
          </a:gsLst>
          <a:lin ang="10800000" scaled="1"/>
        </a:gradFill>
      </p:bgPr>
    </p:bg>
    <p:spTree>
      <p:nvGrpSpPr>
        <p:cNvPr id="1" name=""/>
        <p:cNvGrpSpPr/>
        <p:nvPr/>
      </p:nvGrpSpPr>
      <p:grpSpPr bwMode="auto">
        <a:xfrm>
          <a:off x="0" y="0"/>
          <a:ext cx="0" cy="0"/>
          <a:chOff x="0" y="0"/>
          <a:chExt cx="0" cy="0"/>
        </a:xfrm>
      </p:grpSpPr>
      <p:sp>
        <p:nvSpPr>
          <p:cNvPr id="1503349187" name="Title 1"/>
          <p:cNvSpPr>
            <a:spLocks noGrp="1"/>
          </p:cNvSpPr>
          <p:nvPr>
            <p:ph type="title" idx="0"/>
          </p:nvPr>
        </p:nvSpPr>
        <p:spPr bwMode="auto">
          <a:xfrm>
            <a:off x="839787" y="365124"/>
            <a:ext cx="10515600" cy="1325562"/>
          </a:xfrm>
        </p:spPr>
        <p:txBody>
          <a:bodyPr/>
          <a:lstStyle>
            <a:lvl1pPr algn="ctr">
              <a:buNone/>
              <a:defRPr/>
            </a:lvl1pPr>
            <a:lvl2pPr algn="ctr">
              <a:buNone/>
              <a:defRPr/>
            </a:lvl2pPr>
            <a:lvl3pPr algn="ctr">
              <a:buNone/>
              <a:defRPr/>
            </a:lvl3pPr>
            <a:lvl4pPr algn="ctr">
              <a:buNone/>
              <a:defRPr/>
            </a:lvl4pPr>
            <a:lvl5pPr algn="ctr">
              <a:buNone/>
              <a:defRPr/>
            </a:lvl5pPr>
            <a:lvl6pPr algn="ctr">
              <a:buNone/>
              <a:defRPr/>
            </a:lvl6pPr>
            <a:lvl7pPr algn="ctr">
              <a:buNone/>
              <a:defRPr/>
            </a:lvl7pPr>
            <a:lvl8pPr algn="ctr">
              <a:buNone/>
              <a:defRPr/>
            </a:lvl8pPr>
            <a:lvl9pPr algn="ctr">
              <a:buNone/>
              <a:defRPr/>
            </a:lvl9pPr>
          </a:lstStyle>
          <a:p>
            <a:pPr>
              <a:buNone/>
              <a:defRPr/>
            </a:pPr>
            <a:r>
              <a:rPr/>
              <a:t>Click to edit Master title style</a:t>
            </a:r>
            <a:endParaRPr/>
          </a:p>
        </p:txBody>
      </p:sp>
      <p:sp>
        <p:nvSpPr>
          <p:cNvPr id="673384808" name="Text Placeholder 2"/>
          <p:cNvSpPr>
            <a:spLocks noGrp="1"/>
          </p:cNvSpPr>
          <p:nvPr>
            <p:ph type="body" idx="1"/>
          </p:nvPr>
        </p:nvSpPr>
        <p:spPr bwMode="auto">
          <a:xfrm flipH="0" flipV="0">
            <a:off x="839786" y="1690686"/>
            <a:ext cx="5157784" cy="814385"/>
          </a:xfrm>
        </p:spPr>
        <p:txBody>
          <a:bodyPr vert="horz" wrap="square" lIns="182880" tIns="182880" rIns="182880" bIns="91440" anchor="ctr">
            <a:normAutofit/>
          </a:bodyPr>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defRPr/>
            </a:pPr>
            <a:r>
              <a:rPr/>
              <a:t>Click to edit Master text styles</a:t>
            </a:r>
            <a:endParaRPr/>
          </a:p>
        </p:txBody>
      </p:sp>
      <p:sp>
        <p:nvSpPr>
          <p:cNvPr id="1813899825" name="Content Placeholder 3"/>
          <p:cNvSpPr>
            <a:spLocks noGrp="1"/>
          </p:cNvSpPr>
          <p:nvPr>
            <p:ph idx="2"/>
          </p:nvPr>
        </p:nvSpPr>
        <p:spPr bwMode="auto">
          <a:xfrm>
            <a:off x="839787" y="2505073"/>
            <a:ext cx="5157785" cy="3684587"/>
          </a:xfrm>
        </p:spPr>
        <p:txBody>
          <a:bodyPr/>
          <a:lstStyle>
            <a:lvl1pPr>
              <a:buFont typeface="Arial"/>
              <a:buChar char="•"/>
              <a:defRPr/>
            </a:lvl1pPr>
            <a:lvl2pPr>
              <a:buFont typeface="Arial"/>
              <a:buChar char="•"/>
              <a:defRPr/>
            </a:lvl2pPr>
            <a:lvl3pPr>
              <a:buFont typeface="Arial"/>
              <a:buChar char="•"/>
              <a:defRPr/>
            </a:lvl3pPr>
            <a:lvl4pPr>
              <a:buFont typeface="Arial"/>
              <a:buChar char="•"/>
              <a:defRPr/>
            </a:lvl4pPr>
            <a:lvl5pPr>
              <a:buFont typeface="Arial"/>
              <a:buChar char="•"/>
              <a:defRPr/>
            </a:lvl5pPr>
            <a:lvl6pPr>
              <a:buFont typeface="Arial"/>
              <a:buChar char="•"/>
              <a:defRPr/>
            </a:lvl6pPr>
            <a:lvl7pPr>
              <a:buFont typeface="Arial"/>
              <a:buChar char="•"/>
              <a:defRPr/>
            </a:lvl7pPr>
            <a:lvl8pPr>
              <a:buFont typeface="Arial"/>
              <a:buChar char="•"/>
              <a:defRPr/>
            </a:lvl8pPr>
            <a:lvl9pPr>
              <a:buFont typeface="Arial"/>
              <a:buChar char="•"/>
              <a:defRPr/>
            </a:lvl9pPr>
          </a:lstStyle>
          <a:p>
            <a:pPr lvl="0">
              <a:buNone/>
              <a:defRPr/>
            </a:pPr>
            <a:r>
              <a:rPr/>
              <a:t>Click to edit Master text styles</a:t>
            </a:r>
            <a:endParaRPr/>
          </a:p>
          <a:p>
            <a:pPr lvl="1">
              <a:buNone/>
              <a:defRPr/>
            </a:pPr>
            <a:r>
              <a:rPr/>
              <a:t>Second level</a:t>
            </a:r>
            <a:endParaRPr/>
          </a:p>
          <a:p>
            <a:pPr lvl="2">
              <a:buNone/>
              <a:defRPr/>
            </a:pPr>
            <a:r>
              <a:rPr/>
              <a:t>Third level</a:t>
            </a:r>
            <a:endParaRPr/>
          </a:p>
          <a:p>
            <a:pPr lvl="3">
              <a:buNone/>
              <a:defRPr/>
            </a:pPr>
            <a:r>
              <a:rPr/>
              <a:t>Fourth level</a:t>
            </a:r>
            <a:endParaRPr/>
          </a:p>
          <a:p>
            <a:pPr lvl="4">
              <a:buNone/>
              <a:defRPr/>
            </a:pPr>
            <a:r>
              <a:rPr/>
              <a:t>Fifth level</a:t>
            </a:r>
            <a:endParaRPr/>
          </a:p>
        </p:txBody>
      </p:sp>
      <p:sp>
        <p:nvSpPr>
          <p:cNvPr id="1041621740" name="Text Placeholder 4"/>
          <p:cNvSpPr>
            <a:spLocks noGrp="1"/>
          </p:cNvSpPr>
          <p:nvPr>
            <p:ph type="body" idx="3"/>
          </p:nvPr>
        </p:nvSpPr>
        <p:spPr bwMode="auto">
          <a:xfrm flipH="0" flipV="0">
            <a:off x="6172198" y="1690686"/>
            <a:ext cx="5183186" cy="814385"/>
          </a:xfrm>
        </p:spPr>
        <p:txBody>
          <a:bodyPr vert="horz" wrap="square" lIns="182880" tIns="182880" rIns="182880" bIns="91440" anchor="ctr">
            <a:normAutofit/>
          </a:bodyPr>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defRPr/>
            </a:pPr>
            <a:r>
              <a:rPr/>
              <a:t>Click to edit Master text styles</a:t>
            </a:r>
            <a:endParaRPr/>
          </a:p>
        </p:txBody>
      </p:sp>
      <p:sp>
        <p:nvSpPr>
          <p:cNvPr id="1603232800" name="Content Placeholder 5"/>
          <p:cNvSpPr>
            <a:spLocks noGrp="1"/>
          </p:cNvSpPr>
          <p:nvPr>
            <p:ph idx="4"/>
          </p:nvPr>
        </p:nvSpPr>
        <p:spPr bwMode="auto">
          <a:xfrm>
            <a:off x="6172200" y="2505073"/>
            <a:ext cx="5183187" cy="3684587"/>
          </a:xfrm>
        </p:spPr>
        <p:txBody>
          <a:bodyPr/>
          <a:lstStyle>
            <a:lvl1pPr>
              <a:buFont typeface="Arial"/>
              <a:buChar char="•"/>
              <a:defRPr/>
            </a:lvl1pPr>
            <a:lvl2pPr>
              <a:buFont typeface="Arial"/>
              <a:buChar char="•"/>
              <a:defRPr/>
            </a:lvl2pPr>
            <a:lvl3pPr>
              <a:buFont typeface="Arial"/>
              <a:buChar char="•"/>
              <a:defRPr/>
            </a:lvl3pPr>
            <a:lvl4pPr>
              <a:buFont typeface="Arial"/>
              <a:buChar char="•"/>
              <a:defRPr/>
            </a:lvl4pPr>
            <a:lvl5pPr>
              <a:buFont typeface="Arial"/>
              <a:buChar char="•"/>
              <a:defRPr/>
            </a:lvl5pPr>
            <a:lvl6pPr>
              <a:buFont typeface="Arial"/>
              <a:buChar char="•"/>
              <a:defRPr/>
            </a:lvl6pPr>
            <a:lvl7pPr>
              <a:buFont typeface="Arial"/>
              <a:buChar char="•"/>
              <a:defRPr/>
            </a:lvl7pPr>
            <a:lvl8pPr>
              <a:buFont typeface="Arial"/>
              <a:buChar char="•"/>
              <a:defRPr/>
            </a:lvl8pPr>
            <a:lvl9pPr>
              <a:buFont typeface="Arial"/>
              <a:buChar char="•"/>
              <a:defRPr/>
            </a:lvl9pPr>
          </a:lstStyle>
          <a:p>
            <a:pPr lvl="0">
              <a:buNone/>
              <a:defRPr/>
            </a:pPr>
            <a:r>
              <a:rPr/>
              <a:t>Click to edit Master text styles</a:t>
            </a:r>
            <a:endParaRPr/>
          </a:p>
          <a:p>
            <a:pPr lvl="1">
              <a:buNone/>
              <a:defRPr/>
            </a:pPr>
            <a:r>
              <a:rPr/>
              <a:t>Second level</a:t>
            </a:r>
            <a:endParaRPr/>
          </a:p>
          <a:p>
            <a:pPr lvl="2">
              <a:buNone/>
              <a:defRPr/>
            </a:pPr>
            <a:r>
              <a:rPr/>
              <a:t>Third level</a:t>
            </a:r>
            <a:endParaRPr/>
          </a:p>
          <a:p>
            <a:pPr lvl="3">
              <a:buNone/>
              <a:defRPr/>
            </a:pPr>
            <a:r>
              <a:rPr/>
              <a:t>Fourth level</a:t>
            </a:r>
            <a:endParaRPr/>
          </a:p>
          <a:p>
            <a:pPr lvl="4">
              <a:buNone/>
              <a:defRPr/>
            </a:pPr>
            <a:r>
              <a:rPr/>
              <a:t>Fifth level</a:t>
            </a:r>
            <a:endParaRPr/>
          </a:p>
        </p:txBody>
      </p:sp>
      <p:sp>
        <p:nvSpPr>
          <p:cNvPr id="266546693" name="Date Placeholder 6"/>
          <p:cNvSpPr>
            <a:spLocks noGrp="1"/>
          </p:cNvSpPr>
          <p:nvPr>
            <p:ph type="dt" idx="10"/>
          </p:nvPr>
        </p:nvSpPr>
        <p:spPr bwMode="auto"/>
        <p:txBody>
          <a:bodyPr/>
          <a:lstStyle/>
          <a:p>
            <a:pPr>
              <a:buNone/>
              <a:defRPr/>
            </a:pPr>
            <a:fld id="{BCC18F51-09EC-435C-A3BA-64A766E099C0}" type="datetimeFigureOut">
              <a:rPr/>
              <a:t>30.10.2013</a:t>
            </a:fld>
            <a:endParaRPr/>
          </a:p>
        </p:txBody>
      </p:sp>
      <p:sp>
        <p:nvSpPr>
          <p:cNvPr id="139915976" name="Footer Placeholder 7"/>
          <p:cNvSpPr>
            <a:spLocks noGrp="1"/>
          </p:cNvSpPr>
          <p:nvPr>
            <p:ph type="ftr" idx="11"/>
          </p:nvPr>
        </p:nvSpPr>
        <p:spPr bwMode="auto"/>
        <p:txBody>
          <a:bodyPr/>
          <a:lstStyle/>
          <a:p>
            <a:pPr>
              <a:buNone/>
              <a:defRPr/>
            </a:pPr>
            <a:endParaRPr/>
          </a:p>
        </p:txBody>
      </p:sp>
      <p:sp>
        <p:nvSpPr>
          <p:cNvPr id="1009250643" name="Slide Number Placeholder 8"/>
          <p:cNvSpPr>
            <a:spLocks noGrp="1"/>
          </p:cNvSpPr>
          <p:nvPr>
            <p:ph type="sldNum" idx="12"/>
          </p:nvPr>
        </p:nvSpPr>
        <p:spPr bwMode="auto"/>
        <p:txBody>
          <a:bodyPr/>
          <a:lstStyle/>
          <a:p>
            <a:pPr>
              <a:buNone/>
              <a:defRPr/>
            </a:pPr>
            <a:fld id="{08395586-F03A-48D1-94DF-16B239DF4FB5}" type="slidenum">
              <a:rPr/>
              <a:t>‹#›</a:t>
            </a:fld>
            <a:endParaRPr/>
          </a:p>
        </p:txBody>
      </p:sp>
      <p:sp>
        <p:nvSpPr>
          <p:cNvPr id="1740794959" name="Rectangle 640957806"/>
          <p:cNvSpPr>
            <a:spLocks noGrp="1"/>
          </p:cNvSpPr>
          <p:nvPr/>
        </p:nvSpPr>
        <p:spPr bwMode="auto">
          <a:xfrm rot="0" flipH="0" flipV="0">
            <a:off x="2330779" y="1690686"/>
            <a:ext cx="7530436" cy="73152"/>
          </a:xfrm>
          <a:prstGeom prst="rect">
            <a:avLst/>
          </a:prstGeom>
          <a:solidFill>
            <a:schemeClr val="accent2">
              <a:lumMod val="75000"/>
            </a:schemeClr>
          </a:solidFill>
          <a:ln w="12700" cmpd="sng">
            <a:noFill/>
            <a:prstDash val="solid"/>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bg>
      <p:bgPr shadeToTitle="0">
        <a:gradFill>
          <a:gsLst>
            <a:gs pos="0">
              <a:schemeClr val="tx2">
                <a:lumMod val="75000"/>
              </a:schemeClr>
            </a:gs>
            <a:gs pos="100000">
              <a:schemeClr val="tx2"/>
            </a:gs>
          </a:gsLst>
          <a:lin ang="10800000" scaled="1"/>
        </a:gradFill>
      </p:bgPr>
    </p:bg>
    <p:spTree>
      <p:nvGrpSpPr>
        <p:cNvPr id="1" name=""/>
        <p:cNvGrpSpPr/>
        <p:nvPr/>
      </p:nvGrpSpPr>
      <p:grpSpPr bwMode="auto">
        <a:xfrm>
          <a:off x="0" y="0"/>
          <a:ext cx="0" cy="0"/>
          <a:chOff x="0" y="0"/>
          <a:chExt cx="0" cy="0"/>
        </a:xfrm>
      </p:grpSpPr>
      <p:sp>
        <p:nvSpPr>
          <p:cNvPr id="26710004" name="Title 1"/>
          <p:cNvSpPr>
            <a:spLocks noGrp="1"/>
          </p:cNvSpPr>
          <p:nvPr>
            <p:ph type="title" idx="0"/>
          </p:nvPr>
        </p:nvSpPr>
        <p:spPr bwMode="auto">
          <a:xfrm>
            <a:off x="839787" y="457200"/>
            <a:ext cx="3932236" cy="1600200"/>
          </a:xfrm>
        </p:spPr>
        <p:txBody>
          <a:bodyPr vert="horz" wrap="square" lIns="91440" tIns="45720" rIns="91440" bIns="45720" anchor="ctr">
            <a:normAutofit/>
          </a:bodyPr>
          <a:lstStyle>
            <a:lvl1pPr>
              <a:buNone/>
              <a:defRPr sz="3200">
                <a:solidFill>
                  <a:schemeClr val="bg1"/>
                </a:solidFill>
              </a:defRPr>
            </a:lvl1pPr>
          </a:lstStyle>
          <a:p>
            <a:pPr>
              <a:buNone/>
              <a:defRPr/>
            </a:pPr>
            <a:r>
              <a:rPr/>
              <a:t>Click to edit Master title style</a:t>
            </a:r>
            <a:endParaRPr/>
          </a:p>
        </p:txBody>
      </p:sp>
      <p:sp>
        <p:nvSpPr>
          <p:cNvPr id="812979175" name="Picture Placeholder 2"/>
          <p:cNvSpPr>
            <a:spLocks noGrp="1"/>
          </p:cNvSpPr>
          <p:nvPr>
            <p:ph type="pic" idx="1"/>
          </p:nvPr>
        </p:nvSpPr>
        <p:spPr bwMode="auto">
          <a:xfrm flipH="0" flipV="0">
            <a:off x="5183186" y="457198"/>
            <a:ext cx="6172200" cy="5403847"/>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buNone/>
              <a:defRPr/>
            </a:pPr>
            <a:r>
              <a:rPr/>
              <a:t>Click icon to add picture</a:t>
            </a:r>
            <a:endParaRPr/>
          </a:p>
        </p:txBody>
      </p:sp>
      <p:sp>
        <p:nvSpPr>
          <p:cNvPr id="1329978563" name="Text Placeholder 3"/>
          <p:cNvSpPr>
            <a:spLocks noGrp="1"/>
          </p:cNvSpPr>
          <p:nvPr>
            <p:ph type="body" idx="2"/>
          </p:nvPr>
        </p:nvSpPr>
        <p:spPr bwMode="auto">
          <a:xfrm>
            <a:off x="839787" y="2057400"/>
            <a:ext cx="3932236" cy="3811587"/>
          </a:xfrm>
        </p:spPr>
        <p:txBody>
          <a:bodyPr/>
          <a:lstStyle>
            <a:lvl1pPr marL="0" indent="0">
              <a:buNone/>
              <a:defRPr sz="2400">
                <a:solidFill>
                  <a:schemeClr val="bg1"/>
                </a:solidFill>
              </a:defRPr>
            </a:lvl1pPr>
            <a:lvl2pPr marL="457200" indent="0">
              <a:buNone/>
              <a:defRPr sz="2400"/>
            </a:lvl2pPr>
            <a:lvl3pPr marL="914400" indent="0">
              <a:buNone/>
              <a:defRPr sz="2400"/>
            </a:lvl3pPr>
            <a:lvl4pPr marL="1371600" indent="0">
              <a:buNone/>
              <a:defRPr sz="2400"/>
            </a:lvl4pPr>
            <a:lvl5pPr marL="1828800" indent="0">
              <a:buNone/>
              <a:defRPr sz="2400"/>
            </a:lvl5pPr>
            <a:lvl6pPr marL="2286000" indent="0">
              <a:buNone/>
              <a:defRPr sz="2400"/>
            </a:lvl6pPr>
            <a:lvl7pPr marL="2743200" indent="0">
              <a:buNone/>
              <a:defRPr sz="2400"/>
            </a:lvl7pPr>
            <a:lvl8pPr marL="3200400" indent="0">
              <a:buNone/>
              <a:defRPr sz="2400"/>
            </a:lvl8pPr>
            <a:lvl9pPr marL="3657600" indent="0">
              <a:buNone/>
              <a:defRPr sz="2400"/>
            </a:lvl9pPr>
          </a:lstStyle>
          <a:p>
            <a:pPr lvl="0">
              <a:buNone/>
              <a:defRPr/>
            </a:pPr>
            <a:r>
              <a:rPr/>
              <a:t>Click to edit Master text styles</a:t>
            </a:r>
            <a:endParaRPr/>
          </a:p>
        </p:txBody>
      </p:sp>
      <p:sp>
        <p:nvSpPr>
          <p:cNvPr id="135320596" name="Date Placeholder 4"/>
          <p:cNvSpPr>
            <a:spLocks noGrp="1"/>
          </p:cNvSpPr>
          <p:nvPr>
            <p:ph type="dt" idx="10"/>
          </p:nvPr>
        </p:nvSpPr>
        <p:spPr bwMode="auto"/>
        <p:txBody>
          <a:bodyPr/>
          <a:lstStyle/>
          <a:p>
            <a:pPr>
              <a:buNone/>
              <a:defRPr/>
            </a:pPr>
            <a:fld id="{BCC18F51-09EC-435C-A3BA-64A766E099C0}" type="datetimeFigureOut">
              <a:rPr/>
              <a:t>30.10.2013</a:t>
            </a:fld>
            <a:endParaRPr/>
          </a:p>
        </p:txBody>
      </p:sp>
      <p:sp>
        <p:nvSpPr>
          <p:cNvPr id="1995351127" name="Footer Placeholder 5"/>
          <p:cNvSpPr>
            <a:spLocks noGrp="1"/>
          </p:cNvSpPr>
          <p:nvPr>
            <p:ph type="ftr" idx="11"/>
          </p:nvPr>
        </p:nvSpPr>
        <p:spPr bwMode="auto"/>
        <p:txBody>
          <a:bodyPr/>
          <a:lstStyle/>
          <a:p>
            <a:pPr>
              <a:buNone/>
              <a:defRPr/>
            </a:pPr>
            <a:endParaRPr/>
          </a:p>
        </p:txBody>
      </p:sp>
      <p:sp>
        <p:nvSpPr>
          <p:cNvPr id="1683767823" name="Slide Number Placeholder 6"/>
          <p:cNvSpPr>
            <a:spLocks noGrp="1"/>
          </p:cNvSpPr>
          <p:nvPr>
            <p:ph type="sldNum" idx="12"/>
          </p:nvPr>
        </p:nvSpPr>
        <p:spPr bwMode="auto"/>
        <p:txBody>
          <a:bodyPr/>
          <a:lstStyle/>
          <a:p>
            <a:pPr>
              <a:buNone/>
              <a:defRPr/>
            </a:pPr>
            <a:fld id="{08395586-F03A-48D1-94DF-16B239DF4FB5}" type="slidenum">
              <a:rPr/>
              <a:t>‹#›</a:t>
            </a:fld>
            <a:endParaRPr/>
          </a:p>
        </p:txBody>
      </p:sp>
      <p:sp>
        <p:nvSpPr>
          <p:cNvPr id="185262133" name="Rectangle 640957806"/>
          <p:cNvSpPr>
            <a:spLocks noGrp="1"/>
          </p:cNvSpPr>
          <p:nvPr/>
        </p:nvSpPr>
        <p:spPr bwMode="auto">
          <a:xfrm rot="0" flipH="0" flipV="0">
            <a:off x="838197" y="1984248"/>
            <a:ext cx="3933823" cy="73152"/>
          </a:xfrm>
          <a:prstGeom prst="rect">
            <a:avLst/>
          </a:prstGeom>
          <a:solidFill>
            <a:schemeClr val="accent2">
              <a:lumMod val="75000"/>
            </a:schemeClr>
          </a:solidFill>
          <a:ln w="12700" cmpd="sng">
            <a:noFill/>
            <a:prstDash val="solid"/>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bg>
      <p:bgPr shadeToTitle="0">
        <a:gradFill>
          <a:gsLst>
            <a:gs pos="0">
              <a:schemeClr val="tx2"/>
            </a:gs>
            <a:gs pos="100000">
              <a:schemeClr val="tx2">
                <a:lumMod val="75000"/>
              </a:schemeClr>
            </a:gs>
          </a:gsLst>
          <a:lin ang="16200000" scaled="1"/>
        </a:gradFill>
      </p:bgPr>
    </p:bg>
    <p:spTree>
      <p:nvGrpSpPr>
        <p:cNvPr id="1" name=""/>
        <p:cNvGrpSpPr/>
        <p:nvPr/>
      </p:nvGrpSpPr>
      <p:grpSpPr bwMode="auto">
        <a:xfrm>
          <a:off x="0" y="0"/>
          <a:ext cx="0" cy="0"/>
          <a:chOff x="0" y="0"/>
          <a:chExt cx="0" cy="0"/>
        </a:xfrm>
      </p:grpSpPr>
      <p:pic>
        <p:nvPicPr>
          <p:cNvPr id="752255627" name=""/>
          <p:cNvPicPr>
            <a:picLocks noChangeAspect="1"/>
          </p:cNvPicPr>
          <p:nvPr/>
        </p:nvPicPr>
        <p:blipFill rotWithShape="1">
          <a:blip r:embed="rId2">
            <a:alphaModFix amt="30000"/>
          </a:blip>
          <a:stretch/>
        </p:blipFill>
        <p:spPr bwMode="auto">
          <a:xfrm flipH="0" flipV="0">
            <a:off x="20620" y="8103"/>
            <a:ext cx="12216844" cy="6858000"/>
          </a:xfrm>
          <a:prstGeom prst="rect">
            <a:avLst/>
          </a:prstGeom>
        </p:spPr>
      </p:pic>
      <p:sp>
        <p:nvSpPr>
          <p:cNvPr id="1154013676" name="Title 1"/>
          <p:cNvSpPr>
            <a:spLocks noGrp="1"/>
          </p:cNvSpPr>
          <p:nvPr>
            <p:ph type="title" idx="0"/>
          </p:nvPr>
        </p:nvSpPr>
        <p:spPr bwMode="auto">
          <a:xfrm>
            <a:off x="838197" y="2455619"/>
            <a:ext cx="10515600" cy="1325561"/>
          </a:xfrm>
        </p:spPr>
        <p:txBody>
          <a:bodyPr/>
          <a:lstStyle>
            <a:lvl1pPr algn="ctr">
              <a:buNone/>
              <a:defRPr>
                <a:solidFill>
                  <a:schemeClr val="bg1"/>
                </a:solidFill>
              </a:defRPr>
            </a:lvl1pPr>
            <a:lvl2pPr algn="ctr">
              <a:buNone/>
              <a:defRPr>
                <a:solidFill>
                  <a:schemeClr val="bg1"/>
                </a:solidFill>
              </a:defRPr>
            </a:lvl2pPr>
            <a:lvl3pPr algn="ctr">
              <a:buNone/>
              <a:defRPr>
                <a:solidFill>
                  <a:schemeClr val="bg1"/>
                </a:solidFill>
              </a:defRPr>
            </a:lvl3pPr>
            <a:lvl4pPr algn="ctr">
              <a:buNone/>
              <a:defRPr>
                <a:solidFill>
                  <a:schemeClr val="bg1"/>
                </a:solidFill>
              </a:defRPr>
            </a:lvl4pPr>
            <a:lvl5pPr algn="ctr">
              <a:buNone/>
              <a:defRPr>
                <a:solidFill>
                  <a:schemeClr val="bg1"/>
                </a:solidFill>
              </a:defRPr>
            </a:lvl5pPr>
            <a:lvl6pPr algn="ctr">
              <a:buNone/>
              <a:defRPr>
                <a:solidFill>
                  <a:schemeClr val="bg1"/>
                </a:solidFill>
              </a:defRPr>
            </a:lvl6pPr>
            <a:lvl7pPr algn="ctr">
              <a:buNone/>
              <a:defRPr>
                <a:solidFill>
                  <a:schemeClr val="bg1"/>
                </a:solidFill>
              </a:defRPr>
            </a:lvl7pPr>
            <a:lvl8pPr algn="ctr">
              <a:buNone/>
              <a:defRPr>
                <a:solidFill>
                  <a:schemeClr val="bg1"/>
                </a:solidFill>
              </a:defRPr>
            </a:lvl8pPr>
            <a:lvl9pPr algn="ctr">
              <a:buNone/>
              <a:defRPr>
                <a:solidFill>
                  <a:schemeClr val="bg1"/>
                </a:solidFill>
              </a:defRPr>
            </a:lvl9pPr>
          </a:lstStyle>
          <a:p>
            <a:pPr>
              <a:buNone/>
              <a:defRPr/>
            </a:pPr>
            <a:r>
              <a:rPr/>
              <a:t>Click to edit Master title style</a:t>
            </a:r>
            <a:endParaRPr/>
          </a:p>
        </p:txBody>
      </p:sp>
      <p:sp>
        <p:nvSpPr>
          <p:cNvPr id="2059698597" name="Date Placeholder 2"/>
          <p:cNvSpPr>
            <a:spLocks noGrp="1"/>
          </p:cNvSpPr>
          <p:nvPr>
            <p:ph type="dt" idx="10"/>
          </p:nvPr>
        </p:nvSpPr>
        <p:spPr bwMode="auto"/>
        <p:txBody>
          <a:bodyPr/>
          <a:lstStyle/>
          <a:p>
            <a:pPr>
              <a:buNone/>
              <a:defRPr/>
            </a:pPr>
            <a:fld id="{BCC18F51-09EC-435C-A3BA-64A766E099C0}" type="datetimeFigureOut">
              <a:rPr/>
              <a:t>30.10.2013</a:t>
            </a:fld>
            <a:endParaRPr/>
          </a:p>
        </p:txBody>
      </p:sp>
      <p:sp>
        <p:nvSpPr>
          <p:cNvPr id="562420660" name="Footer Placeholder 3"/>
          <p:cNvSpPr>
            <a:spLocks noGrp="1"/>
          </p:cNvSpPr>
          <p:nvPr>
            <p:ph type="ftr" idx="11"/>
          </p:nvPr>
        </p:nvSpPr>
        <p:spPr bwMode="auto"/>
        <p:txBody>
          <a:bodyPr/>
          <a:lstStyle/>
          <a:p>
            <a:pPr>
              <a:buNone/>
              <a:defRPr/>
            </a:pPr>
            <a:endParaRPr/>
          </a:p>
        </p:txBody>
      </p:sp>
      <p:sp>
        <p:nvSpPr>
          <p:cNvPr id="138300739" name="Slide Number Placeholder 4"/>
          <p:cNvSpPr>
            <a:spLocks noGrp="1"/>
          </p:cNvSpPr>
          <p:nvPr>
            <p:ph type="sldNum" idx="12"/>
          </p:nvPr>
        </p:nvSpPr>
        <p:spPr bwMode="auto"/>
        <p:txBody>
          <a:bodyPr/>
          <a:lstStyle/>
          <a:p>
            <a:pPr>
              <a:buNone/>
              <a:defRPr/>
            </a:pPr>
            <a:fld id="{08395586-F03A-48D1-94DF-16B239DF4FB5}" type="slidenum">
              <a:rP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1137087242" name="Date Placeholder 1"/>
          <p:cNvSpPr>
            <a:spLocks noGrp="1"/>
          </p:cNvSpPr>
          <p:nvPr>
            <p:ph type="dt" idx="10"/>
          </p:nvPr>
        </p:nvSpPr>
        <p:spPr bwMode="auto"/>
        <p:txBody>
          <a:bodyPr/>
          <a:lstStyle/>
          <a:p>
            <a:pPr>
              <a:buNone/>
              <a:defRPr/>
            </a:pPr>
            <a:fld id="{BCC18F51-09EC-435C-A3BA-64A766E099C0}" type="datetimeFigureOut">
              <a:rPr/>
              <a:t>30.10.2013</a:t>
            </a:fld>
            <a:endParaRPr/>
          </a:p>
        </p:txBody>
      </p:sp>
      <p:sp>
        <p:nvSpPr>
          <p:cNvPr id="965942678" name="Footer Placeholder 2"/>
          <p:cNvSpPr>
            <a:spLocks noGrp="1"/>
          </p:cNvSpPr>
          <p:nvPr>
            <p:ph type="ftr" idx="11"/>
          </p:nvPr>
        </p:nvSpPr>
        <p:spPr bwMode="auto"/>
        <p:txBody>
          <a:bodyPr/>
          <a:lstStyle/>
          <a:p>
            <a:pPr>
              <a:buNone/>
              <a:defRPr/>
            </a:pPr>
            <a:endParaRPr/>
          </a:p>
        </p:txBody>
      </p:sp>
      <p:sp>
        <p:nvSpPr>
          <p:cNvPr id="1324647100" name="Slide Number Placeholder 3"/>
          <p:cNvSpPr>
            <a:spLocks noGrp="1"/>
          </p:cNvSpPr>
          <p:nvPr>
            <p:ph type="sldNum" idx="12"/>
          </p:nvPr>
        </p:nvSpPr>
        <p:spPr bwMode="auto"/>
        <p:txBody>
          <a:bodyPr/>
          <a:lstStyle/>
          <a:p>
            <a:pPr>
              <a:buNone/>
              <a:defRPr/>
            </a:pPr>
            <a:fld id="{08395586-F03A-48D1-94DF-16B239DF4FB5}" type="slidenum">
              <a:rP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1583169276" name="Title 1"/>
          <p:cNvSpPr>
            <a:spLocks noGrp="1"/>
          </p:cNvSpPr>
          <p:nvPr>
            <p:ph type="title" idx="0"/>
          </p:nvPr>
        </p:nvSpPr>
        <p:spPr bwMode="auto">
          <a:xfrm>
            <a:off x="839787" y="457200"/>
            <a:ext cx="3932236" cy="1600200"/>
          </a:xfrm>
        </p:spPr>
        <p:txBody>
          <a:bodyPr anchor="b"/>
          <a:lstStyle>
            <a:lvl1pPr>
              <a:buNone/>
              <a:defRPr sz="3200"/>
            </a:lvl1pPr>
          </a:lstStyle>
          <a:p>
            <a:pPr>
              <a:buNone/>
              <a:defRPr/>
            </a:pPr>
            <a:r>
              <a:rPr/>
              <a:t>Click to edit Master title style</a:t>
            </a:r>
            <a:endParaRPr/>
          </a:p>
        </p:txBody>
      </p:sp>
      <p:sp>
        <p:nvSpPr>
          <p:cNvPr id="1524033813" name="Content Placeholder 2"/>
          <p:cNvSpPr>
            <a:spLocks noGrp="1"/>
          </p:cNvSpPr>
          <p:nvPr>
            <p:ph idx="1"/>
          </p:nvPr>
        </p:nvSpPr>
        <p:spPr bwMode="auto">
          <a:xfrm>
            <a:off x="5183187" y="987424"/>
            <a:ext cx="6172200" cy="4873624"/>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defRPr/>
            </a:pPr>
            <a:r>
              <a:rPr/>
              <a:t>Click to edit Master text styles</a:t>
            </a:r>
            <a:endParaRPr/>
          </a:p>
          <a:p>
            <a:pPr lvl="1">
              <a:buNone/>
              <a:defRPr/>
            </a:pPr>
            <a:r>
              <a:rPr/>
              <a:t>Second level</a:t>
            </a:r>
            <a:endParaRPr/>
          </a:p>
          <a:p>
            <a:pPr lvl="2">
              <a:buNone/>
              <a:defRPr/>
            </a:pPr>
            <a:r>
              <a:rPr/>
              <a:t>Third level</a:t>
            </a:r>
            <a:endParaRPr/>
          </a:p>
          <a:p>
            <a:pPr lvl="3">
              <a:buNone/>
              <a:defRPr/>
            </a:pPr>
            <a:r>
              <a:rPr/>
              <a:t>Fourth level</a:t>
            </a:r>
            <a:endParaRPr/>
          </a:p>
          <a:p>
            <a:pPr lvl="4">
              <a:buNone/>
              <a:defRPr/>
            </a:pPr>
            <a:r>
              <a:rPr/>
              <a:t>Fifth level</a:t>
            </a:r>
            <a:endParaRPr/>
          </a:p>
        </p:txBody>
      </p:sp>
      <p:sp>
        <p:nvSpPr>
          <p:cNvPr id="419761829" name="Text Placeholder 3"/>
          <p:cNvSpPr>
            <a:spLocks noGrp="1"/>
          </p:cNvSpPr>
          <p:nvPr>
            <p:ph type="body" idx="2"/>
          </p:nvPr>
        </p:nvSpPr>
        <p:spPr bwMode="auto">
          <a:xfrm>
            <a:off x="839787" y="2057400"/>
            <a:ext cx="3932236" cy="3811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defRPr/>
            </a:pPr>
            <a:r>
              <a:rPr/>
              <a:t>Click to edit Master text styles</a:t>
            </a:r>
            <a:endParaRPr/>
          </a:p>
        </p:txBody>
      </p:sp>
      <p:sp>
        <p:nvSpPr>
          <p:cNvPr id="1794403817" name="Date Placeholder 4"/>
          <p:cNvSpPr>
            <a:spLocks noGrp="1"/>
          </p:cNvSpPr>
          <p:nvPr>
            <p:ph type="dt" idx="10"/>
          </p:nvPr>
        </p:nvSpPr>
        <p:spPr bwMode="auto"/>
        <p:txBody>
          <a:bodyPr/>
          <a:lstStyle/>
          <a:p>
            <a:pPr>
              <a:buNone/>
              <a:defRPr/>
            </a:pPr>
            <a:fld id="{BCC18F51-09EC-435C-A3BA-64A766E099C0}" type="datetimeFigureOut">
              <a:rPr/>
              <a:t>30.10.2013</a:t>
            </a:fld>
            <a:endParaRPr/>
          </a:p>
        </p:txBody>
      </p:sp>
      <p:sp>
        <p:nvSpPr>
          <p:cNvPr id="1404011208" name="Footer Placeholder 5"/>
          <p:cNvSpPr>
            <a:spLocks noGrp="1"/>
          </p:cNvSpPr>
          <p:nvPr>
            <p:ph type="ftr" idx="11"/>
          </p:nvPr>
        </p:nvSpPr>
        <p:spPr bwMode="auto"/>
        <p:txBody>
          <a:bodyPr/>
          <a:lstStyle/>
          <a:p>
            <a:pPr>
              <a:buNone/>
              <a:defRPr/>
            </a:pPr>
            <a:endParaRPr/>
          </a:p>
        </p:txBody>
      </p:sp>
      <p:sp>
        <p:nvSpPr>
          <p:cNvPr id="1339536781" name="Slide Number Placeholder 6"/>
          <p:cNvSpPr>
            <a:spLocks noGrp="1"/>
          </p:cNvSpPr>
          <p:nvPr>
            <p:ph type="sldNum" idx="12"/>
          </p:nvPr>
        </p:nvSpPr>
        <p:spPr bwMode="auto"/>
        <p:txBody>
          <a:bodyPr/>
          <a:lstStyle/>
          <a:p>
            <a:pPr>
              <a:buNone/>
              <a:defRPr/>
            </a:pPr>
            <a:fld id="{08395586-F03A-48D1-94DF-16B239DF4FB5}" type="slidenum">
              <a:rP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2085798320" name="Title 1"/>
          <p:cNvSpPr>
            <a:spLocks noGrp="1"/>
          </p:cNvSpPr>
          <p:nvPr>
            <p:ph type="title" idx="0"/>
          </p:nvPr>
        </p:nvSpPr>
        <p:spPr bwMode="auto"/>
        <p:txBody>
          <a:bodyPr/>
          <a:lstStyle/>
          <a:p>
            <a:pPr>
              <a:buNone/>
              <a:defRPr/>
            </a:pPr>
            <a:r>
              <a:rPr/>
              <a:t>Click to edit Master title style</a:t>
            </a:r>
            <a:endParaRPr/>
          </a:p>
        </p:txBody>
      </p:sp>
      <p:sp>
        <p:nvSpPr>
          <p:cNvPr id="558917028" name="Vertical Text Placeholder 2"/>
          <p:cNvSpPr>
            <a:spLocks noGrp="1"/>
          </p:cNvSpPr>
          <p:nvPr>
            <p:ph type="body" idx="1"/>
          </p:nvPr>
        </p:nvSpPr>
        <p:spPr bwMode="auto"/>
        <p:txBody>
          <a:bodyPr vert="eaVert"/>
          <a:lstStyle/>
          <a:p>
            <a:pPr lvl="0">
              <a:buNone/>
              <a:defRPr/>
            </a:pPr>
            <a:r>
              <a:rPr/>
              <a:t>Click to edit Master text styles</a:t>
            </a:r>
            <a:endParaRPr/>
          </a:p>
          <a:p>
            <a:pPr lvl="1">
              <a:buNone/>
              <a:defRPr/>
            </a:pPr>
            <a:r>
              <a:rPr/>
              <a:t>Second level</a:t>
            </a:r>
            <a:endParaRPr/>
          </a:p>
          <a:p>
            <a:pPr lvl="2">
              <a:buNone/>
              <a:defRPr/>
            </a:pPr>
            <a:r>
              <a:rPr/>
              <a:t>Third level</a:t>
            </a:r>
            <a:endParaRPr/>
          </a:p>
          <a:p>
            <a:pPr lvl="3">
              <a:buNone/>
              <a:defRPr/>
            </a:pPr>
            <a:r>
              <a:rPr/>
              <a:t>Fourth level</a:t>
            </a:r>
            <a:endParaRPr/>
          </a:p>
          <a:p>
            <a:pPr lvl="4">
              <a:buNone/>
              <a:defRPr/>
            </a:pPr>
            <a:r>
              <a:rPr/>
              <a:t>Fifth level</a:t>
            </a:r>
            <a:endParaRPr/>
          </a:p>
        </p:txBody>
      </p:sp>
      <p:sp>
        <p:nvSpPr>
          <p:cNvPr id="1204763708" name="Date Placeholder 3"/>
          <p:cNvSpPr>
            <a:spLocks noGrp="1"/>
          </p:cNvSpPr>
          <p:nvPr>
            <p:ph type="dt" idx="10"/>
          </p:nvPr>
        </p:nvSpPr>
        <p:spPr bwMode="auto"/>
        <p:txBody>
          <a:bodyPr/>
          <a:lstStyle/>
          <a:p>
            <a:pPr>
              <a:buNone/>
              <a:defRPr/>
            </a:pPr>
            <a:fld id="{BCC18F51-09EC-435C-A3BA-64A766E099C0}" type="datetimeFigureOut">
              <a:rPr/>
              <a:t>30.10.2013</a:t>
            </a:fld>
            <a:endParaRPr/>
          </a:p>
        </p:txBody>
      </p:sp>
      <p:sp>
        <p:nvSpPr>
          <p:cNvPr id="1804146696" name="Footer Placeholder 4"/>
          <p:cNvSpPr>
            <a:spLocks noGrp="1"/>
          </p:cNvSpPr>
          <p:nvPr>
            <p:ph type="ftr" idx="11"/>
          </p:nvPr>
        </p:nvSpPr>
        <p:spPr bwMode="auto"/>
        <p:txBody>
          <a:bodyPr/>
          <a:lstStyle/>
          <a:p>
            <a:pPr>
              <a:buNone/>
              <a:defRPr/>
            </a:pPr>
            <a:endParaRPr/>
          </a:p>
        </p:txBody>
      </p:sp>
      <p:sp>
        <p:nvSpPr>
          <p:cNvPr id="1539991883" name="Slide Number Placeholder 5"/>
          <p:cNvSpPr>
            <a:spLocks noGrp="1"/>
          </p:cNvSpPr>
          <p:nvPr>
            <p:ph type="sldNum" idx="12"/>
          </p:nvPr>
        </p:nvSpPr>
        <p:spPr bwMode="auto"/>
        <p:txBody>
          <a:bodyPr/>
          <a:lstStyle/>
          <a:p>
            <a:pPr>
              <a:buNone/>
              <a:defRPr/>
            </a:pPr>
            <a:fld id="{08395586-F03A-48D1-94DF-16B239DF4FB5}" type="slidenum">
              <a:rPr/>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1019597732" name="Vertical Title 1"/>
          <p:cNvSpPr>
            <a:spLocks noGrp="1"/>
          </p:cNvSpPr>
          <p:nvPr>
            <p:ph type="title" idx="0"/>
          </p:nvPr>
        </p:nvSpPr>
        <p:spPr bwMode="auto">
          <a:xfrm>
            <a:off x="8724899" y="365124"/>
            <a:ext cx="2628900" cy="5811837"/>
          </a:xfrm>
        </p:spPr>
        <p:txBody>
          <a:bodyPr vert="eaVert"/>
          <a:lstStyle/>
          <a:p>
            <a:pPr>
              <a:buNone/>
              <a:defRPr/>
            </a:pPr>
            <a:r>
              <a:rPr/>
              <a:t>Click to edit Master title style</a:t>
            </a:r>
            <a:endParaRPr/>
          </a:p>
        </p:txBody>
      </p:sp>
      <p:sp>
        <p:nvSpPr>
          <p:cNvPr id="2082584654" name="Vertical Text Placeholder 2"/>
          <p:cNvSpPr>
            <a:spLocks noGrp="1"/>
          </p:cNvSpPr>
          <p:nvPr>
            <p:ph type="body" idx="1"/>
          </p:nvPr>
        </p:nvSpPr>
        <p:spPr bwMode="auto">
          <a:xfrm>
            <a:off x="838198" y="365124"/>
            <a:ext cx="7734299" cy="5811837"/>
          </a:xfrm>
        </p:spPr>
        <p:txBody>
          <a:bodyPr vert="eaVert"/>
          <a:lstStyle/>
          <a:p>
            <a:pPr lvl="0">
              <a:buNone/>
              <a:defRPr/>
            </a:pPr>
            <a:r>
              <a:rPr/>
              <a:t>Click to edit Master text styles</a:t>
            </a:r>
            <a:endParaRPr/>
          </a:p>
          <a:p>
            <a:pPr lvl="1">
              <a:buNone/>
              <a:defRPr/>
            </a:pPr>
            <a:r>
              <a:rPr/>
              <a:t>Second level</a:t>
            </a:r>
            <a:endParaRPr/>
          </a:p>
          <a:p>
            <a:pPr lvl="2">
              <a:buNone/>
              <a:defRPr/>
            </a:pPr>
            <a:r>
              <a:rPr/>
              <a:t>Third level</a:t>
            </a:r>
            <a:endParaRPr/>
          </a:p>
          <a:p>
            <a:pPr lvl="3">
              <a:buNone/>
              <a:defRPr/>
            </a:pPr>
            <a:r>
              <a:rPr/>
              <a:t>Fourth level</a:t>
            </a:r>
            <a:endParaRPr/>
          </a:p>
          <a:p>
            <a:pPr lvl="4">
              <a:buNone/>
              <a:defRPr/>
            </a:pPr>
            <a:r>
              <a:rPr/>
              <a:t>Fifth level</a:t>
            </a:r>
            <a:endParaRPr/>
          </a:p>
        </p:txBody>
      </p:sp>
      <p:sp>
        <p:nvSpPr>
          <p:cNvPr id="1911978330" name="Date Placeholder 3"/>
          <p:cNvSpPr>
            <a:spLocks noGrp="1"/>
          </p:cNvSpPr>
          <p:nvPr>
            <p:ph type="dt" idx="10"/>
          </p:nvPr>
        </p:nvSpPr>
        <p:spPr bwMode="auto"/>
        <p:txBody>
          <a:bodyPr/>
          <a:lstStyle/>
          <a:p>
            <a:pPr>
              <a:buNone/>
              <a:defRPr/>
            </a:pPr>
            <a:fld id="{BCC18F51-09EC-435C-A3BA-64A766E099C0}" type="datetimeFigureOut">
              <a:rPr/>
              <a:t>30.10.2013</a:t>
            </a:fld>
            <a:endParaRPr/>
          </a:p>
        </p:txBody>
      </p:sp>
      <p:sp>
        <p:nvSpPr>
          <p:cNvPr id="2043728069" name="Footer Placeholder 4"/>
          <p:cNvSpPr>
            <a:spLocks noGrp="1"/>
          </p:cNvSpPr>
          <p:nvPr>
            <p:ph type="ftr" idx="11"/>
          </p:nvPr>
        </p:nvSpPr>
        <p:spPr bwMode="auto"/>
        <p:txBody>
          <a:bodyPr/>
          <a:lstStyle/>
          <a:p>
            <a:pPr>
              <a:buNone/>
              <a:defRPr/>
            </a:pPr>
            <a:endParaRPr/>
          </a:p>
        </p:txBody>
      </p:sp>
      <p:sp>
        <p:nvSpPr>
          <p:cNvPr id="1486087510" name="Slide Number Placeholder 5"/>
          <p:cNvSpPr>
            <a:spLocks noGrp="1"/>
          </p:cNvSpPr>
          <p:nvPr>
            <p:ph type="sldNum" idx="12"/>
          </p:nvPr>
        </p:nvSpPr>
        <p:spPr bwMode="auto"/>
        <p:txBody>
          <a:bodyPr/>
          <a:lstStyle/>
          <a:p>
            <a:pPr>
              <a:buNone/>
              <a:defRPr/>
            </a:pPr>
            <a:fld id="{08395586-F03A-48D1-94DF-16B239DF4FB5}" type="slidenum">
              <a:rPr/>
              <a:t>‹#›</a:t>
            </a:fld>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gradFill>
          <a:gsLst>
            <a:gs pos="0">
              <a:schemeClr val="tx2">
                <a:lumMod val="20000"/>
                <a:lumOff val="80000"/>
              </a:schemeClr>
            </a:gs>
            <a:gs pos="100000">
              <a:srgbClr val="FFFFFF"/>
            </a:gs>
          </a:gsLst>
          <a:path path="circle"/>
        </a:gradFill>
      </p:bgPr>
    </p:bg>
    <p:spTree>
      <p:nvGrpSpPr>
        <p:cNvPr id="1" name=""/>
        <p:cNvGrpSpPr/>
        <p:nvPr/>
      </p:nvGrpSpPr>
      <p:grpSpPr bwMode="auto">
        <a:xfrm>
          <a:off x="0" y="0"/>
          <a:ext cx="0" cy="0"/>
          <a:chOff x="0" y="0"/>
          <a:chExt cx="0" cy="0"/>
        </a:xfrm>
      </p:grpSpPr>
      <p:sp>
        <p:nvSpPr>
          <p:cNvPr id="182677872" name="Title Placeholder 1"/>
          <p:cNvSpPr>
            <a:spLocks noGrp="1"/>
          </p:cNvSpPr>
          <p:nvPr>
            <p:ph type="title" idx="0"/>
          </p:nvPr>
        </p:nvSpPr>
        <p:spPr bwMode="auto">
          <a:xfrm>
            <a:off x="838198" y="365124"/>
            <a:ext cx="10515600" cy="1325562"/>
          </a:xfrm>
          <a:prstGeom prst="rect">
            <a:avLst/>
          </a:prstGeom>
        </p:spPr>
        <p:txBody>
          <a:bodyPr vert="horz" lIns="91440" tIns="45720" rIns="91440" bIns="45720" anchor="ctr">
            <a:normAutofit/>
          </a:bodyPr>
          <a:lstStyle>
            <a:lvl1pPr>
              <a:buNone/>
              <a:defRPr b="1"/>
            </a:lvl1pPr>
          </a:lstStyle>
          <a:p>
            <a:pPr>
              <a:buNone/>
              <a:defRPr/>
            </a:pPr>
            <a:r>
              <a:rPr/>
              <a:t>Click to edit Master title style</a:t>
            </a:r>
            <a:endParaRPr/>
          </a:p>
        </p:txBody>
      </p:sp>
      <p:sp>
        <p:nvSpPr>
          <p:cNvPr id="1215219570" name="Text Placeholder 2"/>
          <p:cNvSpPr>
            <a:spLocks noGrp="1"/>
          </p:cNvSpPr>
          <p:nvPr>
            <p:ph type="body" idx="1"/>
          </p:nvPr>
        </p:nvSpPr>
        <p:spPr bwMode="auto">
          <a:xfrm rot="0" flipH="0" flipV="0">
            <a:off x="841248" y="1828800"/>
            <a:ext cx="10515600" cy="4351338"/>
          </a:xfrm>
          <a:prstGeom prst="rect">
            <a:avLst/>
          </a:prstGeom>
        </p:spPr>
        <p:txBody>
          <a:bodyPr vert="horz" wrap="square" lIns="182880" tIns="182880" rIns="182880" bIns="91440" anchor="t">
            <a:normAutofit/>
          </a:bodyPr>
          <a:lstStyle>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a:pPr lvl="0">
              <a:buNone/>
              <a:defRPr/>
            </a:pPr>
            <a:r>
              <a:rPr/>
              <a:t>Click to edit Master text styles</a:t>
            </a:r>
            <a:endParaRPr/>
          </a:p>
          <a:p>
            <a:pPr lvl="1">
              <a:buNone/>
              <a:defRPr/>
            </a:pPr>
            <a:r>
              <a:rPr/>
              <a:t>Second level</a:t>
            </a:r>
            <a:endParaRPr/>
          </a:p>
          <a:p>
            <a:pPr lvl="2">
              <a:buNone/>
              <a:defRPr/>
            </a:pPr>
            <a:r>
              <a:rPr/>
              <a:t>Third level</a:t>
            </a:r>
            <a:endParaRPr/>
          </a:p>
          <a:p>
            <a:pPr lvl="3">
              <a:buNone/>
              <a:defRPr/>
            </a:pPr>
            <a:r>
              <a:rPr/>
              <a:t>Fourth level</a:t>
            </a:r>
            <a:endParaRPr/>
          </a:p>
          <a:p>
            <a:pPr lvl="4">
              <a:buNone/>
              <a:defRPr/>
            </a:pPr>
            <a:r>
              <a:rPr/>
              <a:t>Fifth level</a:t>
            </a:r>
            <a:endParaRPr/>
          </a:p>
        </p:txBody>
      </p:sp>
      <p:sp>
        <p:nvSpPr>
          <p:cNvPr id="2011037293" name="Date Placeholder 3"/>
          <p:cNvSpPr>
            <a:spLocks noGrp="1"/>
          </p:cNvSpPr>
          <p:nvPr>
            <p:ph type="dt" idx="2"/>
          </p:nvPr>
        </p:nvSpPr>
        <p:spPr bwMode="auto">
          <a:xfrm>
            <a:off x="838198" y="6356349"/>
            <a:ext cx="2743200" cy="365124"/>
          </a:xfrm>
          <a:prstGeom prst="rect">
            <a:avLst/>
          </a:prstGeom>
        </p:spPr>
        <p:txBody>
          <a:bodyPr vert="horz" lIns="91440" tIns="45720" rIns="91440" bIns="45720" anchor="ctr"/>
          <a:lstStyle>
            <a:lvl1pPr algn="l">
              <a:buNone/>
              <a:defRPr sz="1200">
                <a:solidFill>
                  <a:schemeClr val="tx1">
                    <a:tint val="75000"/>
                  </a:schemeClr>
                </a:solidFill>
              </a:defRPr>
            </a:lvl1pPr>
          </a:lstStyle>
          <a:p>
            <a:pPr>
              <a:buNone/>
              <a:defRPr/>
            </a:pPr>
            <a:fld id="{BCC18F51-09EC-435C-A3BA-64A766E099C0}" type="datetimeFigureOut">
              <a:rPr/>
              <a:t>30.10.2013</a:t>
            </a:fld>
            <a:endParaRPr/>
          </a:p>
        </p:txBody>
      </p:sp>
      <p:sp>
        <p:nvSpPr>
          <p:cNvPr id="648028021" name="Footer Placeholder 4"/>
          <p:cNvSpPr>
            <a:spLocks noGrp="1"/>
          </p:cNvSpPr>
          <p:nvPr>
            <p:ph type="ftr" idx="3"/>
          </p:nvPr>
        </p:nvSpPr>
        <p:spPr bwMode="auto">
          <a:xfrm>
            <a:off x="4038598" y="6356349"/>
            <a:ext cx="4114800" cy="365124"/>
          </a:xfrm>
          <a:prstGeom prst="rect">
            <a:avLst/>
          </a:prstGeom>
        </p:spPr>
        <p:txBody>
          <a:bodyPr vert="horz" lIns="91440" tIns="45720" rIns="91440" bIns="45720" anchor="ctr"/>
          <a:lstStyle>
            <a:lvl1pPr algn="ctr">
              <a:buNone/>
              <a:defRPr sz="1200">
                <a:solidFill>
                  <a:schemeClr val="tx1">
                    <a:tint val="75000"/>
                  </a:schemeClr>
                </a:solidFill>
              </a:defRPr>
            </a:lvl1pPr>
          </a:lstStyle>
          <a:p>
            <a:pPr>
              <a:buNone/>
              <a:defRPr/>
            </a:pPr>
            <a:endParaRPr/>
          </a:p>
        </p:txBody>
      </p:sp>
      <p:sp>
        <p:nvSpPr>
          <p:cNvPr id="1390662702" name="Slide Number Placeholder 5"/>
          <p:cNvSpPr>
            <a:spLocks noGrp="1"/>
          </p:cNvSpPr>
          <p:nvPr>
            <p:ph type="sldNum" idx="4"/>
          </p:nvPr>
        </p:nvSpPr>
        <p:spPr bwMode="auto">
          <a:xfrm>
            <a:off x="8610599" y="6356349"/>
            <a:ext cx="2743200" cy="365124"/>
          </a:xfrm>
          <a:prstGeom prst="rect">
            <a:avLst/>
          </a:prstGeom>
        </p:spPr>
        <p:txBody>
          <a:bodyPr vert="horz" lIns="91440" tIns="45720" rIns="91440" bIns="45720" anchor="ctr"/>
          <a:lstStyle>
            <a:lvl1pPr algn="r">
              <a:buNone/>
              <a:defRPr sz="1200">
                <a:solidFill>
                  <a:schemeClr val="tx1">
                    <a:tint val="75000"/>
                  </a:schemeClr>
                </a:solidFill>
              </a:defRPr>
            </a:lvl1pPr>
          </a:lstStyle>
          <a:p>
            <a:pPr>
              <a:buNone/>
              <a:defRPr/>
            </a:pPr>
            <a:fld id="{08395586-F03A-48D1-94DF-16B239DF4FB5}" type="slidenum">
              <a:rPr/>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a:lnSpc>
          <a:spcPct val="90000"/>
        </a:lnSpc>
        <a:spcBef>
          <a:spcPts val="0"/>
        </a:spcBef>
        <a:buNone/>
        <a:defRPr sz="4400">
          <a:solidFill>
            <a:schemeClr val="tx1"/>
          </a:solidFill>
          <a:latin typeface="+mj-lt"/>
          <a:ea typeface="+mj-lt"/>
          <a:cs typeface="+mj-lt"/>
        </a:defRPr>
      </a:lvl1pPr>
    </p:titleStyle>
    <p:bodyStyle>
      <a:lvl1pPr marL="228600" indent="-228600" algn="l" defTabSz="914400">
        <a:lnSpc>
          <a:spcPct val="90000"/>
        </a:lnSpc>
        <a:spcBef>
          <a:spcPts val="999"/>
        </a:spcBef>
        <a:buFont typeface="Arial"/>
        <a:buChar char="•"/>
        <a:defRPr sz="2800">
          <a:solidFill>
            <a:schemeClr val="tx1"/>
          </a:solidFill>
          <a:latin typeface="+mn-lt"/>
          <a:ea typeface="+mn-lt"/>
          <a:cs typeface="+mn-lt"/>
        </a:defRPr>
      </a:lvl1pPr>
      <a:lvl2pPr marL="685800" indent="-228600" algn="l" defTabSz="914400">
        <a:lnSpc>
          <a:spcPct val="90000"/>
        </a:lnSpc>
        <a:spcBef>
          <a:spcPts val="499"/>
        </a:spcBef>
        <a:buFont typeface="Arial"/>
        <a:buChar char="•"/>
        <a:defRPr sz="2400">
          <a:solidFill>
            <a:schemeClr val="tx1"/>
          </a:solidFill>
          <a:latin typeface="+mn-lt"/>
          <a:ea typeface="+mn-lt"/>
          <a:cs typeface="+mn-lt"/>
        </a:defRPr>
      </a:lvl2pPr>
      <a:lvl3pPr marL="1143000" indent="-228600" algn="l" defTabSz="914400">
        <a:lnSpc>
          <a:spcPct val="90000"/>
        </a:lnSpc>
        <a:spcBef>
          <a:spcPts val="499"/>
        </a:spcBef>
        <a:buFont typeface="Arial"/>
        <a:buChar char="•"/>
        <a:defRPr sz="2000">
          <a:solidFill>
            <a:schemeClr val="tx1"/>
          </a:solidFill>
          <a:latin typeface="+mn-lt"/>
          <a:ea typeface="+mn-lt"/>
          <a:cs typeface="+mn-lt"/>
        </a:defRPr>
      </a:lvl3pPr>
      <a:lvl4pPr marL="1600200" indent="-228600" algn="l" defTabSz="914400">
        <a:lnSpc>
          <a:spcPct val="90000"/>
        </a:lnSpc>
        <a:spcBef>
          <a:spcPts val="499"/>
        </a:spcBef>
        <a:buFont typeface="Arial"/>
        <a:buChar char="•"/>
        <a:defRPr sz="1800">
          <a:solidFill>
            <a:schemeClr val="tx1"/>
          </a:solidFill>
          <a:latin typeface="+mn-lt"/>
          <a:ea typeface="+mn-lt"/>
          <a:cs typeface="+mn-lt"/>
        </a:defRPr>
      </a:lvl4pPr>
      <a:lvl5pPr marL="2057400" indent="-228600" algn="l" defTabSz="914400">
        <a:lnSpc>
          <a:spcPct val="90000"/>
        </a:lnSpc>
        <a:spcBef>
          <a:spcPts val="499"/>
        </a:spcBef>
        <a:buFont typeface="Arial"/>
        <a:buChar char="•"/>
        <a:defRPr sz="1800">
          <a:solidFill>
            <a:schemeClr val="tx1"/>
          </a:solidFill>
          <a:latin typeface="+mn-lt"/>
          <a:ea typeface="+mn-lt"/>
          <a:cs typeface="+mn-lt"/>
        </a:defRPr>
      </a:lvl5pPr>
      <a:lvl6pPr marL="2514599" indent="-228600" algn="l" defTabSz="914400">
        <a:lnSpc>
          <a:spcPct val="90000"/>
        </a:lnSpc>
        <a:spcBef>
          <a:spcPts val="499"/>
        </a:spcBef>
        <a:buFont typeface="Arial"/>
        <a:buChar char="•"/>
        <a:defRPr sz="1800">
          <a:solidFill>
            <a:schemeClr val="tx1"/>
          </a:solidFill>
          <a:latin typeface="+mn-lt"/>
          <a:ea typeface="+mn-lt"/>
          <a:cs typeface="+mn-lt"/>
        </a:defRPr>
      </a:lvl6pPr>
      <a:lvl7pPr marL="2971800" indent="-228600" algn="l" defTabSz="914400">
        <a:lnSpc>
          <a:spcPct val="90000"/>
        </a:lnSpc>
        <a:spcBef>
          <a:spcPts val="499"/>
        </a:spcBef>
        <a:buFont typeface="Arial"/>
        <a:buChar char="•"/>
        <a:defRPr sz="1800">
          <a:solidFill>
            <a:schemeClr val="tx1"/>
          </a:solidFill>
          <a:latin typeface="+mn-lt"/>
          <a:ea typeface="+mn-lt"/>
          <a:cs typeface="+mn-lt"/>
        </a:defRPr>
      </a:lvl7pPr>
      <a:lvl8pPr marL="3429000" indent="-228600" algn="l" defTabSz="914400">
        <a:lnSpc>
          <a:spcPct val="90000"/>
        </a:lnSpc>
        <a:spcBef>
          <a:spcPts val="499"/>
        </a:spcBef>
        <a:buFont typeface="Arial"/>
        <a:buChar char="•"/>
        <a:defRPr sz="1800">
          <a:solidFill>
            <a:schemeClr val="tx1"/>
          </a:solidFill>
          <a:latin typeface="+mn-lt"/>
          <a:ea typeface="+mn-lt"/>
          <a:cs typeface="+mn-lt"/>
        </a:defRPr>
      </a:lvl8pPr>
      <a:lvl9pPr marL="3886200" indent="-228600" algn="l" defTabSz="914400">
        <a:lnSpc>
          <a:spcPct val="90000"/>
        </a:lnSpc>
        <a:spcBef>
          <a:spcPts val="499"/>
        </a:spcBef>
        <a:buFont typeface="Arial"/>
        <a:buChar char="•"/>
        <a:defRPr sz="1800">
          <a:solidFill>
            <a:schemeClr val="tx1"/>
          </a:solidFill>
          <a:latin typeface="+mn-lt"/>
          <a:ea typeface="+mn-lt"/>
          <a:cs typeface="+mn-lt"/>
        </a:defRPr>
      </a:lvl9pPr>
    </p:bodyStyle>
    <p:otherStyle>
      <a:lvl1pPr marL="0" algn="l" defTabSz="914400">
        <a:buNone/>
        <a:defRPr sz="1800">
          <a:solidFill>
            <a:schemeClr val="tx1"/>
          </a:solidFill>
          <a:latin typeface="+mn-lt"/>
          <a:ea typeface="+mn-lt"/>
          <a:cs typeface="+mn-lt"/>
        </a:defRPr>
      </a:lvl1pPr>
      <a:lvl2pPr marL="457200" algn="l" defTabSz="914400">
        <a:buNone/>
        <a:defRPr sz="1800">
          <a:solidFill>
            <a:schemeClr val="tx1"/>
          </a:solidFill>
          <a:latin typeface="+mn-lt"/>
          <a:ea typeface="+mn-lt"/>
          <a:cs typeface="+mn-lt"/>
        </a:defRPr>
      </a:lvl2pPr>
      <a:lvl3pPr marL="914400" algn="l" defTabSz="914400">
        <a:buNone/>
        <a:defRPr sz="1800">
          <a:solidFill>
            <a:schemeClr val="tx1"/>
          </a:solidFill>
          <a:latin typeface="+mn-lt"/>
          <a:ea typeface="+mn-lt"/>
          <a:cs typeface="+mn-lt"/>
        </a:defRPr>
      </a:lvl3pPr>
      <a:lvl4pPr marL="1371600" algn="l" defTabSz="914400">
        <a:buNone/>
        <a:defRPr sz="1800">
          <a:solidFill>
            <a:schemeClr val="tx1"/>
          </a:solidFill>
          <a:latin typeface="+mn-lt"/>
          <a:ea typeface="+mn-lt"/>
          <a:cs typeface="+mn-lt"/>
        </a:defRPr>
      </a:lvl4pPr>
      <a:lvl5pPr marL="1828800" algn="l" defTabSz="914400">
        <a:buNone/>
        <a:defRPr sz="1800">
          <a:solidFill>
            <a:schemeClr val="tx1"/>
          </a:solidFill>
          <a:latin typeface="+mn-lt"/>
          <a:ea typeface="+mn-lt"/>
          <a:cs typeface="+mn-lt"/>
        </a:defRPr>
      </a:lvl5pPr>
      <a:lvl6pPr marL="2286000" algn="l" defTabSz="914400">
        <a:buNone/>
        <a:defRPr sz="1800">
          <a:solidFill>
            <a:schemeClr val="tx1"/>
          </a:solidFill>
          <a:latin typeface="+mn-lt"/>
          <a:ea typeface="+mn-lt"/>
          <a:cs typeface="+mn-lt"/>
        </a:defRPr>
      </a:lvl6pPr>
      <a:lvl7pPr marL="2743200" algn="l" defTabSz="914400">
        <a:buNone/>
        <a:defRPr sz="1800">
          <a:solidFill>
            <a:schemeClr val="tx1"/>
          </a:solidFill>
          <a:latin typeface="+mn-lt"/>
          <a:ea typeface="+mn-lt"/>
          <a:cs typeface="+mn-lt"/>
        </a:defRPr>
      </a:lvl7pPr>
      <a:lvl8pPr marL="3200400" algn="l" defTabSz="914400">
        <a:buNone/>
        <a:defRPr sz="1800">
          <a:solidFill>
            <a:schemeClr val="tx1"/>
          </a:solidFill>
          <a:latin typeface="+mn-lt"/>
          <a:ea typeface="+mn-lt"/>
          <a:cs typeface="+mn-lt"/>
        </a:defRPr>
      </a:lvl8pPr>
      <a:lvl9pPr marL="3657600" algn="l" defTabSz="914400">
        <a:buNone/>
        <a:defRPr sz="1800">
          <a:solidFill>
            <a:schemeClr val="tx1"/>
          </a:solidFill>
          <a:latin typeface="+mn-lt"/>
          <a:ea typeface="+mn-lt"/>
          <a:cs typeface="+mn-lt"/>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media1.sv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media2.sv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media3.sv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media4.sv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media5.sv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media6.svg"/></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 Id="rId4" Type="http://schemas.openxmlformats.org/officeDocument/2006/relationships/image" Target="../media/media7.svg"/><Relationship Id="rId5" Type="http://schemas.openxmlformats.org/officeDocument/2006/relationships/image" Target="../media/image17.png"/><Relationship Id="rId6" Type="http://schemas.openxmlformats.org/officeDocument/2006/relationships/image" Target="../media/media8.svg"/><Relationship Id="rId7" Type="http://schemas.openxmlformats.org/officeDocument/2006/relationships/image" Target="../media/image18.png"/><Relationship Id="rId8" Type="http://schemas.openxmlformats.org/officeDocument/2006/relationships/image" Target="../media/media9.svg"/><Relationship Id="rId9" Type="http://schemas.openxmlformats.org/officeDocument/2006/relationships/image" Target="../media/image19.png"/><Relationship Id="rId10" Type="http://schemas.openxmlformats.org/officeDocument/2006/relationships/image" Target="../media/media10.svg"/><Relationship Id="rId11" Type="http://schemas.openxmlformats.org/officeDocument/2006/relationships/image" Target="../media/image20.png"/><Relationship Id="rId12" Type="http://schemas.openxmlformats.org/officeDocument/2006/relationships/image" Target="../media/media11.svg"/><Relationship Id="rId13" Type="http://schemas.openxmlformats.org/officeDocument/2006/relationships/image" Target="../media/image21.png"/><Relationship Id="rId14" Type="http://schemas.openxmlformats.org/officeDocument/2006/relationships/image" Target="../media/media12.svg"/></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2.png"/><Relationship Id="rId4" Type="http://schemas.openxmlformats.org/officeDocument/2006/relationships/image" Target="../media/media13.svg"/><Relationship Id="rId5" Type="http://schemas.openxmlformats.org/officeDocument/2006/relationships/image" Target="../media/image23.png"/><Relationship Id="rId6" Type="http://schemas.openxmlformats.org/officeDocument/2006/relationships/image" Target="../media/media14.sv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4.png"/><Relationship Id="rId4" Type="http://schemas.openxmlformats.org/officeDocument/2006/relationships/image" Target="../media/image25.png"/></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6.png"/></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8.png"/></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9.png"/></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30.jpg"/></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31.png"/><Relationship Id="rId4" Type="http://schemas.openxmlformats.org/officeDocument/2006/relationships/image" Target="../media/media15.svg"/></Relationships>
</file>

<file path=ppt/slides/_rels/slide6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32.png"/></Relationships>
</file>

<file path=ppt/slides/_rels/slide6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33.png"/></Relationships>
</file>

<file path=ppt/slides/_rels/slide6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hyperlink" Target="https://www.inceptionlabs.ai/blog/introducing-mercury-2" TargetMode="External"/></Relationships>
</file>

<file path=ppt/slides/_rels/slide6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70522027" name="Rectangle 1959211399"/>
          <p:cNvSpPr>
            <a:spLocks noGrp="1"/>
          </p:cNvSpPr>
          <p:nvPr/>
        </p:nvSpPr>
        <p:spPr bwMode="auto">
          <a:xfrm>
            <a:off x="666750" y="533400"/>
            <a:ext cx="8286750" cy="590549"/>
          </a:xfrm>
          <a:prstGeom prst="rect">
            <a:avLst/>
          </a:prstGeom>
          <a:noFill/>
          <a:ln w="0">
            <a:noFill/>
            <a:prstDash val="solid"/>
          </a:ln>
        </p:spPr>
        <p:txBody>
          <a:bodyPr/>
          <a:lstStyle/>
          <a:p>
            <a:pPr algn="l">
              <a:buNone/>
              <a:defRPr sz="3750" b="1">
                <a:solidFill>
                  <a:srgbClr val="0B0F19"/>
                </a:solidFill>
              </a:defRPr>
            </a:pPr>
            <a:r>
              <a:rPr sz="3750" b="1">
                <a:solidFill>
                  <a:srgbClr val="0B0F19"/>
                </a:solidFill>
              </a:rPr>
              <a:t>From Linear Regression to GPT</a:t>
            </a:r>
            <a:endParaRPr/>
          </a:p>
        </p:txBody>
      </p:sp>
      <p:sp>
        <p:nvSpPr>
          <p:cNvPr id="1517447114" name="Rectangle 1850301699"/>
          <p:cNvSpPr>
            <a:spLocks noGrp="1"/>
          </p:cNvSpPr>
          <p:nvPr/>
        </p:nvSpPr>
        <p:spPr bwMode="auto">
          <a:xfrm>
            <a:off x="704850" y="1219200"/>
            <a:ext cx="2476500" cy="381000"/>
          </a:xfrm>
          <a:prstGeom prst="rect">
            <a:avLst/>
          </a:prstGeom>
          <a:noFill/>
          <a:ln w="0">
            <a:noFill/>
            <a:prstDash val="solid"/>
          </a:ln>
        </p:spPr>
        <p:txBody>
          <a:bodyPr/>
          <a:lstStyle/>
          <a:p>
            <a:pPr algn="l">
              <a:buNone/>
              <a:defRPr sz="2250" b="1">
                <a:solidFill>
                  <a:srgbClr val="2563EB"/>
                </a:solidFill>
              </a:defRPr>
            </a:pPr>
            <a:r>
              <a:rPr sz="2250" b="1">
                <a:solidFill>
                  <a:srgbClr val="2563EB"/>
                </a:solidFill>
              </a:rPr>
              <a:t>Roadmap</a:t>
            </a:r>
            <a:endParaRPr/>
          </a:p>
        </p:txBody>
      </p:sp>
      <p:sp>
        <p:nvSpPr>
          <p:cNvPr id="1198086477" name="Rectangle 2018958639"/>
          <p:cNvSpPr>
            <a:spLocks noGrp="1"/>
          </p:cNvSpPr>
          <p:nvPr/>
        </p:nvSpPr>
        <p:spPr bwMode="auto">
          <a:xfrm>
            <a:off x="2667000" y="1257300"/>
            <a:ext cx="4953000" cy="323850"/>
          </a:xfrm>
          <a:prstGeom prst="rect">
            <a:avLst/>
          </a:prstGeom>
          <a:noFill/>
          <a:ln w="0">
            <a:noFill/>
            <a:prstDash val="solid"/>
          </a:ln>
        </p:spPr>
        <p:txBody>
          <a:bodyPr/>
          <a:lstStyle/>
          <a:p>
            <a:pPr algn="l">
              <a:buNone/>
              <a:defRPr sz="1750" b="0">
                <a:solidFill>
                  <a:srgbClr val="667085"/>
                </a:solidFill>
              </a:defRPr>
            </a:pPr>
            <a:r>
              <a:rPr sz="1750" b="0">
                <a:solidFill>
                  <a:srgbClr val="667085"/>
                </a:solidFill>
              </a:rPr>
              <a:t>From simple prediction to GPT</a:t>
            </a:r>
            <a:endParaRPr/>
          </a:p>
        </p:txBody>
      </p:sp>
      <p:sp>
        <p:nvSpPr>
          <p:cNvPr id="1514677013" name="Rectangle: Rounded Corners 90328709"/>
          <p:cNvSpPr>
            <a:spLocks noGrp="1"/>
          </p:cNvSpPr>
          <p:nvPr/>
        </p:nvSpPr>
        <p:spPr bwMode="auto">
          <a:xfrm>
            <a:off x="666750" y="2047875"/>
            <a:ext cx="10858500" cy="3333750"/>
          </a:xfrm>
          <a:prstGeom prst="roundRect">
            <a:avLst>
              <a:gd name="adj" fmla="val 2286"/>
            </a:avLst>
          </a:prstGeom>
          <a:solidFill>
            <a:srgbClr val="F8FAFC"/>
          </a:solidFill>
          <a:ln w="14288">
            <a:solidFill>
              <a:srgbClr val="E2E8F0"/>
            </a:solidFill>
            <a:prstDash val="solid"/>
          </a:ln>
        </p:spPr>
        <p:txBody>
          <a:bodyPr/>
          <a:lstStyle/>
          <a:p>
            <a:pPr>
              <a:buNone/>
              <a:defRPr/>
            </a:pPr>
            <a:endParaRPr/>
          </a:p>
        </p:txBody>
      </p:sp>
      <p:sp>
        <p:nvSpPr>
          <p:cNvPr id="1119166421" name="Straight Connector 453704306"/>
          <p:cNvSpPr>
            <a:spLocks noGrp="1"/>
          </p:cNvSpPr>
          <p:nvPr/>
        </p:nvSpPr>
        <p:spPr bwMode="auto">
          <a:xfrm>
            <a:off x="1524000" y="3714750"/>
            <a:ext cx="9144000" cy="9525"/>
          </a:xfrm>
          <a:prstGeom prst="line">
            <a:avLst/>
          </a:prstGeom>
          <a:noFill/>
          <a:ln w="47625">
            <a:solidFill>
              <a:srgbClr val="CBD5E1"/>
            </a:solidFill>
            <a:prstDash val="solid"/>
          </a:ln>
        </p:spPr>
        <p:txBody>
          <a:bodyPr/>
          <a:lstStyle/>
          <a:p>
            <a:pPr>
              <a:buNone/>
              <a:defRPr/>
            </a:pPr>
            <a:endParaRPr/>
          </a:p>
        </p:txBody>
      </p:sp>
      <p:sp>
        <p:nvSpPr>
          <p:cNvPr id="548758636" name="Oval 1383570775"/>
          <p:cNvSpPr>
            <a:spLocks noGrp="1"/>
          </p:cNvSpPr>
          <p:nvPr/>
        </p:nvSpPr>
        <p:spPr bwMode="auto">
          <a:xfrm>
            <a:off x="1219200" y="3314700"/>
            <a:ext cx="800100" cy="800100"/>
          </a:xfrm>
          <a:prstGeom prst="ellipse">
            <a:avLst/>
          </a:prstGeom>
          <a:solidFill>
            <a:srgbClr val="E0F2FE"/>
          </a:solidFill>
          <a:ln w="28575">
            <a:solidFill>
              <a:srgbClr val="2563EB"/>
            </a:solidFill>
            <a:prstDash val="solid"/>
          </a:ln>
        </p:spPr>
        <p:txBody>
          <a:bodyPr/>
          <a:lstStyle/>
          <a:p>
            <a:pPr algn="ctr">
              <a:buNone/>
              <a:defRPr sz="1650" b="1">
                <a:solidFill>
                  <a:srgbClr val="2563EB"/>
                </a:solidFill>
              </a:defRPr>
            </a:pPr>
            <a:r>
              <a:rPr sz="1650" b="1">
                <a:solidFill>
                  <a:srgbClr val="2563EB"/>
                </a:solidFill>
              </a:rPr>
              <a:t>01</a:t>
            </a:r>
            <a:endParaRPr/>
          </a:p>
        </p:txBody>
      </p:sp>
      <p:sp>
        <p:nvSpPr>
          <p:cNvPr id="149564130" name="Rectangle 1909465558"/>
          <p:cNvSpPr>
            <a:spLocks noGrp="1"/>
          </p:cNvSpPr>
          <p:nvPr/>
        </p:nvSpPr>
        <p:spPr bwMode="auto">
          <a:xfrm>
            <a:off x="714375" y="4333875"/>
            <a:ext cx="1809750" cy="285750"/>
          </a:xfrm>
          <a:prstGeom prst="rect">
            <a:avLst/>
          </a:prstGeom>
          <a:noFill/>
          <a:ln w="0">
            <a:noFill/>
            <a:prstDash val="solid"/>
          </a:ln>
        </p:spPr>
        <p:txBody>
          <a:bodyPr/>
          <a:lstStyle/>
          <a:p>
            <a:pPr algn="ctr">
              <a:buNone/>
              <a:defRPr sz="1800" b="1">
                <a:solidFill>
                  <a:srgbClr val="0B0F19"/>
                </a:solidFill>
              </a:defRPr>
            </a:pPr>
            <a:r>
              <a:rPr sz="1800" b="1">
                <a:solidFill>
                  <a:srgbClr val="0B0F19"/>
                </a:solidFill>
              </a:rPr>
              <a:t>Foundations</a:t>
            </a:r>
            <a:endParaRPr/>
          </a:p>
        </p:txBody>
      </p:sp>
      <p:sp>
        <p:nvSpPr>
          <p:cNvPr id="1548826295" name="Rectangle 373098539"/>
          <p:cNvSpPr>
            <a:spLocks noGrp="1"/>
          </p:cNvSpPr>
          <p:nvPr/>
        </p:nvSpPr>
        <p:spPr bwMode="auto">
          <a:xfrm>
            <a:off x="704850" y="4686300"/>
            <a:ext cx="1828800" cy="495300"/>
          </a:xfrm>
          <a:prstGeom prst="rect">
            <a:avLst/>
          </a:prstGeom>
          <a:noFill/>
          <a:ln w="0">
            <a:noFill/>
            <a:prstDash val="solid"/>
          </a:ln>
        </p:spPr>
        <p:txBody>
          <a:bodyPr/>
          <a:lstStyle/>
          <a:p>
            <a:pPr algn="ctr">
              <a:buNone/>
              <a:defRPr sz="1350" b="0">
                <a:solidFill>
                  <a:srgbClr val="0B0F19"/>
                </a:solidFill>
              </a:defRPr>
            </a:pPr>
            <a:r>
              <a:rPr sz="1350" b="0">
                <a:solidFill>
                  <a:srgbClr val="0B0F19"/>
                </a:solidFill>
              </a:rPr>
              <a:t>MSE, partials,</a:t>
            </a:r>
            <a:endParaRPr/>
          </a:p>
          <a:p>
            <a:pPr algn="ctr">
              <a:buNone/>
              <a:defRPr sz="1350" b="0">
                <a:solidFill>
                  <a:srgbClr val="0B0F19"/>
                </a:solidFill>
              </a:defRPr>
            </a:pPr>
            <a:r>
              <a:rPr sz="1350" b="0">
                <a:solidFill>
                  <a:srgbClr val="0B0F19"/>
                </a:solidFill>
              </a:rPr>
              <a:t>gradients</a:t>
            </a:r>
            <a:endParaRPr/>
          </a:p>
        </p:txBody>
      </p:sp>
      <p:sp>
        <p:nvSpPr>
          <p:cNvPr id="289022839" name="Rectangle 1435247823"/>
          <p:cNvSpPr>
            <a:spLocks noGrp="1"/>
          </p:cNvSpPr>
          <p:nvPr/>
        </p:nvSpPr>
        <p:spPr bwMode="auto">
          <a:xfrm>
            <a:off x="857250" y="2857500"/>
            <a:ext cx="1524000" cy="247650"/>
          </a:xfrm>
          <a:prstGeom prst="rect">
            <a:avLst/>
          </a:prstGeom>
          <a:noFill/>
          <a:ln w="0">
            <a:noFill/>
            <a:prstDash val="solid"/>
          </a:ln>
        </p:spPr>
        <p:txBody>
          <a:bodyPr/>
          <a:lstStyle/>
          <a:p>
            <a:pPr algn="ctr">
              <a:buNone/>
              <a:defRPr sz="1150" b="1">
                <a:solidFill>
                  <a:srgbClr val="667085"/>
                </a:solidFill>
              </a:defRPr>
            </a:pPr>
            <a:r>
              <a:rPr sz="1150" b="1">
                <a:solidFill>
                  <a:srgbClr val="667085"/>
                </a:solidFill>
              </a:rPr>
              <a:t>Slides 3-22</a:t>
            </a:r>
            <a:endParaRPr/>
          </a:p>
        </p:txBody>
      </p:sp>
      <p:sp>
        <p:nvSpPr>
          <p:cNvPr id="116778861" name="Oval 517207118"/>
          <p:cNvSpPr>
            <a:spLocks noGrp="1"/>
          </p:cNvSpPr>
          <p:nvPr/>
        </p:nvSpPr>
        <p:spPr bwMode="auto">
          <a:xfrm>
            <a:off x="3429000" y="3314700"/>
            <a:ext cx="800100" cy="800100"/>
          </a:xfrm>
          <a:prstGeom prst="ellipse">
            <a:avLst/>
          </a:prstGeom>
          <a:solidFill>
            <a:srgbClr val="FFFFFF"/>
          </a:solidFill>
          <a:ln w="28575">
            <a:solidFill>
              <a:srgbClr val="10B981"/>
            </a:solidFill>
            <a:prstDash val="solid"/>
          </a:ln>
        </p:spPr>
        <p:txBody>
          <a:bodyPr/>
          <a:lstStyle/>
          <a:p>
            <a:pPr algn="ctr">
              <a:buNone/>
              <a:defRPr sz="1650" b="1">
                <a:solidFill>
                  <a:srgbClr val="10B981"/>
                </a:solidFill>
              </a:defRPr>
            </a:pPr>
            <a:r>
              <a:rPr sz="1650" b="1">
                <a:solidFill>
                  <a:srgbClr val="10B981"/>
                </a:solidFill>
              </a:rPr>
              <a:t>02</a:t>
            </a:r>
            <a:endParaRPr/>
          </a:p>
        </p:txBody>
      </p:sp>
      <p:sp>
        <p:nvSpPr>
          <p:cNvPr id="1963355081" name="Rectangle 1431946798"/>
          <p:cNvSpPr>
            <a:spLocks noGrp="1"/>
          </p:cNvSpPr>
          <p:nvPr/>
        </p:nvSpPr>
        <p:spPr bwMode="auto">
          <a:xfrm>
            <a:off x="2924175" y="4333875"/>
            <a:ext cx="1809750" cy="285750"/>
          </a:xfrm>
          <a:prstGeom prst="rect">
            <a:avLst/>
          </a:prstGeom>
          <a:noFill/>
          <a:ln w="0">
            <a:noFill/>
            <a:prstDash val="solid"/>
          </a:ln>
        </p:spPr>
        <p:txBody>
          <a:bodyPr/>
          <a:lstStyle/>
          <a:p>
            <a:pPr algn="ctr">
              <a:buNone/>
              <a:defRPr sz="1800" b="1">
                <a:solidFill>
                  <a:srgbClr val="0B0F19"/>
                </a:solidFill>
              </a:defRPr>
            </a:pPr>
            <a:r>
              <a:rPr sz="1800" b="1">
                <a:solidFill>
                  <a:srgbClr val="0B0F19"/>
                </a:solidFill>
              </a:rPr>
              <a:t>Language</a:t>
            </a:r>
            <a:endParaRPr/>
          </a:p>
        </p:txBody>
      </p:sp>
      <p:sp>
        <p:nvSpPr>
          <p:cNvPr id="334356778" name="Rectangle 1613992743"/>
          <p:cNvSpPr>
            <a:spLocks noGrp="1"/>
          </p:cNvSpPr>
          <p:nvPr/>
        </p:nvSpPr>
        <p:spPr bwMode="auto">
          <a:xfrm>
            <a:off x="2914650" y="4686300"/>
            <a:ext cx="1828800" cy="495300"/>
          </a:xfrm>
          <a:prstGeom prst="rect">
            <a:avLst/>
          </a:prstGeom>
          <a:noFill/>
          <a:ln w="0">
            <a:noFill/>
            <a:prstDash val="solid"/>
          </a:ln>
        </p:spPr>
        <p:txBody>
          <a:bodyPr/>
          <a:lstStyle/>
          <a:p>
            <a:pPr algn="ctr">
              <a:buNone/>
              <a:defRPr sz="1350" b="0">
                <a:solidFill>
                  <a:srgbClr val="0B0F19"/>
                </a:solidFill>
              </a:defRPr>
            </a:pPr>
            <a:r>
              <a:rPr sz="1350" b="0">
                <a:solidFill>
                  <a:srgbClr val="0B0F19"/>
                </a:solidFill>
              </a:rPr>
              <a:t>tokens and</a:t>
            </a:r>
            <a:endParaRPr/>
          </a:p>
          <a:p>
            <a:pPr algn="ctr">
              <a:buNone/>
              <a:defRPr sz="1350" b="0">
                <a:solidFill>
                  <a:srgbClr val="0B0F19"/>
                </a:solidFill>
              </a:defRPr>
            </a:pPr>
            <a:r>
              <a:rPr sz="1350" b="0">
                <a:solidFill>
                  <a:srgbClr val="0B0F19"/>
                </a:solidFill>
              </a:rPr>
              <a:t>embeddings</a:t>
            </a:r>
            <a:endParaRPr/>
          </a:p>
        </p:txBody>
      </p:sp>
      <p:sp>
        <p:nvSpPr>
          <p:cNvPr id="1177964126" name="Rectangle 1819292424"/>
          <p:cNvSpPr>
            <a:spLocks noGrp="1"/>
          </p:cNvSpPr>
          <p:nvPr/>
        </p:nvSpPr>
        <p:spPr bwMode="auto">
          <a:xfrm>
            <a:off x="3067050" y="2857500"/>
            <a:ext cx="1524000" cy="247650"/>
          </a:xfrm>
          <a:prstGeom prst="rect">
            <a:avLst/>
          </a:prstGeom>
          <a:noFill/>
          <a:ln w="0">
            <a:noFill/>
            <a:prstDash val="solid"/>
          </a:ln>
        </p:spPr>
        <p:txBody>
          <a:bodyPr/>
          <a:lstStyle/>
          <a:p>
            <a:pPr algn="ctr">
              <a:buNone/>
              <a:defRPr sz="1150" b="1">
                <a:solidFill>
                  <a:srgbClr val="667085"/>
                </a:solidFill>
              </a:defRPr>
            </a:pPr>
            <a:r>
              <a:rPr sz="1150" b="1">
                <a:solidFill>
                  <a:srgbClr val="667085"/>
                </a:solidFill>
              </a:rPr>
              <a:t>Slides 23-29</a:t>
            </a:r>
            <a:endParaRPr/>
          </a:p>
        </p:txBody>
      </p:sp>
      <p:sp>
        <p:nvSpPr>
          <p:cNvPr id="1094330920" name="Oval 1011337880"/>
          <p:cNvSpPr>
            <a:spLocks noGrp="1"/>
          </p:cNvSpPr>
          <p:nvPr/>
        </p:nvSpPr>
        <p:spPr bwMode="auto">
          <a:xfrm>
            <a:off x="5638800" y="3314700"/>
            <a:ext cx="800100" cy="800100"/>
          </a:xfrm>
          <a:prstGeom prst="ellipse">
            <a:avLst/>
          </a:prstGeom>
          <a:solidFill>
            <a:srgbClr val="FFFFFF"/>
          </a:solidFill>
          <a:ln w="28575">
            <a:solidFill>
              <a:srgbClr val="F97316"/>
            </a:solidFill>
            <a:prstDash val="solid"/>
          </a:ln>
        </p:spPr>
        <p:txBody>
          <a:bodyPr/>
          <a:lstStyle/>
          <a:p>
            <a:pPr algn="ctr">
              <a:buNone/>
              <a:defRPr sz="1650" b="1">
                <a:solidFill>
                  <a:srgbClr val="F97316"/>
                </a:solidFill>
              </a:defRPr>
            </a:pPr>
            <a:r>
              <a:rPr sz="1650" b="1">
                <a:solidFill>
                  <a:srgbClr val="F97316"/>
                </a:solidFill>
              </a:rPr>
              <a:t>03</a:t>
            </a:r>
            <a:endParaRPr/>
          </a:p>
        </p:txBody>
      </p:sp>
      <p:sp>
        <p:nvSpPr>
          <p:cNvPr id="895323924" name="Rectangle 231300994"/>
          <p:cNvSpPr>
            <a:spLocks noGrp="1"/>
          </p:cNvSpPr>
          <p:nvPr/>
        </p:nvSpPr>
        <p:spPr bwMode="auto">
          <a:xfrm>
            <a:off x="5133975" y="4333875"/>
            <a:ext cx="1809750" cy="285750"/>
          </a:xfrm>
          <a:prstGeom prst="rect">
            <a:avLst/>
          </a:prstGeom>
          <a:noFill/>
          <a:ln w="0">
            <a:noFill/>
            <a:prstDash val="solid"/>
          </a:ln>
        </p:spPr>
        <p:txBody>
          <a:bodyPr/>
          <a:lstStyle/>
          <a:p>
            <a:pPr algn="ctr">
              <a:buNone/>
              <a:defRPr sz="1800" b="1">
                <a:solidFill>
                  <a:srgbClr val="0B0F19"/>
                </a:solidFill>
              </a:defRPr>
            </a:pPr>
            <a:r>
              <a:rPr sz="1800" b="1">
                <a:solidFill>
                  <a:srgbClr val="0B0F19"/>
                </a:solidFill>
              </a:rPr>
              <a:t>Attention</a:t>
            </a:r>
            <a:endParaRPr/>
          </a:p>
        </p:txBody>
      </p:sp>
      <p:sp>
        <p:nvSpPr>
          <p:cNvPr id="1905147249" name="Rectangle 1085761315"/>
          <p:cNvSpPr>
            <a:spLocks noGrp="1"/>
          </p:cNvSpPr>
          <p:nvPr/>
        </p:nvSpPr>
        <p:spPr bwMode="auto">
          <a:xfrm>
            <a:off x="5124450" y="4686300"/>
            <a:ext cx="1828800" cy="495300"/>
          </a:xfrm>
          <a:prstGeom prst="rect">
            <a:avLst/>
          </a:prstGeom>
          <a:noFill/>
          <a:ln w="0">
            <a:noFill/>
            <a:prstDash val="solid"/>
          </a:ln>
        </p:spPr>
        <p:txBody>
          <a:bodyPr/>
          <a:lstStyle/>
          <a:p>
            <a:pPr algn="ctr">
              <a:buNone/>
              <a:defRPr sz="1350" b="0">
                <a:solidFill>
                  <a:srgbClr val="0B0F19"/>
                </a:solidFill>
              </a:defRPr>
            </a:pPr>
            <a:r>
              <a:rPr sz="1350" b="0">
                <a:solidFill>
                  <a:srgbClr val="0B0F19"/>
                </a:solidFill>
              </a:rPr>
              <a:t>query, key,</a:t>
            </a:r>
            <a:endParaRPr/>
          </a:p>
          <a:p>
            <a:pPr algn="ctr">
              <a:buNone/>
              <a:defRPr sz="1350" b="0">
                <a:solidFill>
                  <a:srgbClr val="0B0F19"/>
                </a:solidFill>
              </a:defRPr>
            </a:pPr>
            <a:r>
              <a:rPr sz="1350" b="0">
                <a:solidFill>
                  <a:srgbClr val="0B0F19"/>
                </a:solidFill>
              </a:rPr>
              <a:t>value</a:t>
            </a:r>
            <a:endParaRPr/>
          </a:p>
        </p:txBody>
      </p:sp>
      <p:sp>
        <p:nvSpPr>
          <p:cNvPr id="1976956161" name="Rectangle 9026134"/>
          <p:cNvSpPr>
            <a:spLocks noGrp="1"/>
          </p:cNvSpPr>
          <p:nvPr/>
        </p:nvSpPr>
        <p:spPr bwMode="auto">
          <a:xfrm>
            <a:off x="5276850" y="2857500"/>
            <a:ext cx="1524000" cy="247650"/>
          </a:xfrm>
          <a:prstGeom prst="rect">
            <a:avLst/>
          </a:prstGeom>
          <a:noFill/>
          <a:ln w="0">
            <a:noFill/>
            <a:prstDash val="solid"/>
          </a:ln>
        </p:spPr>
        <p:txBody>
          <a:bodyPr/>
          <a:lstStyle/>
          <a:p>
            <a:pPr algn="ctr">
              <a:buNone/>
              <a:defRPr sz="1150" b="1">
                <a:solidFill>
                  <a:srgbClr val="667085"/>
                </a:solidFill>
              </a:defRPr>
            </a:pPr>
            <a:r>
              <a:rPr sz="1150" b="1">
                <a:solidFill>
                  <a:srgbClr val="667085"/>
                </a:solidFill>
              </a:rPr>
              <a:t>Slides 30-37</a:t>
            </a:r>
            <a:endParaRPr/>
          </a:p>
        </p:txBody>
      </p:sp>
      <p:sp>
        <p:nvSpPr>
          <p:cNvPr id="713493786" name="Oval 1242283889"/>
          <p:cNvSpPr>
            <a:spLocks noGrp="1"/>
          </p:cNvSpPr>
          <p:nvPr/>
        </p:nvSpPr>
        <p:spPr bwMode="auto">
          <a:xfrm>
            <a:off x="7848600" y="3314700"/>
            <a:ext cx="800100" cy="800100"/>
          </a:xfrm>
          <a:prstGeom prst="ellipse">
            <a:avLst/>
          </a:prstGeom>
          <a:solidFill>
            <a:srgbClr val="FFFFFF"/>
          </a:solidFill>
          <a:ln w="28575">
            <a:solidFill>
              <a:srgbClr val="7C3AED"/>
            </a:solidFill>
            <a:prstDash val="solid"/>
          </a:ln>
        </p:spPr>
        <p:txBody>
          <a:bodyPr/>
          <a:lstStyle/>
          <a:p>
            <a:pPr algn="ctr">
              <a:buNone/>
              <a:defRPr sz="1650" b="1">
                <a:solidFill>
                  <a:srgbClr val="7C3AED"/>
                </a:solidFill>
              </a:defRPr>
            </a:pPr>
            <a:r>
              <a:rPr sz="1650" b="1">
                <a:solidFill>
                  <a:srgbClr val="7C3AED"/>
                </a:solidFill>
              </a:rPr>
              <a:t>04</a:t>
            </a:r>
            <a:endParaRPr/>
          </a:p>
        </p:txBody>
      </p:sp>
      <p:sp>
        <p:nvSpPr>
          <p:cNvPr id="1774958231" name="Rectangle 760971764"/>
          <p:cNvSpPr>
            <a:spLocks noGrp="1"/>
          </p:cNvSpPr>
          <p:nvPr/>
        </p:nvSpPr>
        <p:spPr bwMode="auto">
          <a:xfrm>
            <a:off x="7343775" y="4333875"/>
            <a:ext cx="1809750" cy="285750"/>
          </a:xfrm>
          <a:prstGeom prst="rect">
            <a:avLst/>
          </a:prstGeom>
          <a:noFill/>
          <a:ln w="0">
            <a:noFill/>
            <a:prstDash val="solid"/>
          </a:ln>
        </p:spPr>
        <p:txBody>
          <a:bodyPr/>
          <a:lstStyle/>
          <a:p>
            <a:pPr algn="ctr">
              <a:buNone/>
              <a:defRPr sz="1800" b="1">
                <a:solidFill>
                  <a:srgbClr val="0B0F19"/>
                </a:solidFill>
              </a:defRPr>
            </a:pPr>
            <a:r>
              <a:rPr sz="1800" b="1">
                <a:solidFill>
                  <a:srgbClr val="0B0F19"/>
                </a:solidFill>
              </a:rPr>
              <a:t>Transformer</a:t>
            </a:r>
            <a:endParaRPr/>
          </a:p>
        </p:txBody>
      </p:sp>
      <p:sp>
        <p:nvSpPr>
          <p:cNvPr id="922466249" name="Rectangle 236810503"/>
          <p:cNvSpPr>
            <a:spLocks noGrp="1"/>
          </p:cNvSpPr>
          <p:nvPr/>
        </p:nvSpPr>
        <p:spPr bwMode="auto">
          <a:xfrm>
            <a:off x="7334250" y="4686300"/>
            <a:ext cx="1828800" cy="495300"/>
          </a:xfrm>
          <a:prstGeom prst="rect">
            <a:avLst/>
          </a:prstGeom>
          <a:noFill/>
          <a:ln w="0">
            <a:noFill/>
            <a:prstDash val="solid"/>
          </a:ln>
        </p:spPr>
        <p:txBody>
          <a:bodyPr/>
          <a:lstStyle/>
          <a:p>
            <a:pPr algn="ctr">
              <a:buNone/>
              <a:defRPr sz="1350" b="0">
                <a:solidFill>
                  <a:srgbClr val="0B0F19"/>
                </a:solidFill>
              </a:defRPr>
            </a:pPr>
            <a:r>
              <a:rPr sz="1350" b="0">
                <a:solidFill>
                  <a:srgbClr val="0B0F19"/>
                </a:solidFill>
              </a:rPr>
              <a:t>blocks and</a:t>
            </a:r>
            <a:endParaRPr/>
          </a:p>
          <a:p>
            <a:pPr algn="ctr">
              <a:buNone/>
              <a:defRPr sz="1350" b="0">
                <a:solidFill>
                  <a:srgbClr val="0B0F19"/>
                </a:solidFill>
              </a:defRPr>
            </a:pPr>
            <a:r>
              <a:rPr sz="1350" b="0">
                <a:solidFill>
                  <a:srgbClr val="0B0F19"/>
                </a:solidFill>
              </a:rPr>
              <a:t>masking</a:t>
            </a:r>
            <a:endParaRPr/>
          </a:p>
        </p:txBody>
      </p:sp>
      <p:sp>
        <p:nvSpPr>
          <p:cNvPr id="1709441493" name="Rectangle 297379142"/>
          <p:cNvSpPr>
            <a:spLocks noGrp="1"/>
          </p:cNvSpPr>
          <p:nvPr/>
        </p:nvSpPr>
        <p:spPr bwMode="auto">
          <a:xfrm>
            <a:off x="7486650" y="2857500"/>
            <a:ext cx="1524000" cy="247650"/>
          </a:xfrm>
          <a:prstGeom prst="rect">
            <a:avLst/>
          </a:prstGeom>
          <a:noFill/>
          <a:ln w="0">
            <a:noFill/>
            <a:prstDash val="solid"/>
          </a:ln>
        </p:spPr>
        <p:txBody>
          <a:bodyPr/>
          <a:lstStyle/>
          <a:p>
            <a:pPr algn="ctr">
              <a:buNone/>
              <a:defRPr sz="1150" b="1">
                <a:solidFill>
                  <a:srgbClr val="667085"/>
                </a:solidFill>
              </a:defRPr>
            </a:pPr>
            <a:r>
              <a:rPr sz="1150" b="1">
                <a:solidFill>
                  <a:srgbClr val="667085"/>
                </a:solidFill>
              </a:rPr>
              <a:t>Slides 38-42</a:t>
            </a:r>
            <a:endParaRPr/>
          </a:p>
        </p:txBody>
      </p:sp>
      <p:sp>
        <p:nvSpPr>
          <p:cNvPr id="534954598" name="Oval 886147111"/>
          <p:cNvSpPr>
            <a:spLocks noGrp="1"/>
          </p:cNvSpPr>
          <p:nvPr/>
        </p:nvSpPr>
        <p:spPr bwMode="auto">
          <a:xfrm>
            <a:off x="10058400" y="3314700"/>
            <a:ext cx="800100" cy="800100"/>
          </a:xfrm>
          <a:prstGeom prst="ellipse">
            <a:avLst/>
          </a:prstGeom>
          <a:solidFill>
            <a:srgbClr val="FFFFFF"/>
          </a:solidFill>
          <a:ln w="28575">
            <a:solidFill>
              <a:srgbClr val="EF4444"/>
            </a:solidFill>
            <a:prstDash val="solid"/>
          </a:ln>
        </p:spPr>
        <p:txBody>
          <a:bodyPr/>
          <a:lstStyle/>
          <a:p>
            <a:pPr algn="ctr">
              <a:buNone/>
              <a:defRPr sz="1650" b="1">
                <a:solidFill>
                  <a:srgbClr val="EF4444"/>
                </a:solidFill>
              </a:defRPr>
            </a:pPr>
            <a:r>
              <a:rPr sz="1650" b="1">
                <a:solidFill>
                  <a:srgbClr val="EF4444"/>
                </a:solidFill>
              </a:rPr>
              <a:t>05</a:t>
            </a:r>
            <a:endParaRPr/>
          </a:p>
        </p:txBody>
      </p:sp>
      <p:sp>
        <p:nvSpPr>
          <p:cNvPr id="480372776" name="Rectangle 1979103398"/>
          <p:cNvSpPr>
            <a:spLocks noGrp="1"/>
          </p:cNvSpPr>
          <p:nvPr/>
        </p:nvSpPr>
        <p:spPr bwMode="auto">
          <a:xfrm>
            <a:off x="9553575" y="4333875"/>
            <a:ext cx="1809750" cy="285750"/>
          </a:xfrm>
          <a:prstGeom prst="rect">
            <a:avLst/>
          </a:prstGeom>
          <a:noFill/>
          <a:ln w="0">
            <a:noFill/>
            <a:prstDash val="solid"/>
          </a:ln>
        </p:spPr>
        <p:txBody>
          <a:bodyPr/>
          <a:lstStyle/>
          <a:p>
            <a:pPr algn="ctr">
              <a:buNone/>
              <a:defRPr sz="1800" b="1">
                <a:solidFill>
                  <a:srgbClr val="0B0F19"/>
                </a:solidFill>
              </a:defRPr>
            </a:pPr>
            <a:r>
              <a:rPr sz="1800" b="1">
                <a:solidFill>
                  <a:srgbClr val="0B0F19"/>
                </a:solidFill>
              </a:rPr>
              <a:t>GPT</a:t>
            </a:r>
            <a:endParaRPr/>
          </a:p>
        </p:txBody>
      </p:sp>
      <p:sp>
        <p:nvSpPr>
          <p:cNvPr id="2093278582" name="Rectangle 668892514"/>
          <p:cNvSpPr>
            <a:spLocks noGrp="1"/>
          </p:cNvSpPr>
          <p:nvPr/>
        </p:nvSpPr>
        <p:spPr bwMode="auto">
          <a:xfrm>
            <a:off x="9544050" y="4686300"/>
            <a:ext cx="1828800" cy="495300"/>
          </a:xfrm>
          <a:prstGeom prst="rect">
            <a:avLst/>
          </a:prstGeom>
          <a:noFill/>
          <a:ln w="0">
            <a:noFill/>
            <a:prstDash val="solid"/>
          </a:ln>
        </p:spPr>
        <p:txBody>
          <a:bodyPr/>
          <a:lstStyle/>
          <a:p>
            <a:pPr algn="ctr">
              <a:buNone/>
              <a:defRPr sz="1350" b="0">
                <a:solidFill>
                  <a:srgbClr val="0B0F19"/>
                </a:solidFill>
              </a:defRPr>
            </a:pPr>
            <a:r>
              <a:rPr sz="1350" b="0">
                <a:solidFill>
                  <a:srgbClr val="0B0F19"/>
                </a:solidFill>
              </a:rPr>
              <a:t>next-token</a:t>
            </a:r>
            <a:endParaRPr/>
          </a:p>
          <a:p>
            <a:pPr algn="ctr">
              <a:buNone/>
              <a:defRPr sz="1350" b="0">
                <a:solidFill>
                  <a:srgbClr val="0B0F19"/>
                </a:solidFill>
              </a:defRPr>
            </a:pPr>
            <a:r>
              <a:rPr sz="1350" b="0">
                <a:solidFill>
                  <a:srgbClr val="0B0F19"/>
                </a:solidFill>
              </a:rPr>
              <a:t>prediction</a:t>
            </a:r>
            <a:endParaRPr/>
          </a:p>
        </p:txBody>
      </p:sp>
      <p:sp>
        <p:nvSpPr>
          <p:cNvPr id="1206619509" name="Rectangle 846714876"/>
          <p:cNvSpPr>
            <a:spLocks noGrp="1"/>
          </p:cNvSpPr>
          <p:nvPr/>
        </p:nvSpPr>
        <p:spPr bwMode="auto">
          <a:xfrm>
            <a:off x="9696450" y="2857500"/>
            <a:ext cx="1524000" cy="247650"/>
          </a:xfrm>
          <a:prstGeom prst="rect">
            <a:avLst/>
          </a:prstGeom>
          <a:noFill/>
          <a:ln w="0">
            <a:noFill/>
            <a:prstDash val="solid"/>
          </a:ln>
        </p:spPr>
        <p:txBody>
          <a:bodyPr/>
          <a:lstStyle/>
          <a:p>
            <a:pPr algn="ctr">
              <a:buNone/>
              <a:defRPr sz="1150" b="1">
                <a:solidFill>
                  <a:srgbClr val="667085"/>
                </a:solidFill>
              </a:defRPr>
            </a:pPr>
            <a:r>
              <a:rPr sz="1150" b="1">
                <a:solidFill>
                  <a:srgbClr val="667085"/>
                </a:solidFill>
              </a:rPr>
              <a:t>Slides 43-58</a:t>
            </a:r>
            <a:endParaRPr/>
          </a:p>
        </p:txBody>
      </p:sp>
      <p:sp>
        <p:nvSpPr>
          <p:cNvPr id="1928179815" name="Rectangle 612628765"/>
          <p:cNvSpPr>
            <a:spLocks noGrp="1"/>
          </p:cNvSpPr>
          <p:nvPr/>
        </p:nvSpPr>
        <p:spPr bwMode="auto">
          <a:xfrm>
            <a:off x="1952625" y="5791200"/>
            <a:ext cx="8286750" cy="381000"/>
          </a:xfrm>
          <a:prstGeom prst="rect">
            <a:avLst/>
          </a:prstGeom>
          <a:noFill/>
          <a:ln w="0">
            <a:noFill/>
            <a:prstDash val="solid"/>
          </a:ln>
        </p:spPr>
        <p:txBody>
          <a:bodyPr/>
          <a:lstStyle/>
          <a:p>
            <a:pPr algn="ctr">
              <a:buNone/>
              <a:defRPr sz="2100" b="1">
                <a:solidFill>
                  <a:srgbClr val="2563EB"/>
                </a:solidFill>
              </a:defRPr>
            </a:pPr>
            <a:r>
              <a:rPr sz="2100" b="1">
                <a:solidFill>
                  <a:srgbClr val="2563EB"/>
                </a:solidFill>
              </a:rPr>
              <a:t>Goal: understand GPT's core principles and architecture</a:t>
            </a:r>
            <a:br>
              <a:rPr/>
            </a:br>
            <a:r>
              <a:rPr sz="2100" b="1">
                <a:solidFill>
                  <a:srgbClr val="2563EB"/>
                </a:solidFill>
              </a:rPr>
              <a:t>to assess engineering possibilities</a:t>
            </a:r>
            <a:endParaRPr/>
          </a:p>
        </p:txBody>
      </p:sp>
      <p:sp>
        <p:nvSpPr>
          <p:cNvPr id="321818252" name="Rectangle 134361998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84105660"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Orientation</a:t>
            </a:r>
            <a:endParaRPr/>
          </a:p>
        </p:txBody>
      </p:sp>
      <p:sp>
        <p:nvSpPr>
          <p:cNvPr id="928882524" name="Rectangle 251777344"/>
          <p:cNvSpPr>
            <a:spLocks noGrp="1"/>
          </p:cNvSpPr>
          <p:nvPr/>
        </p:nvSpPr>
        <p:spPr bwMode="auto">
          <a:xfrm>
            <a:off x="609600" y="590549"/>
            <a:ext cx="10287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This deck follows one path through the AI landscape</a:t>
            </a:r>
            <a:endParaRPr/>
          </a:p>
        </p:txBody>
      </p:sp>
      <p:sp>
        <p:nvSpPr>
          <p:cNvPr id="786532483" name="Rectangle: Rounded Corners 1456392341"/>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buNone/>
              <a:defRPr/>
            </a:pPr>
            <a:endParaRPr/>
          </a:p>
        </p:txBody>
      </p:sp>
      <p:sp>
        <p:nvSpPr>
          <p:cNvPr id="1688416951" name="Rectangle: Rounded Corners 1987074982"/>
          <p:cNvSpPr>
            <a:spLocks noGrp="1"/>
          </p:cNvSpPr>
          <p:nvPr/>
        </p:nvSpPr>
        <p:spPr bwMode="auto">
          <a:xfrm>
            <a:off x="7867649" y="2000250"/>
            <a:ext cx="3200400" cy="3086100"/>
          </a:xfrm>
          <a:prstGeom prst="roundRect">
            <a:avLst>
              <a:gd name="adj" fmla="val 3704"/>
            </a:avLst>
          </a:prstGeom>
          <a:solidFill>
            <a:srgbClr val="FFFFFF"/>
          </a:solidFill>
          <a:ln w="14288">
            <a:solidFill>
              <a:srgbClr val="E2E8F0"/>
            </a:solidFill>
            <a:prstDash val="solid"/>
          </a:ln>
        </p:spPr>
        <p:txBody>
          <a:bodyPr/>
          <a:lstStyle/>
          <a:p>
            <a:pPr>
              <a:buNone/>
              <a:defRPr/>
            </a:pPr>
            <a:endParaRPr/>
          </a:p>
        </p:txBody>
      </p:sp>
      <p:sp>
        <p:nvSpPr>
          <p:cNvPr id="1491750576" name="Rectangle 1286956634"/>
          <p:cNvSpPr>
            <a:spLocks noGrp="1"/>
          </p:cNvSpPr>
          <p:nvPr/>
        </p:nvSpPr>
        <p:spPr bwMode="auto">
          <a:xfrm>
            <a:off x="8153399" y="2305050"/>
            <a:ext cx="2381250" cy="323850"/>
          </a:xfrm>
          <a:prstGeom prst="rect">
            <a:avLst/>
          </a:prstGeom>
          <a:noFill/>
          <a:ln w="0">
            <a:noFill/>
            <a:prstDash val="solid"/>
          </a:ln>
        </p:spPr>
        <p:txBody>
          <a:bodyPr/>
          <a:lstStyle/>
          <a:p>
            <a:pPr algn="l">
              <a:buNone/>
              <a:defRPr sz="1950" b="1">
                <a:solidFill>
                  <a:srgbClr val="2563EB"/>
                </a:solidFill>
              </a:defRPr>
            </a:pPr>
            <a:r>
              <a:rPr sz="1950" b="1">
                <a:solidFill>
                  <a:srgbClr val="2563EB"/>
                </a:solidFill>
              </a:rPr>
              <a:t>Starting point</a:t>
            </a:r>
            <a:endParaRPr/>
          </a:p>
        </p:txBody>
      </p:sp>
      <p:sp>
        <p:nvSpPr>
          <p:cNvPr id="884639712" name="Rectangle 399762638"/>
          <p:cNvSpPr>
            <a:spLocks noGrp="1"/>
          </p:cNvSpPr>
          <p:nvPr/>
        </p:nvSpPr>
        <p:spPr bwMode="auto">
          <a:xfrm>
            <a:off x="8153399" y="2686050"/>
            <a:ext cx="2476500" cy="685800"/>
          </a:xfrm>
          <a:prstGeom prst="rect">
            <a:avLst/>
          </a:prstGeom>
          <a:noFill/>
          <a:ln w="0">
            <a:noFill/>
            <a:prstDash val="solid"/>
          </a:ln>
        </p:spPr>
        <p:txBody>
          <a:bodyPr anchor="t"/>
          <a:lstStyle/>
          <a:p>
            <a:pPr algn="l">
              <a:buNone/>
              <a:defRPr sz="1600" b="0">
                <a:solidFill>
                  <a:srgbClr val="667085"/>
                </a:solidFill>
              </a:defRPr>
            </a:pPr>
            <a:r>
              <a:rPr sz="1600" b="0">
                <a:solidFill>
                  <a:srgbClr val="667085"/>
                </a:solidFill>
              </a:rPr>
              <a:t>linear regression</a:t>
            </a:r>
            <a:endParaRPr/>
          </a:p>
          <a:p>
            <a:pPr algn="l">
              <a:buNone/>
              <a:defRPr sz="1600" b="0">
                <a:solidFill>
                  <a:srgbClr val="667085"/>
                </a:solidFill>
              </a:defRPr>
            </a:pPr>
            <a:r>
              <a:rPr sz="1600" b="0">
                <a:solidFill>
                  <a:srgbClr val="667085"/>
                </a:solidFill>
              </a:rPr>
              <a:t>→ machine learning</a:t>
            </a:r>
            <a:endParaRPr/>
          </a:p>
          <a:p>
            <a:pPr algn="l">
              <a:buNone/>
              <a:defRPr sz="1600" b="0">
                <a:solidFill>
                  <a:srgbClr val="667085"/>
                </a:solidFill>
              </a:defRPr>
            </a:pPr>
            <a:r>
              <a:rPr sz="1600" b="0">
                <a:solidFill>
                  <a:srgbClr val="667085"/>
                </a:solidFill>
              </a:rPr>
              <a:t>→ neural networks</a:t>
            </a:r>
            <a:endParaRPr/>
          </a:p>
        </p:txBody>
      </p:sp>
      <p:sp>
        <p:nvSpPr>
          <p:cNvPr id="2054961687" name="Rectangle 1233632033"/>
          <p:cNvSpPr>
            <a:spLocks noGrp="1"/>
          </p:cNvSpPr>
          <p:nvPr/>
        </p:nvSpPr>
        <p:spPr bwMode="auto">
          <a:xfrm>
            <a:off x="8153399" y="3562350"/>
            <a:ext cx="2381250" cy="323850"/>
          </a:xfrm>
          <a:prstGeom prst="rect">
            <a:avLst/>
          </a:prstGeom>
          <a:noFill/>
          <a:ln w="0">
            <a:noFill/>
            <a:prstDash val="solid"/>
          </a:ln>
        </p:spPr>
        <p:txBody>
          <a:bodyPr/>
          <a:lstStyle/>
          <a:p>
            <a:pPr algn="l">
              <a:buNone/>
              <a:defRPr sz="1950" b="1">
                <a:solidFill>
                  <a:srgbClr val="2563EB"/>
                </a:solidFill>
              </a:defRPr>
            </a:pPr>
            <a:r>
              <a:rPr sz="1950" b="1">
                <a:solidFill>
                  <a:srgbClr val="2563EB"/>
                </a:solidFill>
              </a:rPr>
              <a:t>Destination</a:t>
            </a:r>
            <a:endParaRPr/>
          </a:p>
        </p:txBody>
      </p:sp>
      <p:sp>
        <p:nvSpPr>
          <p:cNvPr id="1316365039" name="Rectangle 987778106"/>
          <p:cNvSpPr>
            <a:spLocks noGrp="1"/>
          </p:cNvSpPr>
          <p:nvPr/>
        </p:nvSpPr>
        <p:spPr bwMode="auto">
          <a:xfrm>
            <a:off x="8153399" y="3943350"/>
            <a:ext cx="2571750" cy="952500"/>
          </a:xfrm>
          <a:prstGeom prst="rect">
            <a:avLst/>
          </a:prstGeom>
          <a:noFill/>
          <a:ln w="0">
            <a:noFill/>
            <a:prstDash val="solid"/>
          </a:ln>
        </p:spPr>
        <p:txBody>
          <a:bodyPr anchor="t"/>
          <a:lstStyle/>
          <a:p>
            <a:pPr algn="l">
              <a:buNone/>
              <a:defRPr sz="1500" b="0">
                <a:solidFill>
                  <a:srgbClr val="667085"/>
                </a:solidFill>
              </a:defRPr>
            </a:pPr>
            <a:r>
              <a:rPr sz="1500" b="0">
                <a:solidFill>
                  <a:srgbClr val="667085"/>
                </a:solidFill>
              </a:rPr>
              <a:t>deep learning</a:t>
            </a:r>
            <a:endParaRPr/>
          </a:p>
          <a:p>
            <a:pPr algn="l">
              <a:buNone/>
              <a:defRPr sz="1500" b="0">
                <a:solidFill>
                  <a:srgbClr val="667085"/>
                </a:solidFill>
              </a:defRPr>
            </a:pPr>
            <a:r>
              <a:rPr sz="1500" b="0">
                <a:solidFill>
                  <a:srgbClr val="667085"/>
                </a:solidFill>
              </a:rPr>
              <a:t>→ Transformers</a:t>
            </a:r>
            <a:endParaRPr/>
          </a:p>
          <a:p>
            <a:pPr algn="l">
              <a:buNone/>
              <a:defRPr sz="1500" b="0">
                <a:solidFill>
                  <a:srgbClr val="667085"/>
                </a:solidFill>
              </a:defRPr>
            </a:pPr>
            <a:r>
              <a:rPr sz="1500" b="0">
                <a:solidFill>
                  <a:srgbClr val="667085"/>
                </a:solidFill>
              </a:rPr>
              <a:t>→ GPT</a:t>
            </a:r>
            <a:endParaRPr/>
          </a:p>
        </p:txBody>
      </p:sp>
      <p:sp>
        <p:nvSpPr>
          <p:cNvPr id="1560109651"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2</a:t>
            </a:r>
            <a:endParaRPr/>
          </a:p>
        </p:txBody>
      </p:sp>
      <p:pic>
        <p:nvPicPr>
          <p:cNvPr id="482117420" name="Picture 1987074993"/>
          <p:cNvPicPr>
            <a:picLocks noChangeAspect="1"/>
          </p:cNvPicPr>
          <p:nvPr/>
        </p:nvPicPr>
        <p:blipFill rotWithShape="1">
          <a:blip r:embed="rId3"/>
          <a:stretch/>
        </p:blipFill>
        <p:spPr bwMode="auto">
          <a:xfrm>
            <a:off x="2119307" y="1504950"/>
            <a:ext cx="3838585" cy="447675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792502396" name="Rectangle 197505908"/>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Linear regression</a:t>
            </a:r>
            <a:endParaRPr/>
          </a:p>
        </p:txBody>
      </p:sp>
      <p:sp>
        <p:nvSpPr>
          <p:cNvPr id="1662317605" name="Rectangle 1909048147"/>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Start with a bad line</a:t>
            </a:r>
            <a:endParaRPr/>
          </a:p>
        </p:txBody>
      </p:sp>
      <p:sp>
        <p:nvSpPr>
          <p:cNvPr id="1116226889" name="Rectangle: Rounded Corners 816331080"/>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pic>
        <p:nvPicPr>
          <p:cNvPr id="1559690830" name="Picture 2137688687"/>
          <p:cNvPicPr>
            <a:picLocks noChangeAspect="1"/>
          </p:cNvPicPr>
          <p:nvPr/>
        </p:nvPicPr>
        <p:blipFill rotWithShape="1">
          <a:blip r:embed="rId3"/>
          <a:stretch/>
        </p:blipFill>
        <p:spPr bwMode="auto">
          <a:xfrm>
            <a:off x="2381250" y="1556268"/>
            <a:ext cx="7429500" cy="697463"/>
          </a:xfrm>
          <a:prstGeom prst="rect">
            <a:avLst/>
          </a:prstGeom>
        </p:spPr>
      </p:pic>
      <p:sp>
        <p:nvSpPr>
          <p:cNvPr id="1189225108" name="Straight Connector 161416146"/>
          <p:cNvSpPr>
            <a:spLocks noGrp="1"/>
          </p:cNvSpPr>
          <p:nvPr/>
        </p:nvSpPr>
        <p:spPr bwMode="auto">
          <a:xfrm>
            <a:off x="2000250" y="5381625"/>
            <a:ext cx="7429500" cy="9525"/>
          </a:xfrm>
          <a:prstGeom prst="line">
            <a:avLst/>
          </a:prstGeom>
          <a:noFill/>
          <a:ln w="19050">
            <a:solidFill>
              <a:srgbClr val="94A3B8"/>
            </a:solidFill>
            <a:prstDash val="solid"/>
          </a:ln>
        </p:spPr>
        <p:txBody>
          <a:bodyPr/>
          <a:lstStyle/>
          <a:p>
            <a:pPr>
              <a:buNone/>
              <a:defRPr/>
            </a:pPr>
            <a:endParaRPr/>
          </a:p>
        </p:txBody>
      </p:sp>
      <p:sp>
        <p:nvSpPr>
          <p:cNvPr id="226053961" name="Straight Connector 61902172"/>
          <p:cNvSpPr>
            <a:spLocks noGrp="1"/>
          </p:cNvSpPr>
          <p:nvPr/>
        </p:nvSpPr>
        <p:spPr bwMode="auto">
          <a:xfrm>
            <a:off x="2000250" y="2905125"/>
            <a:ext cx="9525" cy="2476500"/>
          </a:xfrm>
          <a:prstGeom prst="line">
            <a:avLst/>
          </a:prstGeom>
          <a:noFill/>
          <a:ln w="19050">
            <a:solidFill>
              <a:srgbClr val="94A3B8"/>
            </a:solidFill>
            <a:prstDash val="solid"/>
          </a:ln>
        </p:spPr>
        <p:txBody>
          <a:bodyPr/>
          <a:lstStyle/>
          <a:p>
            <a:pPr>
              <a:buNone/>
              <a:defRPr/>
            </a:pPr>
            <a:endParaRPr/>
          </a:p>
        </p:txBody>
      </p:sp>
      <p:sp>
        <p:nvSpPr>
          <p:cNvPr id="538399832" name="Rectangle: Rounded Corners 898681238"/>
          <p:cNvSpPr>
            <a:spLocks noGrp="1"/>
          </p:cNvSpPr>
          <p:nvPr/>
        </p:nvSpPr>
        <p:spPr bwMode="auto">
          <a:xfrm>
            <a:off x="9667875" y="2714625"/>
            <a:ext cx="1381125" cy="628650"/>
          </a:xfrm>
          <a:prstGeom prst="roundRect">
            <a:avLst>
              <a:gd name="adj" fmla="val 18182"/>
            </a:avLst>
          </a:prstGeom>
          <a:solidFill>
            <a:srgbClr val="FEF2F2"/>
          </a:solidFill>
          <a:ln w="14288">
            <a:solidFill>
              <a:srgbClr val="EF4444"/>
            </a:solidFill>
            <a:prstDash val="solid"/>
          </a:ln>
        </p:spPr>
        <p:txBody>
          <a:bodyPr/>
          <a:lstStyle/>
          <a:p>
            <a:pPr algn="ctr">
              <a:buNone/>
              <a:defRPr sz="1800" b="1">
                <a:solidFill>
                  <a:srgbClr val="EF4444"/>
                </a:solidFill>
              </a:defRPr>
            </a:pPr>
            <a:r>
              <a:rPr sz="1800" b="1">
                <a:solidFill>
                  <a:srgbClr val="EF4444"/>
                </a:solidFill>
              </a:rPr>
              <a:t>MSE ≈ 4.75</a:t>
            </a:r>
            <a:endParaRPr/>
          </a:p>
        </p:txBody>
      </p:sp>
      <p:sp>
        <p:nvSpPr>
          <p:cNvPr id="1013159835" name="Rectangle 1225503430"/>
          <p:cNvSpPr>
            <a:spLocks noGrp="1"/>
          </p:cNvSpPr>
          <p:nvPr/>
        </p:nvSpPr>
        <p:spPr bwMode="auto">
          <a:xfrm>
            <a:off x="9477375" y="3524250"/>
            <a:ext cx="1809750" cy="742950"/>
          </a:xfrm>
          <a:prstGeom prst="rect">
            <a:avLst/>
          </a:prstGeom>
          <a:noFill/>
          <a:ln w="0">
            <a:noFill/>
            <a:prstDash val="solid"/>
          </a:ln>
        </p:spPr>
        <p:txBody>
          <a:bodyPr/>
          <a:lstStyle/>
          <a:p>
            <a:pPr algn="ctr">
              <a:buNone/>
              <a:defRPr sz="1650" b="1">
                <a:solidFill>
                  <a:srgbClr val="EF4444"/>
                </a:solidFill>
              </a:defRPr>
            </a:pPr>
            <a:r>
              <a:rPr sz="1650" b="1">
                <a:solidFill>
                  <a:srgbClr val="EF4444"/>
                </a:solidFill>
              </a:rPr>
              <a:t>large errors</a:t>
            </a:r>
            <a:endParaRPr/>
          </a:p>
        </p:txBody>
      </p:sp>
      <p:sp>
        <p:nvSpPr>
          <p:cNvPr id="1983966505" name="Straight Connector 1461826591"/>
          <p:cNvSpPr>
            <a:spLocks noGrp="1"/>
          </p:cNvSpPr>
          <p:nvPr/>
        </p:nvSpPr>
        <p:spPr bwMode="auto">
          <a:xfrm>
            <a:off x="2619375" y="3297238"/>
            <a:ext cx="9525" cy="1589087"/>
          </a:xfrm>
          <a:prstGeom prst="line">
            <a:avLst/>
          </a:prstGeom>
          <a:noFill/>
          <a:ln w="38100">
            <a:solidFill>
              <a:srgbClr val="EF4444"/>
            </a:solidFill>
            <a:prstDash val="solid"/>
          </a:ln>
        </p:spPr>
        <p:txBody>
          <a:bodyPr/>
          <a:lstStyle/>
          <a:p>
            <a:pPr>
              <a:buNone/>
              <a:defRPr/>
            </a:pPr>
            <a:endParaRPr/>
          </a:p>
        </p:txBody>
      </p:sp>
      <p:sp>
        <p:nvSpPr>
          <p:cNvPr id="1837274020" name="Oval 308551117"/>
          <p:cNvSpPr>
            <a:spLocks noGrp="1"/>
          </p:cNvSpPr>
          <p:nvPr/>
        </p:nvSpPr>
        <p:spPr bwMode="auto">
          <a:xfrm>
            <a:off x="2533650" y="4800600"/>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1087550762" name="Straight Connector 2122530921"/>
          <p:cNvSpPr>
            <a:spLocks noGrp="1"/>
          </p:cNvSpPr>
          <p:nvPr/>
        </p:nvSpPr>
        <p:spPr bwMode="auto">
          <a:xfrm>
            <a:off x="3857625" y="3400425"/>
            <a:ext cx="9525" cy="1155699"/>
          </a:xfrm>
          <a:prstGeom prst="line">
            <a:avLst/>
          </a:prstGeom>
          <a:noFill/>
          <a:ln w="38100">
            <a:solidFill>
              <a:srgbClr val="EF4444"/>
            </a:solidFill>
            <a:prstDash val="solid"/>
          </a:ln>
        </p:spPr>
        <p:txBody>
          <a:bodyPr/>
          <a:lstStyle/>
          <a:p>
            <a:pPr>
              <a:buNone/>
              <a:defRPr/>
            </a:pPr>
            <a:endParaRPr/>
          </a:p>
        </p:txBody>
      </p:sp>
      <p:sp>
        <p:nvSpPr>
          <p:cNvPr id="833137093" name="Oval 1902723883"/>
          <p:cNvSpPr>
            <a:spLocks noGrp="1"/>
          </p:cNvSpPr>
          <p:nvPr/>
        </p:nvSpPr>
        <p:spPr bwMode="auto">
          <a:xfrm>
            <a:off x="3771900" y="4470400"/>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1387257326" name="Straight Connector 167498950"/>
          <p:cNvSpPr>
            <a:spLocks noGrp="1"/>
          </p:cNvSpPr>
          <p:nvPr/>
        </p:nvSpPr>
        <p:spPr bwMode="auto">
          <a:xfrm>
            <a:off x="5095875" y="3503613"/>
            <a:ext cx="9525" cy="763587"/>
          </a:xfrm>
          <a:prstGeom prst="line">
            <a:avLst/>
          </a:prstGeom>
          <a:noFill/>
          <a:ln w="38100">
            <a:solidFill>
              <a:srgbClr val="EF4444"/>
            </a:solidFill>
            <a:prstDash val="solid"/>
          </a:ln>
        </p:spPr>
        <p:txBody>
          <a:bodyPr/>
          <a:lstStyle/>
          <a:p>
            <a:pPr>
              <a:buNone/>
              <a:defRPr/>
            </a:pPr>
            <a:endParaRPr/>
          </a:p>
        </p:txBody>
      </p:sp>
      <p:sp>
        <p:nvSpPr>
          <p:cNvPr id="1821653343" name="Oval 1159963357"/>
          <p:cNvSpPr>
            <a:spLocks noGrp="1"/>
          </p:cNvSpPr>
          <p:nvPr/>
        </p:nvSpPr>
        <p:spPr bwMode="auto">
          <a:xfrm>
            <a:off x="5010149" y="4181475"/>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2082263830" name="Straight Connector 1986469558"/>
          <p:cNvSpPr>
            <a:spLocks noGrp="1"/>
          </p:cNvSpPr>
          <p:nvPr/>
        </p:nvSpPr>
        <p:spPr bwMode="auto">
          <a:xfrm>
            <a:off x="6334125" y="3606800"/>
            <a:ext cx="9525" cy="247650"/>
          </a:xfrm>
          <a:prstGeom prst="line">
            <a:avLst/>
          </a:prstGeom>
          <a:noFill/>
          <a:ln w="38100">
            <a:solidFill>
              <a:srgbClr val="EF4444"/>
            </a:solidFill>
            <a:prstDash val="solid"/>
          </a:ln>
        </p:spPr>
        <p:txBody>
          <a:bodyPr/>
          <a:lstStyle/>
          <a:p>
            <a:pPr>
              <a:buNone/>
              <a:defRPr/>
            </a:pPr>
            <a:endParaRPr/>
          </a:p>
        </p:txBody>
      </p:sp>
      <p:sp>
        <p:nvSpPr>
          <p:cNvPr id="1412862283" name="Oval 1145200305"/>
          <p:cNvSpPr>
            <a:spLocks noGrp="1"/>
          </p:cNvSpPr>
          <p:nvPr/>
        </p:nvSpPr>
        <p:spPr bwMode="auto">
          <a:xfrm>
            <a:off x="6248400" y="3768725"/>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165372480" name="Straight Connector 1746813433"/>
          <p:cNvSpPr>
            <a:spLocks noGrp="1"/>
          </p:cNvSpPr>
          <p:nvPr/>
        </p:nvSpPr>
        <p:spPr bwMode="auto">
          <a:xfrm>
            <a:off x="7572375" y="3565525"/>
            <a:ext cx="9525" cy="144463"/>
          </a:xfrm>
          <a:prstGeom prst="line">
            <a:avLst/>
          </a:prstGeom>
          <a:noFill/>
          <a:ln w="38100">
            <a:solidFill>
              <a:srgbClr val="EF4444"/>
            </a:solidFill>
            <a:prstDash val="solid"/>
          </a:ln>
        </p:spPr>
        <p:txBody>
          <a:bodyPr/>
          <a:lstStyle/>
          <a:p>
            <a:pPr>
              <a:buNone/>
              <a:defRPr/>
            </a:pPr>
            <a:endParaRPr/>
          </a:p>
        </p:txBody>
      </p:sp>
      <p:sp>
        <p:nvSpPr>
          <p:cNvPr id="443692532" name="Oval 2137688682"/>
          <p:cNvSpPr>
            <a:spLocks noGrp="1"/>
          </p:cNvSpPr>
          <p:nvPr/>
        </p:nvSpPr>
        <p:spPr bwMode="auto">
          <a:xfrm>
            <a:off x="7486650" y="3479800"/>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222693532" name="Straight Connector 696285493"/>
          <p:cNvSpPr>
            <a:spLocks noGrp="1"/>
          </p:cNvSpPr>
          <p:nvPr/>
        </p:nvSpPr>
        <p:spPr bwMode="auto">
          <a:xfrm>
            <a:off x="8810625" y="3235325"/>
            <a:ext cx="9525" cy="577849"/>
          </a:xfrm>
          <a:prstGeom prst="line">
            <a:avLst/>
          </a:prstGeom>
          <a:noFill/>
          <a:ln w="38100">
            <a:solidFill>
              <a:srgbClr val="EF4444"/>
            </a:solidFill>
            <a:prstDash val="solid"/>
          </a:ln>
        </p:spPr>
        <p:txBody>
          <a:bodyPr/>
          <a:lstStyle/>
          <a:p>
            <a:pPr>
              <a:buNone/>
              <a:defRPr/>
            </a:pPr>
            <a:endParaRPr/>
          </a:p>
        </p:txBody>
      </p:sp>
      <p:sp>
        <p:nvSpPr>
          <p:cNvPr id="2144579524" name="Oval 1445698389"/>
          <p:cNvSpPr>
            <a:spLocks noGrp="1"/>
          </p:cNvSpPr>
          <p:nvPr/>
        </p:nvSpPr>
        <p:spPr bwMode="auto">
          <a:xfrm>
            <a:off x="8724900" y="3149600"/>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259130051" name="Rectangle 1506024003"/>
          <p:cNvSpPr>
            <a:spLocks noGrp="1"/>
          </p:cNvSpPr>
          <p:nvPr/>
        </p:nvSpPr>
        <p:spPr bwMode="auto">
          <a:xfrm>
            <a:off x="2476500" y="2543175"/>
            <a:ext cx="762000" cy="266700"/>
          </a:xfrm>
          <a:prstGeom prst="rect">
            <a:avLst/>
          </a:prstGeom>
          <a:noFill/>
          <a:ln w="0">
            <a:noFill/>
            <a:prstDash val="solid"/>
          </a:ln>
        </p:spPr>
        <p:txBody>
          <a:bodyPr/>
          <a:lstStyle/>
          <a:p>
            <a:pPr algn="l">
              <a:buNone/>
              <a:defRPr sz="1450" b="1">
                <a:solidFill>
                  <a:srgbClr val="2563EB"/>
                </a:solidFill>
              </a:defRPr>
            </a:pPr>
            <a:r>
              <a:rPr sz="1450" b="1">
                <a:solidFill>
                  <a:srgbClr val="2563EB"/>
                </a:solidFill>
              </a:rPr>
              <a:t>data</a:t>
            </a:r>
            <a:endParaRPr/>
          </a:p>
        </p:txBody>
      </p:sp>
      <p:sp>
        <p:nvSpPr>
          <p:cNvPr id="302041087" name="Rectangle 340544592"/>
          <p:cNvSpPr>
            <a:spLocks noGrp="1"/>
          </p:cNvSpPr>
          <p:nvPr/>
        </p:nvSpPr>
        <p:spPr bwMode="auto">
          <a:xfrm>
            <a:off x="6715125" y="4286250"/>
            <a:ext cx="1524000" cy="285750"/>
          </a:xfrm>
          <a:prstGeom prst="rect">
            <a:avLst/>
          </a:prstGeom>
          <a:noFill/>
          <a:ln w="0">
            <a:noFill/>
            <a:prstDash val="solid"/>
          </a:ln>
        </p:spPr>
        <p:txBody>
          <a:bodyPr/>
          <a:lstStyle/>
          <a:p>
            <a:pPr algn="ctr">
              <a:buNone/>
              <a:defRPr sz="1600" b="1">
                <a:solidFill>
                  <a:srgbClr val="F97316"/>
                </a:solidFill>
              </a:defRPr>
            </a:pPr>
            <a:r>
              <a:rPr sz="1600" b="1">
                <a:solidFill>
                  <a:srgbClr val="F97316"/>
                </a:solidFill>
              </a:rPr>
              <a:t>model line</a:t>
            </a:r>
            <a:endParaRPr/>
          </a:p>
        </p:txBody>
      </p:sp>
      <p:sp>
        <p:nvSpPr>
          <p:cNvPr id="559650848" name="Rectangle 19121567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3</a:t>
            </a:r>
            <a:endParaRPr/>
          </a:p>
        </p:txBody>
      </p:sp>
      <p:sp>
        <p:nvSpPr>
          <p:cNvPr id="2141408830" name="Straight Connector 523934700"/>
          <p:cNvSpPr>
            <a:spLocks noGrp="1"/>
          </p:cNvSpPr>
          <p:nvPr/>
        </p:nvSpPr>
        <p:spPr bwMode="auto">
          <a:xfrm>
            <a:off x="2371725" y="3314700"/>
            <a:ext cx="6715125" cy="533400"/>
          </a:xfrm>
          <a:prstGeom prst="line">
            <a:avLst/>
          </a:prstGeom>
          <a:noFill/>
          <a:ln w="38100">
            <a:solidFill>
              <a:srgbClr val="F97316"/>
            </a:solidFill>
            <a:prstDash val="solid"/>
          </a:ln>
        </p:spPr>
        <p:txBody>
          <a:bodyPr/>
          <a:lstStyle/>
          <a:p>
            <a:pPr>
              <a:buNone/>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1973870" name="Rectangle 764921179"/>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Linear regression</a:t>
            </a:r>
            <a:endParaRPr/>
          </a:p>
        </p:txBody>
      </p:sp>
      <p:sp>
        <p:nvSpPr>
          <p:cNvPr id="499112422" name="Rectangle 130697165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Change w and b to lower MSE</a:t>
            </a:r>
            <a:endParaRPr/>
          </a:p>
        </p:txBody>
      </p:sp>
      <p:sp>
        <p:nvSpPr>
          <p:cNvPr id="1702452014" name="Rectangle: Rounded Corners 1651333515"/>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pic>
        <p:nvPicPr>
          <p:cNvPr id="2067994122" name="Picture 2139346076"/>
          <p:cNvPicPr>
            <a:picLocks noChangeAspect="1"/>
          </p:cNvPicPr>
          <p:nvPr/>
        </p:nvPicPr>
        <p:blipFill rotWithShape="1">
          <a:blip r:embed="rId3"/>
          <a:stretch/>
        </p:blipFill>
        <p:spPr bwMode="auto">
          <a:xfrm>
            <a:off x="2381250" y="1556268"/>
            <a:ext cx="7429500" cy="697463"/>
          </a:xfrm>
          <a:prstGeom prst="rect">
            <a:avLst/>
          </a:prstGeom>
        </p:spPr>
      </p:pic>
      <p:sp>
        <p:nvSpPr>
          <p:cNvPr id="1230832228" name="Straight Connector 673215582"/>
          <p:cNvSpPr>
            <a:spLocks noGrp="1"/>
          </p:cNvSpPr>
          <p:nvPr/>
        </p:nvSpPr>
        <p:spPr bwMode="auto">
          <a:xfrm>
            <a:off x="2000250" y="5381625"/>
            <a:ext cx="7429500" cy="9525"/>
          </a:xfrm>
          <a:prstGeom prst="line">
            <a:avLst/>
          </a:prstGeom>
          <a:noFill/>
          <a:ln w="19050">
            <a:solidFill>
              <a:srgbClr val="94A3B8"/>
            </a:solidFill>
            <a:prstDash val="solid"/>
          </a:ln>
        </p:spPr>
        <p:txBody>
          <a:bodyPr/>
          <a:lstStyle/>
          <a:p>
            <a:pPr>
              <a:buNone/>
              <a:defRPr/>
            </a:pPr>
            <a:endParaRPr/>
          </a:p>
        </p:txBody>
      </p:sp>
      <p:sp>
        <p:nvSpPr>
          <p:cNvPr id="1861386147" name="Straight Connector 1831783794"/>
          <p:cNvSpPr>
            <a:spLocks noGrp="1"/>
          </p:cNvSpPr>
          <p:nvPr/>
        </p:nvSpPr>
        <p:spPr bwMode="auto">
          <a:xfrm>
            <a:off x="2000250" y="2905125"/>
            <a:ext cx="9525" cy="2476500"/>
          </a:xfrm>
          <a:prstGeom prst="line">
            <a:avLst/>
          </a:prstGeom>
          <a:noFill/>
          <a:ln w="19050">
            <a:solidFill>
              <a:srgbClr val="94A3B8"/>
            </a:solidFill>
            <a:prstDash val="solid"/>
          </a:ln>
        </p:spPr>
        <p:txBody>
          <a:bodyPr/>
          <a:lstStyle/>
          <a:p>
            <a:pPr>
              <a:buNone/>
              <a:defRPr/>
            </a:pPr>
            <a:endParaRPr/>
          </a:p>
        </p:txBody>
      </p:sp>
      <p:sp>
        <p:nvSpPr>
          <p:cNvPr id="1719655993" name="Rectangle: Rounded Corners 1519439690"/>
          <p:cNvSpPr>
            <a:spLocks noGrp="1"/>
          </p:cNvSpPr>
          <p:nvPr/>
        </p:nvSpPr>
        <p:spPr bwMode="auto">
          <a:xfrm>
            <a:off x="9667875" y="2714625"/>
            <a:ext cx="1381125" cy="628650"/>
          </a:xfrm>
          <a:prstGeom prst="roundRect">
            <a:avLst>
              <a:gd name="adj" fmla="val 18182"/>
            </a:avLst>
          </a:prstGeom>
          <a:solidFill>
            <a:srgbClr val="FEF3C7"/>
          </a:solidFill>
          <a:ln w="14288">
            <a:solidFill>
              <a:srgbClr val="F97316"/>
            </a:solidFill>
            <a:prstDash val="solid"/>
          </a:ln>
        </p:spPr>
        <p:txBody>
          <a:bodyPr/>
          <a:lstStyle/>
          <a:p>
            <a:pPr algn="ctr">
              <a:buNone/>
              <a:defRPr sz="1800" b="1">
                <a:solidFill>
                  <a:srgbClr val="F97316"/>
                </a:solidFill>
              </a:defRPr>
            </a:pPr>
            <a:r>
              <a:rPr sz="1800" b="1">
                <a:solidFill>
                  <a:srgbClr val="F97316"/>
                </a:solidFill>
              </a:rPr>
              <a:t>MSE ≈ 0.19</a:t>
            </a:r>
            <a:endParaRPr/>
          </a:p>
        </p:txBody>
      </p:sp>
      <p:sp>
        <p:nvSpPr>
          <p:cNvPr id="602729827" name="Rectangle 1880411001"/>
          <p:cNvSpPr>
            <a:spLocks noGrp="1"/>
          </p:cNvSpPr>
          <p:nvPr/>
        </p:nvSpPr>
        <p:spPr bwMode="auto">
          <a:xfrm>
            <a:off x="9477375" y="3524250"/>
            <a:ext cx="1809750" cy="742950"/>
          </a:xfrm>
          <a:prstGeom prst="rect">
            <a:avLst/>
          </a:prstGeom>
          <a:noFill/>
          <a:ln w="0">
            <a:noFill/>
            <a:prstDash val="solid"/>
          </a:ln>
        </p:spPr>
        <p:txBody>
          <a:bodyPr/>
          <a:lstStyle/>
          <a:p>
            <a:pPr algn="ctr">
              <a:buNone/>
              <a:defRPr sz="1650" b="1">
                <a:solidFill>
                  <a:srgbClr val="F97316"/>
                </a:solidFill>
              </a:defRPr>
            </a:pPr>
            <a:r>
              <a:rPr sz="1650" b="1">
                <a:solidFill>
                  <a:srgbClr val="F97316"/>
                </a:solidFill>
              </a:rPr>
              <a:t>closer line</a:t>
            </a:r>
            <a:endParaRPr/>
          </a:p>
        </p:txBody>
      </p:sp>
      <p:sp>
        <p:nvSpPr>
          <p:cNvPr id="1964196280" name="Straight Connector 63070562"/>
          <p:cNvSpPr>
            <a:spLocks noGrp="1"/>
          </p:cNvSpPr>
          <p:nvPr/>
        </p:nvSpPr>
        <p:spPr bwMode="auto">
          <a:xfrm>
            <a:off x="2619375" y="4638675"/>
            <a:ext cx="9525" cy="247650"/>
          </a:xfrm>
          <a:prstGeom prst="line">
            <a:avLst/>
          </a:prstGeom>
          <a:noFill/>
          <a:ln w="28575">
            <a:solidFill>
              <a:srgbClr val="EF4444"/>
            </a:solidFill>
            <a:prstDash val="solid"/>
          </a:ln>
        </p:spPr>
        <p:txBody>
          <a:bodyPr/>
          <a:lstStyle/>
          <a:p>
            <a:pPr>
              <a:buNone/>
              <a:defRPr/>
            </a:pPr>
            <a:endParaRPr/>
          </a:p>
        </p:txBody>
      </p:sp>
      <p:sp>
        <p:nvSpPr>
          <p:cNvPr id="1326614047" name="Oval 723606972"/>
          <p:cNvSpPr>
            <a:spLocks noGrp="1"/>
          </p:cNvSpPr>
          <p:nvPr/>
        </p:nvSpPr>
        <p:spPr bwMode="auto">
          <a:xfrm>
            <a:off x="2533650" y="4800600"/>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1016680804" name="Straight Connector 1295429066"/>
          <p:cNvSpPr>
            <a:spLocks noGrp="1"/>
          </p:cNvSpPr>
          <p:nvPr/>
        </p:nvSpPr>
        <p:spPr bwMode="auto">
          <a:xfrm>
            <a:off x="3857625" y="4411663"/>
            <a:ext cx="9525" cy="144463"/>
          </a:xfrm>
          <a:prstGeom prst="line">
            <a:avLst/>
          </a:prstGeom>
          <a:noFill/>
          <a:ln w="28575">
            <a:solidFill>
              <a:srgbClr val="EF4444"/>
            </a:solidFill>
            <a:prstDash val="solid"/>
          </a:ln>
        </p:spPr>
        <p:txBody>
          <a:bodyPr/>
          <a:lstStyle/>
          <a:p>
            <a:pPr>
              <a:buNone/>
              <a:defRPr/>
            </a:pPr>
            <a:endParaRPr/>
          </a:p>
        </p:txBody>
      </p:sp>
      <p:sp>
        <p:nvSpPr>
          <p:cNvPr id="2087172279" name="Oval 8682068"/>
          <p:cNvSpPr>
            <a:spLocks noGrp="1"/>
          </p:cNvSpPr>
          <p:nvPr/>
        </p:nvSpPr>
        <p:spPr bwMode="auto">
          <a:xfrm>
            <a:off x="3771900" y="4470400"/>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1687711398" name="Straight Connector 2139346071"/>
          <p:cNvSpPr>
            <a:spLocks noGrp="1"/>
          </p:cNvSpPr>
          <p:nvPr/>
        </p:nvSpPr>
        <p:spPr bwMode="auto">
          <a:xfrm>
            <a:off x="5095875" y="4184650"/>
            <a:ext cx="9525" cy="82550"/>
          </a:xfrm>
          <a:prstGeom prst="line">
            <a:avLst/>
          </a:prstGeom>
          <a:noFill/>
          <a:ln w="28575">
            <a:solidFill>
              <a:srgbClr val="EF4444"/>
            </a:solidFill>
            <a:prstDash val="solid"/>
          </a:ln>
        </p:spPr>
        <p:txBody>
          <a:bodyPr/>
          <a:lstStyle/>
          <a:p>
            <a:pPr>
              <a:buNone/>
              <a:defRPr/>
            </a:pPr>
            <a:endParaRPr/>
          </a:p>
        </p:txBody>
      </p:sp>
      <p:sp>
        <p:nvSpPr>
          <p:cNvPr id="1933316630" name="Oval 2066189596"/>
          <p:cNvSpPr>
            <a:spLocks noGrp="1"/>
          </p:cNvSpPr>
          <p:nvPr/>
        </p:nvSpPr>
        <p:spPr bwMode="auto">
          <a:xfrm>
            <a:off x="5010149" y="4181475"/>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1405782547" name="Straight Connector 272593582"/>
          <p:cNvSpPr>
            <a:spLocks noGrp="1"/>
          </p:cNvSpPr>
          <p:nvPr/>
        </p:nvSpPr>
        <p:spPr bwMode="auto">
          <a:xfrm>
            <a:off x="6334125" y="3854450"/>
            <a:ext cx="9525" cy="103188"/>
          </a:xfrm>
          <a:prstGeom prst="line">
            <a:avLst/>
          </a:prstGeom>
          <a:noFill/>
          <a:ln w="28575">
            <a:solidFill>
              <a:srgbClr val="EF4444"/>
            </a:solidFill>
            <a:prstDash val="solid"/>
          </a:ln>
        </p:spPr>
        <p:txBody>
          <a:bodyPr/>
          <a:lstStyle/>
          <a:p>
            <a:pPr>
              <a:buNone/>
              <a:defRPr/>
            </a:pPr>
            <a:endParaRPr/>
          </a:p>
        </p:txBody>
      </p:sp>
      <p:sp>
        <p:nvSpPr>
          <p:cNvPr id="1777935679" name="Oval 134232463"/>
          <p:cNvSpPr>
            <a:spLocks noGrp="1"/>
          </p:cNvSpPr>
          <p:nvPr/>
        </p:nvSpPr>
        <p:spPr bwMode="auto">
          <a:xfrm>
            <a:off x="6248400" y="3768725"/>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611399541" name="Straight Connector 775049891"/>
          <p:cNvSpPr>
            <a:spLocks noGrp="1"/>
          </p:cNvSpPr>
          <p:nvPr/>
        </p:nvSpPr>
        <p:spPr bwMode="auto">
          <a:xfrm>
            <a:off x="7572375" y="3565525"/>
            <a:ext cx="9525" cy="165100"/>
          </a:xfrm>
          <a:prstGeom prst="line">
            <a:avLst/>
          </a:prstGeom>
          <a:noFill/>
          <a:ln w="28575">
            <a:solidFill>
              <a:srgbClr val="EF4444"/>
            </a:solidFill>
            <a:prstDash val="solid"/>
          </a:ln>
        </p:spPr>
        <p:txBody>
          <a:bodyPr/>
          <a:lstStyle/>
          <a:p>
            <a:pPr>
              <a:buNone/>
              <a:defRPr/>
            </a:pPr>
            <a:endParaRPr/>
          </a:p>
        </p:txBody>
      </p:sp>
      <p:sp>
        <p:nvSpPr>
          <p:cNvPr id="1073760130" name="Oval 1072269508"/>
          <p:cNvSpPr>
            <a:spLocks noGrp="1"/>
          </p:cNvSpPr>
          <p:nvPr/>
        </p:nvSpPr>
        <p:spPr bwMode="auto">
          <a:xfrm>
            <a:off x="7486650" y="3479800"/>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1029532767" name="Straight Connector 982061214"/>
          <p:cNvSpPr>
            <a:spLocks noGrp="1"/>
          </p:cNvSpPr>
          <p:nvPr/>
        </p:nvSpPr>
        <p:spPr bwMode="auto">
          <a:xfrm>
            <a:off x="8810625" y="3235325"/>
            <a:ext cx="9525" cy="268288"/>
          </a:xfrm>
          <a:prstGeom prst="line">
            <a:avLst/>
          </a:prstGeom>
          <a:noFill/>
          <a:ln w="28575">
            <a:solidFill>
              <a:srgbClr val="EF4444"/>
            </a:solidFill>
            <a:prstDash val="solid"/>
          </a:ln>
        </p:spPr>
        <p:txBody>
          <a:bodyPr/>
          <a:lstStyle/>
          <a:p>
            <a:pPr>
              <a:buNone/>
              <a:defRPr/>
            </a:pPr>
            <a:endParaRPr/>
          </a:p>
        </p:txBody>
      </p:sp>
      <p:sp>
        <p:nvSpPr>
          <p:cNvPr id="1620951127" name="Oval 1509233170"/>
          <p:cNvSpPr>
            <a:spLocks noGrp="1"/>
          </p:cNvSpPr>
          <p:nvPr/>
        </p:nvSpPr>
        <p:spPr bwMode="auto">
          <a:xfrm>
            <a:off x="8724900" y="3149600"/>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733146109" name="Rectangle 835713909"/>
          <p:cNvSpPr>
            <a:spLocks noGrp="1"/>
          </p:cNvSpPr>
          <p:nvPr/>
        </p:nvSpPr>
        <p:spPr bwMode="auto">
          <a:xfrm>
            <a:off x="2476500" y="2543175"/>
            <a:ext cx="762000" cy="266700"/>
          </a:xfrm>
          <a:prstGeom prst="rect">
            <a:avLst/>
          </a:prstGeom>
          <a:noFill/>
          <a:ln w="0">
            <a:noFill/>
            <a:prstDash val="solid"/>
          </a:ln>
        </p:spPr>
        <p:txBody>
          <a:bodyPr/>
          <a:lstStyle/>
          <a:p>
            <a:pPr algn="l">
              <a:buNone/>
              <a:defRPr sz="1450" b="1">
                <a:solidFill>
                  <a:srgbClr val="2563EB"/>
                </a:solidFill>
              </a:defRPr>
            </a:pPr>
            <a:r>
              <a:rPr sz="1450" b="1">
                <a:solidFill>
                  <a:srgbClr val="2563EB"/>
                </a:solidFill>
              </a:rPr>
              <a:t>data</a:t>
            </a:r>
            <a:endParaRPr/>
          </a:p>
        </p:txBody>
      </p:sp>
      <p:sp>
        <p:nvSpPr>
          <p:cNvPr id="2081003466" name="Rectangle 891411324"/>
          <p:cNvSpPr>
            <a:spLocks noGrp="1"/>
          </p:cNvSpPr>
          <p:nvPr/>
        </p:nvSpPr>
        <p:spPr bwMode="auto">
          <a:xfrm>
            <a:off x="6715125" y="3714750"/>
            <a:ext cx="1524000" cy="285750"/>
          </a:xfrm>
          <a:prstGeom prst="rect">
            <a:avLst/>
          </a:prstGeom>
          <a:noFill/>
          <a:ln w="0">
            <a:noFill/>
            <a:prstDash val="solid"/>
          </a:ln>
        </p:spPr>
        <p:txBody>
          <a:bodyPr/>
          <a:lstStyle/>
          <a:p>
            <a:pPr algn="ctr">
              <a:buNone/>
              <a:defRPr sz="1600" b="1">
                <a:solidFill>
                  <a:srgbClr val="F97316"/>
                </a:solidFill>
              </a:defRPr>
            </a:pPr>
            <a:r>
              <a:rPr sz="1600" b="1">
                <a:solidFill>
                  <a:srgbClr val="F97316"/>
                </a:solidFill>
              </a:rPr>
              <a:t>model line</a:t>
            </a:r>
            <a:endParaRPr/>
          </a:p>
        </p:txBody>
      </p:sp>
      <p:sp>
        <p:nvSpPr>
          <p:cNvPr id="853344434" name="Rectangle 1615394469"/>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4</a:t>
            </a:r>
            <a:endParaRPr/>
          </a:p>
        </p:txBody>
      </p:sp>
      <p:sp>
        <p:nvSpPr>
          <p:cNvPr id="801532771" name="solidguide_flipV"/>
          <p:cNvSpPr>
            <a:spLocks noGrp="1"/>
          </p:cNvSpPr>
          <p:nvPr/>
        </p:nvSpPr>
        <p:spPr bwMode="auto">
          <a:xfrm flipV="1">
            <a:off x="2371725" y="3458210"/>
            <a:ext cx="6686550" cy="1225868"/>
          </a:xfrm>
          <a:prstGeom prst="line">
            <a:avLst/>
          </a:prstGeom>
          <a:noFill/>
          <a:ln w="30480">
            <a:solidFill>
              <a:srgbClr val="F97316"/>
            </a:solidFill>
            <a:prstDash val="solid"/>
          </a:ln>
        </p:spPr>
        <p:txBody>
          <a:bodyPr/>
          <a:lstStyle/>
          <a:p>
            <a:pPr>
              <a:buNone/>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7685692" name="Rectangle 810486817"/>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Linear regression</a:t>
            </a:r>
            <a:endParaRPr/>
          </a:p>
        </p:txBody>
      </p:sp>
      <p:sp>
        <p:nvSpPr>
          <p:cNvPr id="414482087" name="Rectangle 1387195607"/>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The fitted line makes MSE small</a:t>
            </a:r>
            <a:endParaRPr/>
          </a:p>
        </p:txBody>
      </p:sp>
      <p:sp>
        <p:nvSpPr>
          <p:cNvPr id="1449611703" name="Rectangle: Rounded Corners 201050636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pic>
        <p:nvPicPr>
          <p:cNvPr id="1174279148" name="Picture 2108938199"/>
          <p:cNvPicPr>
            <a:picLocks noChangeAspect="1"/>
          </p:cNvPicPr>
          <p:nvPr/>
        </p:nvPicPr>
        <p:blipFill rotWithShape="1">
          <a:blip r:embed="rId3"/>
          <a:stretch/>
        </p:blipFill>
        <p:spPr bwMode="auto">
          <a:xfrm>
            <a:off x="2381250" y="1556268"/>
            <a:ext cx="7429500" cy="697463"/>
          </a:xfrm>
          <a:prstGeom prst="rect">
            <a:avLst/>
          </a:prstGeom>
        </p:spPr>
      </p:pic>
      <p:sp>
        <p:nvSpPr>
          <p:cNvPr id="189165643" name="Straight Connector 1226520373"/>
          <p:cNvSpPr>
            <a:spLocks noGrp="1"/>
          </p:cNvSpPr>
          <p:nvPr/>
        </p:nvSpPr>
        <p:spPr bwMode="auto">
          <a:xfrm>
            <a:off x="2000250" y="5381625"/>
            <a:ext cx="7429500" cy="9525"/>
          </a:xfrm>
          <a:prstGeom prst="line">
            <a:avLst/>
          </a:prstGeom>
          <a:noFill/>
          <a:ln w="19050">
            <a:solidFill>
              <a:srgbClr val="94A3B8"/>
            </a:solidFill>
            <a:prstDash val="solid"/>
          </a:ln>
        </p:spPr>
        <p:txBody>
          <a:bodyPr/>
          <a:lstStyle/>
          <a:p>
            <a:pPr>
              <a:buNone/>
              <a:defRPr/>
            </a:pPr>
            <a:endParaRPr/>
          </a:p>
        </p:txBody>
      </p:sp>
      <p:sp>
        <p:nvSpPr>
          <p:cNvPr id="35563476" name="Straight Connector 1752169602"/>
          <p:cNvSpPr>
            <a:spLocks noGrp="1"/>
          </p:cNvSpPr>
          <p:nvPr/>
        </p:nvSpPr>
        <p:spPr bwMode="auto">
          <a:xfrm>
            <a:off x="2000250" y="2905125"/>
            <a:ext cx="9525" cy="2476500"/>
          </a:xfrm>
          <a:prstGeom prst="line">
            <a:avLst/>
          </a:prstGeom>
          <a:noFill/>
          <a:ln w="19050">
            <a:solidFill>
              <a:srgbClr val="94A3B8"/>
            </a:solidFill>
            <a:prstDash val="solid"/>
          </a:ln>
        </p:spPr>
        <p:txBody>
          <a:bodyPr/>
          <a:lstStyle/>
          <a:p>
            <a:pPr>
              <a:buNone/>
              <a:defRPr/>
            </a:pPr>
            <a:endParaRPr/>
          </a:p>
        </p:txBody>
      </p:sp>
      <p:sp>
        <p:nvSpPr>
          <p:cNvPr id="2130506644" name="Rectangle: Rounded Corners 917000957"/>
          <p:cNvSpPr>
            <a:spLocks noGrp="1"/>
          </p:cNvSpPr>
          <p:nvPr/>
        </p:nvSpPr>
        <p:spPr bwMode="auto">
          <a:xfrm>
            <a:off x="9667875" y="2714625"/>
            <a:ext cx="1381125" cy="628650"/>
          </a:xfrm>
          <a:prstGeom prst="roundRect">
            <a:avLst>
              <a:gd name="adj" fmla="val 18182"/>
            </a:avLst>
          </a:prstGeom>
          <a:solidFill>
            <a:srgbClr val="DCFCE7"/>
          </a:solidFill>
          <a:ln w="14288">
            <a:solidFill>
              <a:srgbClr val="10B981"/>
            </a:solidFill>
            <a:prstDash val="solid"/>
          </a:ln>
        </p:spPr>
        <p:txBody>
          <a:bodyPr/>
          <a:lstStyle/>
          <a:p>
            <a:pPr algn="ctr">
              <a:buNone/>
              <a:defRPr sz="1800" b="1">
                <a:solidFill>
                  <a:srgbClr val="10B981"/>
                </a:solidFill>
              </a:defRPr>
            </a:pPr>
            <a:r>
              <a:rPr sz="1800" b="1">
                <a:solidFill>
                  <a:srgbClr val="10B981"/>
                </a:solidFill>
              </a:rPr>
              <a:t>MSE ≈ 0.01</a:t>
            </a:r>
            <a:endParaRPr/>
          </a:p>
        </p:txBody>
      </p:sp>
      <p:sp>
        <p:nvSpPr>
          <p:cNvPr id="141296146" name="Rectangle 835812764"/>
          <p:cNvSpPr>
            <a:spLocks noGrp="1"/>
          </p:cNvSpPr>
          <p:nvPr/>
        </p:nvSpPr>
        <p:spPr bwMode="auto">
          <a:xfrm>
            <a:off x="9477375" y="3524250"/>
            <a:ext cx="1809750" cy="742950"/>
          </a:xfrm>
          <a:prstGeom prst="rect">
            <a:avLst/>
          </a:prstGeom>
          <a:noFill/>
          <a:ln w="0">
            <a:noFill/>
            <a:prstDash val="solid"/>
          </a:ln>
        </p:spPr>
        <p:txBody>
          <a:bodyPr/>
          <a:lstStyle/>
          <a:p>
            <a:pPr algn="ctr">
              <a:buNone/>
              <a:defRPr sz="1650" b="1">
                <a:solidFill>
                  <a:srgbClr val="10B981"/>
                </a:solidFill>
              </a:defRPr>
            </a:pPr>
            <a:r>
              <a:rPr sz="1650" b="1">
                <a:solidFill>
                  <a:srgbClr val="10B981"/>
                </a:solidFill>
              </a:rPr>
              <a:t>small errors</a:t>
            </a:r>
            <a:endParaRPr/>
          </a:p>
        </p:txBody>
      </p:sp>
      <p:sp>
        <p:nvSpPr>
          <p:cNvPr id="594632653" name="Straight Connector 1136040176"/>
          <p:cNvSpPr>
            <a:spLocks noGrp="1"/>
          </p:cNvSpPr>
          <p:nvPr/>
        </p:nvSpPr>
        <p:spPr bwMode="auto">
          <a:xfrm>
            <a:off x="2619375" y="4886325"/>
            <a:ext cx="9525" cy="20637"/>
          </a:xfrm>
          <a:prstGeom prst="line">
            <a:avLst/>
          </a:prstGeom>
          <a:noFill/>
          <a:ln w="19050">
            <a:solidFill>
              <a:srgbClr val="EF4444"/>
            </a:solidFill>
            <a:prstDash val="solid"/>
          </a:ln>
        </p:spPr>
        <p:txBody>
          <a:bodyPr/>
          <a:lstStyle/>
          <a:p>
            <a:pPr>
              <a:buNone/>
              <a:defRPr/>
            </a:pPr>
            <a:endParaRPr/>
          </a:p>
        </p:txBody>
      </p:sp>
      <p:sp>
        <p:nvSpPr>
          <p:cNvPr id="1328709532" name="Oval 583075002"/>
          <p:cNvSpPr>
            <a:spLocks noGrp="1"/>
          </p:cNvSpPr>
          <p:nvPr/>
        </p:nvSpPr>
        <p:spPr bwMode="auto">
          <a:xfrm>
            <a:off x="2533650" y="4800600"/>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194433806" name="Straight Connector 337929435"/>
          <p:cNvSpPr>
            <a:spLocks noGrp="1"/>
          </p:cNvSpPr>
          <p:nvPr/>
        </p:nvSpPr>
        <p:spPr bwMode="auto">
          <a:xfrm>
            <a:off x="3857625" y="4556125"/>
            <a:ext cx="9525" cy="20638"/>
          </a:xfrm>
          <a:prstGeom prst="line">
            <a:avLst/>
          </a:prstGeom>
          <a:noFill/>
          <a:ln w="19050">
            <a:solidFill>
              <a:srgbClr val="EF4444"/>
            </a:solidFill>
            <a:prstDash val="solid"/>
          </a:ln>
        </p:spPr>
        <p:txBody>
          <a:bodyPr/>
          <a:lstStyle/>
          <a:p>
            <a:pPr>
              <a:buNone/>
              <a:defRPr/>
            </a:pPr>
            <a:endParaRPr/>
          </a:p>
        </p:txBody>
      </p:sp>
      <p:sp>
        <p:nvSpPr>
          <p:cNvPr id="1022772474" name="Oval 2108938194"/>
          <p:cNvSpPr>
            <a:spLocks noGrp="1"/>
          </p:cNvSpPr>
          <p:nvPr/>
        </p:nvSpPr>
        <p:spPr bwMode="auto">
          <a:xfrm>
            <a:off x="3771900" y="4470400"/>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912192447" name="Straight Connector 1089038474"/>
          <p:cNvSpPr>
            <a:spLocks noGrp="1"/>
          </p:cNvSpPr>
          <p:nvPr/>
        </p:nvSpPr>
        <p:spPr bwMode="auto">
          <a:xfrm>
            <a:off x="5095875" y="4246563"/>
            <a:ext cx="9525" cy="20638"/>
          </a:xfrm>
          <a:prstGeom prst="line">
            <a:avLst/>
          </a:prstGeom>
          <a:noFill/>
          <a:ln w="19050">
            <a:solidFill>
              <a:srgbClr val="EF4444"/>
            </a:solidFill>
            <a:prstDash val="solid"/>
          </a:ln>
        </p:spPr>
        <p:txBody>
          <a:bodyPr/>
          <a:lstStyle/>
          <a:p>
            <a:pPr>
              <a:buNone/>
              <a:defRPr/>
            </a:pPr>
            <a:endParaRPr/>
          </a:p>
        </p:txBody>
      </p:sp>
      <p:sp>
        <p:nvSpPr>
          <p:cNvPr id="604522831" name="Oval 344103133"/>
          <p:cNvSpPr>
            <a:spLocks noGrp="1"/>
          </p:cNvSpPr>
          <p:nvPr/>
        </p:nvSpPr>
        <p:spPr bwMode="auto">
          <a:xfrm>
            <a:off x="5010149" y="4181475"/>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750106650" name="Straight Connector 116319933"/>
          <p:cNvSpPr>
            <a:spLocks noGrp="1"/>
          </p:cNvSpPr>
          <p:nvPr/>
        </p:nvSpPr>
        <p:spPr bwMode="auto">
          <a:xfrm>
            <a:off x="6334125" y="3854450"/>
            <a:ext cx="9525" cy="61913"/>
          </a:xfrm>
          <a:prstGeom prst="line">
            <a:avLst/>
          </a:prstGeom>
          <a:noFill/>
          <a:ln w="19050">
            <a:solidFill>
              <a:srgbClr val="EF4444"/>
            </a:solidFill>
            <a:prstDash val="solid"/>
          </a:ln>
        </p:spPr>
        <p:txBody>
          <a:bodyPr/>
          <a:lstStyle/>
          <a:p>
            <a:pPr>
              <a:buNone/>
              <a:defRPr/>
            </a:pPr>
            <a:endParaRPr/>
          </a:p>
        </p:txBody>
      </p:sp>
      <p:sp>
        <p:nvSpPr>
          <p:cNvPr id="1263731921" name="Oval 1497503668"/>
          <p:cNvSpPr>
            <a:spLocks noGrp="1"/>
          </p:cNvSpPr>
          <p:nvPr/>
        </p:nvSpPr>
        <p:spPr bwMode="auto">
          <a:xfrm>
            <a:off x="6248400" y="3768725"/>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2106070495" name="Straight Connector 1398652273"/>
          <p:cNvSpPr>
            <a:spLocks noGrp="1"/>
          </p:cNvSpPr>
          <p:nvPr/>
        </p:nvSpPr>
        <p:spPr bwMode="auto">
          <a:xfrm>
            <a:off x="7572375" y="3565525"/>
            <a:ext cx="9525" cy="20638"/>
          </a:xfrm>
          <a:prstGeom prst="line">
            <a:avLst/>
          </a:prstGeom>
          <a:noFill/>
          <a:ln w="19050">
            <a:solidFill>
              <a:srgbClr val="EF4444"/>
            </a:solidFill>
            <a:prstDash val="solid"/>
          </a:ln>
        </p:spPr>
        <p:txBody>
          <a:bodyPr/>
          <a:lstStyle/>
          <a:p>
            <a:pPr>
              <a:buNone/>
              <a:defRPr/>
            </a:pPr>
            <a:endParaRPr/>
          </a:p>
        </p:txBody>
      </p:sp>
      <p:sp>
        <p:nvSpPr>
          <p:cNvPr id="1985338908" name="Oval 1635056806"/>
          <p:cNvSpPr>
            <a:spLocks noGrp="1"/>
          </p:cNvSpPr>
          <p:nvPr/>
        </p:nvSpPr>
        <p:spPr bwMode="auto">
          <a:xfrm>
            <a:off x="7486650" y="3479800"/>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36719278" name="Straight Connector 1900162545"/>
          <p:cNvSpPr>
            <a:spLocks noGrp="1"/>
          </p:cNvSpPr>
          <p:nvPr/>
        </p:nvSpPr>
        <p:spPr bwMode="auto">
          <a:xfrm>
            <a:off x="8810625" y="3235325"/>
            <a:ext cx="9525" cy="20638"/>
          </a:xfrm>
          <a:prstGeom prst="line">
            <a:avLst/>
          </a:prstGeom>
          <a:noFill/>
          <a:ln w="19050">
            <a:solidFill>
              <a:srgbClr val="EF4444"/>
            </a:solidFill>
            <a:prstDash val="solid"/>
          </a:ln>
        </p:spPr>
        <p:txBody>
          <a:bodyPr/>
          <a:lstStyle/>
          <a:p>
            <a:pPr>
              <a:buNone/>
              <a:defRPr/>
            </a:pPr>
            <a:endParaRPr/>
          </a:p>
        </p:txBody>
      </p:sp>
      <p:sp>
        <p:nvSpPr>
          <p:cNvPr id="866306639" name="Oval 781560171"/>
          <p:cNvSpPr>
            <a:spLocks noGrp="1"/>
          </p:cNvSpPr>
          <p:nvPr/>
        </p:nvSpPr>
        <p:spPr bwMode="auto">
          <a:xfrm>
            <a:off x="8724900" y="3149600"/>
            <a:ext cx="171450" cy="171450"/>
          </a:xfrm>
          <a:prstGeom prst="ellipse">
            <a:avLst/>
          </a:prstGeom>
          <a:solidFill>
            <a:srgbClr val="2563EB"/>
          </a:solidFill>
          <a:ln w="19050">
            <a:solidFill>
              <a:srgbClr val="2563EB"/>
            </a:solidFill>
            <a:prstDash val="solid"/>
          </a:ln>
        </p:spPr>
        <p:txBody>
          <a:bodyPr/>
          <a:lstStyle/>
          <a:p>
            <a:pPr>
              <a:buNone/>
              <a:defRPr/>
            </a:pPr>
            <a:endParaRPr/>
          </a:p>
        </p:txBody>
      </p:sp>
      <p:sp>
        <p:nvSpPr>
          <p:cNvPr id="631700184" name="Rectangle 1575462251"/>
          <p:cNvSpPr>
            <a:spLocks noGrp="1"/>
          </p:cNvSpPr>
          <p:nvPr/>
        </p:nvSpPr>
        <p:spPr bwMode="auto">
          <a:xfrm>
            <a:off x="2476500" y="2543175"/>
            <a:ext cx="762000" cy="266700"/>
          </a:xfrm>
          <a:prstGeom prst="rect">
            <a:avLst/>
          </a:prstGeom>
          <a:noFill/>
          <a:ln w="0">
            <a:noFill/>
            <a:prstDash val="solid"/>
          </a:ln>
        </p:spPr>
        <p:txBody>
          <a:bodyPr/>
          <a:lstStyle/>
          <a:p>
            <a:pPr algn="l">
              <a:buNone/>
              <a:defRPr sz="1450" b="1">
                <a:solidFill>
                  <a:srgbClr val="2563EB"/>
                </a:solidFill>
              </a:defRPr>
            </a:pPr>
            <a:r>
              <a:rPr sz="1450" b="1">
                <a:solidFill>
                  <a:srgbClr val="2563EB"/>
                </a:solidFill>
              </a:rPr>
              <a:t>data</a:t>
            </a:r>
            <a:endParaRPr/>
          </a:p>
        </p:txBody>
      </p:sp>
      <p:sp>
        <p:nvSpPr>
          <p:cNvPr id="89863975" name="Rectangle 1355267839"/>
          <p:cNvSpPr>
            <a:spLocks noGrp="1"/>
          </p:cNvSpPr>
          <p:nvPr/>
        </p:nvSpPr>
        <p:spPr bwMode="auto">
          <a:xfrm>
            <a:off x="6715125" y="3314700"/>
            <a:ext cx="1524000" cy="285750"/>
          </a:xfrm>
          <a:prstGeom prst="rect">
            <a:avLst/>
          </a:prstGeom>
          <a:noFill/>
          <a:ln w="0">
            <a:noFill/>
            <a:prstDash val="solid"/>
          </a:ln>
        </p:spPr>
        <p:txBody>
          <a:bodyPr/>
          <a:lstStyle/>
          <a:p>
            <a:pPr algn="ctr">
              <a:buNone/>
              <a:defRPr sz="1600" b="1">
                <a:solidFill>
                  <a:srgbClr val="F97316"/>
                </a:solidFill>
              </a:defRPr>
            </a:pPr>
            <a:r>
              <a:rPr sz="1600" b="1">
                <a:solidFill>
                  <a:srgbClr val="F97316"/>
                </a:solidFill>
              </a:rPr>
              <a:t>model line</a:t>
            </a:r>
            <a:endParaRPr/>
          </a:p>
        </p:txBody>
      </p:sp>
      <p:sp>
        <p:nvSpPr>
          <p:cNvPr id="1290083061" name="Rectangle 1311817854"/>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5</a:t>
            </a:r>
            <a:endParaRPr/>
          </a:p>
        </p:txBody>
      </p:sp>
      <p:sp>
        <p:nvSpPr>
          <p:cNvPr id="509995827" name="solidguide_flipV"/>
          <p:cNvSpPr>
            <a:spLocks noGrp="1"/>
          </p:cNvSpPr>
          <p:nvPr/>
        </p:nvSpPr>
        <p:spPr bwMode="auto">
          <a:xfrm flipV="1">
            <a:off x="2371725" y="3189923"/>
            <a:ext cx="6686550" cy="1783080"/>
          </a:xfrm>
          <a:prstGeom prst="line">
            <a:avLst/>
          </a:prstGeom>
          <a:noFill/>
          <a:ln w="30480">
            <a:solidFill>
              <a:srgbClr val="F97316"/>
            </a:solidFill>
            <a:prstDash val="solid"/>
          </a:ln>
        </p:spPr>
        <p:txBody>
          <a:bodyPr/>
          <a:lstStyle/>
          <a:p>
            <a:pPr>
              <a:buNone/>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926920691" name="Rectangle 896921065"/>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Linear regression</a:t>
            </a:r>
            <a:endParaRPr/>
          </a:p>
        </p:txBody>
      </p:sp>
      <p:sp>
        <p:nvSpPr>
          <p:cNvPr id="1534880504" name="Rectangle 87328979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Example: attendance predicts grades</a:t>
            </a:r>
            <a:endParaRPr/>
          </a:p>
        </p:txBody>
      </p:sp>
      <p:sp>
        <p:nvSpPr>
          <p:cNvPr id="1288461921" name="Rectangle: Rounded Corners 153552951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740289402" name="Straight Connector 56707613"/>
          <p:cNvSpPr>
            <a:spLocks noGrp="1"/>
          </p:cNvSpPr>
          <p:nvPr/>
        </p:nvSpPr>
        <p:spPr bwMode="auto">
          <a:xfrm>
            <a:off x="1905000" y="5334000"/>
            <a:ext cx="7429500" cy="9525"/>
          </a:xfrm>
          <a:prstGeom prst="line">
            <a:avLst/>
          </a:prstGeom>
          <a:noFill/>
          <a:ln w="19050">
            <a:solidFill>
              <a:srgbClr val="94A3B8"/>
            </a:solidFill>
            <a:prstDash val="solid"/>
          </a:ln>
        </p:spPr>
        <p:txBody>
          <a:bodyPr/>
          <a:lstStyle/>
          <a:p>
            <a:pPr>
              <a:buNone/>
              <a:defRPr/>
            </a:pPr>
            <a:endParaRPr/>
          </a:p>
        </p:txBody>
      </p:sp>
      <p:sp>
        <p:nvSpPr>
          <p:cNvPr id="486362419" name="Straight Connector 1473988392"/>
          <p:cNvSpPr>
            <a:spLocks noGrp="1"/>
          </p:cNvSpPr>
          <p:nvPr/>
        </p:nvSpPr>
        <p:spPr bwMode="auto">
          <a:xfrm>
            <a:off x="1905000" y="2476500"/>
            <a:ext cx="9525" cy="2857500"/>
          </a:xfrm>
          <a:prstGeom prst="line">
            <a:avLst/>
          </a:prstGeom>
          <a:noFill/>
          <a:ln w="19050">
            <a:solidFill>
              <a:srgbClr val="94A3B8"/>
            </a:solidFill>
            <a:prstDash val="solid"/>
          </a:ln>
        </p:spPr>
        <p:txBody>
          <a:bodyPr/>
          <a:lstStyle/>
          <a:p>
            <a:pPr>
              <a:buNone/>
              <a:defRPr/>
            </a:pPr>
            <a:endParaRPr/>
          </a:p>
        </p:txBody>
      </p:sp>
      <p:sp>
        <p:nvSpPr>
          <p:cNvPr id="1569126588" name="Rectangle 1804586365"/>
          <p:cNvSpPr>
            <a:spLocks noGrp="1"/>
          </p:cNvSpPr>
          <p:nvPr/>
        </p:nvSpPr>
        <p:spPr bwMode="auto">
          <a:xfrm>
            <a:off x="4762500" y="5619750"/>
            <a:ext cx="20002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attendance (%)</a:t>
            </a:r>
            <a:endParaRPr/>
          </a:p>
        </p:txBody>
      </p:sp>
      <p:sp>
        <p:nvSpPr>
          <p:cNvPr id="1325003937" name="Rectangle 1864669960"/>
          <p:cNvSpPr>
            <a:spLocks noGrp="1"/>
          </p:cNvSpPr>
          <p:nvPr/>
        </p:nvSpPr>
        <p:spPr bwMode="auto">
          <a:xfrm>
            <a:off x="1219200" y="3667125"/>
            <a:ext cx="6667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grade</a:t>
            </a:r>
            <a:endParaRPr/>
          </a:p>
        </p:txBody>
      </p:sp>
      <p:sp>
        <p:nvSpPr>
          <p:cNvPr id="419005783" name="Oval 1888914903"/>
          <p:cNvSpPr>
            <a:spLocks noGrp="1"/>
          </p:cNvSpPr>
          <p:nvPr/>
        </p:nvSpPr>
        <p:spPr bwMode="auto">
          <a:xfrm>
            <a:off x="2121218" y="4421765"/>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1902116329" name="Oval 832749497"/>
          <p:cNvSpPr>
            <a:spLocks noGrp="1"/>
          </p:cNvSpPr>
          <p:nvPr/>
        </p:nvSpPr>
        <p:spPr bwMode="auto">
          <a:xfrm>
            <a:off x="2566988" y="5097174"/>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317854745" name="Oval 2073900984"/>
          <p:cNvSpPr>
            <a:spLocks noGrp="1"/>
          </p:cNvSpPr>
          <p:nvPr/>
        </p:nvSpPr>
        <p:spPr bwMode="auto">
          <a:xfrm>
            <a:off x="2864168" y="4110038"/>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1379096192" name="Oval 1025225897"/>
          <p:cNvSpPr>
            <a:spLocks noGrp="1"/>
          </p:cNvSpPr>
          <p:nvPr/>
        </p:nvSpPr>
        <p:spPr bwMode="auto">
          <a:xfrm>
            <a:off x="3458528" y="4577628"/>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629143937" name="Oval 393992283"/>
          <p:cNvSpPr>
            <a:spLocks noGrp="1"/>
          </p:cNvSpPr>
          <p:nvPr/>
        </p:nvSpPr>
        <p:spPr bwMode="auto">
          <a:xfrm>
            <a:off x="3755708" y="3798310"/>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354351702" name="Oval 1602577504"/>
          <p:cNvSpPr>
            <a:spLocks noGrp="1"/>
          </p:cNvSpPr>
          <p:nvPr/>
        </p:nvSpPr>
        <p:spPr bwMode="auto">
          <a:xfrm>
            <a:off x="4201478" y="4785447"/>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1795407915" name="Oval 1371923820"/>
          <p:cNvSpPr>
            <a:spLocks noGrp="1"/>
          </p:cNvSpPr>
          <p:nvPr/>
        </p:nvSpPr>
        <p:spPr bwMode="auto">
          <a:xfrm>
            <a:off x="4647248" y="3642447"/>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620225051" name="Oval 1753025884"/>
          <p:cNvSpPr>
            <a:spLocks noGrp="1"/>
          </p:cNvSpPr>
          <p:nvPr/>
        </p:nvSpPr>
        <p:spPr bwMode="auto">
          <a:xfrm>
            <a:off x="5093018" y="3954174"/>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1548204283" name="Oval 1468286775"/>
          <p:cNvSpPr>
            <a:spLocks noGrp="1"/>
          </p:cNvSpPr>
          <p:nvPr/>
        </p:nvSpPr>
        <p:spPr bwMode="auto">
          <a:xfrm>
            <a:off x="5687378" y="3330719"/>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495125096" name="Oval 1303532533"/>
          <p:cNvSpPr>
            <a:spLocks noGrp="1"/>
          </p:cNvSpPr>
          <p:nvPr/>
        </p:nvSpPr>
        <p:spPr bwMode="auto">
          <a:xfrm>
            <a:off x="5984558" y="4213947"/>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2091778841" name="Oval 1098580289"/>
          <p:cNvSpPr>
            <a:spLocks noGrp="1"/>
          </p:cNvSpPr>
          <p:nvPr/>
        </p:nvSpPr>
        <p:spPr bwMode="auto">
          <a:xfrm>
            <a:off x="6430328" y="3018992"/>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1891269016" name="Oval 747856202"/>
          <p:cNvSpPr>
            <a:spLocks noGrp="1"/>
          </p:cNvSpPr>
          <p:nvPr/>
        </p:nvSpPr>
        <p:spPr bwMode="auto">
          <a:xfrm>
            <a:off x="6876098" y="3590492"/>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1558788859" name="Oval 1515170768"/>
          <p:cNvSpPr>
            <a:spLocks noGrp="1"/>
          </p:cNvSpPr>
          <p:nvPr/>
        </p:nvSpPr>
        <p:spPr bwMode="auto">
          <a:xfrm>
            <a:off x="7321868" y="2707265"/>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1411643686" name="Oval 758272404"/>
          <p:cNvSpPr>
            <a:spLocks noGrp="1"/>
          </p:cNvSpPr>
          <p:nvPr/>
        </p:nvSpPr>
        <p:spPr bwMode="auto">
          <a:xfrm>
            <a:off x="7767638" y="3278765"/>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1686114865" name="Oval 539647180"/>
          <p:cNvSpPr>
            <a:spLocks noGrp="1"/>
          </p:cNvSpPr>
          <p:nvPr/>
        </p:nvSpPr>
        <p:spPr bwMode="auto">
          <a:xfrm>
            <a:off x="8213408" y="2915083"/>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988655828" name="Oval 382130369"/>
          <p:cNvSpPr>
            <a:spLocks noGrp="1"/>
          </p:cNvSpPr>
          <p:nvPr/>
        </p:nvSpPr>
        <p:spPr bwMode="auto">
          <a:xfrm>
            <a:off x="8659178" y="3850265"/>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278539240" name="Oval 347626963"/>
          <p:cNvSpPr>
            <a:spLocks noGrp="1"/>
          </p:cNvSpPr>
          <p:nvPr/>
        </p:nvSpPr>
        <p:spPr bwMode="auto">
          <a:xfrm>
            <a:off x="8956358" y="2551401"/>
            <a:ext cx="161925" cy="161925"/>
          </a:xfrm>
          <a:prstGeom prst="ellipse">
            <a:avLst/>
          </a:prstGeom>
          <a:solidFill>
            <a:srgbClr val="2563EB"/>
          </a:solidFill>
          <a:ln w="19050">
            <a:solidFill>
              <a:srgbClr val="2563EB"/>
            </a:solidFill>
            <a:prstDash val="solid"/>
          </a:ln>
        </p:spPr>
        <p:txBody>
          <a:bodyPr/>
          <a:lstStyle/>
          <a:p>
            <a:pPr>
              <a:buNone/>
              <a:defRPr/>
            </a:pPr>
            <a:endParaRPr/>
          </a:p>
        </p:txBody>
      </p:sp>
      <p:sp>
        <p:nvSpPr>
          <p:cNvPr id="1239644385" name="Rectangle: Rounded Corners 1734367546"/>
          <p:cNvSpPr>
            <a:spLocks noGrp="1"/>
          </p:cNvSpPr>
          <p:nvPr/>
        </p:nvSpPr>
        <p:spPr bwMode="auto">
          <a:xfrm>
            <a:off x="9477375" y="2714625"/>
            <a:ext cx="1619250" cy="552450"/>
          </a:xfrm>
          <a:prstGeom prst="roundRect">
            <a:avLst>
              <a:gd name="adj" fmla="val 20690"/>
            </a:avLst>
          </a:prstGeom>
          <a:solidFill>
            <a:srgbClr val="E0F2FE"/>
          </a:solidFill>
          <a:ln w="14288">
            <a:solidFill>
              <a:srgbClr val="2563EB"/>
            </a:solidFill>
            <a:prstDash val="solid"/>
          </a:ln>
        </p:spPr>
        <p:txBody>
          <a:bodyPr/>
          <a:lstStyle/>
          <a:p>
            <a:pPr algn="ctr">
              <a:buNone/>
              <a:defRPr sz="1650" b="1">
                <a:solidFill>
                  <a:srgbClr val="2563EB"/>
                </a:solidFill>
              </a:defRPr>
            </a:pPr>
            <a:r>
              <a:rPr sz="1650" b="1">
                <a:solidFill>
                  <a:srgbClr val="2563EB"/>
                </a:solidFill>
              </a:rPr>
              <a:t>x = attendance</a:t>
            </a:r>
            <a:endParaRPr/>
          </a:p>
        </p:txBody>
      </p:sp>
      <p:sp>
        <p:nvSpPr>
          <p:cNvPr id="1090904706" name="Rectangle: Rounded Corners 1497716320"/>
          <p:cNvSpPr>
            <a:spLocks noGrp="1"/>
          </p:cNvSpPr>
          <p:nvPr/>
        </p:nvSpPr>
        <p:spPr bwMode="auto">
          <a:xfrm>
            <a:off x="9477375" y="3429000"/>
            <a:ext cx="1619250" cy="552450"/>
          </a:xfrm>
          <a:prstGeom prst="roundRect">
            <a:avLst>
              <a:gd name="adj" fmla="val 20690"/>
            </a:avLst>
          </a:prstGeom>
          <a:solidFill>
            <a:srgbClr val="DCFCE7"/>
          </a:solidFill>
          <a:ln w="14288">
            <a:solidFill>
              <a:srgbClr val="10B981"/>
            </a:solidFill>
            <a:prstDash val="solid"/>
          </a:ln>
        </p:spPr>
        <p:txBody>
          <a:bodyPr/>
          <a:lstStyle/>
          <a:p>
            <a:pPr algn="ctr">
              <a:buNone/>
              <a:defRPr sz="1650" b="1">
                <a:solidFill>
                  <a:srgbClr val="10B981"/>
                </a:solidFill>
              </a:defRPr>
            </a:pPr>
            <a:r>
              <a:rPr sz="1650" b="1">
                <a:solidFill>
                  <a:srgbClr val="10B981"/>
                </a:solidFill>
              </a:rPr>
              <a:t>y = grade</a:t>
            </a:r>
            <a:endParaRPr/>
          </a:p>
        </p:txBody>
      </p:sp>
      <p:sp>
        <p:nvSpPr>
          <p:cNvPr id="1129807068" name="Rectangle: Rounded Corners 119055209"/>
          <p:cNvSpPr>
            <a:spLocks noGrp="1"/>
          </p:cNvSpPr>
          <p:nvPr/>
        </p:nvSpPr>
        <p:spPr bwMode="auto">
          <a:xfrm>
            <a:off x="9477375" y="4143375"/>
            <a:ext cx="1619250" cy="552450"/>
          </a:xfrm>
          <a:prstGeom prst="roundRect">
            <a:avLst>
              <a:gd name="adj" fmla="val 20690"/>
            </a:avLst>
          </a:prstGeom>
          <a:solidFill>
            <a:srgbClr val="FEF3C7"/>
          </a:solidFill>
          <a:ln w="14288">
            <a:solidFill>
              <a:srgbClr val="F97316"/>
            </a:solidFill>
            <a:prstDash val="solid"/>
          </a:ln>
        </p:spPr>
        <p:txBody>
          <a:bodyPr/>
          <a:lstStyle/>
          <a:p>
            <a:pPr algn="ctr">
              <a:buNone/>
              <a:defRPr sz="1600" b="1">
                <a:solidFill>
                  <a:srgbClr val="F97316"/>
                </a:solidFill>
              </a:defRPr>
            </a:pPr>
            <a:r>
              <a:rPr sz="1600" b="1">
                <a:solidFill>
                  <a:srgbClr val="F97316"/>
                </a:solidFill>
              </a:rPr>
              <a:t>line = prediction</a:t>
            </a:r>
            <a:endParaRPr/>
          </a:p>
        </p:txBody>
      </p:sp>
      <p:sp>
        <p:nvSpPr>
          <p:cNvPr id="1999932474" name="Rectangle 1782549367"/>
          <p:cNvSpPr>
            <a:spLocks noGrp="1"/>
          </p:cNvSpPr>
          <p:nvPr/>
        </p:nvSpPr>
        <p:spPr bwMode="auto">
          <a:xfrm>
            <a:off x="3257550" y="1695450"/>
            <a:ext cx="4953000" cy="571500"/>
          </a:xfrm>
          <a:prstGeom prst="rect">
            <a:avLst/>
          </a:prstGeom>
          <a:noFill/>
          <a:ln w="0">
            <a:noFill/>
            <a:prstDash val="solid"/>
          </a:ln>
        </p:spPr>
        <p:txBody>
          <a:bodyPr/>
          <a:lstStyle/>
          <a:p>
            <a:pPr algn="ctr">
              <a:buNone/>
              <a:defRPr sz="2100" b="1">
                <a:solidFill>
                  <a:srgbClr val="2563EB"/>
                </a:solidFill>
              </a:defRPr>
            </a:pPr>
            <a:r>
              <a:rPr sz="2100" b="1">
                <a:solidFill>
                  <a:srgbClr val="2563EB"/>
                </a:solidFill>
              </a:rPr>
              <a:t>more attendance,</a:t>
            </a:r>
            <a:endParaRPr/>
          </a:p>
          <a:p>
            <a:pPr algn="ctr">
              <a:buNone/>
              <a:defRPr sz="2100" b="1">
                <a:solidFill>
                  <a:srgbClr val="2563EB"/>
                </a:solidFill>
              </a:defRPr>
            </a:pPr>
            <a:r>
              <a:rPr sz="2100" b="1">
                <a:solidFill>
                  <a:srgbClr val="2563EB"/>
                </a:solidFill>
              </a:rPr>
              <a:t>higher predicted grade</a:t>
            </a:r>
            <a:endParaRPr/>
          </a:p>
        </p:txBody>
      </p:sp>
      <p:sp>
        <p:nvSpPr>
          <p:cNvPr id="1869973809" name="Rectangle 1717240199"/>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6</a:t>
            </a:r>
            <a:endParaRPr/>
          </a:p>
        </p:txBody>
      </p:sp>
      <p:sp>
        <p:nvSpPr>
          <p:cNvPr id="835731024" name="solidguide_flipV"/>
          <p:cNvSpPr>
            <a:spLocks noGrp="1"/>
          </p:cNvSpPr>
          <p:nvPr/>
        </p:nvSpPr>
        <p:spPr bwMode="auto">
          <a:xfrm flipV="1">
            <a:off x="2339340" y="2951569"/>
            <a:ext cx="6370320" cy="1623517"/>
          </a:xfrm>
          <a:prstGeom prst="line">
            <a:avLst/>
          </a:prstGeom>
          <a:noFill/>
          <a:ln w="30480">
            <a:solidFill>
              <a:srgbClr val="F97316"/>
            </a:solidFill>
            <a:prstDash val="solid"/>
          </a:ln>
        </p:spPr>
        <p:txBody>
          <a:bodyPr/>
          <a:lstStyle/>
          <a:p>
            <a:pPr>
              <a:buNone/>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69004947" name="Rectangle 876043219"/>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Regression</a:t>
            </a:r>
            <a:endParaRPr/>
          </a:p>
        </p:txBody>
      </p:sp>
      <p:sp>
        <p:nvSpPr>
          <p:cNvPr id="529528349" name="Rectangle 1970303406"/>
          <p:cNvSpPr>
            <a:spLocks noGrp="1"/>
          </p:cNvSpPr>
          <p:nvPr/>
        </p:nvSpPr>
        <p:spPr bwMode="auto">
          <a:xfrm>
            <a:off x="609600" y="590549"/>
            <a:ext cx="981075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Nonlinear regression allows curves</a:t>
            </a:r>
            <a:endParaRPr/>
          </a:p>
        </p:txBody>
      </p:sp>
      <p:sp>
        <p:nvSpPr>
          <p:cNvPr id="1636699934" name="Rectangle: Rounded Corners 1375366023"/>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397344963" name="Straight Connector 1537688957"/>
          <p:cNvSpPr>
            <a:spLocks noGrp="1"/>
          </p:cNvSpPr>
          <p:nvPr/>
        </p:nvSpPr>
        <p:spPr bwMode="auto">
          <a:xfrm>
            <a:off x="1905000" y="5429250"/>
            <a:ext cx="7239000" cy="9525"/>
          </a:xfrm>
          <a:prstGeom prst="line">
            <a:avLst/>
          </a:prstGeom>
          <a:noFill/>
          <a:ln w="19050">
            <a:solidFill>
              <a:srgbClr val="94A3B8"/>
            </a:solidFill>
            <a:prstDash val="solid"/>
          </a:ln>
        </p:spPr>
        <p:txBody>
          <a:bodyPr/>
          <a:lstStyle/>
          <a:p>
            <a:pPr>
              <a:buNone/>
              <a:defRPr/>
            </a:pPr>
            <a:endParaRPr/>
          </a:p>
        </p:txBody>
      </p:sp>
      <p:sp>
        <p:nvSpPr>
          <p:cNvPr id="2105313766" name="Straight Connector 2007704337"/>
          <p:cNvSpPr>
            <a:spLocks noGrp="1"/>
          </p:cNvSpPr>
          <p:nvPr/>
        </p:nvSpPr>
        <p:spPr bwMode="auto">
          <a:xfrm>
            <a:off x="1905000" y="2400300"/>
            <a:ext cx="9525" cy="3028950"/>
          </a:xfrm>
          <a:prstGeom prst="line">
            <a:avLst/>
          </a:prstGeom>
          <a:noFill/>
          <a:ln w="19050">
            <a:solidFill>
              <a:srgbClr val="94A3B8"/>
            </a:solidFill>
            <a:prstDash val="solid"/>
          </a:ln>
        </p:spPr>
        <p:txBody>
          <a:bodyPr/>
          <a:lstStyle/>
          <a:p>
            <a:pPr>
              <a:buNone/>
              <a:defRPr/>
            </a:pPr>
            <a:endParaRPr/>
          </a:p>
        </p:txBody>
      </p:sp>
      <p:sp>
        <p:nvSpPr>
          <p:cNvPr id="1503158961" name="Rectangle 65599505"/>
          <p:cNvSpPr>
            <a:spLocks noGrp="1"/>
          </p:cNvSpPr>
          <p:nvPr/>
        </p:nvSpPr>
        <p:spPr bwMode="auto">
          <a:xfrm>
            <a:off x="4762500" y="5619750"/>
            <a:ext cx="20002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attendance (%)</a:t>
            </a:r>
            <a:endParaRPr/>
          </a:p>
        </p:txBody>
      </p:sp>
      <p:sp>
        <p:nvSpPr>
          <p:cNvPr id="1431838291" name="Rectangle 1251237696"/>
          <p:cNvSpPr>
            <a:spLocks noGrp="1"/>
          </p:cNvSpPr>
          <p:nvPr/>
        </p:nvSpPr>
        <p:spPr bwMode="auto">
          <a:xfrm>
            <a:off x="1219200" y="3667125"/>
            <a:ext cx="6667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grade</a:t>
            </a:r>
            <a:endParaRPr/>
          </a:p>
        </p:txBody>
      </p:sp>
      <p:sp>
        <p:nvSpPr>
          <p:cNvPr id="1204608762" name="Oval 1695470153"/>
          <p:cNvSpPr>
            <a:spLocks noGrp="1"/>
          </p:cNvSpPr>
          <p:nvPr/>
        </p:nvSpPr>
        <p:spPr bwMode="auto">
          <a:xfrm>
            <a:off x="2116455" y="4469996"/>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470398876" name="Oval 815448562"/>
          <p:cNvSpPr>
            <a:spLocks noGrp="1"/>
          </p:cNvSpPr>
          <p:nvPr/>
        </p:nvSpPr>
        <p:spPr bwMode="auto">
          <a:xfrm>
            <a:off x="2550795" y="5185930"/>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392244500" name="Oval 1303472677"/>
          <p:cNvSpPr>
            <a:spLocks noGrp="1"/>
          </p:cNvSpPr>
          <p:nvPr/>
        </p:nvSpPr>
        <p:spPr bwMode="auto">
          <a:xfrm>
            <a:off x="2840355" y="4139565"/>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763212450" name="Oval 674269756"/>
          <p:cNvSpPr>
            <a:spLocks noGrp="1"/>
          </p:cNvSpPr>
          <p:nvPr/>
        </p:nvSpPr>
        <p:spPr bwMode="auto">
          <a:xfrm>
            <a:off x="3419475" y="4635211"/>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550403553" name="Oval 163294809"/>
          <p:cNvSpPr>
            <a:spLocks noGrp="1"/>
          </p:cNvSpPr>
          <p:nvPr/>
        </p:nvSpPr>
        <p:spPr bwMode="auto">
          <a:xfrm>
            <a:off x="3709035" y="3809134"/>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388028778" name="Oval 1733278306"/>
          <p:cNvSpPr>
            <a:spLocks noGrp="1"/>
          </p:cNvSpPr>
          <p:nvPr/>
        </p:nvSpPr>
        <p:spPr bwMode="auto">
          <a:xfrm>
            <a:off x="4143375" y="4855499"/>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061125041" name="Oval 880799253"/>
          <p:cNvSpPr>
            <a:spLocks noGrp="1"/>
          </p:cNvSpPr>
          <p:nvPr/>
        </p:nvSpPr>
        <p:spPr bwMode="auto">
          <a:xfrm>
            <a:off x="4577715" y="3643919"/>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010581986" name="Oval 834346434"/>
          <p:cNvSpPr>
            <a:spLocks noGrp="1"/>
          </p:cNvSpPr>
          <p:nvPr/>
        </p:nvSpPr>
        <p:spPr bwMode="auto">
          <a:xfrm>
            <a:off x="5012055" y="3974350"/>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234620018" name="Oval 558427810"/>
          <p:cNvSpPr>
            <a:spLocks noGrp="1"/>
          </p:cNvSpPr>
          <p:nvPr/>
        </p:nvSpPr>
        <p:spPr bwMode="auto">
          <a:xfrm>
            <a:off x="5591175" y="3313488"/>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392540734" name="Oval 1580509645"/>
          <p:cNvSpPr>
            <a:spLocks noGrp="1"/>
          </p:cNvSpPr>
          <p:nvPr/>
        </p:nvSpPr>
        <p:spPr bwMode="auto">
          <a:xfrm>
            <a:off x="5880735" y="4249709"/>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898467608" name="Oval 572736301"/>
          <p:cNvSpPr>
            <a:spLocks noGrp="1"/>
          </p:cNvSpPr>
          <p:nvPr/>
        </p:nvSpPr>
        <p:spPr bwMode="auto">
          <a:xfrm>
            <a:off x="6315075" y="2983057"/>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962053470" name="Oval 777734922"/>
          <p:cNvSpPr>
            <a:spLocks noGrp="1"/>
          </p:cNvSpPr>
          <p:nvPr/>
        </p:nvSpPr>
        <p:spPr bwMode="auto">
          <a:xfrm>
            <a:off x="6749414" y="3588847"/>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584758779" name="Oval 113252181"/>
          <p:cNvSpPr>
            <a:spLocks noGrp="1"/>
          </p:cNvSpPr>
          <p:nvPr/>
        </p:nvSpPr>
        <p:spPr bwMode="auto">
          <a:xfrm>
            <a:off x="7183755" y="2652626"/>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925710184" name="Oval 1702038152"/>
          <p:cNvSpPr>
            <a:spLocks noGrp="1"/>
          </p:cNvSpPr>
          <p:nvPr/>
        </p:nvSpPr>
        <p:spPr bwMode="auto">
          <a:xfrm>
            <a:off x="7618095" y="3258416"/>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2059638902" name="Oval 1781702022"/>
          <p:cNvSpPr>
            <a:spLocks noGrp="1"/>
          </p:cNvSpPr>
          <p:nvPr/>
        </p:nvSpPr>
        <p:spPr bwMode="auto">
          <a:xfrm>
            <a:off x="8052435" y="2872913"/>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013417614" name="Oval 164012884"/>
          <p:cNvSpPr>
            <a:spLocks noGrp="1"/>
          </p:cNvSpPr>
          <p:nvPr/>
        </p:nvSpPr>
        <p:spPr bwMode="auto">
          <a:xfrm>
            <a:off x="8486775" y="3864206"/>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307922178" name="Oval 991339259"/>
          <p:cNvSpPr>
            <a:spLocks noGrp="1"/>
          </p:cNvSpPr>
          <p:nvPr/>
        </p:nvSpPr>
        <p:spPr bwMode="auto">
          <a:xfrm>
            <a:off x="8776335" y="2487410"/>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2089567069" name="Rectangle: Rounded Corners 2031926644"/>
          <p:cNvSpPr>
            <a:spLocks noGrp="1"/>
          </p:cNvSpPr>
          <p:nvPr/>
        </p:nvSpPr>
        <p:spPr bwMode="auto">
          <a:xfrm>
            <a:off x="9477375" y="3000375"/>
            <a:ext cx="1428750" cy="514350"/>
          </a:xfrm>
          <a:prstGeom prst="roundRect">
            <a:avLst>
              <a:gd name="adj" fmla="val 22222"/>
            </a:avLst>
          </a:prstGeom>
          <a:solidFill>
            <a:srgbClr val="FEF3C7"/>
          </a:solidFill>
          <a:ln w="14288">
            <a:solidFill>
              <a:srgbClr val="F97316"/>
            </a:solidFill>
            <a:prstDash val="solid"/>
          </a:ln>
        </p:spPr>
        <p:txBody>
          <a:bodyPr/>
          <a:lstStyle/>
          <a:p>
            <a:pPr algn="ctr">
              <a:buNone/>
              <a:defRPr sz="1750" b="1">
                <a:solidFill>
                  <a:srgbClr val="F97316"/>
                </a:solidFill>
              </a:defRPr>
            </a:pPr>
            <a:r>
              <a:rPr sz="1750" b="1">
                <a:solidFill>
                  <a:srgbClr val="F97316"/>
                </a:solidFill>
              </a:rPr>
              <a:t>linear</a:t>
            </a:r>
            <a:endParaRPr/>
          </a:p>
        </p:txBody>
      </p:sp>
      <p:sp>
        <p:nvSpPr>
          <p:cNvPr id="12374616" name="Rectangle: Rounded Corners 1514015500"/>
          <p:cNvSpPr>
            <a:spLocks noGrp="1"/>
          </p:cNvSpPr>
          <p:nvPr/>
        </p:nvSpPr>
        <p:spPr bwMode="auto">
          <a:xfrm>
            <a:off x="9477375" y="3714750"/>
            <a:ext cx="1428750" cy="514350"/>
          </a:xfrm>
          <a:prstGeom prst="roundRect">
            <a:avLst>
              <a:gd name="adj" fmla="val 22222"/>
            </a:avLst>
          </a:prstGeom>
          <a:solidFill>
            <a:srgbClr val="DCFCE7"/>
          </a:solidFill>
          <a:ln w="14288">
            <a:solidFill>
              <a:srgbClr val="10B981"/>
            </a:solidFill>
            <a:prstDash val="solid"/>
          </a:ln>
        </p:spPr>
        <p:txBody>
          <a:bodyPr/>
          <a:lstStyle/>
          <a:p>
            <a:pPr algn="ctr">
              <a:buNone/>
              <a:defRPr sz="1750" b="1">
                <a:solidFill>
                  <a:srgbClr val="10B981"/>
                </a:solidFill>
              </a:defRPr>
            </a:pPr>
            <a:r>
              <a:rPr sz="1750" b="1">
                <a:solidFill>
                  <a:srgbClr val="10B981"/>
                </a:solidFill>
              </a:rPr>
              <a:t>nonlinear</a:t>
            </a:r>
            <a:endParaRPr/>
          </a:p>
        </p:txBody>
      </p:sp>
      <p:sp>
        <p:nvSpPr>
          <p:cNvPr id="1965287027" name="Rectangle 738739686"/>
          <p:cNvSpPr>
            <a:spLocks noGrp="1"/>
          </p:cNvSpPr>
          <p:nvPr/>
        </p:nvSpPr>
        <p:spPr bwMode="auto">
          <a:xfrm>
            <a:off x="3381375" y="1714500"/>
            <a:ext cx="5429250" cy="342900"/>
          </a:xfrm>
          <a:prstGeom prst="rect">
            <a:avLst/>
          </a:prstGeom>
          <a:noFill/>
          <a:ln w="0">
            <a:noFill/>
            <a:prstDash val="solid"/>
          </a:ln>
        </p:spPr>
        <p:txBody>
          <a:bodyPr/>
          <a:lstStyle/>
          <a:p>
            <a:pPr algn="ctr">
              <a:buNone/>
              <a:defRPr sz="2100" b="1">
                <a:solidFill>
                  <a:srgbClr val="10B981"/>
                </a:solidFill>
              </a:defRPr>
            </a:pPr>
            <a:r>
              <a:rPr sz="2100" b="1">
                <a:solidFill>
                  <a:srgbClr val="10B981"/>
                </a:solidFill>
              </a:rPr>
              <a:t>same task, more flexible shape</a:t>
            </a:r>
            <a:endParaRPr/>
          </a:p>
        </p:txBody>
      </p:sp>
      <p:sp>
        <p:nvSpPr>
          <p:cNvPr id="1209093286" name="Rectangle 1843306662"/>
          <p:cNvSpPr>
            <a:spLocks noGrp="1"/>
          </p:cNvSpPr>
          <p:nvPr/>
        </p:nvSpPr>
        <p:spPr bwMode="auto">
          <a:xfrm>
            <a:off x="9334500" y="4619625"/>
            <a:ext cx="1714500" cy="381000"/>
          </a:xfrm>
          <a:prstGeom prst="rect">
            <a:avLst/>
          </a:prstGeom>
          <a:noFill/>
          <a:ln w="0">
            <a:noFill/>
            <a:prstDash val="solid"/>
          </a:ln>
        </p:spPr>
        <p:txBody>
          <a:bodyPr/>
          <a:lstStyle/>
          <a:p>
            <a:pPr algn="ctr">
              <a:buNone/>
              <a:defRPr sz="2250" b="1">
                <a:solidFill>
                  <a:srgbClr val="10B981"/>
                </a:solidFill>
              </a:defRPr>
            </a:pPr>
            <a:r>
              <a:rPr sz="2250" b="1">
                <a:solidFill>
                  <a:srgbClr val="10B981"/>
                </a:solidFill>
              </a:rPr>
              <a:t>y_hat = f(x)</a:t>
            </a:r>
            <a:endParaRPr/>
          </a:p>
        </p:txBody>
      </p:sp>
      <p:sp>
        <p:nvSpPr>
          <p:cNvPr id="1918864731" name="Rectangle 940562735"/>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7</a:t>
            </a:r>
            <a:endParaRPr/>
          </a:p>
        </p:txBody>
      </p:sp>
      <p:sp>
        <p:nvSpPr>
          <p:cNvPr id="315746637" name="solidguide_flipV"/>
          <p:cNvSpPr>
            <a:spLocks noGrp="1"/>
          </p:cNvSpPr>
          <p:nvPr/>
        </p:nvSpPr>
        <p:spPr bwMode="auto">
          <a:xfrm flipV="1">
            <a:off x="2194560" y="2877773"/>
            <a:ext cx="6804660" cy="1734212"/>
          </a:xfrm>
          <a:prstGeom prst="line">
            <a:avLst/>
          </a:prstGeom>
          <a:noFill/>
          <a:ln w="23813">
            <a:solidFill>
              <a:srgbClr val="F97316"/>
            </a:solidFill>
            <a:prstDash val="solid"/>
          </a:ln>
        </p:spPr>
        <p:txBody>
          <a:bodyPr/>
          <a:lstStyle/>
          <a:p>
            <a:pPr>
              <a:buNone/>
              <a:defRPr/>
            </a:pPr>
            <a:endParaRPr/>
          </a:p>
        </p:txBody>
      </p:sp>
      <p:pic>
        <p:nvPicPr>
          <p:cNvPr id="1707301784" name="Graphic 2031926676"/>
          <p:cNvPicPr>
            <a:picLocks noChangeAspect="1"/>
          </p:cNvPicPr>
          <p:nvPr/>
        </p:nvPicPr>
        <p:blipFill rotWithShape="1">
          <a:blip r:embed="rId3">
            <a:extLst>
              <a:ext uri="{96DAC541-7B7A-43D3-8B79-37D633B846F1}">
                <asvg:svgBlip xmlns:asvg="http://schemas.microsoft.com/office/drawing/2016/SVG/main" r:embed="rId4"/>
              </a:ext>
            </a:extLst>
          </a:blip>
          <a:stretch/>
        </p:blipFill>
        <p:spPr bwMode="auto">
          <a:xfrm>
            <a:off x="1905000" y="2400300"/>
            <a:ext cx="7239000" cy="302895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50184666" name="Rectangle 1896240478"/>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Regression</a:t>
            </a:r>
            <a:endParaRPr/>
          </a:p>
        </p:txBody>
      </p:sp>
      <p:sp>
        <p:nvSpPr>
          <p:cNvPr id="1549036564" name="Rectangle 574298503"/>
          <p:cNvSpPr>
            <a:spLocks noGrp="1"/>
          </p:cNvSpPr>
          <p:nvPr/>
        </p:nvSpPr>
        <p:spPr bwMode="auto">
          <a:xfrm>
            <a:off x="609600" y="590549"/>
            <a:ext cx="981075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Too much flexibility can overfit</a:t>
            </a:r>
            <a:endParaRPr/>
          </a:p>
        </p:txBody>
      </p:sp>
      <p:sp>
        <p:nvSpPr>
          <p:cNvPr id="652858880" name="Rectangle: Rounded Corners 68294743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539457558" name="Straight Connector 1968719096"/>
          <p:cNvSpPr>
            <a:spLocks noGrp="1"/>
          </p:cNvSpPr>
          <p:nvPr/>
        </p:nvSpPr>
        <p:spPr bwMode="auto">
          <a:xfrm>
            <a:off x="1905000" y="5429250"/>
            <a:ext cx="7239000" cy="9525"/>
          </a:xfrm>
          <a:prstGeom prst="line">
            <a:avLst/>
          </a:prstGeom>
          <a:noFill/>
          <a:ln w="19050">
            <a:solidFill>
              <a:srgbClr val="94A3B8"/>
            </a:solidFill>
            <a:prstDash val="solid"/>
          </a:ln>
        </p:spPr>
        <p:txBody>
          <a:bodyPr/>
          <a:lstStyle/>
          <a:p>
            <a:pPr>
              <a:buNone/>
              <a:defRPr/>
            </a:pPr>
            <a:endParaRPr/>
          </a:p>
        </p:txBody>
      </p:sp>
      <p:sp>
        <p:nvSpPr>
          <p:cNvPr id="2138325803" name="Straight Connector 1324465773"/>
          <p:cNvSpPr>
            <a:spLocks noGrp="1"/>
          </p:cNvSpPr>
          <p:nvPr/>
        </p:nvSpPr>
        <p:spPr bwMode="auto">
          <a:xfrm>
            <a:off x="1905000" y="2400300"/>
            <a:ext cx="9525" cy="3028950"/>
          </a:xfrm>
          <a:prstGeom prst="line">
            <a:avLst/>
          </a:prstGeom>
          <a:noFill/>
          <a:ln w="19050">
            <a:solidFill>
              <a:srgbClr val="94A3B8"/>
            </a:solidFill>
            <a:prstDash val="solid"/>
          </a:ln>
        </p:spPr>
        <p:txBody>
          <a:bodyPr/>
          <a:lstStyle/>
          <a:p>
            <a:pPr>
              <a:buNone/>
              <a:defRPr/>
            </a:pPr>
            <a:endParaRPr/>
          </a:p>
        </p:txBody>
      </p:sp>
      <p:sp>
        <p:nvSpPr>
          <p:cNvPr id="1295883373" name="Rectangle 910257484"/>
          <p:cNvSpPr>
            <a:spLocks noGrp="1"/>
          </p:cNvSpPr>
          <p:nvPr/>
        </p:nvSpPr>
        <p:spPr bwMode="auto">
          <a:xfrm>
            <a:off x="4762500" y="5619750"/>
            <a:ext cx="20002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attendance (%)</a:t>
            </a:r>
            <a:endParaRPr/>
          </a:p>
        </p:txBody>
      </p:sp>
      <p:sp>
        <p:nvSpPr>
          <p:cNvPr id="2116580719" name="Rectangle 1246496868"/>
          <p:cNvSpPr>
            <a:spLocks noGrp="1"/>
          </p:cNvSpPr>
          <p:nvPr/>
        </p:nvSpPr>
        <p:spPr bwMode="auto">
          <a:xfrm>
            <a:off x="1219200" y="3667125"/>
            <a:ext cx="6667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grade</a:t>
            </a:r>
            <a:endParaRPr/>
          </a:p>
        </p:txBody>
      </p:sp>
      <p:sp>
        <p:nvSpPr>
          <p:cNvPr id="1455568600" name="Oval 1811837015"/>
          <p:cNvSpPr>
            <a:spLocks noGrp="1"/>
          </p:cNvSpPr>
          <p:nvPr/>
        </p:nvSpPr>
        <p:spPr bwMode="auto">
          <a:xfrm>
            <a:off x="2116455" y="4469996"/>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159467135" name="Oval 453346286"/>
          <p:cNvSpPr>
            <a:spLocks noGrp="1"/>
          </p:cNvSpPr>
          <p:nvPr/>
        </p:nvSpPr>
        <p:spPr bwMode="auto">
          <a:xfrm>
            <a:off x="2550795" y="5185930"/>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2069348989" name="Oval 1618228278"/>
          <p:cNvSpPr>
            <a:spLocks noGrp="1"/>
          </p:cNvSpPr>
          <p:nvPr/>
        </p:nvSpPr>
        <p:spPr bwMode="auto">
          <a:xfrm>
            <a:off x="2840355" y="4139565"/>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343066438" name="Oval 2089599102"/>
          <p:cNvSpPr>
            <a:spLocks noGrp="1"/>
          </p:cNvSpPr>
          <p:nvPr/>
        </p:nvSpPr>
        <p:spPr bwMode="auto">
          <a:xfrm>
            <a:off x="3419475" y="4635211"/>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714623694" name="Oval 1457916702"/>
          <p:cNvSpPr>
            <a:spLocks noGrp="1"/>
          </p:cNvSpPr>
          <p:nvPr/>
        </p:nvSpPr>
        <p:spPr bwMode="auto">
          <a:xfrm>
            <a:off x="3709035" y="3809134"/>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548336221" name="Oval 1250923537"/>
          <p:cNvSpPr>
            <a:spLocks noGrp="1"/>
          </p:cNvSpPr>
          <p:nvPr/>
        </p:nvSpPr>
        <p:spPr bwMode="auto">
          <a:xfrm>
            <a:off x="4143375" y="4855499"/>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464464533" name="Oval 579714091"/>
          <p:cNvSpPr>
            <a:spLocks noGrp="1"/>
          </p:cNvSpPr>
          <p:nvPr/>
        </p:nvSpPr>
        <p:spPr bwMode="auto">
          <a:xfrm>
            <a:off x="4577715" y="3643919"/>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170804222" name="Oval 1188193174"/>
          <p:cNvSpPr>
            <a:spLocks noGrp="1"/>
          </p:cNvSpPr>
          <p:nvPr/>
        </p:nvSpPr>
        <p:spPr bwMode="auto">
          <a:xfrm>
            <a:off x="5012055" y="3974350"/>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266270666" name="Oval 2075857352"/>
          <p:cNvSpPr>
            <a:spLocks noGrp="1"/>
          </p:cNvSpPr>
          <p:nvPr/>
        </p:nvSpPr>
        <p:spPr bwMode="auto">
          <a:xfrm>
            <a:off x="5591175" y="3313488"/>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643944606" name="Oval 260739156"/>
          <p:cNvSpPr>
            <a:spLocks noGrp="1"/>
          </p:cNvSpPr>
          <p:nvPr/>
        </p:nvSpPr>
        <p:spPr bwMode="auto">
          <a:xfrm>
            <a:off x="5880735" y="4249709"/>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28033833" name="Oval 472597423"/>
          <p:cNvSpPr>
            <a:spLocks noGrp="1"/>
          </p:cNvSpPr>
          <p:nvPr/>
        </p:nvSpPr>
        <p:spPr bwMode="auto">
          <a:xfrm>
            <a:off x="6315075" y="2983057"/>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893328761" name="Oval 311162583"/>
          <p:cNvSpPr>
            <a:spLocks noGrp="1"/>
          </p:cNvSpPr>
          <p:nvPr/>
        </p:nvSpPr>
        <p:spPr bwMode="auto">
          <a:xfrm>
            <a:off x="6749414" y="3588847"/>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564294712" name="Oval 418592258"/>
          <p:cNvSpPr>
            <a:spLocks noGrp="1"/>
          </p:cNvSpPr>
          <p:nvPr/>
        </p:nvSpPr>
        <p:spPr bwMode="auto">
          <a:xfrm>
            <a:off x="7183755" y="2652626"/>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819187884" name="Oval 391215337"/>
          <p:cNvSpPr>
            <a:spLocks noGrp="1"/>
          </p:cNvSpPr>
          <p:nvPr/>
        </p:nvSpPr>
        <p:spPr bwMode="auto">
          <a:xfrm>
            <a:off x="7618095" y="3258416"/>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331665164" name="Oval 1707420591"/>
          <p:cNvSpPr>
            <a:spLocks noGrp="1"/>
          </p:cNvSpPr>
          <p:nvPr/>
        </p:nvSpPr>
        <p:spPr bwMode="auto">
          <a:xfrm>
            <a:off x="8052435" y="2872913"/>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326923355" name="Oval 1324466289"/>
          <p:cNvSpPr>
            <a:spLocks noGrp="1"/>
          </p:cNvSpPr>
          <p:nvPr/>
        </p:nvSpPr>
        <p:spPr bwMode="auto">
          <a:xfrm>
            <a:off x="8486775" y="3864206"/>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2114287111" name="Oval 1167646443"/>
          <p:cNvSpPr>
            <a:spLocks noGrp="1"/>
          </p:cNvSpPr>
          <p:nvPr/>
        </p:nvSpPr>
        <p:spPr bwMode="auto">
          <a:xfrm>
            <a:off x="8776335" y="2487410"/>
            <a:ext cx="156210" cy="156210"/>
          </a:xfrm>
          <a:prstGeom prst="ellipse">
            <a:avLst/>
          </a:prstGeom>
          <a:solidFill>
            <a:srgbClr val="2563EB"/>
          </a:solidFill>
          <a:ln w="13335">
            <a:solidFill>
              <a:srgbClr val="2563EB"/>
            </a:solidFill>
            <a:prstDash val="solid"/>
          </a:ln>
        </p:spPr>
        <p:txBody>
          <a:bodyPr/>
          <a:lstStyle/>
          <a:p>
            <a:pPr>
              <a:buNone/>
              <a:defRPr/>
            </a:pPr>
            <a:endParaRPr/>
          </a:p>
        </p:txBody>
      </p:sp>
      <p:sp>
        <p:nvSpPr>
          <p:cNvPr id="1506992571" name="Rectangle: Rounded Corners 1367024097"/>
          <p:cNvSpPr>
            <a:spLocks noGrp="1"/>
          </p:cNvSpPr>
          <p:nvPr/>
        </p:nvSpPr>
        <p:spPr bwMode="auto">
          <a:xfrm>
            <a:off x="9429750" y="3000375"/>
            <a:ext cx="1524000" cy="514350"/>
          </a:xfrm>
          <a:prstGeom prst="roundRect">
            <a:avLst>
              <a:gd name="adj" fmla="val 22222"/>
            </a:avLst>
          </a:prstGeom>
          <a:solidFill>
            <a:srgbClr val="FEF2F2"/>
          </a:solidFill>
          <a:ln w="14288">
            <a:solidFill>
              <a:srgbClr val="EF4444"/>
            </a:solidFill>
            <a:prstDash val="solid"/>
          </a:ln>
        </p:spPr>
        <p:txBody>
          <a:bodyPr/>
          <a:lstStyle/>
          <a:p>
            <a:pPr algn="ctr">
              <a:buNone/>
              <a:defRPr sz="1750" b="1">
                <a:solidFill>
                  <a:srgbClr val="EF4444"/>
                </a:solidFill>
              </a:defRPr>
            </a:pPr>
            <a:r>
              <a:rPr sz="1750" b="1">
                <a:solidFill>
                  <a:srgbClr val="EF4444"/>
                </a:solidFill>
              </a:rPr>
              <a:t>fits noise</a:t>
            </a:r>
            <a:endParaRPr/>
          </a:p>
        </p:txBody>
      </p:sp>
      <p:sp>
        <p:nvSpPr>
          <p:cNvPr id="1915779397" name="Rectangle: Rounded Corners 2069871042"/>
          <p:cNvSpPr>
            <a:spLocks noGrp="1"/>
          </p:cNvSpPr>
          <p:nvPr/>
        </p:nvSpPr>
        <p:spPr bwMode="auto">
          <a:xfrm>
            <a:off x="9429750" y="3714750"/>
            <a:ext cx="1524000" cy="514350"/>
          </a:xfrm>
          <a:prstGeom prst="roundRect">
            <a:avLst>
              <a:gd name="adj" fmla="val 22222"/>
            </a:avLst>
          </a:prstGeom>
          <a:solidFill>
            <a:srgbClr val="DCFCE7"/>
          </a:solidFill>
          <a:ln w="14288">
            <a:solidFill>
              <a:srgbClr val="10B981"/>
            </a:solidFill>
            <a:prstDash val="solid"/>
          </a:ln>
        </p:spPr>
        <p:txBody>
          <a:bodyPr/>
          <a:lstStyle/>
          <a:p>
            <a:pPr algn="ctr">
              <a:buNone/>
              <a:defRPr sz="1750" b="1">
                <a:solidFill>
                  <a:srgbClr val="10B981"/>
                </a:solidFill>
              </a:defRPr>
            </a:pPr>
            <a:r>
              <a:rPr sz="1750" b="1">
                <a:solidFill>
                  <a:srgbClr val="10B981"/>
                </a:solidFill>
              </a:rPr>
              <a:t>better trend</a:t>
            </a:r>
            <a:endParaRPr/>
          </a:p>
        </p:txBody>
      </p:sp>
      <p:sp>
        <p:nvSpPr>
          <p:cNvPr id="109674055" name="Rectangle 2096192631"/>
          <p:cNvSpPr>
            <a:spLocks noGrp="1"/>
          </p:cNvSpPr>
          <p:nvPr/>
        </p:nvSpPr>
        <p:spPr bwMode="auto">
          <a:xfrm>
            <a:off x="2857500" y="1714500"/>
            <a:ext cx="6477000" cy="342900"/>
          </a:xfrm>
          <a:prstGeom prst="rect">
            <a:avLst/>
          </a:prstGeom>
          <a:noFill/>
          <a:ln w="0">
            <a:noFill/>
            <a:prstDash val="solid"/>
          </a:ln>
        </p:spPr>
        <p:txBody>
          <a:bodyPr/>
          <a:lstStyle/>
          <a:p>
            <a:pPr algn="ctr">
              <a:buNone/>
              <a:defRPr sz="2100" b="1">
                <a:solidFill>
                  <a:srgbClr val="EF4444"/>
                </a:solidFill>
              </a:defRPr>
            </a:pPr>
            <a:r>
              <a:rPr sz="2100" b="1">
                <a:solidFill>
                  <a:srgbClr val="EF4444"/>
                </a:solidFill>
              </a:rPr>
              <a:t>low training error, weak generalization</a:t>
            </a:r>
            <a:endParaRPr/>
          </a:p>
        </p:txBody>
      </p:sp>
      <p:sp>
        <p:nvSpPr>
          <p:cNvPr id="1257769904" name="Rectangle 969777747"/>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8</a:t>
            </a:r>
            <a:endParaRPr/>
          </a:p>
        </p:txBody>
      </p:sp>
      <p:pic>
        <p:nvPicPr>
          <p:cNvPr id="1007810420" name="Graphic 2096192661"/>
          <p:cNvPicPr>
            <a:picLocks noChangeAspect="1"/>
          </p:cNvPicPr>
          <p:nvPr/>
        </p:nvPicPr>
        <p:blipFill rotWithShape="1">
          <a:blip r:embed="rId3">
            <a:extLst>
              <a:ext uri="{96DAC541-7B7A-43D3-8B79-37D633B846F1}">
                <asvg:svgBlip xmlns:asvg="http://schemas.microsoft.com/office/drawing/2016/SVG/main" r:embed="rId4"/>
              </a:ext>
            </a:extLst>
          </a:blip>
          <a:stretch/>
        </p:blipFill>
        <p:spPr bwMode="auto">
          <a:xfrm>
            <a:off x="0" y="0"/>
            <a:ext cx="12192000" cy="6858000"/>
          </a:xfrm>
          <a:prstGeom prst="rect">
            <a:avLst/>
          </a:prstGeom>
        </p:spPr>
      </p:pic>
      <p:sp>
        <p:nvSpPr>
          <p:cNvPr id="59652610" name="solidguide_flipV"/>
          <p:cNvSpPr>
            <a:spLocks noGrp="1"/>
          </p:cNvSpPr>
          <p:nvPr/>
        </p:nvSpPr>
        <p:spPr bwMode="auto">
          <a:xfrm flipV="1">
            <a:off x="2194560" y="2877773"/>
            <a:ext cx="6804660" cy="1734212"/>
          </a:xfrm>
          <a:prstGeom prst="line">
            <a:avLst/>
          </a:prstGeom>
          <a:noFill/>
          <a:ln w="23813">
            <a:solidFill>
              <a:srgbClr val="F97316"/>
            </a:solidFill>
            <a:prstDash val="solid"/>
          </a:ln>
        </p:spPr>
        <p:txBody>
          <a:bodyPr/>
          <a:lstStyle/>
          <a:p>
            <a:pPr>
              <a:buNone/>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44504811" name="Rectangle 1890818175"/>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Regression</a:t>
            </a:r>
            <a:endParaRPr/>
          </a:p>
        </p:txBody>
      </p:sp>
      <p:sp>
        <p:nvSpPr>
          <p:cNvPr id="1584443290" name="Rectangle 785272061"/>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Data is split to separate learning from judging</a:t>
            </a:r>
            <a:endParaRPr/>
          </a:p>
        </p:txBody>
      </p:sp>
      <p:sp>
        <p:nvSpPr>
          <p:cNvPr id="765747042" name="Rectangle: Rounded Corners 1266136651"/>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buNone/>
              <a:defRPr/>
            </a:pPr>
            <a:endParaRPr/>
          </a:p>
        </p:txBody>
      </p:sp>
      <p:sp>
        <p:nvSpPr>
          <p:cNvPr id="1202525291" name="Rectangle: Rounded Corners 1050748594"/>
          <p:cNvSpPr>
            <a:spLocks noGrp="1"/>
          </p:cNvSpPr>
          <p:nvPr/>
        </p:nvSpPr>
        <p:spPr bwMode="auto">
          <a:xfrm>
            <a:off x="1162050" y="1752599"/>
            <a:ext cx="2990850" cy="3543300"/>
          </a:xfrm>
          <a:prstGeom prst="roundRect">
            <a:avLst>
              <a:gd name="adj" fmla="val 3822"/>
            </a:avLst>
          </a:prstGeom>
          <a:solidFill>
            <a:srgbClr val="FFFFFF"/>
          </a:solidFill>
          <a:ln w="20955">
            <a:solidFill>
              <a:srgbClr val="2563EB"/>
            </a:solidFill>
            <a:prstDash val="solid"/>
          </a:ln>
        </p:spPr>
        <p:txBody>
          <a:bodyPr/>
          <a:lstStyle/>
          <a:p>
            <a:pPr>
              <a:buNone/>
              <a:defRPr/>
            </a:pPr>
            <a:endParaRPr/>
          </a:p>
        </p:txBody>
      </p:sp>
      <p:sp>
        <p:nvSpPr>
          <p:cNvPr id="280351831" name="Rectangle 1752567775"/>
          <p:cNvSpPr>
            <a:spLocks noGrp="1"/>
          </p:cNvSpPr>
          <p:nvPr/>
        </p:nvSpPr>
        <p:spPr bwMode="auto">
          <a:xfrm>
            <a:off x="1371600" y="2019300"/>
            <a:ext cx="2571750" cy="342900"/>
          </a:xfrm>
          <a:prstGeom prst="rect">
            <a:avLst/>
          </a:prstGeom>
          <a:noFill/>
          <a:ln w="0">
            <a:noFill/>
            <a:prstDash val="solid"/>
          </a:ln>
        </p:spPr>
        <p:txBody>
          <a:bodyPr/>
          <a:lstStyle/>
          <a:p>
            <a:pPr algn="ctr">
              <a:buNone/>
              <a:defRPr sz="2350" b="1">
                <a:solidFill>
                  <a:srgbClr val="2563EB"/>
                </a:solidFill>
              </a:defRPr>
            </a:pPr>
            <a:r>
              <a:rPr sz="2350" b="1">
                <a:solidFill>
                  <a:srgbClr val="2563EB"/>
                </a:solidFill>
              </a:rPr>
              <a:t>train</a:t>
            </a:r>
            <a:endParaRPr/>
          </a:p>
        </p:txBody>
      </p:sp>
      <p:sp>
        <p:nvSpPr>
          <p:cNvPr id="785796746" name="Rectangle 397256149"/>
          <p:cNvSpPr>
            <a:spLocks noGrp="1"/>
          </p:cNvSpPr>
          <p:nvPr/>
        </p:nvSpPr>
        <p:spPr bwMode="auto">
          <a:xfrm>
            <a:off x="1390650" y="2571750"/>
            <a:ext cx="2533650" cy="495300"/>
          </a:xfrm>
          <a:prstGeom prst="rect">
            <a:avLst/>
          </a:prstGeom>
          <a:noFill/>
          <a:ln w="0">
            <a:noFill/>
            <a:prstDash val="solid"/>
          </a:ln>
        </p:spPr>
        <p:txBody>
          <a:bodyPr/>
          <a:lstStyle/>
          <a:p>
            <a:pPr algn="ctr">
              <a:buNone/>
              <a:defRPr sz="1750" b="1">
                <a:solidFill>
                  <a:srgbClr val="0B0F19"/>
                </a:solidFill>
              </a:defRPr>
            </a:pPr>
            <a:r>
              <a:rPr sz="1750" b="1">
                <a:solidFill>
                  <a:srgbClr val="0B0F19"/>
                </a:solidFill>
              </a:rPr>
              <a:t>learn the model</a:t>
            </a:r>
            <a:endParaRPr/>
          </a:p>
        </p:txBody>
      </p:sp>
      <p:sp>
        <p:nvSpPr>
          <p:cNvPr id="1438830826" name="Rectangle 528734129"/>
          <p:cNvSpPr>
            <a:spLocks noGrp="1"/>
          </p:cNvSpPr>
          <p:nvPr/>
        </p:nvSpPr>
        <p:spPr bwMode="auto">
          <a:xfrm>
            <a:off x="1447800" y="3371850"/>
            <a:ext cx="704850" cy="22860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uses</a:t>
            </a:r>
            <a:endParaRPr/>
          </a:p>
        </p:txBody>
      </p:sp>
      <p:sp>
        <p:nvSpPr>
          <p:cNvPr id="516047076" name="Rectangle 1008566192"/>
          <p:cNvSpPr>
            <a:spLocks noGrp="1"/>
          </p:cNvSpPr>
          <p:nvPr/>
        </p:nvSpPr>
        <p:spPr bwMode="auto">
          <a:xfrm>
            <a:off x="2171700" y="335280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examples + labels</a:t>
            </a:r>
            <a:endParaRPr/>
          </a:p>
        </p:txBody>
      </p:sp>
      <p:sp>
        <p:nvSpPr>
          <p:cNvPr id="1908097614" name="Straight Connector 2104166465"/>
          <p:cNvSpPr>
            <a:spLocks noGrp="1"/>
          </p:cNvSpPr>
          <p:nvPr/>
        </p:nvSpPr>
        <p:spPr bwMode="auto">
          <a:xfrm>
            <a:off x="1447800" y="3733800"/>
            <a:ext cx="2419350" cy="9525"/>
          </a:xfrm>
          <a:prstGeom prst="line">
            <a:avLst/>
          </a:prstGeom>
          <a:noFill/>
          <a:ln w="9525">
            <a:solidFill>
              <a:srgbClr val="E2E8F0"/>
            </a:solidFill>
            <a:prstDash val="solid"/>
          </a:ln>
        </p:spPr>
        <p:txBody>
          <a:bodyPr/>
          <a:lstStyle/>
          <a:p>
            <a:pPr>
              <a:buNone/>
              <a:defRPr/>
            </a:pPr>
            <a:endParaRPr/>
          </a:p>
        </p:txBody>
      </p:sp>
      <p:sp>
        <p:nvSpPr>
          <p:cNvPr id="1990674266" name="Rectangle 1391317270"/>
          <p:cNvSpPr>
            <a:spLocks noGrp="1"/>
          </p:cNvSpPr>
          <p:nvPr/>
        </p:nvSpPr>
        <p:spPr bwMode="auto">
          <a:xfrm>
            <a:off x="1447800" y="3886200"/>
            <a:ext cx="704850" cy="22860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affects</a:t>
            </a:r>
            <a:endParaRPr/>
          </a:p>
        </p:txBody>
      </p:sp>
      <p:sp>
        <p:nvSpPr>
          <p:cNvPr id="2049934094" name="Rectangle 2139818398"/>
          <p:cNvSpPr>
            <a:spLocks noGrp="1"/>
          </p:cNvSpPr>
          <p:nvPr/>
        </p:nvSpPr>
        <p:spPr bwMode="auto">
          <a:xfrm>
            <a:off x="2171700" y="386715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weights directly</a:t>
            </a:r>
            <a:endParaRPr/>
          </a:p>
        </p:txBody>
      </p:sp>
      <p:sp>
        <p:nvSpPr>
          <p:cNvPr id="1852748522" name="Straight Connector 756114381"/>
          <p:cNvSpPr>
            <a:spLocks noGrp="1"/>
          </p:cNvSpPr>
          <p:nvPr/>
        </p:nvSpPr>
        <p:spPr bwMode="auto">
          <a:xfrm>
            <a:off x="1447800" y="4248150"/>
            <a:ext cx="2419350" cy="9525"/>
          </a:xfrm>
          <a:prstGeom prst="line">
            <a:avLst/>
          </a:prstGeom>
          <a:noFill/>
          <a:ln w="9525">
            <a:solidFill>
              <a:srgbClr val="E2E8F0"/>
            </a:solidFill>
            <a:prstDash val="solid"/>
          </a:ln>
        </p:spPr>
        <p:txBody>
          <a:bodyPr/>
          <a:lstStyle/>
          <a:p>
            <a:pPr>
              <a:buNone/>
              <a:defRPr/>
            </a:pPr>
            <a:endParaRPr/>
          </a:p>
        </p:txBody>
      </p:sp>
      <p:sp>
        <p:nvSpPr>
          <p:cNvPr id="1282394837" name="Rectangle 1665170772"/>
          <p:cNvSpPr>
            <a:spLocks noGrp="1"/>
          </p:cNvSpPr>
          <p:nvPr/>
        </p:nvSpPr>
        <p:spPr bwMode="auto">
          <a:xfrm>
            <a:off x="1447800" y="4400550"/>
            <a:ext cx="704850" cy="22860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timing</a:t>
            </a:r>
            <a:endParaRPr/>
          </a:p>
        </p:txBody>
      </p:sp>
      <p:sp>
        <p:nvSpPr>
          <p:cNvPr id="1356740745" name="Rectangle 1710634736"/>
          <p:cNvSpPr>
            <a:spLocks noGrp="1"/>
          </p:cNvSpPr>
          <p:nvPr/>
        </p:nvSpPr>
        <p:spPr bwMode="auto">
          <a:xfrm>
            <a:off x="2171700" y="438150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every update</a:t>
            </a:r>
            <a:endParaRPr/>
          </a:p>
        </p:txBody>
      </p:sp>
      <p:sp>
        <p:nvSpPr>
          <p:cNvPr id="3613760" name="Rectangle: Rounded Corners 1872312689"/>
          <p:cNvSpPr>
            <a:spLocks noGrp="1"/>
          </p:cNvSpPr>
          <p:nvPr/>
        </p:nvSpPr>
        <p:spPr bwMode="auto">
          <a:xfrm>
            <a:off x="4600575" y="1752599"/>
            <a:ext cx="2990850" cy="3543300"/>
          </a:xfrm>
          <a:prstGeom prst="roundRect">
            <a:avLst>
              <a:gd name="adj" fmla="val 3822"/>
            </a:avLst>
          </a:prstGeom>
          <a:solidFill>
            <a:srgbClr val="FFFFFF"/>
          </a:solidFill>
          <a:ln w="20955">
            <a:solidFill>
              <a:srgbClr val="10B981"/>
            </a:solidFill>
            <a:prstDash val="solid"/>
          </a:ln>
        </p:spPr>
        <p:txBody>
          <a:bodyPr/>
          <a:lstStyle/>
          <a:p>
            <a:pPr>
              <a:buNone/>
              <a:defRPr/>
            </a:pPr>
            <a:endParaRPr/>
          </a:p>
        </p:txBody>
      </p:sp>
      <p:sp>
        <p:nvSpPr>
          <p:cNvPr id="309495411" name="Rectangle 1638876599"/>
          <p:cNvSpPr>
            <a:spLocks noGrp="1"/>
          </p:cNvSpPr>
          <p:nvPr/>
        </p:nvSpPr>
        <p:spPr bwMode="auto">
          <a:xfrm>
            <a:off x="4810125" y="2019300"/>
            <a:ext cx="2571750" cy="342900"/>
          </a:xfrm>
          <a:prstGeom prst="rect">
            <a:avLst/>
          </a:prstGeom>
          <a:noFill/>
          <a:ln w="0">
            <a:noFill/>
            <a:prstDash val="solid"/>
          </a:ln>
        </p:spPr>
        <p:txBody>
          <a:bodyPr/>
          <a:lstStyle/>
          <a:p>
            <a:pPr algn="ctr">
              <a:buNone/>
              <a:defRPr sz="2350" b="1">
                <a:solidFill>
                  <a:srgbClr val="10B981"/>
                </a:solidFill>
              </a:defRPr>
            </a:pPr>
            <a:r>
              <a:rPr sz="2350" b="1">
                <a:solidFill>
                  <a:srgbClr val="10B981"/>
                </a:solidFill>
              </a:rPr>
              <a:t>validation</a:t>
            </a:r>
            <a:endParaRPr/>
          </a:p>
        </p:txBody>
      </p:sp>
      <p:sp>
        <p:nvSpPr>
          <p:cNvPr id="2071581942" name="Rectangle 815678976"/>
          <p:cNvSpPr>
            <a:spLocks noGrp="1"/>
          </p:cNvSpPr>
          <p:nvPr/>
        </p:nvSpPr>
        <p:spPr bwMode="auto">
          <a:xfrm>
            <a:off x="4829175" y="2571750"/>
            <a:ext cx="2533650" cy="495300"/>
          </a:xfrm>
          <a:prstGeom prst="rect">
            <a:avLst/>
          </a:prstGeom>
          <a:noFill/>
          <a:ln w="0">
            <a:noFill/>
            <a:prstDash val="solid"/>
          </a:ln>
        </p:spPr>
        <p:txBody>
          <a:bodyPr/>
          <a:lstStyle/>
          <a:p>
            <a:pPr algn="ctr">
              <a:buNone/>
              <a:defRPr sz="1750" b="1">
                <a:solidFill>
                  <a:srgbClr val="0B0F19"/>
                </a:solidFill>
              </a:defRPr>
            </a:pPr>
            <a:r>
              <a:rPr sz="1750" b="1">
                <a:solidFill>
                  <a:srgbClr val="0B0F19"/>
                </a:solidFill>
              </a:rPr>
              <a:t>choose the setup</a:t>
            </a:r>
            <a:endParaRPr/>
          </a:p>
        </p:txBody>
      </p:sp>
      <p:sp>
        <p:nvSpPr>
          <p:cNvPr id="919275413" name="Rectangle 815528297"/>
          <p:cNvSpPr>
            <a:spLocks noGrp="1"/>
          </p:cNvSpPr>
          <p:nvPr/>
        </p:nvSpPr>
        <p:spPr bwMode="auto">
          <a:xfrm>
            <a:off x="4886325" y="3371850"/>
            <a:ext cx="704850" cy="228600"/>
          </a:xfrm>
          <a:prstGeom prst="rect">
            <a:avLst/>
          </a:prstGeom>
          <a:noFill/>
          <a:ln w="0">
            <a:noFill/>
            <a:prstDash val="solid"/>
          </a:ln>
        </p:spPr>
        <p:txBody>
          <a:bodyPr/>
          <a:lstStyle/>
          <a:p>
            <a:pPr algn="l">
              <a:buNone/>
              <a:defRPr sz="1200" b="1">
                <a:solidFill>
                  <a:srgbClr val="10B981"/>
                </a:solidFill>
              </a:defRPr>
            </a:pPr>
            <a:r>
              <a:rPr sz="1200" b="1">
                <a:solidFill>
                  <a:srgbClr val="10B981"/>
                </a:solidFill>
              </a:rPr>
              <a:t>uses</a:t>
            </a:r>
            <a:endParaRPr/>
          </a:p>
        </p:txBody>
      </p:sp>
      <p:sp>
        <p:nvSpPr>
          <p:cNvPr id="768363785" name="Rectangle 478170369"/>
          <p:cNvSpPr>
            <a:spLocks noGrp="1"/>
          </p:cNvSpPr>
          <p:nvPr/>
        </p:nvSpPr>
        <p:spPr bwMode="auto">
          <a:xfrm>
            <a:off x="5610225" y="335280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held-out examples</a:t>
            </a:r>
            <a:endParaRPr/>
          </a:p>
        </p:txBody>
      </p:sp>
      <p:sp>
        <p:nvSpPr>
          <p:cNvPr id="1001802795" name="Straight Connector 533968529"/>
          <p:cNvSpPr>
            <a:spLocks noGrp="1"/>
          </p:cNvSpPr>
          <p:nvPr/>
        </p:nvSpPr>
        <p:spPr bwMode="auto">
          <a:xfrm>
            <a:off x="4886325" y="3733800"/>
            <a:ext cx="2419350" cy="9525"/>
          </a:xfrm>
          <a:prstGeom prst="line">
            <a:avLst/>
          </a:prstGeom>
          <a:noFill/>
          <a:ln w="9525">
            <a:solidFill>
              <a:srgbClr val="E2E8F0"/>
            </a:solidFill>
            <a:prstDash val="solid"/>
          </a:ln>
        </p:spPr>
        <p:txBody>
          <a:bodyPr/>
          <a:lstStyle/>
          <a:p>
            <a:pPr>
              <a:buNone/>
              <a:defRPr/>
            </a:pPr>
            <a:endParaRPr/>
          </a:p>
        </p:txBody>
      </p:sp>
      <p:sp>
        <p:nvSpPr>
          <p:cNvPr id="1118467785" name="Rectangle 195109745"/>
          <p:cNvSpPr>
            <a:spLocks noGrp="1"/>
          </p:cNvSpPr>
          <p:nvPr/>
        </p:nvSpPr>
        <p:spPr bwMode="auto">
          <a:xfrm>
            <a:off x="4886325" y="3886200"/>
            <a:ext cx="704850" cy="228600"/>
          </a:xfrm>
          <a:prstGeom prst="rect">
            <a:avLst/>
          </a:prstGeom>
          <a:noFill/>
          <a:ln w="0">
            <a:noFill/>
            <a:prstDash val="solid"/>
          </a:ln>
        </p:spPr>
        <p:txBody>
          <a:bodyPr/>
          <a:lstStyle/>
          <a:p>
            <a:pPr algn="l">
              <a:buNone/>
              <a:defRPr sz="1200" b="1">
                <a:solidFill>
                  <a:srgbClr val="10B981"/>
                </a:solidFill>
              </a:defRPr>
            </a:pPr>
            <a:r>
              <a:rPr sz="1200" b="1">
                <a:solidFill>
                  <a:srgbClr val="10B981"/>
                </a:solidFill>
              </a:rPr>
              <a:t>affects</a:t>
            </a:r>
            <a:endParaRPr/>
          </a:p>
        </p:txBody>
      </p:sp>
      <p:sp>
        <p:nvSpPr>
          <p:cNvPr id="1357048939" name="Rectangle 1008757044"/>
          <p:cNvSpPr>
            <a:spLocks noGrp="1"/>
          </p:cNvSpPr>
          <p:nvPr/>
        </p:nvSpPr>
        <p:spPr bwMode="auto">
          <a:xfrm>
            <a:off x="5610225" y="386715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choices indirectly</a:t>
            </a:r>
            <a:endParaRPr/>
          </a:p>
        </p:txBody>
      </p:sp>
      <p:sp>
        <p:nvSpPr>
          <p:cNvPr id="2058356901" name="Straight Connector 1685278168"/>
          <p:cNvSpPr>
            <a:spLocks noGrp="1"/>
          </p:cNvSpPr>
          <p:nvPr/>
        </p:nvSpPr>
        <p:spPr bwMode="auto">
          <a:xfrm>
            <a:off x="4886325" y="4248150"/>
            <a:ext cx="2419350" cy="9525"/>
          </a:xfrm>
          <a:prstGeom prst="line">
            <a:avLst/>
          </a:prstGeom>
          <a:noFill/>
          <a:ln w="9525">
            <a:solidFill>
              <a:srgbClr val="E2E8F0"/>
            </a:solidFill>
            <a:prstDash val="solid"/>
          </a:ln>
        </p:spPr>
        <p:txBody>
          <a:bodyPr/>
          <a:lstStyle/>
          <a:p>
            <a:pPr>
              <a:buNone/>
              <a:defRPr/>
            </a:pPr>
            <a:endParaRPr/>
          </a:p>
        </p:txBody>
      </p:sp>
      <p:sp>
        <p:nvSpPr>
          <p:cNvPr id="993994196" name="Rectangle 1256120152"/>
          <p:cNvSpPr>
            <a:spLocks noGrp="1"/>
          </p:cNvSpPr>
          <p:nvPr/>
        </p:nvSpPr>
        <p:spPr bwMode="auto">
          <a:xfrm>
            <a:off x="4886325" y="4400550"/>
            <a:ext cx="704850" cy="228600"/>
          </a:xfrm>
          <a:prstGeom prst="rect">
            <a:avLst/>
          </a:prstGeom>
          <a:noFill/>
          <a:ln w="0">
            <a:noFill/>
            <a:prstDash val="solid"/>
          </a:ln>
        </p:spPr>
        <p:txBody>
          <a:bodyPr/>
          <a:lstStyle/>
          <a:p>
            <a:pPr algn="l">
              <a:buNone/>
              <a:defRPr sz="1200" b="1">
                <a:solidFill>
                  <a:srgbClr val="10B981"/>
                </a:solidFill>
              </a:defRPr>
            </a:pPr>
            <a:r>
              <a:rPr sz="1200" b="1">
                <a:solidFill>
                  <a:srgbClr val="10B981"/>
                </a:solidFill>
              </a:rPr>
              <a:t>timing</a:t>
            </a:r>
            <a:endParaRPr/>
          </a:p>
        </p:txBody>
      </p:sp>
      <p:sp>
        <p:nvSpPr>
          <p:cNvPr id="1194155812" name="Rectangle 686280821"/>
          <p:cNvSpPr>
            <a:spLocks noGrp="1"/>
          </p:cNvSpPr>
          <p:nvPr/>
        </p:nvSpPr>
        <p:spPr bwMode="auto">
          <a:xfrm>
            <a:off x="5610225" y="438150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during development</a:t>
            </a:r>
            <a:endParaRPr/>
          </a:p>
        </p:txBody>
      </p:sp>
      <p:sp>
        <p:nvSpPr>
          <p:cNvPr id="1783543723" name="Rectangle: Rounded Corners 312764701"/>
          <p:cNvSpPr>
            <a:spLocks noGrp="1"/>
          </p:cNvSpPr>
          <p:nvPr/>
        </p:nvSpPr>
        <p:spPr bwMode="auto">
          <a:xfrm>
            <a:off x="8039100" y="1752599"/>
            <a:ext cx="2990850" cy="3543300"/>
          </a:xfrm>
          <a:prstGeom prst="roundRect">
            <a:avLst>
              <a:gd name="adj" fmla="val 3822"/>
            </a:avLst>
          </a:prstGeom>
          <a:solidFill>
            <a:srgbClr val="FFFFFF"/>
          </a:solidFill>
          <a:ln w="20955">
            <a:solidFill>
              <a:srgbClr val="7C3AED"/>
            </a:solidFill>
            <a:prstDash val="solid"/>
          </a:ln>
        </p:spPr>
        <p:txBody>
          <a:bodyPr/>
          <a:lstStyle/>
          <a:p>
            <a:pPr>
              <a:buNone/>
              <a:defRPr/>
            </a:pPr>
            <a:endParaRPr/>
          </a:p>
        </p:txBody>
      </p:sp>
      <p:sp>
        <p:nvSpPr>
          <p:cNvPr id="1923232961" name="Rectangle 2086773709"/>
          <p:cNvSpPr>
            <a:spLocks noGrp="1"/>
          </p:cNvSpPr>
          <p:nvPr/>
        </p:nvSpPr>
        <p:spPr bwMode="auto">
          <a:xfrm>
            <a:off x="8248650" y="2019300"/>
            <a:ext cx="2571750" cy="342900"/>
          </a:xfrm>
          <a:prstGeom prst="rect">
            <a:avLst/>
          </a:prstGeom>
          <a:noFill/>
          <a:ln w="0">
            <a:noFill/>
            <a:prstDash val="solid"/>
          </a:ln>
        </p:spPr>
        <p:txBody>
          <a:bodyPr/>
          <a:lstStyle/>
          <a:p>
            <a:pPr algn="ctr">
              <a:buNone/>
              <a:defRPr sz="2350" b="1">
                <a:solidFill>
                  <a:srgbClr val="7C3AED"/>
                </a:solidFill>
              </a:defRPr>
            </a:pPr>
            <a:r>
              <a:rPr sz="2350" b="1">
                <a:solidFill>
                  <a:srgbClr val="7C3AED"/>
                </a:solidFill>
              </a:rPr>
              <a:t>test</a:t>
            </a:r>
            <a:endParaRPr/>
          </a:p>
        </p:txBody>
      </p:sp>
      <p:sp>
        <p:nvSpPr>
          <p:cNvPr id="1022931396" name="Rectangle 2025467514"/>
          <p:cNvSpPr>
            <a:spLocks noGrp="1"/>
          </p:cNvSpPr>
          <p:nvPr/>
        </p:nvSpPr>
        <p:spPr bwMode="auto">
          <a:xfrm>
            <a:off x="8267700" y="2571750"/>
            <a:ext cx="2533650" cy="495300"/>
          </a:xfrm>
          <a:prstGeom prst="rect">
            <a:avLst/>
          </a:prstGeom>
          <a:noFill/>
          <a:ln w="0">
            <a:noFill/>
            <a:prstDash val="solid"/>
          </a:ln>
        </p:spPr>
        <p:txBody>
          <a:bodyPr/>
          <a:lstStyle/>
          <a:p>
            <a:pPr algn="ctr">
              <a:buNone/>
              <a:defRPr sz="1750" b="1">
                <a:solidFill>
                  <a:srgbClr val="0B0F19"/>
                </a:solidFill>
              </a:defRPr>
            </a:pPr>
            <a:r>
              <a:rPr sz="1750" b="1">
                <a:solidFill>
                  <a:srgbClr val="0B0F19"/>
                </a:solidFill>
              </a:rPr>
              <a:t>estimate final score</a:t>
            </a:r>
            <a:endParaRPr/>
          </a:p>
        </p:txBody>
      </p:sp>
      <p:sp>
        <p:nvSpPr>
          <p:cNvPr id="433594766" name="Rectangle 957358411"/>
          <p:cNvSpPr>
            <a:spLocks noGrp="1"/>
          </p:cNvSpPr>
          <p:nvPr/>
        </p:nvSpPr>
        <p:spPr bwMode="auto">
          <a:xfrm>
            <a:off x="8324850" y="3371850"/>
            <a:ext cx="704850" cy="228600"/>
          </a:xfrm>
          <a:prstGeom prst="rect">
            <a:avLst/>
          </a:prstGeom>
          <a:noFill/>
          <a:ln w="0">
            <a:noFill/>
            <a:prstDash val="solid"/>
          </a:ln>
        </p:spPr>
        <p:txBody>
          <a:bodyPr/>
          <a:lstStyle/>
          <a:p>
            <a:pPr algn="l">
              <a:buNone/>
              <a:defRPr sz="1200" b="1">
                <a:solidFill>
                  <a:srgbClr val="7C3AED"/>
                </a:solidFill>
              </a:defRPr>
            </a:pPr>
            <a:r>
              <a:rPr sz="1200" b="1">
                <a:solidFill>
                  <a:srgbClr val="7C3AED"/>
                </a:solidFill>
              </a:rPr>
              <a:t>uses</a:t>
            </a:r>
            <a:endParaRPr/>
          </a:p>
        </p:txBody>
      </p:sp>
      <p:sp>
        <p:nvSpPr>
          <p:cNvPr id="290239595" name="Rectangle 1167683203"/>
          <p:cNvSpPr>
            <a:spLocks noGrp="1"/>
          </p:cNvSpPr>
          <p:nvPr/>
        </p:nvSpPr>
        <p:spPr bwMode="auto">
          <a:xfrm>
            <a:off x="9048750" y="335280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unseen examples</a:t>
            </a:r>
            <a:endParaRPr/>
          </a:p>
        </p:txBody>
      </p:sp>
      <p:sp>
        <p:nvSpPr>
          <p:cNvPr id="235200895" name="Straight Connector 935775799"/>
          <p:cNvSpPr>
            <a:spLocks noGrp="1"/>
          </p:cNvSpPr>
          <p:nvPr/>
        </p:nvSpPr>
        <p:spPr bwMode="auto">
          <a:xfrm>
            <a:off x="8324850" y="3733800"/>
            <a:ext cx="2419350" cy="9525"/>
          </a:xfrm>
          <a:prstGeom prst="line">
            <a:avLst/>
          </a:prstGeom>
          <a:noFill/>
          <a:ln w="9525">
            <a:solidFill>
              <a:srgbClr val="E2E8F0"/>
            </a:solidFill>
            <a:prstDash val="solid"/>
          </a:ln>
        </p:spPr>
        <p:txBody>
          <a:bodyPr/>
          <a:lstStyle/>
          <a:p>
            <a:pPr>
              <a:buNone/>
              <a:defRPr/>
            </a:pPr>
            <a:endParaRPr/>
          </a:p>
        </p:txBody>
      </p:sp>
      <p:sp>
        <p:nvSpPr>
          <p:cNvPr id="1154512866" name="Rectangle 1650430570"/>
          <p:cNvSpPr>
            <a:spLocks noGrp="1"/>
          </p:cNvSpPr>
          <p:nvPr/>
        </p:nvSpPr>
        <p:spPr bwMode="auto">
          <a:xfrm>
            <a:off x="8324850" y="3886200"/>
            <a:ext cx="704850" cy="228600"/>
          </a:xfrm>
          <a:prstGeom prst="rect">
            <a:avLst/>
          </a:prstGeom>
          <a:noFill/>
          <a:ln w="0">
            <a:noFill/>
            <a:prstDash val="solid"/>
          </a:ln>
        </p:spPr>
        <p:txBody>
          <a:bodyPr/>
          <a:lstStyle/>
          <a:p>
            <a:pPr algn="l">
              <a:buNone/>
              <a:defRPr sz="1200" b="1">
                <a:solidFill>
                  <a:srgbClr val="7C3AED"/>
                </a:solidFill>
              </a:defRPr>
            </a:pPr>
            <a:r>
              <a:rPr sz="1200" b="1">
                <a:solidFill>
                  <a:srgbClr val="7C3AED"/>
                </a:solidFill>
              </a:rPr>
              <a:t>affects</a:t>
            </a:r>
            <a:endParaRPr/>
          </a:p>
        </p:txBody>
      </p:sp>
      <p:sp>
        <p:nvSpPr>
          <p:cNvPr id="1223086984" name="Rectangle 1673598855"/>
          <p:cNvSpPr>
            <a:spLocks noGrp="1"/>
          </p:cNvSpPr>
          <p:nvPr/>
        </p:nvSpPr>
        <p:spPr bwMode="auto">
          <a:xfrm>
            <a:off x="9048750" y="386715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nothing</a:t>
            </a:r>
            <a:endParaRPr/>
          </a:p>
        </p:txBody>
      </p:sp>
      <p:sp>
        <p:nvSpPr>
          <p:cNvPr id="934349299" name="Straight Connector 796017482"/>
          <p:cNvSpPr>
            <a:spLocks noGrp="1"/>
          </p:cNvSpPr>
          <p:nvPr/>
        </p:nvSpPr>
        <p:spPr bwMode="auto">
          <a:xfrm>
            <a:off x="8324850" y="4248150"/>
            <a:ext cx="2419350" cy="9525"/>
          </a:xfrm>
          <a:prstGeom prst="line">
            <a:avLst/>
          </a:prstGeom>
          <a:noFill/>
          <a:ln w="9525">
            <a:solidFill>
              <a:srgbClr val="E2E8F0"/>
            </a:solidFill>
            <a:prstDash val="solid"/>
          </a:ln>
        </p:spPr>
        <p:txBody>
          <a:bodyPr/>
          <a:lstStyle/>
          <a:p>
            <a:pPr>
              <a:buNone/>
              <a:defRPr/>
            </a:pPr>
            <a:endParaRPr/>
          </a:p>
        </p:txBody>
      </p:sp>
      <p:sp>
        <p:nvSpPr>
          <p:cNvPr id="1021770538" name="Rectangle 150138993"/>
          <p:cNvSpPr>
            <a:spLocks noGrp="1"/>
          </p:cNvSpPr>
          <p:nvPr/>
        </p:nvSpPr>
        <p:spPr bwMode="auto">
          <a:xfrm>
            <a:off x="8324850" y="4400550"/>
            <a:ext cx="704850" cy="228600"/>
          </a:xfrm>
          <a:prstGeom prst="rect">
            <a:avLst/>
          </a:prstGeom>
          <a:noFill/>
          <a:ln w="0">
            <a:noFill/>
            <a:prstDash val="solid"/>
          </a:ln>
        </p:spPr>
        <p:txBody>
          <a:bodyPr/>
          <a:lstStyle/>
          <a:p>
            <a:pPr algn="l">
              <a:buNone/>
              <a:defRPr sz="1200" b="1">
                <a:solidFill>
                  <a:srgbClr val="7C3AED"/>
                </a:solidFill>
              </a:defRPr>
            </a:pPr>
            <a:r>
              <a:rPr sz="1200" b="1">
                <a:solidFill>
                  <a:srgbClr val="7C3AED"/>
                </a:solidFill>
              </a:rPr>
              <a:t>timing</a:t>
            </a:r>
            <a:endParaRPr/>
          </a:p>
        </p:txBody>
      </p:sp>
      <p:sp>
        <p:nvSpPr>
          <p:cNvPr id="1460654218" name="Rectangle 1355132477"/>
          <p:cNvSpPr>
            <a:spLocks noGrp="1"/>
          </p:cNvSpPr>
          <p:nvPr/>
        </p:nvSpPr>
        <p:spPr bwMode="auto">
          <a:xfrm>
            <a:off x="9048750" y="438150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after all choices</a:t>
            </a:r>
            <a:endParaRPr/>
          </a:p>
        </p:txBody>
      </p:sp>
      <p:sp>
        <p:nvSpPr>
          <p:cNvPr id="1330152813" name="Straight Connector 2121780220"/>
          <p:cNvSpPr>
            <a:spLocks noGrp="1"/>
          </p:cNvSpPr>
          <p:nvPr/>
        </p:nvSpPr>
        <p:spPr bwMode="auto">
          <a:xfrm>
            <a:off x="4229100" y="3524250"/>
            <a:ext cx="285750" cy="9525"/>
          </a:xfrm>
          <a:prstGeom prst="line">
            <a:avLst/>
          </a:prstGeom>
          <a:noFill/>
          <a:ln w="28575">
            <a:solidFill>
              <a:srgbClr val="CBD5E1"/>
            </a:solidFill>
            <a:prstDash val="solid"/>
          </a:ln>
        </p:spPr>
        <p:txBody>
          <a:bodyPr/>
          <a:lstStyle/>
          <a:p>
            <a:pPr>
              <a:buNone/>
              <a:defRPr/>
            </a:pPr>
            <a:endParaRPr/>
          </a:p>
        </p:txBody>
      </p:sp>
      <p:sp>
        <p:nvSpPr>
          <p:cNvPr id="509952041" name="Straight Connector 835810551"/>
          <p:cNvSpPr>
            <a:spLocks noGrp="1"/>
          </p:cNvSpPr>
          <p:nvPr/>
        </p:nvSpPr>
        <p:spPr bwMode="auto">
          <a:xfrm>
            <a:off x="7667625" y="3524250"/>
            <a:ext cx="285750" cy="9525"/>
          </a:xfrm>
          <a:prstGeom prst="line">
            <a:avLst/>
          </a:prstGeom>
          <a:noFill/>
          <a:ln w="28575">
            <a:solidFill>
              <a:srgbClr val="CBD5E1"/>
            </a:solidFill>
            <a:prstDash val="solid"/>
          </a:ln>
        </p:spPr>
        <p:txBody>
          <a:bodyPr/>
          <a:lstStyle/>
          <a:p>
            <a:pPr>
              <a:buNone/>
              <a:defRPr/>
            </a:pPr>
            <a:endParaRPr/>
          </a:p>
        </p:txBody>
      </p:sp>
      <p:sp>
        <p:nvSpPr>
          <p:cNvPr id="1512157150" name="Rectangle 1100880979"/>
          <p:cNvSpPr>
            <a:spLocks noGrp="1"/>
          </p:cNvSpPr>
          <p:nvPr/>
        </p:nvSpPr>
        <p:spPr bwMode="auto">
          <a:xfrm>
            <a:off x="2781300" y="5524500"/>
            <a:ext cx="6667500" cy="285750"/>
          </a:xfrm>
          <a:prstGeom prst="rect">
            <a:avLst/>
          </a:prstGeom>
          <a:noFill/>
          <a:ln w="0">
            <a:noFill/>
            <a:prstDash val="solid"/>
          </a:ln>
        </p:spPr>
        <p:txBody>
          <a:bodyPr/>
          <a:lstStyle/>
          <a:p>
            <a:pPr algn="ctr">
              <a:buNone/>
              <a:defRPr sz="1750" b="1">
                <a:solidFill>
                  <a:srgbClr val="F97316"/>
                </a:solidFill>
              </a:defRPr>
            </a:pPr>
            <a:r>
              <a:rPr sz="1750" b="1">
                <a:solidFill>
                  <a:srgbClr val="F97316"/>
                </a:solidFill>
              </a:rPr>
              <a:t>validation is a development check; test is the final check</a:t>
            </a:r>
            <a:endParaRPr/>
          </a:p>
        </p:txBody>
      </p:sp>
      <p:sp>
        <p:nvSpPr>
          <p:cNvPr id="1277332021" name="Rectangle 1811406449"/>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47072068" name="Rectangle 854926774"/>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Regression</a:t>
            </a:r>
            <a:endParaRPr/>
          </a:p>
        </p:txBody>
      </p:sp>
      <p:sp>
        <p:nvSpPr>
          <p:cNvPr id="265000999" name="Rectangle 1150295720"/>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Train, validation, and test reveal fit quality</a:t>
            </a:r>
            <a:endParaRPr/>
          </a:p>
        </p:txBody>
      </p:sp>
      <p:sp>
        <p:nvSpPr>
          <p:cNvPr id="137431283" name="Rectangle: Rounded Corners 2106832513"/>
          <p:cNvSpPr>
            <a:spLocks noGrp="1"/>
          </p:cNvSpPr>
          <p:nvPr/>
        </p:nvSpPr>
        <p:spPr bwMode="auto">
          <a:xfrm>
            <a:off x="1162050" y="1466849"/>
            <a:ext cx="2381250" cy="685800"/>
          </a:xfrm>
          <a:prstGeom prst="roundRect">
            <a:avLst>
              <a:gd name="adj" fmla="val 16667"/>
            </a:avLst>
          </a:prstGeom>
          <a:solidFill>
            <a:srgbClr val="FFFFFF"/>
          </a:solidFill>
          <a:ln w="20955">
            <a:solidFill>
              <a:srgbClr val="2563EB"/>
            </a:solidFill>
            <a:prstDash val="solid"/>
          </a:ln>
        </p:spPr>
        <p:txBody>
          <a:bodyPr/>
          <a:lstStyle/>
          <a:p>
            <a:pPr algn="ctr">
              <a:buNone/>
              <a:defRPr sz="2050" b="1">
                <a:solidFill>
                  <a:srgbClr val="2563EB"/>
                </a:solidFill>
              </a:defRPr>
            </a:pPr>
            <a:r>
              <a:rPr sz="2050" b="1">
                <a:solidFill>
                  <a:srgbClr val="2563EB"/>
                </a:solidFill>
              </a:rPr>
              <a:t>train</a:t>
            </a:r>
            <a:endParaRPr/>
          </a:p>
        </p:txBody>
      </p:sp>
      <p:sp>
        <p:nvSpPr>
          <p:cNvPr id="813151347" name="Rectangle 537144149"/>
          <p:cNvSpPr>
            <a:spLocks noGrp="1"/>
          </p:cNvSpPr>
          <p:nvPr/>
        </p:nvSpPr>
        <p:spPr bwMode="auto">
          <a:xfrm>
            <a:off x="1162050" y="2247900"/>
            <a:ext cx="238125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fit weights</a:t>
            </a:r>
            <a:endParaRPr/>
          </a:p>
        </p:txBody>
      </p:sp>
      <p:sp>
        <p:nvSpPr>
          <p:cNvPr id="772530795" name="Straight Connector 1844070667"/>
          <p:cNvSpPr>
            <a:spLocks noGrp="1"/>
          </p:cNvSpPr>
          <p:nvPr/>
        </p:nvSpPr>
        <p:spPr bwMode="auto">
          <a:xfrm>
            <a:off x="3752850" y="1809750"/>
            <a:ext cx="628650" cy="9525"/>
          </a:xfrm>
          <a:prstGeom prst="line">
            <a:avLst/>
          </a:prstGeom>
          <a:noFill/>
          <a:ln w="28575">
            <a:solidFill>
              <a:srgbClr val="CBD5E1"/>
            </a:solidFill>
            <a:prstDash val="solid"/>
          </a:ln>
        </p:spPr>
        <p:txBody>
          <a:bodyPr/>
          <a:lstStyle/>
          <a:p>
            <a:pPr>
              <a:buNone/>
              <a:defRPr/>
            </a:pPr>
            <a:endParaRPr/>
          </a:p>
        </p:txBody>
      </p:sp>
      <p:sp>
        <p:nvSpPr>
          <p:cNvPr id="449744387" name="Rectangle: Rounded Corners 1156722812"/>
          <p:cNvSpPr>
            <a:spLocks noGrp="1"/>
          </p:cNvSpPr>
          <p:nvPr/>
        </p:nvSpPr>
        <p:spPr bwMode="auto">
          <a:xfrm>
            <a:off x="4591050" y="1466849"/>
            <a:ext cx="2381250" cy="685800"/>
          </a:xfrm>
          <a:prstGeom prst="roundRect">
            <a:avLst>
              <a:gd name="adj" fmla="val 16667"/>
            </a:avLst>
          </a:prstGeom>
          <a:solidFill>
            <a:srgbClr val="FFFFFF"/>
          </a:solidFill>
          <a:ln w="20955">
            <a:solidFill>
              <a:srgbClr val="10B981"/>
            </a:solidFill>
            <a:prstDash val="solid"/>
          </a:ln>
        </p:spPr>
        <p:txBody>
          <a:bodyPr/>
          <a:lstStyle/>
          <a:p>
            <a:pPr algn="ctr">
              <a:buNone/>
              <a:defRPr sz="2050" b="1">
                <a:solidFill>
                  <a:srgbClr val="10B981"/>
                </a:solidFill>
              </a:defRPr>
            </a:pPr>
            <a:r>
              <a:rPr sz="2050" b="1">
                <a:solidFill>
                  <a:srgbClr val="10B981"/>
                </a:solidFill>
              </a:rPr>
              <a:t>validation</a:t>
            </a:r>
            <a:endParaRPr/>
          </a:p>
        </p:txBody>
      </p:sp>
      <p:sp>
        <p:nvSpPr>
          <p:cNvPr id="67551098" name="Rectangle 555957418"/>
          <p:cNvSpPr>
            <a:spLocks noGrp="1"/>
          </p:cNvSpPr>
          <p:nvPr/>
        </p:nvSpPr>
        <p:spPr bwMode="auto">
          <a:xfrm>
            <a:off x="4591050" y="2247900"/>
            <a:ext cx="238125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choose model</a:t>
            </a:r>
            <a:endParaRPr/>
          </a:p>
        </p:txBody>
      </p:sp>
      <p:sp>
        <p:nvSpPr>
          <p:cNvPr id="1259418381" name="Straight Connector 1221881980"/>
          <p:cNvSpPr>
            <a:spLocks noGrp="1"/>
          </p:cNvSpPr>
          <p:nvPr/>
        </p:nvSpPr>
        <p:spPr bwMode="auto">
          <a:xfrm>
            <a:off x="7181850" y="1809750"/>
            <a:ext cx="628650" cy="9525"/>
          </a:xfrm>
          <a:prstGeom prst="line">
            <a:avLst/>
          </a:prstGeom>
          <a:noFill/>
          <a:ln w="28575">
            <a:solidFill>
              <a:srgbClr val="CBD5E1"/>
            </a:solidFill>
            <a:prstDash val="solid"/>
          </a:ln>
        </p:spPr>
        <p:txBody>
          <a:bodyPr/>
          <a:lstStyle/>
          <a:p>
            <a:pPr>
              <a:buNone/>
              <a:defRPr/>
            </a:pPr>
            <a:endParaRPr/>
          </a:p>
        </p:txBody>
      </p:sp>
      <p:sp>
        <p:nvSpPr>
          <p:cNvPr id="141902759" name="Rectangle: Rounded Corners 942243679"/>
          <p:cNvSpPr>
            <a:spLocks noGrp="1"/>
          </p:cNvSpPr>
          <p:nvPr/>
        </p:nvSpPr>
        <p:spPr bwMode="auto">
          <a:xfrm>
            <a:off x="8020050" y="1466849"/>
            <a:ext cx="2381250" cy="685800"/>
          </a:xfrm>
          <a:prstGeom prst="roundRect">
            <a:avLst>
              <a:gd name="adj" fmla="val 16667"/>
            </a:avLst>
          </a:prstGeom>
          <a:solidFill>
            <a:srgbClr val="FFFFFF"/>
          </a:solidFill>
          <a:ln w="20955">
            <a:solidFill>
              <a:srgbClr val="7C3AED"/>
            </a:solidFill>
            <a:prstDash val="solid"/>
          </a:ln>
        </p:spPr>
        <p:txBody>
          <a:bodyPr/>
          <a:lstStyle/>
          <a:p>
            <a:pPr algn="ctr">
              <a:buNone/>
              <a:defRPr sz="2050" b="1">
                <a:solidFill>
                  <a:srgbClr val="7C3AED"/>
                </a:solidFill>
              </a:defRPr>
            </a:pPr>
            <a:r>
              <a:rPr sz="2050" b="1">
                <a:solidFill>
                  <a:srgbClr val="7C3AED"/>
                </a:solidFill>
              </a:rPr>
              <a:t>test</a:t>
            </a:r>
            <a:endParaRPr/>
          </a:p>
        </p:txBody>
      </p:sp>
      <p:sp>
        <p:nvSpPr>
          <p:cNvPr id="1451641323" name="Rectangle 1558388499"/>
          <p:cNvSpPr>
            <a:spLocks noGrp="1"/>
          </p:cNvSpPr>
          <p:nvPr/>
        </p:nvSpPr>
        <p:spPr bwMode="auto">
          <a:xfrm>
            <a:off x="8020050" y="2247900"/>
            <a:ext cx="238125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final check</a:t>
            </a:r>
            <a:endParaRPr/>
          </a:p>
        </p:txBody>
      </p:sp>
      <p:sp>
        <p:nvSpPr>
          <p:cNvPr id="639155430" name="Rectangle: Rounded Corners 497016789"/>
          <p:cNvSpPr>
            <a:spLocks noGrp="1"/>
          </p:cNvSpPr>
          <p:nvPr/>
        </p:nvSpPr>
        <p:spPr bwMode="auto">
          <a:xfrm>
            <a:off x="704850" y="2743200"/>
            <a:ext cx="10782300" cy="3314700"/>
          </a:xfrm>
          <a:prstGeom prst="roundRect">
            <a:avLst>
              <a:gd name="adj" fmla="val 3448"/>
            </a:avLst>
          </a:prstGeom>
          <a:solidFill>
            <a:srgbClr val="F8FAFC"/>
          </a:solidFill>
          <a:ln w="14288">
            <a:solidFill>
              <a:srgbClr val="E2E8F0"/>
            </a:solidFill>
            <a:prstDash val="solid"/>
          </a:ln>
        </p:spPr>
        <p:txBody>
          <a:bodyPr/>
          <a:lstStyle/>
          <a:p>
            <a:pPr>
              <a:buNone/>
              <a:defRPr/>
            </a:pPr>
            <a:endParaRPr/>
          </a:p>
        </p:txBody>
      </p:sp>
      <p:sp>
        <p:nvSpPr>
          <p:cNvPr id="271535702" name="Straight Connector 944728692"/>
          <p:cNvSpPr>
            <a:spLocks noGrp="1"/>
          </p:cNvSpPr>
          <p:nvPr/>
        </p:nvSpPr>
        <p:spPr bwMode="auto">
          <a:xfrm>
            <a:off x="1143000" y="5648325"/>
            <a:ext cx="9858375" cy="9525"/>
          </a:xfrm>
          <a:prstGeom prst="line">
            <a:avLst/>
          </a:prstGeom>
          <a:noFill/>
          <a:ln w="19050">
            <a:solidFill>
              <a:srgbClr val="94A3B8"/>
            </a:solidFill>
            <a:prstDash val="solid"/>
          </a:ln>
        </p:spPr>
        <p:txBody>
          <a:bodyPr/>
          <a:lstStyle/>
          <a:p>
            <a:pPr>
              <a:buNone/>
              <a:defRPr/>
            </a:pPr>
            <a:endParaRPr/>
          </a:p>
        </p:txBody>
      </p:sp>
      <p:sp>
        <p:nvSpPr>
          <p:cNvPr id="1715142146" name="Straight Connector 492924597"/>
          <p:cNvSpPr>
            <a:spLocks noGrp="1"/>
          </p:cNvSpPr>
          <p:nvPr/>
        </p:nvSpPr>
        <p:spPr bwMode="auto">
          <a:xfrm>
            <a:off x="1143000" y="3124200"/>
            <a:ext cx="9525" cy="2524125"/>
          </a:xfrm>
          <a:prstGeom prst="line">
            <a:avLst/>
          </a:prstGeom>
          <a:noFill/>
          <a:ln w="19050">
            <a:solidFill>
              <a:srgbClr val="94A3B8"/>
            </a:solidFill>
            <a:prstDash val="solid"/>
          </a:ln>
        </p:spPr>
        <p:txBody>
          <a:bodyPr/>
          <a:lstStyle/>
          <a:p>
            <a:pPr>
              <a:buNone/>
              <a:defRPr/>
            </a:pPr>
            <a:endParaRPr/>
          </a:p>
        </p:txBody>
      </p:sp>
      <p:sp>
        <p:nvSpPr>
          <p:cNvPr id="1603611981" name="Rectangle 1897545627"/>
          <p:cNvSpPr>
            <a:spLocks noGrp="1"/>
          </p:cNvSpPr>
          <p:nvPr/>
        </p:nvSpPr>
        <p:spPr bwMode="auto">
          <a:xfrm>
            <a:off x="4705350" y="5762625"/>
            <a:ext cx="285750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model complexity</a:t>
            </a:r>
            <a:endParaRPr/>
          </a:p>
        </p:txBody>
      </p:sp>
      <p:sp>
        <p:nvSpPr>
          <p:cNvPr id="419223175" name="Rectangle 567799544"/>
          <p:cNvSpPr>
            <a:spLocks noGrp="1"/>
          </p:cNvSpPr>
          <p:nvPr/>
        </p:nvSpPr>
        <p:spPr bwMode="auto">
          <a:xfrm>
            <a:off x="742950" y="3009900"/>
            <a:ext cx="66675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error</a:t>
            </a:r>
            <a:endParaRPr/>
          </a:p>
        </p:txBody>
      </p:sp>
      <p:sp>
        <p:nvSpPr>
          <p:cNvPr id="90629929" name="Rectangle 163568202"/>
          <p:cNvSpPr>
            <a:spLocks noGrp="1"/>
          </p:cNvSpPr>
          <p:nvPr/>
        </p:nvSpPr>
        <p:spPr bwMode="auto">
          <a:xfrm>
            <a:off x="8934450" y="5257800"/>
            <a:ext cx="1428750" cy="266700"/>
          </a:xfrm>
          <a:prstGeom prst="rect">
            <a:avLst/>
          </a:prstGeom>
          <a:noFill/>
          <a:ln w="0">
            <a:noFill/>
            <a:prstDash val="solid"/>
          </a:ln>
        </p:spPr>
        <p:txBody>
          <a:bodyPr/>
          <a:lstStyle/>
          <a:p>
            <a:pPr algn="l">
              <a:buNone/>
              <a:defRPr sz="1500" b="1">
                <a:solidFill>
                  <a:srgbClr val="2563EB"/>
                </a:solidFill>
              </a:defRPr>
            </a:pPr>
            <a:r>
              <a:rPr sz="1500" b="1">
                <a:solidFill>
                  <a:srgbClr val="2563EB"/>
                </a:solidFill>
              </a:rPr>
              <a:t>train error</a:t>
            </a:r>
            <a:endParaRPr/>
          </a:p>
        </p:txBody>
      </p:sp>
      <p:sp>
        <p:nvSpPr>
          <p:cNvPr id="163331144" name="Rectangle 1723731144"/>
          <p:cNvSpPr>
            <a:spLocks noGrp="1"/>
          </p:cNvSpPr>
          <p:nvPr/>
        </p:nvSpPr>
        <p:spPr bwMode="auto">
          <a:xfrm>
            <a:off x="8905875" y="3200400"/>
            <a:ext cx="1809750" cy="266700"/>
          </a:xfrm>
          <a:prstGeom prst="rect">
            <a:avLst/>
          </a:prstGeom>
          <a:noFill/>
          <a:ln w="0">
            <a:noFill/>
            <a:prstDash val="solid"/>
          </a:ln>
        </p:spPr>
        <p:txBody>
          <a:bodyPr/>
          <a:lstStyle/>
          <a:p>
            <a:pPr algn="l">
              <a:buNone/>
              <a:defRPr sz="1500" b="1">
                <a:solidFill>
                  <a:srgbClr val="F97316"/>
                </a:solidFill>
              </a:defRPr>
            </a:pPr>
            <a:r>
              <a:rPr sz="1500" b="1">
                <a:solidFill>
                  <a:srgbClr val="F97316"/>
                </a:solidFill>
              </a:rPr>
              <a:t>validation error</a:t>
            </a:r>
            <a:endParaRPr/>
          </a:p>
        </p:txBody>
      </p:sp>
      <p:sp>
        <p:nvSpPr>
          <p:cNvPr id="1591015912" name="Rectangle 326786159"/>
          <p:cNvSpPr>
            <a:spLocks noGrp="1"/>
          </p:cNvSpPr>
          <p:nvPr/>
        </p:nvSpPr>
        <p:spPr bwMode="auto">
          <a:xfrm>
            <a:off x="762000" y="2800350"/>
            <a:ext cx="2190750" cy="285750"/>
          </a:xfrm>
          <a:prstGeom prst="rect">
            <a:avLst/>
          </a:prstGeom>
          <a:noFill/>
          <a:ln w="0">
            <a:noFill/>
            <a:prstDash val="solid"/>
          </a:ln>
        </p:spPr>
        <p:txBody>
          <a:bodyPr/>
          <a:lstStyle/>
          <a:p>
            <a:pPr algn="ctr">
              <a:buNone/>
              <a:defRPr sz="1750" b="1">
                <a:solidFill>
                  <a:srgbClr val="EF4444"/>
                </a:solidFill>
              </a:defRPr>
            </a:pPr>
            <a:r>
              <a:rPr sz="1750" b="1">
                <a:solidFill>
                  <a:srgbClr val="EF4444"/>
                </a:solidFill>
              </a:rPr>
              <a:t>underfitting</a:t>
            </a:r>
            <a:endParaRPr/>
          </a:p>
        </p:txBody>
      </p:sp>
      <p:sp>
        <p:nvSpPr>
          <p:cNvPr id="1295183257" name="Rectangle 1482802785"/>
          <p:cNvSpPr>
            <a:spLocks noGrp="1"/>
          </p:cNvSpPr>
          <p:nvPr/>
        </p:nvSpPr>
        <p:spPr bwMode="auto">
          <a:xfrm>
            <a:off x="762000" y="5391150"/>
            <a:ext cx="2190750" cy="266700"/>
          </a:xfrm>
          <a:prstGeom prst="rect">
            <a:avLst/>
          </a:prstGeom>
          <a:noFill/>
          <a:ln w="0">
            <a:noFill/>
            <a:prstDash val="solid"/>
          </a:ln>
        </p:spPr>
        <p:txBody>
          <a:bodyPr/>
          <a:lstStyle/>
          <a:p>
            <a:pPr algn="ctr">
              <a:buNone/>
              <a:defRPr sz="1300" b="0">
                <a:solidFill>
                  <a:srgbClr val="667085"/>
                </a:solidFill>
              </a:defRPr>
            </a:pPr>
            <a:r>
              <a:rPr sz="1300" b="0">
                <a:solidFill>
                  <a:srgbClr val="667085"/>
                </a:solidFill>
              </a:rPr>
              <a:t>both errors high</a:t>
            </a:r>
            <a:endParaRPr/>
          </a:p>
        </p:txBody>
      </p:sp>
      <p:sp>
        <p:nvSpPr>
          <p:cNvPr id="1336820086" name="Rectangle 947956942"/>
          <p:cNvSpPr>
            <a:spLocks noGrp="1"/>
          </p:cNvSpPr>
          <p:nvPr/>
        </p:nvSpPr>
        <p:spPr bwMode="auto">
          <a:xfrm>
            <a:off x="4286250" y="2800350"/>
            <a:ext cx="2190750" cy="285750"/>
          </a:xfrm>
          <a:prstGeom prst="rect">
            <a:avLst/>
          </a:prstGeom>
          <a:noFill/>
          <a:ln w="0">
            <a:noFill/>
            <a:prstDash val="solid"/>
          </a:ln>
        </p:spPr>
        <p:txBody>
          <a:bodyPr/>
          <a:lstStyle/>
          <a:p>
            <a:pPr algn="ctr">
              <a:buNone/>
              <a:defRPr sz="1750" b="1">
                <a:solidFill>
                  <a:srgbClr val="10B981"/>
                </a:solidFill>
              </a:defRPr>
            </a:pPr>
            <a:r>
              <a:rPr sz="1750" b="1">
                <a:solidFill>
                  <a:srgbClr val="10B981"/>
                </a:solidFill>
              </a:rPr>
              <a:t>best fit</a:t>
            </a:r>
            <a:endParaRPr/>
          </a:p>
        </p:txBody>
      </p:sp>
      <p:sp>
        <p:nvSpPr>
          <p:cNvPr id="1670026333" name="Rectangle 2016319604"/>
          <p:cNvSpPr>
            <a:spLocks noGrp="1"/>
          </p:cNvSpPr>
          <p:nvPr/>
        </p:nvSpPr>
        <p:spPr bwMode="auto">
          <a:xfrm>
            <a:off x="4286250" y="5391150"/>
            <a:ext cx="2190750" cy="266700"/>
          </a:xfrm>
          <a:prstGeom prst="rect">
            <a:avLst/>
          </a:prstGeom>
          <a:noFill/>
          <a:ln w="0">
            <a:noFill/>
            <a:prstDash val="solid"/>
          </a:ln>
        </p:spPr>
        <p:txBody>
          <a:bodyPr/>
          <a:lstStyle/>
          <a:p>
            <a:pPr algn="ctr">
              <a:buNone/>
              <a:defRPr sz="1300" b="0">
                <a:solidFill>
                  <a:srgbClr val="667085"/>
                </a:solidFill>
              </a:defRPr>
            </a:pPr>
            <a:r>
              <a:rPr sz="1300" b="0">
                <a:solidFill>
                  <a:srgbClr val="667085"/>
                </a:solidFill>
              </a:rPr>
              <a:t>validation lowest</a:t>
            </a:r>
            <a:endParaRPr/>
          </a:p>
        </p:txBody>
      </p:sp>
      <p:sp>
        <p:nvSpPr>
          <p:cNvPr id="607721416" name="Rectangle 759240474"/>
          <p:cNvSpPr>
            <a:spLocks noGrp="1"/>
          </p:cNvSpPr>
          <p:nvPr/>
        </p:nvSpPr>
        <p:spPr bwMode="auto">
          <a:xfrm>
            <a:off x="7591425" y="2800350"/>
            <a:ext cx="2190750" cy="285750"/>
          </a:xfrm>
          <a:prstGeom prst="rect">
            <a:avLst/>
          </a:prstGeom>
          <a:noFill/>
          <a:ln w="0">
            <a:noFill/>
            <a:prstDash val="solid"/>
          </a:ln>
        </p:spPr>
        <p:txBody>
          <a:bodyPr/>
          <a:lstStyle/>
          <a:p>
            <a:pPr algn="ctr">
              <a:buNone/>
              <a:defRPr sz="1750" b="1">
                <a:solidFill>
                  <a:srgbClr val="F97316"/>
                </a:solidFill>
              </a:defRPr>
            </a:pPr>
            <a:r>
              <a:rPr sz="1750" b="1">
                <a:solidFill>
                  <a:srgbClr val="F97316"/>
                </a:solidFill>
              </a:rPr>
              <a:t>overfitting</a:t>
            </a:r>
            <a:endParaRPr/>
          </a:p>
        </p:txBody>
      </p:sp>
      <p:sp>
        <p:nvSpPr>
          <p:cNvPr id="903526191" name="Rectangle 1102304899"/>
          <p:cNvSpPr>
            <a:spLocks noGrp="1"/>
          </p:cNvSpPr>
          <p:nvPr/>
        </p:nvSpPr>
        <p:spPr bwMode="auto">
          <a:xfrm>
            <a:off x="7591425" y="5391150"/>
            <a:ext cx="2190750" cy="266700"/>
          </a:xfrm>
          <a:prstGeom prst="rect">
            <a:avLst/>
          </a:prstGeom>
          <a:noFill/>
          <a:ln w="0">
            <a:noFill/>
            <a:prstDash val="solid"/>
          </a:ln>
        </p:spPr>
        <p:txBody>
          <a:bodyPr/>
          <a:lstStyle/>
          <a:p>
            <a:pPr algn="ctr">
              <a:buNone/>
              <a:defRPr sz="1300" b="0">
                <a:solidFill>
                  <a:srgbClr val="667085"/>
                </a:solidFill>
              </a:defRPr>
            </a:pPr>
            <a:r>
              <a:rPr sz="1300" b="0">
                <a:solidFill>
                  <a:srgbClr val="667085"/>
                </a:solidFill>
              </a:rPr>
              <a:t>gap opens</a:t>
            </a:r>
            <a:endParaRPr/>
          </a:p>
        </p:txBody>
      </p:sp>
      <p:sp>
        <p:nvSpPr>
          <p:cNvPr id="548992313" name="Rectangle 114104296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10</a:t>
            </a:r>
            <a:endParaRPr/>
          </a:p>
        </p:txBody>
      </p:sp>
      <p:sp>
        <p:nvSpPr>
          <p:cNvPr id="1094370345" name="solidguide_normal"/>
          <p:cNvSpPr>
            <a:spLocks noGrp="1"/>
          </p:cNvSpPr>
          <p:nvPr/>
        </p:nvSpPr>
        <p:spPr bwMode="auto">
          <a:xfrm>
            <a:off x="1857375" y="3200400"/>
            <a:ext cx="9525" cy="2447925"/>
          </a:xfrm>
          <a:prstGeom prst="line">
            <a:avLst/>
          </a:prstGeom>
          <a:noFill/>
          <a:ln w="14288">
            <a:solidFill>
              <a:srgbClr val="EF4444"/>
            </a:solidFill>
            <a:prstDash val="solid"/>
          </a:ln>
        </p:spPr>
        <p:txBody>
          <a:bodyPr/>
          <a:lstStyle/>
          <a:p>
            <a:pPr>
              <a:buNone/>
              <a:defRPr/>
            </a:pPr>
            <a:endParaRPr/>
          </a:p>
        </p:txBody>
      </p:sp>
      <p:sp>
        <p:nvSpPr>
          <p:cNvPr id="601773532" name="solidguide_normal"/>
          <p:cNvSpPr>
            <a:spLocks noGrp="1"/>
          </p:cNvSpPr>
          <p:nvPr/>
        </p:nvSpPr>
        <p:spPr bwMode="auto">
          <a:xfrm>
            <a:off x="5381625" y="3200400"/>
            <a:ext cx="9525" cy="2447925"/>
          </a:xfrm>
          <a:prstGeom prst="line">
            <a:avLst/>
          </a:prstGeom>
          <a:noFill/>
          <a:ln w="14288">
            <a:solidFill>
              <a:srgbClr val="10B981"/>
            </a:solidFill>
            <a:prstDash val="solid"/>
          </a:ln>
        </p:spPr>
        <p:txBody>
          <a:bodyPr/>
          <a:lstStyle/>
          <a:p>
            <a:pPr>
              <a:buNone/>
              <a:defRPr/>
            </a:pPr>
            <a:endParaRPr/>
          </a:p>
        </p:txBody>
      </p:sp>
      <p:pic>
        <p:nvPicPr>
          <p:cNvPr id="1397828373" name="Graphic 2106832541"/>
          <p:cNvPicPr>
            <a:picLocks noChangeAspect="1"/>
          </p:cNvPicPr>
          <p:nvPr/>
        </p:nvPicPr>
        <p:blipFill rotWithShape="1">
          <a:blip r:embed="rId3">
            <a:extLst>
              <a:ext uri="{96DAC541-7B7A-43D3-8B79-37D633B846F1}">
                <asvg:svgBlip xmlns:asvg="http://schemas.microsoft.com/office/drawing/2016/SVG/main" r:embed="rId4"/>
              </a:ext>
            </a:extLst>
          </a:blip>
          <a:stretch/>
        </p:blipFill>
        <p:spPr bwMode="auto">
          <a:xfrm>
            <a:off x="0" y="0"/>
            <a:ext cx="12192000"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25666247" name="Rectangle 147028390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Partial derivatives</a:t>
            </a:r>
            <a:endParaRPr/>
          </a:p>
        </p:txBody>
      </p:sp>
      <p:sp>
        <p:nvSpPr>
          <p:cNvPr id="166681269" name="Rectangle 843139879"/>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Partial derivatives: one variable at a time</a:t>
            </a:r>
            <a:endParaRPr/>
          </a:p>
        </p:txBody>
      </p:sp>
      <p:sp>
        <p:nvSpPr>
          <p:cNvPr id="269330425" name="Rectangle: Rounded Corners 44177743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pic>
        <p:nvPicPr>
          <p:cNvPr id="624278013" name="Picture 1856458312"/>
          <p:cNvPicPr>
            <a:picLocks noChangeAspect="1"/>
          </p:cNvPicPr>
          <p:nvPr/>
        </p:nvPicPr>
        <p:blipFill rotWithShape="1">
          <a:blip r:embed="rId3"/>
          <a:stretch/>
        </p:blipFill>
        <p:spPr bwMode="auto">
          <a:xfrm>
            <a:off x="1095375" y="1631156"/>
            <a:ext cx="10001250" cy="1785938"/>
          </a:xfrm>
          <a:prstGeom prst="rect">
            <a:avLst/>
          </a:prstGeom>
        </p:spPr>
      </p:pic>
      <p:sp>
        <p:nvSpPr>
          <p:cNvPr id="554777151" name="Oval 1369448292"/>
          <p:cNvSpPr>
            <a:spLocks noGrp="1"/>
          </p:cNvSpPr>
          <p:nvPr/>
        </p:nvSpPr>
        <p:spPr bwMode="auto">
          <a:xfrm>
            <a:off x="1524000" y="3905250"/>
            <a:ext cx="552450" cy="552450"/>
          </a:xfrm>
          <a:prstGeom prst="ellipse">
            <a:avLst/>
          </a:prstGeom>
          <a:solidFill>
            <a:srgbClr val="E0F2FE"/>
          </a:solidFill>
          <a:ln w="14288">
            <a:solidFill>
              <a:srgbClr val="2563EB"/>
            </a:solidFill>
            <a:prstDash val="solid"/>
          </a:ln>
        </p:spPr>
        <p:txBody>
          <a:bodyPr/>
          <a:lstStyle/>
          <a:p>
            <a:pPr algn="ctr">
              <a:buNone/>
              <a:defRPr sz="1950" b="1">
                <a:solidFill>
                  <a:srgbClr val="2563EB"/>
                </a:solidFill>
              </a:defRPr>
            </a:pPr>
            <a:r>
              <a:rPr sz="1950" b="1">
                <a:solidFill>
                  <a:srgbClr val="2563EB"/>
                </a:solidFill>
              </a:rPr>
              <a:t>1</a:t>
            </a:r>
            <a:endParaRPr/>
          </a:p>
        </p:txBody>
      </p:sp>
      <p:sp>
        <p:nvSpPr>
          <p:cNvPr id="623987115" name="Rectangle 119453285"/>
          <p:cNvSpPr>
            <a:spLocks noGrp="1"/>
          </p:cNvSpPr>
          <p:nvPr/>
        </p:nvSpPr>
        <p:spPr bwMode="auto">
          <a:xfrm>
            <a:off x="2238375" y="4000500"/>
            <a:ext cx="2381250" cy="323850"/>
          </a:xfrm>
          <a:prstGeom prst="rect">
            <a:avLst/>
          </a:prstGeom>
          <a:noFill/>
          <a:ln w="0">
            <a:noFill/>
            <a:prstDash val="solid"/>
          </a:ln>
        </p:spPr>
        <p:txBody>
          <a:bodyPr/>
          <a:lstStyle/>
          <a:p>
            <a:pPr algn="l">
              <a:buNone/>
              <a:defRPr sz="1900" b="1">
                <a:solidFill>
                  <a:srgbClr val="0B0F19"/>
                </a:solidFill>
              </a:defRPr>
            </a:pPr>
            <a:r>
              <a:rPr sz="1900" b="1">
                <a:solidFill>
                  <a:srgbClr val="0B0F19"/>
                </a:solidFill>
              </a:rPr>
              <a:t>Choose the variable</a:t>
            </a:r>
            <a:endParaRPr/>
          </a:p>
        </p:txBody>
      </p:sp>
      <p:sp>
        <p:nvSpPr>
          <p:cNvPr id="906566913" name="Oval 1329949566"/>
          <p:cNvSpPr>
            <a:spLocks noGrp="1"/>
          </p:cNvSpPr>
          <p:nvPr/>
        </p:nvSpPr>
        <p:spPr bwMode="auto">
          <a:xfrm>
            <a:off x="1524000" y="4714875"/>
            <a:ext cx="552450" cy="552450"/>
          </a:xfrm>
          <a:prstGeom prst="ellipse">
            <a:avLst/>
          </a:prstGeom>
          <a:solidFill>
            <a:srgbClr val="FEF3C7"/>
          </a:solidFill>
          <a:ln w="14288">
            <a:solidFill>
              <a:srgbClr val="F97316"/>
            </a:solidFill>
            <a:prstDash val="solid"/>
          </a:ln>
        </p:spPr>
        <p:txBody>
          <a:bodyPr/>
          <a:lstStyle/>
          <a:p>
            <a:pPr algn="ctr">
              <a:buNone/>
              <a:defRPr sz="1950" b="1">
                <a:solidFill>
                  <a:srgbClr val="F97316"/>
                </a:solidFill>
              </a:defRPr>
            </a:pPr>
            <a:r>
              <a:rPr sz="1950" b="1">
                <a:solidFill>
                  <a:srgbClr val="F97316"/>
                </a:solidFill>
              </a:rPr>
              <a:t>2</a:t>
            </a:r>
            <a:endParaRPr/>
          </a:p>
        </p:txBody>
      </p:sp>
      <p:sp>
        <p:nvSpPr>
          <p:cNvPr id="2100280693" name="Rectangle 1856458307"/>
          <p:cNvSpPr>
            <a:spLocks noGrp="1"/>
          </p:cNvSpPr>
          <p:nvPr/>
        </p:nvSpPr>
        <p:spPr bwMode="auto">
          <a:xfrm>
            <a:off x="2238375" y="4810125"/>
            <a:ext cx="4619625" cy="323850"/>
          </a:xfrm>
          <a:prstGeom prst="rect">
            <a:avLst/>
          </a:prstGeom>
          <a:noFill/>
          <a:ln w="0">
            <a:noFill/>
            <a:prstDash val="solid"/>
          </a:ln>
        </p:spPr>
        <p:txBody>
          <a:bodyPr/>
          <a:lstStyle/>
          <a:p>
            <a:pPr algn="l">
              <a:buNone/>
              <a:defRPr sz="1900" b="1">
                <a:solidFill>
                  <a:srgbClr val="0B0F19"/>
                </a:solidFill>
              </a:defRPr>
            </a:pPr>
            <a:r>
              <a:rPr sz="1900" b="1">
                <a:solidFill>
                  <a:srgbClr val="0B0F19"/>
                </a:solidFill>
              </a:rPr>
              <a:t>Treat the other variable as a constant</a:t>
            </a:r>
            <a:endParaRPr/>
          </a:p>
        </p:txBody>
      </p:sp>
      <p:sp>
        <p:nvSpPr>
          <p:cNvPr id="2086023163" name="Oval 167515331"/>
          <p:cNvSpPr>
            <a:spLocks noGrp="1"/>
          </p:cNvSpPr>
          <p:nvPr/>
        </p:nvSpPr>
        <p:spPr bwMode="auto">
          <a:xfrm>
            <a:off x="7239000" y="4305300"/>
            <a:ext cx="552450" cy="552450"/>
          </a:xfrm>
          <a:prstGeom prst="ellipse">
            <a:avLst/>
          </a:prstGeom>
          <a:solidFill>
            <a:srgbClr val="DCFCE7"/>
          </a:solidFill>
          <a:ln w="14288">
            <a:solidFill>
              <a:srgbClr val="10B981"/>
            </a:solidFill>
            <a:prstDash val="solid"/>
          </a:ln>
        </p:spPr>
        <p:txBody>
          <a:bodyPr/>
          <a:lstStyle/>
          <a:p>
            <a:pPr algn="ctr">
              <a:buNone/>
              <a:defRPr sz="1950" b="1">
                <a:solidFill>
                  <a:srgbClr val="10B981"/>
                </a:solidFill>
              </a:defRPr>
            </a:pPr>
            <a:r>
              <a:rPr sz="1950" b="1">
                <a:solidFill>
                  <a:srgbClr val="10B981"/>
                </a:solidFill>
              </a:rPr>
              <a:t>3</a:t>
            </a:r>
            <a:endParaRPr/>
          </a:p>
        </p:txBody>
      </p:sp>
      <p:sp>
        <p:nvSpPr>
          <p:cNvPr id="574385921" name="Rectangle 324280658"/>
          <p:cNvSpPr>
            <a:spLocks noGrp="1"/>
          </p:cNvSpPr>
          <p:nvPr/>
        </p:nvSpPr>
        <p:spPr bwMode="auto">
          <a:xfrm>
            <a:off x="7953375" y="4400550"/>
            <a:ext cx="2857500" cy="323850"/>
          </a:xfrm>
          <a:prstGeom prst="rect">
            <a:avLst/>
          </a:prstGeom>
          <a:noFill/>
          <a:ln w="0">
            <a:noFill/>
            <a:prstDash val="solid"/>
          </a:ln>
        </p:spPr>
        <p:txBody>
          <a:bodyPr/>
          <a:lstStyle/>
          <a:p>
            <a:pPr algn="l">
              <a:buNone/>
              <a:defRPr sz="1900" b="1">
                <a:solidFill>
                  <a:srgbClr val="0B0F19"/>
                </a:solidFill>
              </a:defRPr>
            </a:pPr>
            <a:r>
              <a:rPr sz="1900" b="1">
                <a:solidFill>
                  <a:srgbClr val="0B0F19"/>
                </a:solidFill>
              </a:rPr>
              <a:t>Differentiate normally</a:t>
            </a:r>
            <a:endParaRPr/>
          </a:p>
        </p:txBody>
      </p:sp>
      <p:sp>
        <p:nvSpPr>
          <p:cNvPr id="1694638636" name="Rectangle 220100613"/>
          <p:cNvSpPr>
            <a:spLocks noGrp="1"/>
          </p:cNvSpPr>
          <p:nvPr/>
        </p:nvSpPr>
        <p:spPr bwMode="auto">
          <a:xfrm>
            <a:off x="2333625" y="5715000"/>
            <a:ext cx="7524750" cy="323850"/>
          </a:xfrm>
          <a:prstGeom prst="rect">
            <a:avLst/>
          </a:prstGeom>
          <a:noFill/>
          <a:ln w="0">
            <a:noFill/>
            <a:prstDash val="solid"/>
          </a:ln>
        </p:spPr>
        <p:txBody>
          <a:bodyPr/>
          <a:lstStyle/>
          <a:p>
            <a:pPr algn="ctr">
              <a:buNone/>
              <a:defRPr sz="2050" b="1">
                <a:solidFill>
                  <a:srgbClr val="2563EB"/>
                </a:solidFill>
              </a:defRPr>
            </a:pPr>
            <a:r>
              <a:rPr sz="2050" b="1">
                <a:solidFill>
                  <a:srgbClr val="2563EB"/>
                </a:solidFill>
              </a:rPr>
              <a:t>Partial derivative = slope with respect to one variable.</a:t>
            </a:r>
            <a:endParaRPr/>
          </a:p>
        </p:txBody>
      </p:sp>
      <p:sp>
        <p:nvSpPr>
          <p:cNvPr id="1992766975" name="Rectangle 1638243303"/>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11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30951573" name="Rectangle 914741475"/>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Gradient descent</a:t>
            </a:r>
            <a:endParaRPr/>
          </a:p>
        </p:txBody>
      </p:sp>
      <p:sp>
        <p:nvSpPr>
          <p:cNvPr id="1993401329" name="Rectangle 763526406"/>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Gradient descent changes w and b</a:t>
            </a:r>
            <a:endParaRPr/>
          </a:p>
        </p:txBody>
      </p:sp>
      <p:sp>
        <p:nvSpPr>
          <p:cNvPr id="1806337855" name="Rectangle: Rounded Corners 611293625"/>
          <p:cNvSpPr>
            <a:spLocks noGrp="1"/>
          </p:cNvSpPr>
          <p:nvPr/>
        </p:nvSpPr>
        <p:spPr bwMode="auto">
          <a:xfrm>
            <a:off x="591978" y="1553542"/>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pic>
        <p:nvPicPr>
          <p:cNvPr id="348746614" name="Picture 1922458406"/>
          <p:cNvPicPr>
            <a:picLocks noChangeAspect="1"/>
          </p:cNvPicPr>
          <p:nvPr/>
        </p:nvPicPr>
        <p:blipFill rotWithShape="1">
          <a:blip r:embed="rId3"/>
          <a:stretch/>
        </p:blipFill>
        <p:spPr bwMode="auto">
          <a:xfrm>
            <a:off x="1809750" y="1575006"/>
            <a:ext cx="8048625" cy="659987"/>
          </a:xfrm>
          <a:prstGeom prst="rect">
            <a:avLst/>
          </a:prstGeom>
        </p:spPr>
      </p:pic>
      <p:sp>
        <p:nvSpPr>
          <p:cNvPr id="1201496220" name="Straight Connector 1032169778"/>
          <p:cNvSpPr>
            <a:spLocks noGrp="1"/>
          </p:cNvSpPr>
          <p:nvPr/>
        </p:nvSpPr>
        <p:spPr bwMode="auto">
          <a:xfrm>
            <a:off x="1762125" y="5381625"/>
            <a:ext cx="7239000" cy="9525"/>
          </a:xfrm>
          <a:prstGeom prst="line">
            <a:avLst/>
          </a:prstGeom>
          <a:noFill/>
          <a:ln w="19050">
            <a:solidFill>
              <a:srgbClr val="94A3B8"/>
            </a:solidFill>
            <a:prstDash val="solid"/>
          </a:ln>
        </p:spPr>
        <p:txBody>
          <a:bodyPr/>
          <a:lstStyle/>
          <a:p>
            <a:pPr>
              <a:buNone/>
              <a:defRPr/>
            </a:pPr>
            <a:endParaRPr/>
          </a:p>
        </p:txBody>
      </p:sp>
      <p:sp>
        <p:nvSpPr>
          <p:cNvPr id="1693324739" name="Straight Connector 1768100698"/>
          <p:cNvSpPr>
            <a:spLocks noGrp="1"/>
          </p:cNvSpPr>
          <p:nvPr/>
        </p:nvSpPr>
        <p:spPr bwMode="auto">
          <a:xfrm>
            <a:off x="1762125" y="2524125"/>
            <a:ext cx="9525" cy="2857500"/>
          </a:xfrm>
          <a:prstGeom prst="line">
            <a:avLst/>
          </a:prstGeom>
          <a:noFill/>
          <a:ln w="19050">
            <a:solidFill>
              <a:srgbClr val="94A3B8"/>
            </a:solidFill>
            <a:prstDash val="solid"/>
          </a:ln>
        </p:spPr>
        <p:txBody>
          <a:bodyPr/>
          <a:lstStyle/>
          <a:p>
            <a:pPr>
              <a:buNone/>
              <a:defRPr/>
            </a:pPr>
            <a:endParaRPr/>
          </a:p>
        </p:txBody>
      </p:sp>
      <p:sp>
        <p:nvSpPr>
          <p:cNvPr id="1613969670" name="Rectangle 1922458400"/>
          <p:cNvSpPr>
            <a:spLocks noGrp="1"/>
          </p:cNvSpPr>
          <p:nvPr/>
        </p:nvSpPr>
        <p:spPr bwMode="auto">
          <a:xfrm>
            <a:off x="4714875" y="5619750"/>
            <a:ext cx="1524000" cy="2476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parameter</a:t>
            </a:r>
            <a:endParaRPr/>
          </a:p>
        </p:txBody>
      </p:sp>
      <p:sp>
        <p:nvSpPr>
          <p:cNvPr id="891346706" name="Rectangle 1402654062"/>
          <p:cNvSpPr>
            <a:spLocks noGrp="1"/>
          </p:cNvSpPr>
          <p:nvPr/>
        </p:nvSpPr>
        <p:spPr bwMode="auto">
          <a:xfrm>
            <a:off x="1190625" y="3619500"/>
            <a:ext cx="571500" cy="2476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MSE</a:t>
            </a:r>
            <a:endParaRPr/>
          </a:p>
        </p:txBody>
      </p:sp>
      <p:sp>
        <p:nvSpPr>
          <p:cNvPr id="338214033" name="Oval 1006697960"/>
          <p:cNvSpPr>
            <a:spLocks noGrp="1"/>
          </p:cNvSpPr>
          <p:nvPr/>
        </p:nvSpPr>
        <p:spPr bwMode="auto">
          <a:xfrm>
            <a:off x="7429500" y="4289362"/>
            <a:ext cx="247650" cy="247650"/>
          </a:xfrm>
          <a:prstGeom prst="ellipse">
            <a:avLst/>
          </a:prstGeom>
          <a:solidFill>
            <a:srgbClr val="EF4444"/>
          </a:solidFill>
          <a:ln w="19050">
            <a:solidFill>
              <a:srgbClr val="EF4444"/>
            </a:solidFill>
            <a:prstDash val="solid"/>
          </a:ln>
        </p:spPr>
        <p:txBody>
          <a:bodyPr/>
          <a:lstStyle/>
          <a:p>
            <a:pPr>
              <a:buNone/>
              <a:defRPr/>
            </a:pPr>
            <a:endParaRPr/>
          </a:p>
        </p:txBody>
      </p:sp>
      <p:sp>
        <p:nvSpPr>
          <p:cNvPr id="754609060" name="Straight Connector 772079832"/>
          <p:cNvSpPr>
            <a:spLocks noGrp="1"/>
          </p:cNvSpPr>
          <p:nvPr/>
        </p:nvSpPr>
        <p:spPr bwMode="auto">
          <a:xfrm flipV="1">
            <a:off x="6414849" y="3724072"/>
            <a:ext cx="2314813" cy="1410938"/>
          </a:xfrm>
          <a:prstGeom prst="line">
            <a:avLst/>
          </a:prstGeom>
          <a:noFill/>
          <a:ln w="19050">
            <a:solidFill>
              <a:srgbClr val="EF4444"/>
            </a:solidFill>
            <a:prstDash val="solid"/>
          </a:ln>
        </p:spPr>
        <p:txBody>
          <a:bodyPr/>
          <a:lstStyle/>
          <a:p>
            <a:pPr>
              <a:buNone/>
              <a:defRPr/>
            </a:pPr>
            <a:endParaRPr/>
          </a:p>
        </p:txBody>
      </p:sp>
      <p:sp>
        <p:nvSpPr>
          <p:cNvPr id="1285182329" name="Oval 1493081963"/>
          <p:cNvSpPr>
            <a:spLocks noGrp="1"/>
          </p:cNvSpPr>
          <p:nvPr/>
        </p:nvSpPr>
        <p:spPr bwMode="auto">
          <a:xfrm>
            <a:off x="6507480" y="4717034"/>
            <a:ext cx="209550" cy="209550"/>
          </a:xfrm>
          <a:prstGeom prst="ellipse">
            <a:avLst/>
          </a:prstGeom>
          <a:solidFill>
            <a:srgbClr val="F97316"/>
          </a:solidFill>
          <a:ln w="19050">
            <a:solidFill>
              <a:srgbClr val="F97316"/>
            </a:solidFill>
            <a:prstDash val="solid"/>
          </a:ln>
        </p:spPr>
        <p:txBody>
          <a:bodyPr/>
          <a:lstStyle/>
          <a:p>
            <a:pPr>
              <a:buNone/>
              <a:defRPr/>
            </a:pPr>
            <a:endParaRPr/>
          </a:p>
        </p:txBody>
      </p:sp>
      <p:sp>
        <p:nvSpPr>
          <p:cNvPr id="850837443" name="Oval 1125848367"/>
          <p:cNvSpPr>
            <a:spLocks noGrp="1"/>
          </p:cNvSpPr>
          <p:nvPr/>
        </p:nvSpPr>
        <p:spPr bwMode="auto">
          <a:xfrm>
            <a:off x="5783580" y="4870704"/>
            <a:ext cx="209550" cy="209550"/>
          </a:xfrm>
          <a:prstGeom prst="ellipse">
            <a:avLst/>
          </a:prstGeom>
          <a:solidFill>
            <a:srgbClr val="10B981"/>
          </a:solidFill>
          <a:ln w="19050">
            <a:solidFill>
              <a:srgbClr val="10B981"/>
            </a:solidFill>
            <a:prstDash val="solid"/>
          </a:ln>
        </p:spPr>
        <p:txBody>
          <a:bodyPr/>
          <a:lstStyle/>
          <a:p>
            <a:pPr>
              <a:buNone/>
              <a:defRPr/>
            </a:pPr>
            <a:endParaRPr/>
          </a:p>
        </p:txBody>
      </p:sp>
      <p:sp>
        <p:nvSpPr>
          <p:cNvPr id="1406901734" name="Rectangle 1431459787"/>
          <p:cNvSpPr>
            <a:spLocks noGrp="1"/>
          </p:cNvSpPr>
          <p:nvPr/>
        </p:nvSpPr>
        <p:spPr bwMode="auto">
          <a:xfrm>
            <a:off x="8458200" y="3560242"/>
            <a:ext cx="1619250" cy="266700"/>
          </a:xfrm>
          <a:prstGeom prst="rect">
            <a:avLst/>
          </a:prstGeom>
          <a:noFill/>
          <a:ln w="0">
            <a:noFill/>
            <a:prstDash val="solid"/>
          </a:ln>
        </p:spPr>
        <p:txBody>
          <a:bodyPr/>
          <a:lstStyle/>
          <a:p>
            <a:pPr algn="ctr">
              <a:buNone/>
              <a:defRPr sz="1650" b="1">
                <a:solidFill>
                  <a:srgbClr val="EF4444"/>
                </a:solidFill>
              </a:defRPr>
            </a:pPr>
            <a:r>
              <a:rPr sz="1650" b="1">
                <a:solidFill>
                  <a:srgbClr val="EF4444"/>
                </a:solidFill>
              </a:rPr>
              <a:t>tangent line</a:t>
            </a:r>
            <a:endParaRPr/>
          </a:p>
        </p:txBody>
      </p:sp>
      <p:sp>
        <p:nvSpPr>
          <p:cNvPr id="1583840720" name="Rectangle 551453139"/>
          <p:cNvSpPr>
            <a:spLocks noGrp="1"/>
          </p:cNvSpPr>
          <p:nvPr/>
        </p:nvSpPr>
        <p:spPr bwMode="auto">
          <a:xfrm>
            <a:off x="7477125" y="4762500"/>
            <a:ext cx="1524000" cy="285750"/>
          </a:xfrm>
          <a:prstGeom prst="rect">
            <a:avLst/>
          </a:prstGeom>
          <a:noFill/>
          <a:ln w="0">
            <a:noFill/>
            <a:prstDash val="solid"/>
          </a:ln>
        </p:spPr>
        <p:txBody>
          <a:bodyPr/>
          <a:lstStyle/>
          <a:p>
            <a:pPr algn="ctr">
              <a:buNone/>
              <a:defRPr sz="1750" b="1">
                <a:solidFill>
                  <a:srgbClr val="10B981"/>
                </a:solidFill>
              </a:defRPr>
            </a:pPr>
            <a:r>
              <a:rPr sz="1750" b="1">
                <a:solidFill>
                  <a:srgbClr val="10B981"/>
                </a:solidFill>
              </a:rPr>
              <a:t>lower MSE</a:t>
            </a:r>
            <a:endParaRPr/>
          </a:p>
        </p:txBody>
      </p:sp>
      <p:sp>
        <p:nvSpPr>
          <p:cNvPr id="430606868" name="Rectangle 138762784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12</a:t>
            </a:r>
            <a:endParaRPr/>
          </a:p>
        </p:txBody>
      </p:sp>
      <p:sp>
        <p:nvSpPr>
          <p:cNvPr id="1791888701" name="Straight Connector 1489075409"/>
          <p:cNvSpPr>
            <a:spLocks noGrp="1"/>
          </p:cNvSpPr>
          <p:nvPr/>
        </p:nvSpPr>
        <p:spPr bwMode="auto">
          <a:xfrm flipV="1">
            <a:off x="5568271" y="4471591"/>
            <a:ext cx="2486111" cy="670593"/>
          </a:xfrm>
          <a:prstGeom prst="line">
            <a:avLst/>
          </a:prstGeom>
          <a:noFill/>
          <a:ln w="19050">
            <a:solidFill>
              <a:srgbClr val="F97316"/>
            </a:solidFill>
            <a:prstDash val="solid"/>
          </a:ln>
        </p:spPr>
        <p:txBody>
          <a:bodyPr/>
          <a:lstStyle/>
          <a:p>
            <a:pPr>
              <a:buNone/>
              <a:defRPr/>
            </a:pPr>
            <a:endParaRPr/>
          </a:p>
        </p:txBody>
      </p:sp>
      <p:sp>
        <p:nvSpPr>
          <p:cNvPr id="60388060" name="Straight Connector 768615074"/>
          <p:cNvSpPr>
            <a:spLocks noGrp="1"/>
          </p:cNvSpPr>
          <p:nvPr/>
        </p:nvSpPr>
        <p:spPr bwMode="auto">
          <a:xfrm flipV="1">
            <a:off x="4440555" y="4831981"/>
            <a:ext cx="3076574" cy="276874"/>
          </a:xfrm>
          <a:prstGeom prst="line">
            <a:avLst/>
          </a:prstGeom>
          <a:noFill/>
          <a:ln w="19050">
            <a:solidFill>
              <a:srgbClr val="10B981"/>
            </a:solidFill>
            <a:prstDash val="solid"/>
          </a:ln>
        </p:spPr>
        <p:txBody>
          <a:bodyPr/>
          <a:lstStyle/>
          <a:p>
            <a:pPr>
              <a:buNone/>
              <a:defRPr/>
            </a:pPr>
            <a:endParaRPr/>
          </a:p>
        </p:txBody>
      </p:sp>
      <p:pic>
        <p:nvPicPr>
          <p:cNvPr id="1721503840" name="Graphic 1922458420"/>
          <p:cNvPicPr>
            <a:picLocks noChangeAspect="1"/>
          </p:cNvPicPr>
          <p:nvPr/>
        </p:nvPicPr>
        <p:blipFill rotWithShape="1">
          <a:blip r:embed="rId4">
            <a:extLst>
              <a:ext uri="{96DAC541-7B7A-43D3-8B79-37D633B846F1}">
                <asvg:svgBlip xmlns:asvg="http://schemas.microsoft.com/office/drawing/2016/SVG/main" r:embed="rId5"/>
              </a:ext>
            </a:extLst>
          </a:blip>
          <a:stretch/>
        </p:blipFill>
        <p:spPr bwMode="auto">
          <a:xfrm>
            <a:off x="0" y="0"/>
            <a:ext cx="12192000"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338344506" name="Rectangle 151304597"/>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Learning rate</a:t>
            </a:r>
            <a:endParaRPr/>
          </a:p>
        </p:txBody>
      </p:sp>
      <p:sp>
        <p:nvSpPr>
          <p:cNvPr id="967918934" name="Rectangle 17739617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Learning rate controls the step</a:t>
            </a:r>
            <a:endParaRPr/>
          </a:p>
        </p:txBody>
      </p:sp>
      <p:sp>
        <p:nvSpPr>
          <p:cNvPr id="940270322" name="Rectangle: Rounded Corners 96031841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466363372" name="Straight Connector 53979157"/>
          <p:cNvSpPr>
            <a:spLocks noGrp="1"/>
          </p:cNvSpPr>
          <p:nvPr/>
        </p:nvSpPr>
        <p:spPr bwMode="auto">
          <a:xfrm>
            <a:off x="1762125" y="5381625"/>
            <a:ext cx="7239000" cy="9525"/>
          </a:xfrm>
          <a:prstGeom prst="line">
            <a:avLst/>
          </a:prstGeom>
          <a:noFill/>
          <a:ln w="19050">
            <a:solidFill>
              <a:srgbClr val="94A3B8"/>
            </a:solidFill>
            <a:prstDash val="solid"/>
          </a:ln>
        </p:spPr>
        <p:txBody>
          <a:bodyPr/>
          <a:lstStyle/>
          <a:p>
            <a:pPr>
              <a:buNone/>
              <a:defRPr/>
            </a:pPr>
            <a:endParaRPr/>
          </a:p>
        </p:txBody>
      </p:sp>
      <p:sp>
        <p:nvSpPr>
          <p:cNvPr id="237576594" name="Straight Connector 627639122"/>
          <p:cNvSpPr>
            <a:spLocks noGrp="1"/>
          </p:cNvSpPr>
          <p:nvPr/>
        </p:nvSpPr>
        <p:spPr bwMode="auto">
          <a:xfrm>
            <a:off x="1762125" y="2524125"/>
            <a:ext cx="9525" cy="2857500"/>
          </a:xfrm>
          <a:prstGeom prst="line">
            <a:avLst/>
          </a:prstGeom>
          <a:noFill/>
          <a:ln w="19050">
            <a:solidFill>
              <a:srgbClr val="94A3B8"/>
            </a:solidFill>
            <a:prstDash val="solid"/>
          </a:ln>
        </p:spPr>
        <p:txBody>
          <a:bodyPr/>
          <a:lstStyle/>
          <a:p>
            <a:pPr>
              <a:buNone/>
              <a:defRPr/>
            </a:pPr>
            <a:endParaRPr/>
          </a:p>
        </p:txBody>
      </p:sp>
      <p:sp>
        <p:nvSpPr>
          <p:cNvPr id="268421609" name="Rectangle 466830898"/>
          <p:cNvSpPr>
            <a:spLocks noGrp="1"/>
          </p:cNvSpPr>
          <p:nvPr/>
        </p:nvSpPr>
        <p:spPr bwMode="auto">
          <a:xfrm>
            <a:off x="4714875" y="5619750"/>
            <a:ext cx="1524000" cy="2476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parameter</a:t>
            </a:r>
            <a:endParaRPr/>
          </a:p>
        </p:txBody>
      </p:sp>
      <p:sp>
        <p:nvSpPr>
          <p:cNvPr id="1979105418" name="Rectangle 1905295987"/>
          <p:cNvSpPr>
            <a:spLocks noGrp="1"/>
          </p:cNvSpPr>
          <p:nvPr/>
        </p:nvSpPr>
        <p:spPr bwMode="auto">
          <a:xfrm>
            <a:off x="1190625" y="3619500"/>
            <a:ext cx="571500" cy="2476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MSE</a:t>
            </a:r>
            <a:endParaRPr/>
          </a:p>
        </p:txBody>
      </p:sp>
      <p:sp>
        <p:nvSpPr>
          <p:cNvPr id="1402946016" name="Oval 917868853"/>
          <p:cNvSpPr>
            <a:spLocks noGrp="1"/>
          </p:cNvSpPr>
          <p:nvPr/>
        </p:nvSpPr>
        <p:spPr bwMode="auto">
          <a:xfrm>
            <a:off x="7574280" y="4205542"/>
            <a:ext cx="247650" cy="247650"/>
          </a:xfrm>
          <a:prstGeom prst="ellipse">
            <a:avLst/>
          </a:prstGeom>
          <a:solidFill>
            <a:srgbClr val="2563EB"/>
          </a:solidFill>
          <a:ln w="19050">
            <a:solidFill>
              <a:srgbClr val="2563EB"/>
            </a:solidFill>
            <a:prstDash val="solid"/>
          </a:ln>
        </p:spPr>
        <p:txBody>
          <a:bodyPr/>
          <a:lstStyle/>
          <a:p>
            <a:pPr>
              <a:buNone/>
              <a:defRPr/>
            </a:pPr>
            <a:endParaRPr/>
          </a:p>
        </p:txBody>
      </p:sp>
      <p:sp>
        <p:nvSpPr>
          <p:cNvPr id="1859135042" name="Oval 1147861544"/>
          <p:cNvSpPr>
            <a:spLocks noGrp="1"/>
          </p:cNvSpPr>
          <p:nvPr/>
        </p:nvSpPr>
        <p:spPr bwMode="auto">
          <a:xfrm>
            <a:off x="7313295" y="4396169"/>
            <a:ext cx="190500" cy="190500"/>
          </a:xfrm>
          <a:prstGeom prst="ellipse">
            <a:avLst/>
          </a:prstGeom>
          <a:solidFill>
            <a:srgbClr val="10B981"/>
          </a:solidFill>
          <a:ln w="19050">
            <a:solidFill>
              <a:srgbClr val="10B981"/>
            </a:solidFill>
            <a:prstDash val="solid"/>
          </a:ln>
        </p:spPr>
        <p:txBody>
          <a:bodyPr/>
          <a:lstStyle/>
          <a:p>
            <a:pPr>
              <a:buNone/>
              <a:defRPr/>
            </a:pPr>
            <a:endParaRPr/>
          </a:p>
        </p:txBody>
      </p:sp>
      <p:sp>
        <p:nvSpPr>
          <p:cNvPr id="2130716784" name="Oval 453648762"/>
          <p:cNvSpPr>
            <a:spLocks noGrp="1"/>
          </p:cNvSpPr>
          <p:nvPr/>
        </p:nvSpPr>
        <p:spPr bwMode="auto">
          <a:xfrm>
            <a:off x="6136005" y="4801807"/>
            <a:ext cx="228600" cy="228600"/>
          </a:xfrm>
          <a:prstGeom prst="ellipse">
            <a:avLst/>
          </a:prstGeom>
          <a:solidFill>
            <a:srgbClr val="F97316"/>
          </a:solidFill>
          <a:ln w="19050">
            <a:solidFill>
              <a:srgbClr val="F97316"/>
            </a:solidFill>
            <a:prstDash val="solid"/>
          </a:ln>
        </p:spPr>
        <p:txBody>
          <a:bodyPr/>
          <a:lstStyle/>
          <a:p>
            <a:pPr>
              <a:buNone/>
              <a:defRPr/>
            </a:pPr>
            <a:endParaRPr/>
          </a:p>
        </p:txBody>
      </p:sp>
      <p:sp>
        <p:nvSpPr>
          <p:cNvPr id="883779597" name="Oval 1758550888"/>
          <p:cNvSpPr>
            <a:spLocks noGrp="1"/>
          </p:cNvSpPr>
          <p:nvPr/>
        </p:nvSpPr>
        <p:spPr bwMode="auto">
          <a:xfrm>
            <a:off x="3819525" y="4578287"/>
            <a:ext cx="228600" cy="228600"/>
          </a:xfrm>
          <a:prstGeom prst="ellipse">
            <a:avLst/>
          </a:prstGeom>
          <a:solidFill>
            <a:srgbClr val="EF4444"/>
          </a:solidFill>
          <a:ln w="19050">
            <a:solidFill>
              <a:srgbClr val="EF4444"/>
            </a:solidFill>
            <a:prstDash val="solid"/>
          </a:ln>
        </p:spPr>
        <p:txBody>
          <a:bodyPr/>
          <a:lstStyle/>
          <a:p>
            <a:pPr>
              <a:buNone/>
              <a:defRPr/>
            </a:pPr>
            <a:endParaRPr/>
          </a:p>
        </p:txBody>
      </p:sp>
      <p:sp>
        <p:nvSpPr>
          <p:cNvPr id="24867536" name="Rectangle: Rounded Corners 1781569673"/>
          <p:cNvSpPr>
            <a:spLocks noGrp="1"/>
          </p:cNvSpPr>
          <p:nvPr/>
        </p:nvSpPr>
        <p:spPr bwMode="auto">
          <a:xfrm>
            <a:off x="9477375" y="2857500"/>
            <a:ext cx="1333500" cy="514350"/>
          </a:xfrm>
          <a:prstGeom prst="roundRect">
            <a:avLst>
              <a:gd name="adj" fmla="val 22222"/>
            </a:avLst>
          </a:prstGeom>
          <a:solidFill>
            <a:srgbClr val="DCFCE7"/>
          </a:solidFill>
          <a:ln w="14288">
            <a:solidFill>
              <a:srgbClr val="10B981"/>
            </a:solidFill>
            <a:prstDash val="solid"/>
          </a:ln>
        </p:spPr>
        <p:txBody>
          <a:bodyPr/>
          <a:lstStyle/>
          <a:p>
            <a:pPr algn="ctr">
              <a:buNone/>
              <a:defRPr sz="1750" b="1">
                <a:solidFill>
                  <a:srgbClr val="10B981"/>
                </a:solidFill>
              </a:defRPr>
            </a:pPr>
            <a:r>
              <a:rPr sz="1750" b="1">
                <a:solidFill>
                  <a:srgbClr val="10B981"/>
                </a:solidFill>
              </a:rPr>
              <a:t>small α</a:t>
            </a:r>
            <a:endParaRPr/>
          </a:p>
        </p:txBody>
      </p:sp>
      <p:sp>
        <p:nvSpPr>
          <p:cNvPr id="1489083100" name="Rectangle: Rounded Corners 140372676"/>
          <p:cNvSpPr>
            <a:spLocks noGrp="1"/>
          </p:cNvSpPr>
          <p:nvPr/>
        </p:nvSpPr>
        <p:spPr bwMode="auto">
          <a:xfrm>
            <a:off x="9477375" y="3571875"/>
            <a:ext cx="1333500" cy="514350"/>
          </a:xfrm>
          <a:prstGeom prst="roundRect">
            <a:avLst>
              <a:gd name="adj" fmla="val 22222"/>
            </a:avLst>
          </a:prstGeom>
          <a:solidFill>
            <a:srgbClr val="FEF3C7"/>
          </a:solidFill>
          <a:ln w="14288">
            <a:solidFill>
              <a:srgbClr val="F97316"/>
            </a:solidFill>
            <a:prstDash val="solid"/>
          </a:ln>
        </p:spPr>
        <p:txBody>
          <a:bodyPr/>
          <a:lstStyle/>
          <a:p>
            <a:pPr algn="ctr">
              <a:buNone/>
              <a:defRPr sz="1750" b="1">
                <a:solidFill>
                  <a:srgbClr val="F97316"/>
                </a:solidFill>
              </a:defRPr>
            </a:pPr>
            <a:r>
              <a:rPr sz="1750" b="1">
                <a:solidFill>
                  <a:srgbClr val="F97316"/>
                </a:solidFill>
              </a:rPr>
              <a:t>good α</a:t>
            </a:r>
            <a:endParaRPr/>
          </a:p>
        </p:txBody>
      </p:sp>
      <p:sp>
        <p:nvSpPr>
          <p:cNvPr id="572334751" name="Rectangle: Rounded Corners 457547252"/>
          <p:cNvSpPr>
            <a:spLocks noGrp="1"/>
          </p:cNvSpPr>
          <p:nvPr/>
        </p:nvSpPr>
        <p:spPr bwMode="auto">
          <a:xfrm>
            <a:off x="9477375" y="4286250"/>
            <a:ext cx="1333500" cy="514350"/>
          </a:xfrm>
          <a:prstGeom prst="roundRect">
            <a:avLst>
              <a:gd name="adj" fmla="val 22222"/>
            </a:avLst>
          </a:prstGeom>
          <a:solidFill>
            <a:srgbClr val="FEF2F2"/>
          </a:solidFill>
          <a:ln w="14288">
            <a:solidFill>
              <a:srgbClr val="EF4444"/>
            </a:solidFill>
            <a:prstDash val="solid"/>
          </a:ln>
        </p:spPr>
        <p:txBody>
          <a:bodyPr/>
          <a:lstStyle/>
          <a:p>
            <a:pPr algn="ctr">
              <a:buNone/>
              <a:defRPr sz="1750" b="1">
                <a:solidFill>
                  <a:srgbClr val="EF4444"/>
                </a:solidFill>
              </a:defRPr>
            </a:pPr>
            <a:r>
              <a:rPr sz="1750" b="1">
                <a:solidFill>
                  <a:srgbClr val="EF4444"/>
                </a:solidFill>
              </a:rPr>
              <a:t>too large</a:t>
            </a:r>
            <a:endParaRPr/>
          </a:p>
        </p:txBody>
      </p:sp>
      <p:sp>
        <p:nvSpPr>
          <p:cNvPr id="1269945903" name="Rectangle 126664147"/>
          <p:cNvSpPr>
            <a:spLocks noGrp="1"/>
          </p:cNvSpPr>
          <p:nvPr/>
        </p:nvSpPr>
        <p:spPr bwMode="auto">
          <a:xfrm>
            <a:off x="3048000" y="1733550"/>
            <a:ext cx="5334000" cy="381000"/>
          </a:xfrm>
          <a:prstGeom prst="rect">
            <a:avLst/>
          </a:prstGeom>
          <a:noFill/>
          <a:ln w="0">
            <a:noFill/>
            <a:prstDash val="solid"/>
          </a:ln>
        </p:spPr>
        <p:txBody>
          <a:bodyPr/>
          <a:lstStyle/>
          <a:p>
            <a:pPr algn="ctr">
              <a:buNone/>
              <a:defRPr sz="2400" b="1">
                <a:solidFill>
                  <a:srgbClr val="2563EB"/>
                </a:solidFill>
              </a:defRPr>
            </a:pPr>
            <a:r>
              <a:rPr sz="2400" b="1">
                <a:solidFill>
                  <a:srgbClr val="2563EB"/>
                </a:solidFill>
              </a:rPr>
              <a:t>α is the learning rate</a:t>
            </a:r>
            <a:endParaRPr/>
          </a:p>
        </p:txBody>
      </p:sp>
      <p:sp>
        <p:nvSpPr>
          <p:cNvPr id="584562170" name="Rectangle 638283189"/>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13</a:t>
            </a:r>
            <a:endParaRPr/>
          </a:p>
        </p:txBody>
      </p:sp>
      <p:pic>
        <p:nvPicPr>
          <p:cNvPr id="1472570165" name="Graphic 1905296005"/>
          <p:cNvPicPr>
            <a:picLocks noChangeAspect="1"/>
          </p:cNvPicPr>
          <p:nvPr/>
        </p:nvPicPr>
        <p:blipFill rotWithShape="1">
          <a:blip r:embed="rId3"/>
          <a:stretch/>
        </p:blipFill>
        <p:spPr bwMode="auto">
          <a:xfrm>
            <a:off x="0" y="0"/>
            <a:ext cx="12192000"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57966576" name="Rectangle 1072400785"/>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Line search</a:t>
            </a:r>
            <a:endParaRPr/>
          </a:p>
        </p:txBody>
      </p:sp>
      <p:sp>
        <p:nvSpPr>
          <p:cNvPr id="1681822453" name="Rectangle 1682929385"/>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Backtracking line search shrinks bad steps</a:t>
            </a:r>
            <a:endParaRPr/>
          </a:p>
        </p:txBody>
      </p:sp>
      <p:sp>
        <p:nvSpPr>
          <p:cNvPr id="1188703403" name="Rectangle: Rounded Corners 108031440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pic>
        <p:nvPicPr>
          <p:cNvPr id="1819901473" name="Picture 1957330896"/>
          <p:cNvPicPr>
            <a:picLocks noChangeAspect="1"/>
          </p:cNvPicPr>
          <p:nvPr/>
        </p:nvPicPr>
        <p:blipFill rotWithShape="1">
          <a:blip r:embed="rId3"/>
          <a:stretch/>
        </p:blipFill>
        <p:spPr bwMode="auto">
          <a:xfrm>
            <a:off x="1875096" y="1524000"/>
            <a:ext cx="7775058" cy="742950"/>
          </a:xfrm>
          <a:prstGeom prst="rect">
            <a:avLst/>
          </a:prstGeom>
        </p:spPr>
      </p:pic>
      <p:sp>
        <p:nvSpPr>
          <p:cNvPr id="720718756" name="Straight Connector 707499443"/>
          <p:cNvSpPr>
            <a:spLocks noGrp="1"/>
          </p:cNvSpPr>
          <p:nvPr/>
        </p:nvSpPr>
        <p:spPr bwMode="auto">
          <a:xfrm>
            <a:off x="1762125" y="5381625"/>
            <a:ext cx="7239000" cy="9525"/>
          </a:xfrm>
          <a:prstGeom prst="line">
            <a:avLst/>
          </a:prstGeom>
          <a:noFill/>
          <a:ln w="19050">
            <a:solidFill>
              <a:srgbClr val="94A3B8"/>
            </a:solidFill>
            <a:prstDash val="solid"/>
          </a:ln>
        </p:spPr>
        <p:txBody>
          <a:bodyPr/>
          <a:lstStyle/>
          <a:p>
            <a:pPr>
              <a:buNone/>
              <a:defRPr/>
            </a:pPr>
            <a:endParaRPr/>
          </a:p>
        </p:txBody>
      </p:sp>
      <p:sp>
        <p:nvSpPr>
          <p:cNvPr id="1958028694" name="Straight Connector 1076861610"/>
          <p:cNvSpPr>
            <a:spLocks noGrp="1"/>
          </p:cNvSpPr>
          <p:nvPr/>
        </p:nvSpPr>
        <p:spPr bwMode="auto">
          <a:xfrm>
            <a:off x="1762125" y="2524125"/>
            <a:ext cx="9525" cy="2857500"/>
          </a:xfrm>
          <a:prstGeom prst="line">
            <a:avLst/>
          </a:prstGeom>
          <a:noFill/>
          <a:ln w="19050">
            <a:solidFill>
              <a:srgbClr val="94A3B8"/>
            </a:solidFill>
            <a:prstDash val="solid"/>
          </a:ln>
        </p:spPr>
        <p:txBody>
          <a:bodyPr/>
          <a:lstStyle/>
          <a:p>
            <a:pPr>
              <a:buNone/>
              <a:defRPr/>
            </a:pPr>
            <a:endParaRPr/>
          </a:p>
        </p:txBody>
      </p:sp>
      <p:sp>
        <p:nvSpPr>
          <p:cNvPr id="1131275954" name="Rectangle 1618224149"/>
          <p:cNvSpPr>
            <a:spLocks noGrp="1"/>
          </p:cNvSpPr>
          <p:nvPr/>
        </p:nvSpPr>
        <p:spPr bwMode="auto">
          <a:xfrm>
            <a:off x="4714875" y="5619750"/>
            <a:ext cx="1524000" cy="2476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parameter</a:t>
            </a:r>
            <a:endParaRPr/>
          </a:p>
        </p:txBody>
      </p:sp>
      <p:sp>
        <p:nvSpPr>
          <p:cNvPr id="1899133105" name="Rectangle 1957330890"/>
          <p:cNvSpPr>
            <a:spLocks noGrp="1"/>
          </p:cNvSpPr>
          <p:nvPr/>
        </p:nvSpPr>
        <p:spPr bwMode="auto">
          <a:xfrm>
            <a:off x="1190625" y="3619500"/>
            <a:ext cx="571500" cy="2476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MSE</a:t>
            </a:r>
            <a:endParaRPr/>
          </a:p>
        </p:txBody>
      </p:sp>
      <p:sp>
        <p:nvSpPr>
          <p:cNvPr id="1797452044" name="Oval 1428842632"/>
          <p:cNvSpPr>
            <a:spLocks noGrp="1"/>
          </p:cNvSpPr>
          <p:nvPr/>
        </p:nvSpPr>
        <p:spPr bwMode="auto">
          <a:xfrm>
            <a:off x="7429500" y="4224121"/>
            <a:ext cx="247650" cy="247650"/>
          </a:xfrm>
          <a:prstGeom prst="ellipse">
            <a:avLst/>
          </a:prstGeom>
          <a:solidFill>
            <a:srgbClr val="2563EB"/>
          </a:solidFill>
          <a:ln w="19050">
            <a:solidFill>
              <a:srgbClr val="2563EB"/>
            </a:solidFill>
            <a:prstDash val="solid"/>
          </a:ln>
        </p:spPr>
        <p:txBody>
          <a:bodyPr/>
          <a:lstStyle/>
          <a:p>
            <a:pPr>
              <a:buNone/>
              <a:defRPr/>
            </a:pPr>
            <a:endParaRPr/>
          </a:p>
        </p:txBody>
      </p:sp>
      <p:sp>
        <p:nvSpPr>
          <p:cNvPr id="1648251549" name="Oval 94324771"/>
          <p:cNvSpPr>
            <a:spLocks noGrp="1"/>
          </p:cNvSpPr>
          <p:nvPr/>
        </p:nvSpPr>
        <p:spPr bwMode="auto">
          <a:xfrm>
            <a:off x="3529964" y="4449763"/>
            <a:ext cx="228600" cy="228600"/>
          </a:xfrm>
          <a:prstGeom prst="ellipse">
            <a:avLst/>
          </a:prstGeom>
          <a:solidFill>
            <a:srgbClr val="EF4444"/>
          </a:solidFill>
          <a:ln w="19050">
            <a:solidFill>
              <a:srgbClr val="EF4444"/>
            </a:solidFill>
            <a:prstDash val="solid"/>
          </a:ln>
        </p:spPr>
        <p:txBody>
          <a:bodyPr/>
          <a:lstStyle/>
          <a:p>
            <a:pPr>
              <a:buNone/>
              <a:defRPr/>
            </a:pPr>
            <a:endParaRPr/>
          </a:p>
        </p:txBody>
      </p:sp>
      <p:sp>
        <p:nvSpPr>
          <p:cNvPr id="1833921174" name="Oval 1474916117"/>
          <p:cNvSpPr>
            <a:spLocks noGrp="1"/>
          </p:cNvSpPr>
          <p:nvPr/>
        </p:nvSpPr>
        <p:spPr bwMode="auto">
          <a:xfrm>
            <a:off x="5774054" y="4861179"/>
            <a:ext cx="228600" cy="228600"/>
          </a:xfrm>
          <a:prstGeom prst="ellipse">
            <a:avLst/>
          </a:prstGeom>
          <a:solidFill>
            <a:srgbClr val="10B981"/>
          </a:solidFill>
          <a:ln w="19050">
            <a:solidFill>
              <a:srgbClr val="10B981"/>
            </a:solidFill>
            <a:prstDash val="solid"/>
          </a:ln>
        </p:spPr>
        <p:txBody>
          <a:bodyPr/>
          <a:lstStyle/>
          <a:p>
            <a:pPr>
              <a:buNone/>
              <a:defRPr/>
            </a:pPr>
            <a:endParaRPr/>
          </a:p>
        </p:txBody>
      </p:sp>
      <p:sp>
        <p:nvSpPr>
          <p:cNvPr id="191656332" name="Rectangle 1335518815"/>
          <p:cNvSpPr>
            <a:spLocks noGrp="1"/>
          </p:cNvSpPr>
          <p:nvPr/>
        </p:nvSpPr>
        <p:spPr bwMode="auto">
          <a:xfrm>
            <a:off x="3457575" y="4087813"/>
            <a:ext cx="1143000" cy="266700"/>
          </a:xfrm>
          <a:prstGeom prst="rect">
            <a:avLst/>
          </a:prstGeom>
          <a:noFill/>
          <a:ln w="0">
            <a:noFill/>
            <a:prstDash val="solid"/>
          </a:ln>
        </p:spPr>
        <p:txBody>
          <a:bodyPr/>
          <a:lstStyle/>
          <a:p>
            <a:pPr algn="ctr">
              <a:buNone/>
              <a:defRPr sz="1800" b="1">
                <a:solidFill>
                  <a:srgbClr val="EF4444"/>
                </a:solidFill>
              </a:defRPr>
            </a:pPr>
            <a:r>
              <a:rPr sz="1800" b="1">
                <a:solidFill>
                  <a:srgbClr val="EF4444"/>
                </a:solidFill>
              </a:rPr>
              <a:t>reject</a:t>
            </a:r>
            <a:endParaRPr/>
          </a:p>
        </p:txBody>
      </p:sp>
      <p:sp>
        <p:nvSpPr>
          <p:cNvPr id="654926464" name="Rectangle 971869567"/>
          <p:cNvSpPr>
            <a:spLocks noGrp="1"/>
          </p:cNvSpPr>
          <p:nvPr/>
        </p:nvSpPr>
        <p:spPr bwMode="auto">
          <a:xfrm>
            <a:off x="5476875" y="4435983"/>
            <a:ext cx="1143000" cy="266700"/>
          </a:xfrm>
          <a:prstGeom prst="rect">
            <a:avLst/>
          </a:prstGeom>
          <a:noFill/>
          <a:ln w="0">
            <a:noFill/>
            <a:prstDash val="solid"/>
          </a:ln>
        </p:spPr>
        <p:txBody>
          <a:bodyPr/>
          <a:lstStyle/>
          <a:p>
            <a:pPr algn="ctr">
              <a:buNone/>
              <a:defRPr sz="1800" b="1">
                <a:solidFill>
                  <a:srgbClr val="10B981"/>
                </a:solidFill>
              </a:defRPr>
            </a:pPr>
            <a:r>
              <a:rPr sz="1800" b="1">
                <a:solidFill>
                  <a:srgbClr val="10B981"/>
                </a:solidFill>
              </a:rPr>
              <a:t>accept</a:t>
            </a:r>
            <a:endParaRPr/>
          </a:p>
        </p:txBody>
      </p:sp>
      <p:sp>
        <p:nvSpPr>
          <p:cNvPr id="1353022447" name="Rectangle: Rounded Corners 76329123"/>
          <p:cNvSpPr>
            <a:spLocks noGrp="1"/>
          </p:cNvSpPr>
          <p:nvPr/>
        </p:nvSpPr>
        <p:spPr bwMode="auto">
          <a:xfrm>
            <a:off x="9477375" y="3619500"/>
            <a:ext cx="1381125" cy="590549"/>
          </a:xfrm>
          <a:prstGeom prst="roundRect">
            <a:avLst>
              <a:gd name="adj" fmla="val 19355"/>
            </a:avLst>
          </a:prstGeom>
          <a:solidFill>
            <a:srgbClr val="E0F2FE"/>
          </a:solidFill>
          <a:ln w="14288">
            <a:solidFill>
              <a:srgbClr val="2563EB"/>
            </a:solidFill>
            <a:prstDash val="solid"/>
          </a:ln>
        </p:spPr>
        <p:txBody>
          <a:bodyPr/>
          <a:lstStyle/>
          <a:p>
            <a:pPr algn="ctr">
              <a:buNone/>
              <a:defRPr sz="2050" b="1">
                <a:solidFill>
                  <a:srgbClr val="2563EB"/>
                </a:solidFill>
              </a:defRPr>
            </a:pPr>
            <a:r>
              <a:rPr sz="2050" b="1">
                <a:solidFill>
                  <a:srgbClr val="2563EB"/>
                </a:solidFill>
              </a:rPr>
              <a:t>α → α/2</a:t>
            </a:r>
            <a:endParaRPr/>
          </a:p>
        </p:txBody>
      </p:sp>
      <p:sp>
        <p:nvSpPr>
          <p:cNvPr id="1230744748" name="Rectangle 237806933"/>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14</a:t>
            </a:r>
            <a:endParaRPr/>
          </a:p>
        </p:txBody>
      </p:sp>
      <p:sp>
        <p:nvSpPr>
          <p:cNvPr id="1017329532" name="solid-loss-curve"/>
          <p:cNvSpPr>
            <a:spLocks noGrp="1"/>
          </p:cNvSpPr>
          <p:nvPr/>
        </p:nvSpPr>
        <p:spPr bwMode="auto">
          <a:xfrm>
            <a:off x="1752599" y="3143250"/>
            <a:ext cx="7258050" cy="1905000"/>
          </a:xfrm>
          <a:custGeom>
            <a:avLst/>
            <a:gdLst/>
            <a:ahLst/>
            <a:cxnLst/>
            <a:rect l="0" t="0" r="0" b="0"/>
            <a:pathLst>
              <a:path w="7258050" h="1905000" fill="norm" stroke="1" extrusionOk="0">
                <a:moveTo>
                  <a:pt x="0" y="22741"/>
                </a:moveTo>
                <a:lnTo>
                  <a:pt x="76200" y="98581"/>
                </a:lnTo>
                <a:lnTo>
                  <a:pt x="152400" y="172812"/>
                </a:lnTo>
                <a:lnTo>
                  <a:pt x="228600" y="245434"/>
                </a:lnTo>
                <a:lnTo>
                  <a:pt x="304800" y="316446"/>
                </a:lnTo>
                <a:lnTo>
                  <a:pt x="381000" y="385849"/>
                </a:lnTo>
                <a:lnTo>
                  <a:pt x="457200" y="453643"/>
                </a:lnTo>
                <a:lnTo>
                  <a:pt x="533400" y="519827"/>
                </a:lnTo>
                <a:lnTo>
                  <a:pt x="609600" y="584402"/>
                </a:lnTo>
                <a:lnTo>
                  <a:pt x="685800" y="647367"/>
                </a:lnTo>
                <a:lnTo>
                  <a:pt x="762000" y="708724"/>
                </a:lnTo>
                <a:lnTo>
                  <a:pt x="838200" y="768471"/>
                </a:lnTo>
                <a:lnTo>
                  <a:pt x="914400" y="826608"/>
                </a:lnTo>
                <a:lnTo>
                  <a:pt x="990600" y="883136"/>
                </a:lnTo>
                <a:lnTo>
                  <a:pt x="1066800" y="938055"/>
                </a:lnTo>
                <a:lnTo>
                  <a:pt x="1143000" y="991365"/>
                </a:lnTo>
                <a:lnTo>
                  <a:pt x="1219200" y="1043065"/>
                </a:lnTo>
                <a:lnTo>
                  <a:pt x="1295400" y="1093156"/>
                </a:lnTo>
                <a:lnTo>
                  <a:pt x="1371600" y="1141637"/>
                </a:lnTo>
                <a:lnTo>
                  <a:pt x="1447800" y="1188509"/>
                </a:lnTo>
                <a:lnTo>
                  <a:pt x="1524000" y="1233772"/>
                </a:lnTo>
                <a:lnTo>
                  <a:pt x="1600200" y="1277426"/>
                </a:lnTo>
                <a:lnTo>
                  <a:pt x="1676400" y="1319470"/>
                </a:lnTo>
                <a:lnTo>
                  <a:pt x="1752600" y="1359904"/>
                </a:lnTo>
                <a:lnTo>
                  <a:pt x="1828800" y="1398730"/>
                </a:lnTo>
                <a:lnTo>
                  <a:pt x="1905000" y="1435946"/>
                </a:lnTo>
                <a:lnTo>
                  <a:pt x="1981200" y="1471553"/>
                </a:lnTo>
                <a:lnTo>
                  <a:pt x="2057400" y="1505550"/>
                </a:lnTo>
                <a:lnTo>
                  <a:pt x="2133600" y="1537938"/>
                </a:lnTo>
                <a:lnTo>
                  <a:pt x="2209800" y="1568717"/>
                </a:lnTo>
                <a:lnTo>
                  <a:pt x="2286000" y="1597886"/>
                </a:lnTo>
                <a:lnTo>
                  <a:pt x="2362200" y="1625446"/>
                </a:lnTo>
                <a:lnTo>
                  <a:pt x="2438400" y="1651397"/>
                </a:lnTo>
                <a:lnTo>
                  <a:pt x="2514600" y="1675738"/>
                </a:lnTo>
                <a:lnTo>
                  <a:pt x="2590800" y="1698470"/>
                </a:lnTo>
                <a:lnTo>
                  <a:pt x="2667000" y="1719593"/>
                </a:lnTo>
                <a:lnTo>
                  <a:pt x="2743200" y="1739106"/>
                </a:lnTo>
                <a:lnTo>
                  <a:pt x="2819400" y="1757010"/>
                </a:lnTo>
                <a:lnTo>
                  <a:pt x="2895600" y="1773305"/>
                </a:lnTo>
                <a:lnTo>
                  <a:pt x="2971800" y="1787990"/>
                </a:lnTo>
                <a:lnTo>
                  <a:pt x="3048000" y="1801066"/>
                </a:lnTo>
                <a:lnTo>
                  <a:pt x="3124200" y="1812532"/>
                </a:lnTo>
                <a:lnTo>
                  <a:pt x="3200400" y="1822390"/>
                </a:lnTo>
                <a:lnTo>
                  <a:pt x="3276600" y="1830638"/>
                </a:lnTo>
                <a:lnTo>
                  <a:pt x="3352800" y="1837276"/>
                </a:lnTo>
                <a:lnTo>
                  <a:pt x="3429000" y="1842305"/>
                </a:lnTo>
                <a:lnTo>
                  <a:pt x="3505200" y="1845725"/>
                </a:lnTo>
                <a:lnTo>
                  <a:pt x="3581400" y="1847536"/>
                </a:lnTo>
                <a:lnTo>
                  <a:pt x="3657600" y="1847737"/>
                </a:lnTo>
                <a:lnTo>
                  <a:pt x="3733800" y="1846329"/>
                </a:lnTo>
                <a:lnTo>
                  <a:pt x="3810000" y="1843311"/>
                </a:lnTo>
                <a:lnTo>
                  <a:pt x="3886200" y="1838684"/>
                </a:lnTo>
                <a:lnTo>
                  <a:pt x="3962400" y="1832448"/>
                </a:lnTo>
                <a:lnTo>
                  <a:pt x="4038600" y="1824603"/>
                </a:lnTo>
                <a:lnTo>
                  <a:pt x="4114800" y="1815148"/>
                </a:lnTo>
                <a:lnTo>
                  <a:pt x="4191000" y="1804083"/>
                </a:lnTo>
                <a:lnTo>
                  <a:pt x="4267200" y="1791410"/>
                </a:lnTo>
                <a:lnTo>
                  <a:pt x="4343400" y="1777127"/>
                </a:lnTo>
                <a:lnTo>
                  <a:pt x="4419600" y="1761235"/>
                </a:lnTo>
                <a:lnTo>
                  <a:pt x="4495800" y="1743733"/>
                </a:lnTo>
                <a:lnTo>
                  <a:pt x="4572000" y="1724622"/>
                </a:lnTo>
                <a:lnTo>
                  <a:pt x="4648200" y="1703902"/>
                </a:lnTo>
                <a:lnTo>
                  <a:pt x="4724400" y="1681572"/>
                </a:lnTo>
                <a:lnTo>
                  <a:pt x="4800600" y="1657633"/>
                </a:lnTo>
                <a:lnTo>
                  <a:pt x="4876800" y="1632085"/>
                </a:lnTo>
                <a:lnTo>
                  <a:pt x="4953000" y="1604927"/>
                </a:lnTo>
                <a:lnTo>
                  <a:pt x="5029200" y="1576160"/>
                </a:lnTo>
                <a:lnTo>
                  <a:pt x="5105400" y="1545784"/>
                </a:lnTo>
                <a:lnTo>
                  <a:pt x="5181600" y="1513798"/>
                </a:lnTo>
                <a:lnTo>
                  <a:pt x="5257800" y="1480203"/>
                </a:lnTo>
                <a:lnTo>
                  <a:pt x="5334000" y="1444999"/>
                </a:lnTo>
                <a:lnTo>
                  <a:pt x="5410200" y="1408185"/>
                </a:lnTo>
                <a:lnTo>
                  <a:pt x="5486400" y="1369762"/>
                </a:lnTo>
                <a:lnTo>
                  <a:pt x="5562600" y="1329729"/>
                </a:lnTo>
                <a:lnTo>
                  <a:pt x="5638800" y="1288087"/>
                </a:lnTo>
                <a:lnTo>
                  <a:pt x="5715000" y="1244836"/>
                </a:lnTo>
                <a:lnTo>
                  <a:pt x="5791200" y="1199976"/>
                </a:lnTo>
                <a:lnTo>
                  <a:pt x="5867400" y="1153506"/>
                </a:lnTo>
                <a:lnTo>
                  <a:pt x="5943600" y="1105427"/>
                </a:lnTo>
                <a:lnTo>
                  <a:pt x="6019800" y="1055738"/>
                </a:lnTo>
                <a:lnTo>
                  <a:pt x="6096000" y="1004441"/>
                </a:lnTo>
                <a:lnTo>
                  <a:pt x="6172200" y="951533"/>
                </a:lnTo>
                <a:lnTo>
                  <a:pt x="6248400" y="897017"/>
                </a:lnTo>
                <a:lnTo>
                  <a:pt x="6324600" y="840891"/>
                </a:lnTo>
                <a:lnTo>
                  <a:pt x="6400800" y="783156"/>
                </a:lnTo>
                <a:lnTo>
                  <a:pt x="6477000" y="723811"/>
                </a:lnTo>
                <a:lnTo>
                  <a:pt x="6553200" y="662857"/>
                </a:lnTo>
                <a:lnTo>
                  <a:pt x="6629400" y="600294"/>
                </a:lnTo>
                <a:lnTo>
                  <a:pt x="6705600" y="536121"/>
                </a:lnTo>
                <a:lnTo>
                  <a:pt x="6781800" y="470340"/>
                </a:lnTo>
                <a:lnTo>
                  <a:pt x="6858000" y="402948"/>
                </a:lnTo>
                <a:lnTo>
                  <a:pt x="6934200" y="333948"/>
                </a:lnTo>
                <a:lnTo>
                  <a:pt x="7010400" y="263338"/>
                </a:lnTo>
                <a:lnTo>
                  <a:pt x="7086600" y="191118"/>
                </a:lnTo>
                <a:lnTo>
                  <a:pt x="7162800" y="117290"/>
                </a:lnTo>
                <a:lnTo>
                  <a:pt x="7239000" y="41852"/>
                </a:lnTo>
              </a:path>
            </a:pathLst>
          </a:custGeom>
          <a:noFill/>
          <a:ln w="38100">
            <a:solidFill>
              <a:srgbClr val="2563EB"/>
            </a:solidFill>
            <a:prstDash val="solid"/>
          </a:ln>
        </p:spPr>
        <p:txBody>
          <a:bodyPr/>
          <a:lstStyle/>
          <a:p>
            <a:pPr>
              <a:buNone/>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67479650"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Optimization</a:t>
            </a:r>
            <a:endParaRPr/>
          </a:p>
        </p:txBody>
      </p:sp>
      <p:sp>
        <p:nvSpPr>
          <p:cNvPr id="919668944" name="Rectangle 251777344"/>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Annealing reduces randomness over time</a:t>
            </a:r>
            <a:endParaRPr/>
          </a:p>
        </p:txBody>
      </p:sp>
      <p:sp>
        <p:nvSpPr>
          <p:cNvPr id="1071402784" name="Rectangle: Rounded Corners 1456392341"/>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buNone/>
              <a:defRPr/>
            </a:pPr>
            <a:endParaRPr/>
          </a:p>
        </p:txBody>
      </p:sp>
      <p:sp>
        <p:nvSpPr>
          <p:cNvPr id="904162383" name="Rectangle 615225220"/>
          <p:cNvSpPr>
            <a:spLocks noGrp="1"/>
          </p:cNvSpPr>
          <p:nvPr/>
        </p:nvSpPr>
        <p:spPr bwMode="auto">
          <a:xfrm>
            <a:off x="1257300" y="2095500"/>
            <a:ext cx="2095500" cy="285750"/>
          </a:xfrm>
          <a:prstGeom prst="rect">
            <a:avLst/>
          </a:prstGeom>
          <a:noFill/>
          <a:ln w="0">
            <a:noFill/>
            <a:prstDash val="solid"/>
          </a:ln>
        </p:spPr>
        <p:txBody>
          <a:bodyPr/>
          <a:lstStyle/>
          <a:p>
            <a:pPr algn="l">
              <a:buNone/>
              <a:defRPr sz="1800" b="1">
                <a:solidFill>
                  <a:srgbClr val="FFFFFF"/>
                </a:solidFill>
              </a:defRPr>
            </a:pPr>
            <a:r>
              <a:rPr sz="1800" b="1">
                <a:solidFill>
                  <a:srgbClr val="FFFFFF"/>
                </a:solidFill>
              </a:rPr>
              <a:t>loss landscape</a:t>
            </a:r>
            <a:endParaRPr/>
          </a:p>
        </p:txBody>
      </p:sp>
      <p:sp>
        <p:nvSpPr>
          <p:cNvPr id="1250173000" name="Rectangle: Rounded Corners 1987074982"/>
          <p:cNvSpPr>
            <a:spLocks noGrp="1"/>
          </p:cNvSpPr>
          <p:nvPr/>
        </p:nvSpPr>
        <p:spPr bwMode="auto">
          <a:xfrm>
            <a:off x="7867649" y="2000250"/>
            <a:ext cx="3200400" cy="3086100"/>
          </a:xfrm>
          <a:prstGeom prst="roundRect">
            <a:avLst>
              <a:gd name="adj" fmla="val 3704"/>
            </a:avLst>
          </a:prstGeom>
          <a:solidFill>
            <a:srgbClr val="FFFFFF"/>
          </a:solidFill>
          <a:ln w="14288">
            <a:solidFill>
              <a:srgbClr val="E2E8F0"/>
            </a:solidFill>
            <a:prstDash val="solid"/>
          </a:ln>
        </p:spPr>
        <p:txBody>
          <a:bodyPr/>
          <a:lstStyle/>
          <a:p>
            <a:pPr>
              <a:buNone/>
              <a:defRPr/>
            </a:pPr>
            <a:endParaRPr/>
          </a:p>
        </p:txBody>
      </p:sp>
      <p:sp>
        <p:nvSpPr>
          <p:cNvPr id="620298900" name="Rectangle 1286956634"/>
          <p:cNvSpPr>
            <a:spLocks noGrp="1"/>
          </p:cNvSpPr>
          <p:nvPr/>
        </p:nvSpPr>
        <p:spPr bwMode="auto">
          <a:xfrm>
            <a:off x="8153399" y="2286000"/>
            <a:ext cx="1809750" cy="285750"/>
          </a:xfrm>
          <a:prstGeom prst="rect">
            <a:avLst/>
          </a:prstGeom>
          <a:noFill/>
          <a:ln w="0">
            <a:noFill/>
            <a:prstDash val="solid"/>
          </a:ln>
        </p:spPr>
        <p:txBody>
          <a:bodyPr/>
          <a:lstStyle/>
          <a:p>
            <a:pPr algn="l">
              <a:buNone/>
              <a:defRPr sz="1900" b="1">
                <a:solidFill>
                  <a:srgbClr val="0B0F19"/>
                </a:solidFill>
              </a:defRPr>
            </a:pPr>
            <a:r>
              <a:rPr sz="1900" b="1">
                <a:solidFill>
                  <a:srgbClr val="0B0F19"/>
                </a:solidFill>
              </a:rPr>
              <a:t>annealing</a:t>
            </a:r>
            <a:endParaRPr/>
          </a:p>
        </p:txBody>
      </p:sp>
      <p:sp>
        <p:nvSpPr>
          <p:cNvPr id="1633799962" name="Rectangle 399762638"/>
          <p:cNvSpPr>
            <a:spLocks noGrp="1"/>
          </p:cNvSpPr>
          <p:nvPr/>
        </p:nvSpPr>
        <p:spPr bwMode="auto">
          <a:xfrm>
            <a:off x="8153399" y="2628900"/>
            <a:ext cx="2381250" cy="228600"/>
          </a:xfrm>
          <a:prstGeom prst="rect">
            <a:avLst/>
          </a:prstGeom>
          <a:noFill/>
          <a:ln w="0">
            <a:noFill/>
            <a:prstDash val="solid"/>
          </a:ln>
        </p:spPr>
        <p:txBody>
          <a:bodyPr/>
          <a:lstStyle/>
          <a:p>
            <a:pPr algn="l">
              <a:buNone/>
              <a:defRPr sz="1300" b="0">
                <a:solidFill>
                  <a:srgbClr val="667085"/>
                </a:solidFill>
              </a:defRPr>
            </a:pPr>
            <a:r>
              <a:rPr sz="1300" b="0">
                <a:solidFill>
                  <a:srgbClr val="667085"/>
                </a:solidFill>
              </a:rPr>
              <a:t>temperature / learning rate</a:t>
            </a:r>
            <a:endParaRPr/>
          </a:p>
        </p:txBody>
      </p:sp>
      <p:sp>
        <p:nvSpPr>
          <p:cNvPr id="1392117762" name="Straight Connector 1664744869"/>
          <p:cNvSpPr>
            <a:spLocks noGrp="1"/>
          </p:cNvSpPr>
          <p:nvPr/>
        </p:nvSpPr>
        <p:spPr bwMode="auto">
          <a:xfrm>
            <a:off x="8420100" y="3067050"/>
            <a:ext cx="9525" cy="1295400"/>
          </a:xfrm>
          <a:prstGeom prst="line">
            <a:avLst/>
          </a:prstGeom>
          <a:noFill/>
          <a:ln w="19050">
            <a:solidFill>
              <a:srgbClr val="94A3B8"/>
            </a:solidFill>
            <a:prstDash val="solid"/>
          </a:ln>
        </p:spPr>
        <p:txBody>
          <a:bodyPr/>
          <a:lstStyle/>
          <a:p>
            <a:pPr>
              <a:buNone/>
              <a:defRPr/>
            </a:pPr>
            <a:endParaRPr/>
          </a:p>
        </p:txBody>
      </p:sp>
      <p:sp>
        <p:nvSpPr>
          <p:cNvPr id="489526971" name="Straight Connector 598323690"/>
          <p:cNvSpPr>
            <a:spLocks noGrp="1"/>
          </p:cNvSpPr>
          <p:nvPr/>
        </p:nvSpPr>
        <p:spPr bwMode="auto">
          <a:xfrm>
            <a:off x="8420100" y="4362450"/>
            <a:ext cx="2228850" cy="9525"/>
          </a:xfrm>
          <a:prstGeom prst="line">
            <a:avLst/>
          </a:prstGeom>
          <a:noFill/>
          <a:ln w="19050">
            <a:solidFill>
              <a:srgbClr val="94A3B8"/>
            </a:solidFill>
            <a:prstDash val="solid"/>
          </a:ln>
        </p:spPr>
        <p:txBody>
          <a:bodyPr/>
          <a:lstStyle/>
          <a:p>
            <a:pPr>
              <a:buNone/>
              <a:defRPr/>
            </a:pPr>
            <a:endParaRPr/>
          </a:p>
        </p:txBody>
      </p:sp>
      <p:sp>
        <p:nvSpPr>
          <p:cNvPr id="190446037" name="Rectangle 1233632033"/>
          <p:cNvSpPr>
            <a:spLocks noGrp="1"/>
          </p:cNvSpPr>
          <p:nvPr/>
        </p:nvSpPr>
        <p:spPr bwMode="auto">
          <a:xfrm>
            <a:off x="7981950" y="2971800"/>
            <a:ext cx="476250" cy="209550"/>
          </a:xfrm>
          <a:prstGeom prst="rect">
            <a:avLst/>
          </a:prstGeom>
          <a:noFill/>
          <a:ln w="0">
            <a:noFill/>
            <a:prstDash val="solid"/>
          </a:ln>
        </p:spPr>
        <p:txBody>
          <a:bodyPr/>
          <a:lstStyle/>
          <a:p>
            <a:pPr algn="r">
              <a:buNone/>
              <a:defRPr sz="1150" b="0">
                <a:solidFill>
                  <a:srgbClr val="667085"/>
                </a:solidFill>
              </a:defRPr>
            </a:pPr>
            <a:r>
              <a:rPr sz="1150" b="0">
                <a:solidFill>
                  <a:srgbClr val="667085"/>
                </a:solidFill>
              </a:rPr>
              <a:t>high</a:t>
            </a:r>
            <a:endParaRPr/>
          </a:p>
        </p:txBody>
      </p:sp>
      <p:sp>
        <p:nvSpPr>
          <p:cNvPr id="1825264556" name="Rectangle 987778106"/>
          <p:cNvSpPr>
            <a:spLocks noGrp="1"/>
          </p:cNvSpPr>
          <p:nvPr/>
        </p:nvSpPr>
        <p:spPr bwMode="auto">
          <a:xfrm>
            <a:off x="7981950" y="4248150"/>
            <a:ext cx="476250" cy="209550"/>
          </a:xfrm>
          <a:prstGeom prst="rect">
            <a:avLst/>
          </a:prstGeom>
          <a:noFill/>
          <a:ln w="0">
            <a:noFill/>
            <a:prstDash val="solid"/>
          </a:ln>
        </p:spPr>
        <p:txBody>
          <a:bodyPr/>
          <a:lstStyle/>
          <a:p>
            <a:pPr algn="r">
              <a:buNone/>
              <a:defRPr sz="1150" b="0">
                <a:solidFill>
                  <a:srgbClr val="667085"/>
                </a:solidFill>
              </a:defRPr>
            </a:pPr>
            <a:r>
              <a:rPr sz="1150" b="0">
                <a:solidFill>
                  <a:srgbClr val="667085"/>
                </a:solidFill>
              </a:rPr>
              <a:t>low</a:t>
            </a:r>
            <a:endParaRPr/>
          </a:p>
        </p:txBody>
      </p:sp>
      <p:sp>
        <p:nvSpPr>
          <p:cNvPr id="486089522" name="Rectangle 1454394643"/>
          <p:cNvSpPr>
            <a:spLocks noGrp="1"/>
          </p:cNvSpPr>
          <p:nvPr/>
        </p:nvSpPr>
        <p:spPr bwMode="auto">
          <a:xfrm>
            <a:off x="9144000" y="4610100"/>
            <a:ext cx="762000" cy="20955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time</a:t>
            </a:r>
            <a:endParaRPr/>
          </a:p>
        </p:txBody>
      </p:sp>
      <p:sp>
        <p:nvSpPr>
          <p:cNvPr id="1985126090" name="Oval 1043049251"/>
          <p:cNvSpPr>
            <a:spLocks noGrp="1"/>
          </p:cNvSpPr>
          <p:nvPr/>
        </p:nvSpPr>
        <p:spPr bwMode="auto">
          <a:xfrm>
            <a:off x="8605838" y="3271838"/>
            <a:ext cx="161925" cy="161925"/>
          </a:xfrm>
          <a:prstGeom prst="ellipse">
            <a:avLst/>
          </a:prstGeom>
          <a:solidFill>
            <a:srgbClr val="F97316"/>
          </a:solidFill>
          <a:ln w="9525">
            <a:solidFill>
              <a:srgbClr val="F97316"/>
            </a:solidFill>
            <a:prstDash val="solid"/>
          </a:ln>
        </p:spPr>
        <p:txBody>
          <a:bodyPr/>
          <a:lstStyle/>
          <a:p>
            <a:pPr>
              <a:buNone/>
              <a:defRPr/>
            </a:pPr>
            <a:endParaRPr/>
          </a:p>
        </p:txBody>
      </p:sp>
      <p:sp>
        <p:nvSpPr>
          <p:cNvPr id="1592171593" name="Oval 103022139"/>
          <p:cNvSpPr>
            <a:spLocks noGrp="1"/>
          </p:cNvSpPr>
          <p:nvPr/>
        </p:nvSpPr>
        <p:spPr bwMode="auto">
          <a:xfrm>
            <a:off x="10358438" y="4167187"/>
            <a:ext cx="161925" cy="161925"/>
          </a:xfrm>
          <a:prstGeom prst="ellipse">
            <a:avLst/>
          </a:prstGeom>
          <a:solidFill>
            <a:srgbClr val="10B981"/>
          </a:solidFill>
          <a:ln w="9525">
            <a:solidFill>
              <a:srgbClr val="10B981"/>
            </a:solidFill>
            <a:prstDash val="solid"/>
          </a:ln>
        </p:spPr>
        <p:txBody>
          <a:bodyPr/>
          <a:lstStyle/>
          <a:p>
            <a:pPr>
              <a:buNone/>
              <a:defRPr/>
            </a:pPr>
            <a:endParaRPr/>
          </a:p>
        </p:txBody>
      </p:sp>
      <p:sp>
        <p:nvSpPr>
          <p:cNvPr id="29502363" name="Rectangle 1601714725"/>
          <p:cNvSpPr>
            <a:spLocks noGrp="1"/>
          </p:cNvSpPr>
          <p:nvPr/>
        </p:nvSpPr>
        <p:spPr bwMode="auto">
          <a:xfrm>
            <a:off x="8534400" y="4514850"/>
            <a:ext cx="857250" cy="247650"/>
          </a:xfrm>
          <a:prstGeom prst="rect">
            <a:avLst/>
          </a:prstGeom>
          <a:noFill/>
          <a:ln w="0">
            <a:noFill/>
            <a:prstDash val="solid"/>
          </a:ln>
        </p:spPr>
        <p:txBody>
          <a:bodyPr/>
          <a:lstStyle/>
          <a:p>
            <a:pPr algn="ctr">
              <a:buNone/>
              <a:defRPr sz="1450" b="1">
                <a:solidFill>
                  <a:srgbClr val="F97316"/>
                </a:solidFill>
              </a:defRPr>
            </a:pPr>
            <a:r>
              <a:rPr sz="1450" b="1">
                <a:solidFill>
                  <a:srgbClr val="F97316"/>
                </a:solidFill>
              </a:rPr>
              <a:t>explore</a:t>
            </a:r>
            <a:endParaRPr/>
          </a:p>
        </p:txBody>
      </p:sp>
      <p:sp>
        <p:nvSpPr>
          <p:cNvPr id="2062745226" name="Rectangle 1242132362"/>
          <p:cNvSpPr>
            <a:spLocks noGrp="1"/>
          </p:cNvSpPr>
          <p:nvPr/>
        </p:nvSpPr>
        <p:spPr bwMode="auto">
          <a:xfrm>
            <a:off x="9867900" y="4514850"/>
            <a:ext cx="762000" cy="247650"/>
          </a:xfrm>
          <a:prstGeom prst="rect">
            <a:avLst/>
          </a:prstGeom>
          <a:noFill/>
          <a:ln w="0">
            <a:noFill/>
            <a:prstDash val="solid"/>
          </a:ln>
        </p:spPr>
        <p:txBody>
          <a:bodyPr/>
          <a:lstStyle/>
          <a:p>
            <a:pPr algn="ctr">
              <a:buNone/>
              <a:defRPr sz="1450" b="1">
                <a:solidFill>
                  <a:srgbClr val="10B981"/>
                </a:solidFill>
              </a:defRPr>
            </a:pPr>
            <a:r>
              <a:rPr sz="1450" b="1">
                <a:solidFill>
                  <a:srgbClr val="10B981"/>
                </a:solidFill>
              </a:rPr>
              <a:t>settle</a:t>
            </a:r>
            <a:endParaRPr/>
          </a:p>
        </p:txBody>
      </p:sp>
      <p:sp>
        <p:nvSpPr>
          <p:cNvPr id="1922660421" name="Rectangle 2132047703"/>
          <p:cNvSpPr>
            <a:spLocks noGrp="1"/>
          </p:cNvSpPr>
          <p:nvPr/>
        </p:nvSpPr>
        <p:spPr bwMode="auto">
          <a:xfrm>
            <a:off x="2914650" y="5429250"/>
            <a:ext cx="6477000" cy="323850"/>
          </a:xfrm>
          <a:prstGeom prst="rect">
            <a:avLst/>
          </a:prstGeom>
          <a:noFill/>
          <a:ln w="0">
            <a:noFill/>
            <a:prstDash val="solid"/>
          </a:ln>
        </p:spPr>
        <p:txBody>
          <a:bodyPr/>
          <a:lstStyle/>
          <a:p>
            <a:pPr algn="ctr">
              <a:buNone/>
              <a:defRPr sz="1950" b="1">
                <a:solidFill>
                  <a:srgbClr val="0B0F19"/>
                </a:solidFill>
              </a:defRPr>
            </a:pPr>
            <a:r>
              <a:rPr sz="1950" b="1">
                <a:solidFill>
                  <a:srgbClr val="0B0F19"/>
                </a:solidFill>
              </a:rPr>
              <a:t>early search is wide; later updates become stable</a:t>
            </a:r>
            <a:endParaRPr/>
          </a:p>
        </p:txBody>
      </p:sp>
      <p:sp>
        <p:nvSpPr>
          <p:cNvPr id="1961178202"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15</a:t>
            </a:r>
            <a:endParaRPr/>
          </a:p>
        </p:txBody>
      </p:sp>
      <p:pic>
        <p:nvPicPr>
          <p:cNvPr id="840639073" name="Picture 2132047724"/>
          <p:cNvPicPr>
            <a:picLocks noChangeAspect="1"/>
          </p:cNvPicPr>
          <p:nvPr/>
        </p:nvPicPr>
        <p:blipFill rotWithShape="1">
          <a:blip r:embed="rId3"/>
          <a:stretch/>
        </p:blipFill>
        <p:spPr bwMode="auto">
          <a:xfrm>
            <a:off x="1066800" y="1962150"/>
            <a:ext cx="6362700" cy="3200400"/>
          </a:xfrm>
          <a:prstGeom prst="rect">
            <a:avLst/>
          </a:prstGeom>
        </p:spPr>
      </p:pic>
      <p:pic>
        <p:nvPicPr>
          <p:cNvPr id="1467090370" name="Graphic 2132047725"/>
          <p:cNvPicPr>
            <a:picLocks noChangeAspect="1"/>
          </p:cNvPicPr>
          <p:nvPr/>
        </p:nvPicPr>
        <p:blipFill rotWithShape="1">
          <a:blip r:embed="rId4">
            <a:extLst>
              <a:ext uri="{96DAC541-7B7A-43D3-8B79-37D633B846F1}">
                <asvg:svgBlip xmlns:asvg="http://schemas.microsoft.com/office/drawing/2016/SVG/main" r:embed="rId5"/>
              </a:ext>
            </a:extLst>
          </a:blip>
          <a:stretch/>
        </p:blipFill>
        <p:spPr bwMode="auto">
          <a:xfrm>
            <a:off x="0" y="0"/>
            <a:ext cx="12192000"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82441477" name="Rectangle 54971231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Neural networks</a:t>
            </a:r>
            <a:endParaRPr/>
          </a:p>
        </p:txBody>
      </p:sp>
      <p:sp>
        <p:nvSpPr>
          <p:cNvPr id="403381034" name="Rectangle 504424573"/>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Neural network: basic structure</a:t>
            </a:r>
            <a:endParaRPr/>
          </a:p>
        </p:txBody>
      </p:sp>
      <p:sp>
        <p:nvSpPr>
          <p:cNvPr id="1787891731" name="Rectangle: Rounded Corners 8473207"/>
          <p:cNvSpPr>
            <a:spLocks noGrp="1"/>
          </p:cNvSpPr>
          <p:nvPr/>
        </p:nvSpPr>
        <p:spPr bwMode="auto">
          <a:xfrm>
            <a:off x="609599" y="1343025"/>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83899192" name="Oval 1713827263"/>
          <p:cNvSpPr>
            <a:spLocks noGrp="1"/>
          </p:cNvSpPr>
          <p:nvPr/>
        </p:nvSpPr>
        <p:spPr bwMode="auto">
          <a:xfrm>
            <a:off x="1962149" y="2616993"/>
            <a:ext cx="457200" cy="457200"/>
          </a:xfrm>
          <a:prstGeom prst="ellipse">
            <a:avLst/>
          </a:prstGeom>
          <a:solidFill>
            <a:srgbClr val="FFFFFF"/>
          </a:solidFill>
          <a:ln w="19050">
            <a:solidFill>
              <a:srgbClr val="667085"/>
            </a:solidFill>
            <a:prstDash val="solid"/>
          </a:ln>
        </p:spPr>
        <p:txBody>
          <a:bodyPr/>
          <a:lstStyle/>
          <a:p>
            <a:pPr>
              <a:buNone/>
              <a:defRPr/>
            </a:pPr>
            <a:endParaRPr/>
          </a:p>
        </p:txBody>
      </p:sp>
      <p:sp>
        <p:nvSpPr>
          <p:cNvPr id="1695337283" name="Oval 324013536"/>
          <p:cNvSpPr>
            <a:spLocks noGrp="1"/>
          </p:cNvSpPr>
          <p:nvPr/>
        </p:nvSpPr>
        <p:spPr bwMode="auto">
          <a:xfrm>
            <a:off x="1962149" y="3414711"/>
            <a:ext cx="457200" cy="457200"/>
          </a:xfrm>
          <a:prstGeom prst="ellipse">
            <a:avLst/>
          </a:prstGeom>
          <a:solidFill>
            <a:srgbClr val="FFFFFF"/>
          </a:solidFill>
          <a:ln w="19050">
            <a:solidFill>
              <a:srgbClr val="667085"/>
            </a:solidFill>
            <a:prstDash val="solid"/>
          </a:ln>
        </p:spPr>
        <p:txBody>
          <a:bodyPr/>
          <a:lstStyle/>
          <a:p>
            <a:pPr>
              <a:buNone/>
              <a:defRPr/>
            </a:pPr>
            <a:endParaRPr/>
          </a:p>
        </p:txBody>
      </p:sp>
      <p:sp>
        <p:nvSpPr>
          <p:cNvPr id="2125209248" name="Oval 1149235491"/>
          <p:cNvSpPr>
            <a:spLocks noGrp="1"/>
          </p:cNvSpPr>
          <p:nvPr/>
        </p:nvSpPr>
        <p:spPr bwMode="auto">
          <a:xfrm>
            <a:off x="1962149" y="4171950"/>
            <a:ext cx="457200" cy="457200"/>
          </a:xfrm>
          <a:prstGeom prst="ellipse">
            <a:avLst/>
          </a:prstGeom>
          <a:solidFill>
            <a:srgbClr val="FFFFFF"/>
          </a:solidFill>
          <a:ln w="19050">
            <a:solidFill>
              <a:srgbClr val="667085"/>
            </a:solidFill>
            <a:prstDash val="solid"/>
          </a:ln>
        </p:spPr>
        <p:txBody>
          <a:bodyPr/>
          <a:lstStyle/>
          <a:p>
            <a:pPr>
              <a:buNone/>
              <a:defRPr/>
            </a:pPr>
            <a:endParaRPr/>
          </a:p>
        </p:txBody>
      </p:sp>
      <p:sp>
        <p:nvSpPr>
          <p:cNvPr id="279717525" name="Oval 1750953689"/>
          <p:cNvSpPr>
            <a:spLocks noGrp="1"/>
          </p:cNvSpPr>
          <p:nvPr/>
        </p:nvSpPr>
        <p:spPr bwMode="auto">
          <a:xfrm>
            <a:off x="4343400" y="2200275"/>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652359943" name="Oval 1513393046"/>
          <p:cNvSpPr>
            <a:spLocks noGrp="1"/>
          </p:cNvSpPr>
          <p:nvPr/>
        </p:nvSpPr>
        <p:spPr bwMode="auto">
          <a:xfrm>
            <a:off x="4343400" y="2819400"/>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1965088611" name="Oval 496081326"/>
          <p:cNvSpPr>
            <a:spLocks noGrp="1"/>
          </p:cNvSpPr>
          <p:nvPr/>
        </p:nvSpPr>
        <p:spPr bwMode="auto">
          <a:xfrm>
            <a:off x="4343400" y="3438525"/>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1341399335" name="Oval 953579843"/>
          <p:cNvSpPr>
            <a:spLocks noGrp="1"/>
          </p:cNvSpPr>
          <p:nvPr/>
        </p:nvSpPr>
        <p:spPr bwMode="auto">
          <a:xfrm>
            <a:off x="4343400" y="4057650"/>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885265497" name="Oval 268581152"/>
          <p:cNvSpPr>
            <a:spLocks noGrp="1"/>
          </p:cNvSpPr>
          <p:nvPr/>
        </p:nvSpPr>
        <p:spPr bwMode="auto">
          <a:xfrm>
            <a:off x="4343400" y="4676775"/>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739776070" name="Oval 1782461718"/>
          <p:cNvSpPr>
            <a:spLocks noGrp="1"/>
          </p:cNvSpPr>
          <p:nvPr/>
        </p:nvSpPr>
        <p:spPr bwMode="auto">
          <a:xfrm>
            <a:off x="6819900" y="2200275"/>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1357426308" name="Oval 1638488983"/>
          <p:cNvSpPr>
            <a:spLocks noGrp="1"/>
          </p:cNvSpPr>
          <p:nvPr/>
        </p:nvSpPr>
        <p:spPr bwMode="auto">
          <a:xfrm>
            <a:off x="6819900" y="2819400"/>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716181229" name="Oval 1018913497"/>
          <p:cNvSpPr>
            <a:spLocks noGrp="1"/>
          </p:cNvSpPr>
          <p:nvPr/>
        </p:nvSpPr>
        <p:spPr bwMode="auto">
          <a:xfrm>
            <a:off x="6819900" y="3438525"/>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579766288" name="Oval 1292287629"/>
          <p:cNvSpPr>
            <a:spLocks noGrp="1"/>
          </p:cNvSpPr>
          <p:nvPr/>
        </p:nvSpPr>
        <p:spPr bwMode="auto">
          <a:xfrm>
            <a:off x="6819900" y="4057650"/>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1519997182" name="Oval 1410545746"/>
          <p:cNvSpPr>
            <a:spLocks noGrp="1"/>
          </p:cNvSpPr>
          <p:nvPr/>
        </p:nvSpPr>
        <p:spPr bwMode="auto">
          <a:xfrm>
            <a:off x="6819900" y="4676775"/>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2119932753" name="Oval 1923839338"/>
          <p:cNvSpPr>
            <a:spLocks noGrp="1"/>
          </p:cNvSpPr>
          <p:nvPr/>
        </p:nvSpPr>
        <p:spPr bwMode="auto">
          <a:xfrm>
            <a:off x="9296399" y="2813446"/>
            <a:ext cx="457200" cy="457200"/>
          </a:xfrm>
          <a:prstGeom prst="ellipse">
            <a:avLst/>
          </a:prstGeom>
          <a:solidFill>
            <a:srgbClr val="DCFCE7"/>
          </a:solidFill>
          <a:ln w="19050">
            <a:solidFill>
              <a:srgbClr val="2563EB"/>
            </a:solidFill>
            <a:prstDash val="solid"/>
          </a:ln>
        </p:spPr>
        <p:txBody>
          <a:bodyPr/>
          <a:lstStyle/>
          <a:p>
            <a:pPr>
              <a:buNone/>
              <a:defRPr/>
            </a:pPr>
            <a:endParaRPr/>
          </a:p>
        </p:txBody>
      </p:sp>
      <p:sp>
        <p:nvSpPr>
          <p:cNvPr id="1907423826" name="Oval 452248781"/>
          <p:cNvSpPr>
            <a:spLocks noGrp="1"/>
          </p:cNvSpPr>
          <p:nvPr/>
        </p:nvSpPr>
        <p:spPr bwMode="auto">
          <a:xfrm>
            <a:off x="9296399" y="4090987"/>
            <a:ext cx="457200" cy="457200"/>
          </a:xfrm>
          <a:prstGeom prst="ellipse">
            <a:avLst/>
          </a:prstGeom>
          <a:solidFill>
            <a:srgbClr val="DCFCE7"/>
          </a:solidFill>
          <a:ln w="19050">
            <a:solidFill>
              <a:srgbClr val="2563EB"/>
            </a:solidFill>
            <a:prstDash val="solid"/>
          </a:ln>
        </p:spPr>
        <p:txBody>
          <a:bodyPr/>
          <a:lstStyle/>
          <a:p>
            <a:pPr>
              <a:buNone/>
              <a:defRPr/>
            </a:pPr>
            <a:endParaRPr/>
          </a:p>
        </p:txBody>
      </p:sp>
      <p:sp>
        <p:nvSpPr>
          <p:cNvPr id="325945677" name="Rectangle 2036757279"/>
          <p:cNvSpPr>
            <a:spLocks noGrp="1"/>
          </p:cNvSpPr>
          <p:nvPr/>
        </p:nvSpPr>
        <p:spPr bwMode="auto">
          <a:xfrm>
            <a:off x="1571625" y="5334000"/>
            <a:ext cx="12382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input</a:t>
            </a:r>
            <a:endParaRPr/>
          </a:p>
        </p:txBody>
      </p:sp>
      <p:sp>
        <p:nvSpPr>
          <p:cNvPr id="992156630" name="Rectangle 899691756"/>
          <p:cNvSpPr>
            <a:spLocks noGrp="1"/>
          </p:cNvSpPr>
          <p:nvPr/>
        </p:nvSpPr>
        <p:spPr bwMode="auto">
          <a:xfrm>
            <a:off x="3952875" y="5334000"/>
            <a:ext cx="12382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hidden</a:t>
            </a:r>
            <a:endParaRPr/>
          </a:p>
        </p:txBody>
      </p:sp>
      <p:sp>
        <p:nvSpPr>
          <p:cNvPr id="1842470724" name="Rectangle 1393267236"/>
          <p:cNvSpPr>
            <a:spLocks noGrp="1"/>
          </p:cNvSpPr>
          <p:nvPr/>
        </p:nvSpPr>
        <p:spPr bwMode="auto">
          <a:xfrm>
            <a:off x="6429375" y="5334000"/>
            <a:ext cx="12382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hidden</a:t>
            </a:r>
            <a:endParaRPr/>
          </a:p>
        </p:txBody>
      </p:sp>
      <p:sp>
        <p:nvSpPr>
          <p:cNvPr id="1641561214" name="Rectangle 1802476533"/>
          <p:cNvSpPr>
            <a:spLocks noGrp="1"/>
          </p:cNvSpPr>
          <p:nvPr/>
        </p:nvSpPr>
        <p:spPr bwMode="auto">
          <a:xfrm>
            <a:off x="8905875" y="5334000"/>
            <a:ext cx="12382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output</a:t>
            </a:r>
            <a:endParaRPr/>
          </a:p>
        </p:txBody>
      </p:sp>
      <p:sp>
        <p:nvSpPr>
          <p:cNvPr id="1412101787" name="Rectangle 1736954645"/>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16</a:t>
            </a:r>
            <a:endParaRPr/>
          </a:p>
        </p:txBody>
      </p:sp>
      <p:cxnSp>
        <p:nvCxnSpPr>
          <p:cNvPr id="748887387" name="Straight Arrow Connector 2036758667"/>
          <p:cNvCxnSpPr>
            <a:stCxn id="83899192" idx="6"/>
            <a:endCxn id="279717525" idx="2"/>
          </p:cNvCxnSpPr>
          <p:nvPr/>
        </p:nvCxnSpPr>
        <p:spPr bwMode="auto">
          <a:xfrm rot="0" flipH="0" flipV="1">
            <a:off x="2419349" y="2428875"/>
            <a:ext cx="1924049" cy="416718"/>
          </a:xfrm>
          <a:prstGeom prst="straightConnector1">
            <a:avLst/>
          </a:prstGeom>
          <a:ln w="9525">
            <a:solidFill>
              <a:srgbClr val="CBD5E1">
                <a:alpha val="45000"/>
              </a:srgbClr>
            </a:solidFill>
            <a:prstDash val="solid"/>
          </a:ln>
        </p:spPr>
      </p:cxnSp>
      <p:cxnSp>
        <p:nvCxnSpPr>
          <p:cNvPr id="1754929472" name="Straight Arrow Connector 2036758668"/>
          <p:cNvCxnSpPr>
            <a:stCxn id="83899192" idx="6"/>
            <a:endCxn id="652359943" idx="2"/>
          </p:cNvCxnSpPr>
          <p:nvPr/>
        </p:nvCxnSpPr>
        <p:spPr bwMode="auto">
          <a:xfrm rot="0" flipH="0" flipV="0">
            <a:off x="2419349" y="2845593"/>
            <a:ext cx="1924049" cy="202406"/>
          </a:xfrm>
          <a:prstGeom prst="straightConnector1">
            <a:avLst/>
          </a:prstGeom>
          <a:ln w="9525">
            <a:solidFill>
              <a:srgbClr val="CBD5E1">
                <a:alpha val="45000"/>
              </a:srgbClr>
            </a:solidFill>
            <a:prstDash val="solid"/>
          </a:ln>
        </p:spPr>
      </p:cxnSp>
      <p:cxnSp>
        <p:nvCxnSpPr>
          <p:cNvPr id="1077440494" name="Straight Arrow Connector 2036758669"/>
          <p:cNvCxnSpPr>
            <a:stCxn id="83899192" idx="6"/>
            <a:endCxn id="1965088611" idx="2"/>
          </p:cNvCxnSpPr>
          <p:nvPr/>
        </p:nvCxnSpPr>
        <p:spPr bwMode="auto">
          <a:xfrm rot="0" flipH="0" flipV="0">
            <a:off x="2419349" y="2845593"/>
            <a:ext cx="1924049" cy="821531"/>
          </a:xfrm>
          <a:prstGeom prst="straightConnector1">
            <a:avLst/>
          </a:prstGeom>
          <a:ln w="9525">
            <a:solidFill>
              <a:srgbClr val="CBD5E1">
                <a:alpha val="45000"/>
              </a:srgbClr>
            </a:solidFill>
            <a:prstDash val="solid"/>
          </a:ln>
        </p:spPr>
      </p:cxnSp>
      <p:cxnSp>
        <p:nvCxnSpPr>
          <p:cNvPr id="594525358" name="Straight Arrow Connector 2036758670"/>
          <p:cNvCxnSpPr>
            <a:stCxn id="83899192" idx="6"/>
            <a:endCxn id="1341399335" idx="2"/>
          </p:cNvCxnSpPr>
          <p:nvPr/>
        </p:nvCxnSpPr>
        <p:spPr bwMode="auto">
          <a:xfrm rot="0" flipH="0" flipV="0">
            <a:off x="2419349" y="2845593"/>
            <a:ext cx="1924049" cy="1440655"/>
          </a:xfrm>
          <a:prstGeom prst="straightConnector1">
            <a:avLst/>
          </a:prstGeom>
          <a:ln w="9525">
            <a:solidFill>
              <a:srgbClr val="CBD5E1">
                <a:alpha val="45000"/>
              </a:srgbClr>
            </a:solidFill>
            <a:prstDash val="solid"/>
          </a:ln>
        </p:spPr>
      </p:cxnSp>
      <p:cxnSp>
        <p:nvCxnSpPr>
          <p:cNvPr id="1297830285" name="Straight Arrow Connector 2036758671"/>
          <p:cNvCxnSpPr>
            <a:stCxn id="83899192" idx="6"/>
            <a:endCxn id="885265497" idx="2"/>
          </p:cNvCxnSpPr>
          <p:nvPr/>
        </p:nvCxnSpPr>
        <p:spPr bwMode="auto">
          <a:xfrm rot="0" flipH="0" flipV="0">
            <a:off x="2419349" y="2845593"/>
            <a:ext cx="1924049" cy="2059781"/>
          </a:xfrm>
          <a:prstGeom prst="straightConnector1">
            <a:avLst/>
          </a:prstGeom>
          <a:ln w="9525">
            <a:solidFill>
              <a:srgbClr val="CBD5E1">
                <a:alpha val="45000"/>
              </a:srgbClr>
            </a:solidFill>
            <a:prstDash val="solid"/>
          </a:ln>
        </p:spPr>
      </p:cxnSp>
      <p:cxnSp>
        <p:nvCxnSpPr>
          <p:cNvPr id="1627030385" name="Straight Arrow Connector 2036758672"/>
          <p:cNvCxnSpPr>
            <a:stCxn id="1695337283" idx="6"/>
            <a:endCxn id="279717525" idx="2"/>
          </p:cNvCxnSpPr>
          <p:nvPr/>
        </p:nvCxnSpPr>
        <p:spPr bwMode="auto">
          <a:xfrm rot="0" flipH="0" flipV="1">
            <a:off x="2419349" y="2428875"/>
            <a:ext cx="1924049" cy="1214437"/>
          </a:xfrm>
          <a:prstGeom prst="straightConnector1">
            <a:avLst/>
          </a:prstGeom>
          <a:ln w="9525">
            <a:solidFill>
              <a:srgbClr val="CBD5E1">
                <a:alpha val="45000"/>
              </a:srgbClr>
            </a:solidFill>
            <a:prstDash val="solid"/>
          </a:ln>
        </p:spPr>
      </p:cxnSp>
      <p:cxnSp>
        <p:nvCxnSpPr>
          <p:cNvPr id="803600606" name="Straight Arrow Connector 2036758673"/>
          <p:cNvCxnSpPr>
            <a:stCxn id="1695337283" idx="6"/>
            <a:endCxn id="652359943" idx="2"/>
          </p:cNvCxnSpPr>
          <p:nvPr/>
        </p:nvCxnSpPr>
        <p:spPr bwMode="auto">
          <a:xfrm rot="0" flipH="0" flipV="1">
            <a:off x="2419349" y="3047999"/>
            <a:ext cx="1924049" cy="595312"/>
          </a:xfrm>
          <a:prstGeom prst="straightConnector1">
            <a:avLst/>
          </a:prstGeom>
          <a:ln w="9525">
            <a:solidFill>
              <a:srgbClr val="CBD5E1">
                <a:alpha val="45000"/>
              </a:srgbClr>
            </a:solidFill>
            <a:prstDash val="solid"/>
          </a:ln>
        </p:spPr>
      </p:cxnSp>
      <p:cxnSp>
        <p:nvCxnSpPr>
          <p:cNvPr id="1322945071" name="Straight Arrow Connector 2036758674"/>
          <p:cNvCxnSpPr>
            <a:stCxn id="1695337283" idx="6"/>
            <a:endCxn id="1965088611" idx="2"/>
          </p:cNvCxnSpPr>
          <p:nvPr/>
        </p:nvCxnSpPr>
        <p:spPr bwMode="auto">
          <a:xfrm rot="0" flipH="0" flipV="0">
            <a:off x="2419349" y="3643312"/>
            <a:ext cx="1924049" cy="23811"/>
          </a:xfrm>
          <a:prstGeom prst="straightConnector1">
            <a:avLst/>
          </a:prstGeom>
          <a:ln w="9525">
            <a:solidFill>
              <a:srgbClr val="CBD5E1">
                <a:alpha val="45000"/>
              </a:srgbClr>
            </a:solidFill>
            <a:prstDash val="solid"/>
          </a:ln>
        </p:spPr>
      </p:cxnSp>
      <p:cxnSp>
        <p:nvCxnSpPr>
          <p:cNvPr id="856741752" name="Straight Arrow Connector 2036758675"/>
          <p:cNvCxnSpPr>
            <a:stCxn id="1695337283" idx="6"/>
            <a:endCxn id="1341399335" idx="2"/>
          </p:cNvCxnSpPr>
          <p:nvPr/>
        </p:nvCxnSpPr>
        <p:spPr bwMode="auto">
          <a:xfrm rot="0" flipH="0" flipV="0">
            <a:off x="2419349" y="3643312"/>
            <a:ext cx="1924049" cy="642936"/>
          </a:xfrm>
          <a:prstGeom prst="straightConnector1">
            <a:avLst/>
          </a:prstGeom>
          <a:ln w="9525">
            <a:solidFill>
              <a:srgbClr val="CBD5E1">
                <a:alpha val="45000"/>
              </a:srgbClr>
            </a:solidFill>
            <a:prstDash val="solid"/>
          </a:ln>
        </p:spPr>
      </p:cxnSp>
      <p:cxnSp>
        <p:nvCxnSpPr>
          <p:cNvPr id="1477898648" name="Straight Arrow Connector 2036758676"/>
          <p:cNvCxnSpPr>
            <a:stCxn id="1695337283" idx="6"/>
            <a:endCxn id="885265497" idx="2"/>
          </p:cNvCxnSpPr>
          <p:nvPr/>
        </p:nvCxnSpPr>
        <p:spPr bwMode="auto">
          <a:xfrm rot="0" flipH="0" flipV="0">
            <a:off x="2419349" y="3643312"/>
            <a:ext cx="1924049" cy="1262062"/>
          </a:xfrm>
          <a:prstGeom prst="straightConnector1">
            <a:avLst/>
          </a:prstGeom>
          <a:ln w="9525">
            <a:solidFill>
              <a:srgbClr val="CBD5E1">
                <a:alpha val="45000"/>
              </a:srgbClr>
            </a:solidFill>
            <a:prstDash val="solid"/>
          </a:ln>
        </p:spPr>
      </p:cxnSp>
      <p:cxnSp>
        <p:nvCxnSpPr>
          <p:cNvPr id="1286675516" name="Straight Arrow Connector 2036758677"/>
          <p:cNvCxnSpPr>
            <a:stCxn id="2125209248" idx="6"/>
            <a:endCxn id="279717525" idx="2"/>
          </p:cNvCxnSpPr>
          <p:nvPr/>
        </p:nvCxnSpPr>
        <p:spPr bwMode="auto">
          <a:xfrm rot="0" flipH="0" flipV="1">
            <a:off x="2419349" y="2428875"/>
            <a:ext cx="1924049" cy="1971675"/>
          </a:xfrm>
          <a:prstGeom prst="straightConnector1">
            <a:avLst/>
          </a:prstGeom>
          <a:ln w="9525">
            <a:solidFill>
              <a:srgbClr val="CBD5E1">
                <a:alpha val="45000"/>
              </a:srgbClr>
            </a:solidFill>
            <a:prstDash val="solid"/>
          </a:ln>
        </p:spPr>
      </p:cxnSp>
      <p:cxnSp>
        <p:nvCxnSpPr>
          <p:cNvPr id="669997268" name="Straight Arrow Connector 2036758678"/>
          <p:cNvCxnSpPr>
            <a:stCxn id="2125209248" idx="6"/>
            <a:endCxn id="652359943" idx="2"/>
          </p:cNvCxnSpPr>
          <p:nvPr/>
        </p:nvCxnSpPr>
        <p:spPr bwMode="auto">
          <a:xfrm rot="0" flipH="0" flipV="1">
            <a:off x="2419349" y="3047999"/>
            <a:ext cx="1924049" cy="1352549"/>
          </a:xfrm>
          <a:prstGeom prst="straightConnector1">
            <a:avLst/>
          </a:prstGeom>
          <a:ln w="9525">
            <a:solidFill>
              <a:srgbClr val="CBD5E1">
                <a:alpha val="45000"/>
              </a:srgbClr>
            </a:solidFill>
            <a:prstDash val="solid"/>
          </a:ln>
        </p:spPr>
      </p:cxnSp>
      <p:cxnSp>
        <p:nvCxnSpPr>
          <p:cNvPr id="839895256" name="Straight Arrow Connector 2036758679"/>
          <p:cNvCxnSpPr/>
          <p:nvPr/>
        </p:nvCxnSpPr>
        <p:spPr bwMode="auto">
          <a:xfrm rot="0" flipH="0" flipV="1">
            <a:off x="2419349" y="3667124"/>
            <a:ext cx="1924049" cy="847724"/>
          </a:xfrm>
          <a:prstGeom prst="straightConnector1">
            <a:avLst/>
          </a:prstGeom>
          <a:ln w="9525">
            <a:solidFill>
              <a:srgbClr val="CBD5E1">
                <a:alpha val="45000"/>
              </a:srgbClr>
            </a:solidFill>
            <a:prstDash val="solid"/>
          </a:ln>
        </p:spPr>
      </p:cxnSp>
      <p:cxnSp>
        <p:nvCxnSpPr>
          <p:cNvPr id="1937833712" name="Straight Arrow Connector 2036758680"/>
          <p:cNvCxnSpPr>
            <a:stCxn id="2125209248" idx="6"/>
            <a:endCxn id="1341399335" idx="2"/>
          </p:cNvCxnSpPr>
          <p:nvPr/>
        </p:nvCxnSpPr>
        <p:spPr bwMode="auto">
          <a:xfrm rot="0" flipH="0" flipV="1">
            <a:off x="2419349" y="4286250"/>
            <a:ext cx="1924049" cy="114300"/>
          </a:xfrm>
          <a:prstGeom prst="straightConnector1">
            <a:avLst/>
          </a:prstGeom>
          <a:ln w="9525">
            <a:solidFill>
              <a:srgbClr val="CBD5E1">
                <a:alpha val="45000"/>
              </a:srgbClr>
            </a:solidFill>
            <a:prstDash val="solid"/>
          </a:ln>
        </p:spPr>
      </p:cxnSp>
      <p:cxnSp>
        <p:nvCxnSpPr>
          <p:cNvPr id="358500541" name="Straight Arrow Connector 2036758681"/>
          <p:cNvCxnSpPr>
            <a:stCxn id="2125209248" idx="6"/>
            <a:endCxn id="885265497" idx="2"/>
          </p:cNvCxnSpPr>
          <p:nvPr/>
        </p:nvCxnSpPr>
        <p:spPr bwMode="auto">
          <a:xfrm rot="0" flipH="0" flipV="0">
            <a:off x="2419349" y="4400550"/>
            <a:ext cx="1924049" cy="504824"/>
          </a:xfrm>
          <a:prstGeom prst="straightConnector1">
            <a:avLst/>
          </a:prstGeom>
          <a:ln w="9525">
            <a:solidFill>
              <a:srgbClr val="CBD5E1">
                <a:alpha val="45000"/>
              </a:srgbClr>
            </a:solidFill>
            <a:prstDash val="solid"/>
          </a:ln>
        </p:spPr>
      </p:cxnSp>
      <p:cxnSp>
        <p:nvCxnSpPr>
          <p:cNvPr id="1878148278" name="Straight Arrow Connector 2036758682"/>
          <p:cNvCxnSpPr>
            <a:stCxn id="279717525" idx="6"/>
            <a:endCxn id="739776070" idx="2"/>
          </p:cNvCxnSpPr>
          <p:nvPr/>
        </p:nvCxnSpPr>
        <p:spPr bwMode="auto">
          <a:xfrm>
            <a:off x="4800600" y="2428875"/>
            <a:ext cx="2019300" cy="0"/>
          </a:xfrm>
          <a:prstGeom prst="straightConnector1">
            <a:avLst/>
          </a:prstGeom>
          <a:ln w="9525">
            <a:solidFill>
              <a:srgbClr val="CBD5E1">
                <a:alpha val="45000"/>
              </a:srgbClr>
            </a:solidFill>
            <a:prstDash val="solid"/>
          </a:ln>
        </p:spPr>
      </p:cxnSp>
      <p:cxnSp>
        <p:nvCxnSpPr>
          <p:cNvPr id="1119102575" name="Straight Arrow Connector 2036758683"/>
          <p:cNvCxnSpPr>
            <a:stCxn id="279717525" idx="6"/>
            <a:endCxn id="1357426308" idx="2"/>
          </p:cNvCxnSpPr>
          <p:nvPr/>
        </p:nvCxnSpPr>
        <p:spPr bwMode="auto">
          <a:xfrm>
            <a:off x="4800600" y="2428875"/>
            <a:ext cx="2019300" cy="619125"/>
          </a:xfrm>
          <a:prstGeom prst="straightConnector1">
            <a:avLst/>
          </a:prstGeom>
          <a:ln w="9525">
            <a:solidFill>
              <a:srgbClr val="CBD5E1">
                <a:alpha val="45000"/>
              </a:srgbClr>
            </a:solidFill>
            <a:prstDash val="solid"/>
          </a:ln>
        </p:spPr>
      </p:cxnSp>
      <p:cxnSp>
        <p:nvCxnSpPr>
          <p:cNvPr id="196180785" name="Straight Arrow Connector 2036758684"/>
          <p:cNvCxnSpPr>
            <a:stCxn id="279717525" idx="6"/>
            <a:endCxn id="716181229" idx="2"/>
          </p:cNvCxnSpPr>
          <p:nvPr/>
        </p:nvCxnSpPr>
        <p:spPr bwMode="auto">
          <a:xfrm>
            <a:off x="4800600" y="2428875"/>
            <a:ext cx="2019300" cy="1238250"/>
          </a:xfrm>
          <a:prstGeom prst="straightConnector1">
            <a:avLst/>
          </a:prstGeom>
          <a:ln w="9525">
            <a:solidFill>
              <a:srgbClr val="CBD5E1">
                <a:alpha val="45000"/>
              </a:srgbClr>
            </a:solidFill>
            <a:prstDash val="solid"/>
          </a:ln>
        </p:spPr>
      </p:cxnSp>
      <p:cxnSp>
        <p:nvCxnSpPr>
          <p:cNvPr id="1670276664" name="Straight Arrow Connector 2036758685"/>
          <p:cNvCxnSpPr>
            <a:stCxn id="279717525" idx="6"/>
            <a:endCxn id="579766288" idx="2"/>
          </p:cNvCxnSpPr>
          <p:nvPr/>
        </p:nvCxnSpPr>
        <p:spPr bwMode="auto">
          <a:xfrm>
            <a:off x="4800600" y="2428875"/>
            <a:ext cx="2019300" cy="1857375"/>
          </a:xfrm>
          <a:prstGeom prst="straightConnector1">
            <a:avLst/>
          </a:prstGeom>
          <a:ln w="9525">
            <a:solidFill>
              <a:srgbClr val="CBD5E1">
                <a:alpha val="45000"/>
              </a:srgbClr>
            </a:solidFill>
            <a:prstDash val="solid"/>
          </a:ln>
        </p:spPr>
      </p:cxnSp>
      <p:cxnSp>
        <p:nvCxnSpPr>
          <p:cNvPr id="558414162" name="Straight Arrow Connector 2036758686"/>
          <p:cNvCxnSpPr>
            <a:stCxn id="279717525" idx="6"/>
            <a:endCxn id="1519997182" idx="2"/>
          </p:cNvCxnSpPr>
          <p:nvPr/>
        </p:nvCxnSpPr>
        <p:spPr bwMode="auto">
          <a:xfrm>
            <a:off x="4800600" y="2428875"/>
            <a:ext cx="2019300" cy="2476500"/>
          </a:xfrm>
          <a:prstGeom prst="straightConnector1">
            <a:avLst/>
          </a:prstGeom>
          <a:ln w="9525">
            <a:solidFill>
              <a:srgbClr val="CBD5E1">
                <a:alpha val="45000"/>
              </a:srgbClr>
            </a:solidFill>
            <a:prstDash val="solid"/>
          </a:ln>
        </p:spPr>
      </p:cxnSp>
      <p:cxnSp>
        <p:nvCxnSpPr>
          <p:cNvPr id="786264458" name="Straight Arrow Connector 2036758687"/>
          <p:cNvCxnSpPr>
            <a:stCxn id="652359943" idx="6"/>
            <a:endCxn id="739776070" idx="2"/>
          </p:cNvCxnSpPr>
          <p:nvPr/>
        </p:nvCxnSpPr>
        <p:spPr bwMode="auto">
          <a:xfrm flipV="1">
            <a:off x="4800600" y="2428875"/>
            <a:ext cx="2019300" cy="619125"/>
          </a:xfrm>
          <a:prstGeom prst="straightConnector1">
            <a:avLst/>
          </a:prstGeom>
          <a:ln w="9525">
            <a:solidFill>
              <a:srgbClr val="CBD5E1">
                <a:alpha val="45000"/>
              </a:srgbClr>
            </a:solidFill>
            <a:prstDash val="solid"/>
          </a:ln>
        </p:spPr>
      </p:cxnSp>
      <p:cxnSp>
        <p:nvCxnSpPr>
          <p:cNvPr id="965793923" name="Straight Arrow Connector 2036758688"/>
          <p:cNvCxnSpPr>
            <a:stCxn id="652359943" idx="6"/>
            <a:endCxn id="1357426308" idx="2"/>
          </p:cNvCxnSpPr>
          <p:nvPr/>
        </p:nvCxnSpPr>
        <p:spPr bwMode="auto">
          <a:xfrm>
            <a:off x="4800600" y="3048000"/>
            <a:ext cx="2019300" cy="0"/>
          </a:xfrm>
          <a:prstGeom prst="straightConnector1">
            <a:avLst/>
          </a:prstGeom>
          <a:ln w="9525">
            <a:solidFill>
              <a:srgbClr val="CBD5E1">
                <a:alpha val="45000"/>
              </a:srgbClr>
            </a:solidFill>
            <a:prstDash val="solid"/>
          </a:ln>
        </p:spPr>
      </p:cxnSp>
      <p:cxnSp>
        <p:nvCxnSpPr>
          <p:cNvPr id="1456090615" name="Straight Arrow Connector 2036758689"/>
          <p:cNvCxnSpPr>
            <a:stCxn id="652359943" idx="6"/>
            <a:endCxn id="716181229" idx="2"/>
          </p:cNvCxnSpPr>
          <p:nvPr/>
        </p:nvCxnSpPr>
        <p:spPr bwMode="auto">
          <a:xfrm>
            <a:off x="4800600" y="3048000"/>
            <a:ext cx="2019300" cy="619125"/>
          </a:xfrm>
          <a:prstGeom prst="straightConnector1">
            <a:avLst/>
          </a:prstGeom>
          <a:ln w="9525">
            <a:solidFill>
              <a:srgbClr val="CBD5E1">
                <a:alpha val="45000"/>
              </a:srgbClr>
            </a:solidFill>
            <a:prstDash val="solid"/>
          </a:ln>
        </p:spPr>
      </p:cxnSp>
      <p:cxnSp>
        <p:nvCxnSpPr>
          <p:cNvPr id="651265467" name="Straight Arrow Connector 2036758690"/>
          <p:cNvCxnSpPr>
            <a:stCxn id="652359943" idx="6"/>
            <a:endCxn id="579766288" idx="2"/>
          </p:cNvCxnSpPr>
          <p:nvPr/>
        </p:nvCxnSpPr>
        <p:spPr bwMode="auto">
          <a:xfrm>
            <a:off x="4800600" y="3048000"/>
            <a:ext cx="2019300" cy="1238250"/>
          </a:xfrm>
          <a:prstGeom prst="straightConnector1">
            <a:avLst/>
          </a:prstGeom>
          <a:ln w="9525">
            <a:solidFill>
              <a:srgbClr val="CBD5E1">
                <a:alpha val="45000"/>
              </a:srgbClr>
            </a:solidFill>
            <a:prstDash val="solid"/>
          </a:ln>
        </p:spPr>
      </p:cxnSp>
      <p:cxnSp>
        <p:nvCxnSpPr>
          <p:cNvPr id="1770013482" name="Straight Arrow Connector 2036758691"/>
          <p:cNvCxnSpPr>
            <a:stCxn id="652359943" idx="6"/>
            <a:endCxn id="1519997182" idx="2"/>
          </p:cNvCxnSpPr>
          <p:nvPr/>
        </p:nvCxnSpPr>
        <p:spPr bwMode="auto">
          <a:xfrm>
            <a:off x="4800600" y="3048000"/>
            <a:ext cx="2019300" cy="1857375"/>
          </a:xfrm>
          <a:prstGeom prst="straightConnector1">
            <a:avLst/>
          </a:prstGeom>
          <a:ln w="9525">
            <a:solidFill>
              <a:srgbClr val="CBD5E1">
                <a:alpha val="45000"/>
              </a:srgbClr>
            </a:solidFill>
            <a:prstDash val="solid"/>
          </a:ln>
        </p:spPr>
      </p:cxnSp>
      <p:cxnSp>
        <p:nvCxnSpPr>
          <p:cNvPr id="1890470606" name="Straight Arrow Connector 2036758692"/>
          <p:cNvCxnSpPr>
            <a:stCxn id="1965088611" idx="6"/>
            <a:endCxn id="739776070" idx="2"/>
          </p:cNvCxnSpPr>
          <p:nvPr/>
        </p:nvCxnSpPr>
        <p:spPr bwMode="auto">
          <a:xfrm flipV="1">
            <a:off x="4800600" y="2428875"/>
            <a:ext cx="2019300" cy="1238250"/>
          </a:xfrm>
          <a:prstGeom prst="straightConnector1">
            <a:avLst/>
          </a:prstGeom>
          <a:ln w="9525">
            <a:solidFill>
              <a:srgbClr val="CBD5E1">
                <a:alpha val="45000"/>
              </a:srgbClr>
            </a:solidFill>
            <a:prstDash val="solid"/>
          </a:ln>
        </p:spPr>
      </p:cxnSp>
      <p:cxnSp>
        <p:nvCxnSpPr>
          <p:cNvPr id="1324002158" name="Straight Arrow Connector 2036758693"/>
          <p:cNvCxnSpPr>
            <a:stCxn id="1965088611" idx="6"/>
            <a:endCxn id="1357426308" idx="2"/>
          </p:cNvCxnSpPr>
          <p:nvPr/>
        </p:nvCxnSpPr>
        <p:spPr bwMode="auto">
          <a:xfrm flipV="1">
            <a:off x="4800600" y="3048000"/>
            <a:ext cx="2019300" cy="619125"/>
          </a:xfrm>
          <a:prstGeom prst="straightConnector1">
            <a:avLst/>
          </a:prstGeom>
          <a:ln w="9525">
            <a:solidFill>
              <a:srgbClr val="CBD5E1">
                <a:alpha val="45000"/>
              </a:srgbClr>
            </a:solidFill>
            <a:prstDash val="solid"/>
          </a:ln>
        </p:spPr>
      </p:cxnSp>
      <p:cxnSp>
        <p:nvCxnSpPr>
          <p:cNvPr id="1783079487" name="Straight Arrow Connector 2036758694"/>
          <p:cNvCxnSpPr>
            <a:stCxn id="1965088611" idx="6"/>
            <a:endCxn id="716181229" idx="2"/>
          </p:cNvCxnSpPr>
          <p:nvPr/>
        </p:nvCxnSpPr>
        <p:spPr bwMode="auto">
          <a:xfrm>
            <a:off x="4800600" y="3667125"/>
            <a:ext cx="2019300" cy="0"/>
          </a:xfrm>
          <a:prstGeom prst="straightConnector1">
            <a:avLst/>
          </a:prstGeom>
          <a:ln w="9525">
            <a:solidFill>
              <a:srgbClr val="CBD5E1">
                <a:alpha val="45000"/>
              </a:srgbClr>
            </a:solidFill>
            <a:prstDash val="solid"/>
          </a:ln>
        </p:spPr>
      </p:cxnSp>
      <p:cxnSp>
        <p:nvCxnSpPr>
          <p:cNvPr id="2145489507" name="Straight Arrow Connector 2036758695"/>
          <p:cNvCxnSpPr>
            <a:stCxn id="1965088611" idx="6"/>
            <a:endCxn id="579766288" idx="2"/>
          </p:cNvCxnSpPr>
          <p:nvPr/>
        </p:nvCxnSpPr>
        <p:spPr bwMode="auto">
          <a:xfrm>
            <a:off x="4800600" y="3667125"/>
            <a:ext cx="2019300" cy="619125"/>
          </a:xfrm>
          <a:prstGeom prst="straightConnector1">
            <a:avLst/>
          </a:prstGeom>
          <a:ln w="9525">
            <a:solidFill>
              <a:srgbClr val="CBD5E1">
                <a:alpha val="45000"/>
              </a:srgbClr>
            </a:solidFill>
            <a:prstDash val="solid"/>
          </a:ln>
        </p:spPr>
      </p:cxnSp>
      <p:cxnSp>
        <p:nvCxnSpPr>
          <p:cNvPr id="1369817451" name="Straight Arrow Connector 2036758696"/>
          <p:cNvCxnSpPr>
            <a:stCxn id="1965088611" idx="6"/>
            <a:endCxn id="1519997182" idx="2"/>
          </p:cNvCxnSpPr>
          <p:nvPr/>
        </p:nvCxnSpPr>
        <p:spPr bwMode="auto">
          <a:xfrm>
            <a:off x="4800600" y="3667125"/>
            <a:ext cx="2019300" cy="1238250"/>
          </a:xfrm>
          <a:prstGeom prst="straightConnector1">
            <a:avLst/>
          </a:prstGeom>
          <a:ln w="9525">
            <a:solidFill>
              <a:srgbClr val="CBD5E1">
                <a:alpha val="45000"/>
              </a:srgbClr>
            </a:solidFill>
            <a:prstDash val="solid"/>
          </a:ln>
        </p:spPr>
      </p:cxnSp>
      <p:cxnSp>
        <p:nvCxnSpPr>
          <p:cNvPr id="1265846961" name="Straight Arrow Connector 2036758697"/>
          <p:cNvCxnSpPr>
            <a:stCxn id="1341399335" idx="6"/>
            <a:endCxn id="739776070" idx="2"/>
          </p:cNvCxnSpPr>
          <p:nvPr/>
        </p:nvCxnSpPr>
        <p:spPr bwMode="auto">
          <a:xfrm flipV="1">
            <a:off x="4800600" y="2428875"/>
            <a:ext cx="2019300" cy="1857375"/>
          </a:xfrm>
          <a:prstGeom prst="straightConnector1">
            <a:avLst/>
          </a:prstGeom>
          <a:ln w="9525">
            <a:solidFill>
              <a:srgbClr val="CBD5E1">
                <a:alpha val="45000"/>
              </a:srgbClr>
            </a:solidFill>
            <a:prstDash val="solid"/>
          </a:ln>
        </p:spPr>
      </p:cxnSp>
      <p:cxnSp>
        <p:nvCxnSpPr>
          <p:cNvPr id="166931281" name="Straight Arrow Connector 2036758698"/>
          <p:cNvCxnSpPr>
            <a:stCxn id="1341399335" idx="6"/>
            <a:endCxn id="1357426308" idx="2"/>
          </p:cNvCxnSpPr>
          <p:nvPr/>
        </p:nvCxnSpPr>
        <p:spPr bwMode="auto">
          <a:xfrm flipV="1">
            <a:off x="4800600" y="3048000"/>
            <a:ext cx="2019300" cy="1238250"/>
          </a:xfrm>
          <a:prstGeom prst="straightConnector1">
            <a:avLst/>
          </a:prstGeom>
          <a:ln w="9525">
            <a:solidFill>
              <a:srgbClr val="CBD5E1">
                <a:alpha val="45000"/>
              </a:srgbClr>
            </a:solidFill>
            <a:prstDash val="solid"/>
          </a:ln>
        </p:spPr>
      </p:cxnSp>
      <p:cxnSp>
        <p:nvCxnSpPr>
          <p:cNvPr id="1679710137" name="Straight Arrow Connector 2036758699"/>
          <p:cNvCxnSpPr>
            <a:stCxn id="1341399335" idx="6"/>
            <a:endCxn id="716181229" idx="2"/>
          </p:cNvCxnSpPr>
          <p:nvPr/>
        </p:nvCxnSpPr>
        <p:spPr bwMode="auto">
          <a:xfrm flipV="1">
            <a:off x="4800600" y="3667125"/>
            <a:ext cx="2019300" cy="619125"/>
          </a:xfrm>
          <a:prstGeom prst="straightConnector1">
            <a:avLst/>
          </a:prstGeom>
          <a:ln w="9525">
            <a:solidFill>
              <a:srgbClr val="CBD5E1">
                <a:alpha val="45000"/>
              </a:srgbClr>
            </a:solidFill>
            <a:prstDash val="solid"/>
          </a:ln>
        </p:spPr>
      </p:cxnSp>
      <p:cxnSp>
        <p:nvCxnSpPr>
          <p:cNvPr id="1209076220" name="Straight Arrow Connector 2036758700"/>
          <p:cNvCxnSpPr>
            <a:stCxn id="1341399335" idx="6"/>
            <a:endCxn id="579766288" idx="2"/>
          </p:cNvCxnSpPr>
          <p:nvPr/>
        </p:nvCxnSpPr>
        <p:spPr bwMode="auto">
          <a:xfrm>
            <a:off x="4800600" y="4286250"/>
            <a:ext cx="2019300" cy="0"/>
          </a:xfrm>
          <a:prstGeom prst="straightConnector1">
            <a:avLst/>
          </a:prstGeom>
          <a:ln w="9525">
            <a:solidFill>
              <a:srgbClr val="CBD5E1">
                <a:alpha val="45000"/>
              </a:srgbClr>
            </a:solidFill>
            <a:prstDash val="solid"/>
          </a:ln>
        </p:spPr>
      </p:cxnSp>
      <p:cxnSp>
        <p:nvCxnSpPr>
          <p:cNvPr id="288264508" name="Straight Arrow Connector 2036758701"/>
          <p:cNvCxnSpPr>
            <a:stCxn id="1341399335" idx="6"/>
            <a:endCxn id="1519997182" idx="2"/>
          </p:cNvCxnSpPr>
          <p:nvPr/>
        </p:nvCxnSpPr>
        <p:spPr bwMode="auto">
          <a:xfrm>
            <a:off x="4800600" y="4286250"/>
            <a:ext cx="2019300" cy="619125"/>
          </a:xfrm>
          <a:prstGeom prst="straightConnector1">
            <a:avLst/>
          </a:prstGeom>
          <a:ln w="9525">
            <a:solidFill>
              <a:srgbClr val="CBD5E1">
                <a:alpha val="45000"/>
              </a:srgbClr>
            </a:solidFill>
            <a:prstDash val="solid"/>
          </a:ln>
        </p:spPr>
      </p:cxnSp>
      <p:cxnSp>
        <p:nvCxnSpPr>
          <p:cNvPr id="1768659146" name="Straight Arrow Connector 2036758702"/>
          <p:cNvCxnSpPr>
            <a:stCxn id="885265497" idx="6"/>
            <a:endCxn id="739776070" idx="2"/>
          </p:cNvCxnSpPr>
          <p:nvPr/>
        </p:nvCxnSpPr>
        <p:spPr bwMode="auto">
          <a:xfrm flipV="1">
            <a:off x="4800600" y="2428875"/>
            <a:ext cx="2019300" cy="2476500"/>
          </a:xfrm>
          <a:prstGeom prst="straightConnector1">
            <a:avLst/>
          </a:prstGeom>
          <a:ln w="9525">
            <a:solidFill>
              <a:srgbClr val="CBD5E1">
                <a:alpha val="45000"/>
              </a:srgbClr>
            </a:solidFill>
            <a:prstDash val="solid"/>
          </a:ln>
        </p:spPr>
      </p:cxnSp>
      <p:cxnSp>
        <p:nvCxnSpPr>
          <p:cNvPr id="404084800" name="Straight Arrow Connector 2036758703"/>
          <p:cNvCxnSpPr>
            <a:stCxn id="885265497" idx="6"/>
            <a:endCxn id="1357426308" idx="2"/>
          </p:cNvCxnSpPr>
          <p:nvPr/>
        </p:nvCxnSpPr>
        <p:spPr bwMode="auto">
          <a:xfrm flipV="1">
            <a:off x="4800600" y="3048000"/>
            <a:ext cx="2019300" cy="1857375"/>
          </a:xfrm>
          <a:prstGeom prst="straightConnector1">
            <a:avLst/>
          </a:prstGeom>
          <a:ln w="9525">
            <a:solidFill>
              <a:srgbClr val="CBD5E1">
                <a:alpha val="45000"/>
              </a:srgbClr>
            </a:solidFill>
            <a:prstDash val="solid"/>
          </a:ln>
        </p:spPr>
      </p:cxnSp>
      <p:cxnSp>
        <p:nvCxnSpPr>
          <p:cNvPr id="1998137402" name="Straight Arrow Connector 2036758704"/>
          <p:cNvCxnSpPr>
            <a:stCxn id="885265497" idx="6"/>
            <a:endCxn id="716181229" idx="2"/>
          </p:cNvCxnSpPr>
          <p:nvPr/>
        </p:nvCxnSpPr>
        <p:spPr bwMode="auto">
          <a:xfrm flipV="1">
            <a:off x="4800600" y="3667125"/>
            <a:ext cx="2019300" cy="1238250"/>
          </a:xfrm>
          <a:prstGeom prst="straightConnector1">
            <a:avLst/>
          </a:prstGeom>
          <a:ln w="9525">
            <a:solidFill>
              <a:srgbClr val="CBD5E1">
                <a:alpha val="45000"/>
              </a:srgbClr>
            </a:solidFill>
            <a:prstDash val="solid"/>
          </a:ln>
        </p:spPr>
      </p:cxnSp>
      <p:cxnSp>
        <p:nvCxnSpPr>
          <p:cNvPr id="1999225344" name="Straight Arrow Connector 2036758705"/>
          <p:cNvCxnSpPr>
            <a:stCxn id="885265497" idx="6"/>
            <a:endCxn id="579766288" idx="2"/>
          </p:cNvCxnSpPr>
          <p:nvPr/>
        </p:nvCxnSpPr>
        <p:spPr bwMode="auto">
          <a:xfrm flipV="1">
            <a:off x="4800600" y="4286250"/>
            <a:ext cx="2019300" cy="619125"/>
          </a:xfrm>
          <a:prstGeom prst="straightConnector1">
            <a:avLst/>
          </a:prstGeom>
          <a:ln w="9525">
            <a:solidFill>
              <a:srgbClr val="CBD5E1">
                <a:alpha val="45000"/>
              </a:srgbClr>
            </a:solidFill>
            <a:prstDash val="solid"/>
          </a:ln>
        </p:spPr>
      </p:cxnSp>
      <p:cxnSp>
        <p:nvCxnSpPr>
          <p:cNvPr id="1594351448" name="Straight Arrow Connector 2036758706"/>
          <p:cNvCxnSpPr>
            <a:stCxn id="885265497" idx="6"/>
            <a:endCxn id="1519997182" idx="2"/>
          </p:cNvCxnSpPr>
          <p:nvPr/>
        </p:nvCxnSpPr>
        <p:spPr bwMode="auto">
          <a:xfrm>
            <a:off x="4800600" y="4905375"/>
            <a:ext cx="2019300" cy="0"/>
          </a:xfrm>
          <a:prstGeom prst="straightConnector1">
            <a:avLst/>
          </a:prstGeom>
          <a:ln w="9525">
            <a:solidFill>
              <a:srgbClr val="CBD5E1">
                <a:alpha val="45000"/>
              </a:srgbClr>
            </a:solidFill>
            <a:prstDash val="solid"/>
          </a:ln>
        </p:spPr>
      </p:cxnSp>
      <p:cxnSp>
        <p:nvCxnSpPr>
          <p:cNvPr id="213237797" name="Straight Arrow Connector 2036758707"/>
          <p:cNvCxnSpPr>
            <a:stCxn id="739776070" idx="6"/>
            <a:endCxn id="2119932753" idx="2"/>
          </p:cNvCxnSpPr>
          <p:nvPr/>
        </p:nvCxnSpPr>
        <p:spPr bwMode="auto">
          <a:xfrm rot="0" flipH="0" flipV="0">
            <a:off x="7277099" y="2428875"/>
            <a:ext cx="2019299" cy="613171"/>
          </a:xfrm>
          <a:prstGeom prst="straightConnector1">
            <a:avLst/>
          </a:prstGeom>
          <a:ln w="9525">
            <a:solidFill>
              <a:srgbClr val="CBD5E1">
                <a:alpha val="45000"/>
              </a:srgbClr>
            </a:solidFill>
            <a:prstDash val="solid"/>
          </a:ln>
        </p:spPr>
      </p:cxnSp>
      <p:cxnSp>
        <p:nvCxnSpPr>
          <p:cNvPr id="634347070" name="Straight Arrow Connector 2036758708"/>
          <p:cNvCxnSpPr>
            <a:stCxn id="739776070" idx="6"/>
            <a:endCxn id="1907423826" idx="2"/>
          </p:cNvCxnSpPr>
          <p:nvPr/>
        </p:nvCxnSpPr>
        <p:spPr bwMode="auto">
          <a:xfrm rot="0" flipH="0" flipV="0">
            <a:off x="7277099" y="2428875"/>
            <a:ext cx="2019299" cy="1890712"/>
          </a:xfrm>
          <a:prstGeom prst="straightConnector1">
            <a:avLst/>
          </a:prstGeom>
          <a:ln w="9525">
            <a:solidFill>
              <a:srgbClr val="CBD5E1">
                <a:alpha val="45000"/>
              </a:srgbClr>
            </a:solidFill>
            <a:prstDash val="solid"/>
          </a:ln>
        </p:spPr>
      </p:cxnSp>
      <p:cxnSp>
        <p:nvCxnSpPr>
          <p:cNvPr id="1465378723" name="Straight Arrow Connector 2036758709"/>
          <p:cNvCxnSpPr>
            <a:stCxn id="1357426308" idx="6"/>
            <a:endCxn id="2119932753" idx="2"/>
          </p:cNvCxnSpPr>
          <p:nvPr/>
        </p:nvCxnSpPr>
        <p:spPr bwMode="auto">
          <a:xfrm rot="0" flipH="0" flipV="1">
            <a:off x="7277099" y="3045023"/>
            <a:ext cx="2019299" cy="0"/>
          </a:xfrm>
          <a:prstGeom prst="straightConnector1">
            <a:avLst/>
          </a:prstGeom>
          <a:ln w="9525">
            <a:solidFill>
              <a:srgbClr val="CBD5E1">
                <a:alpha val="45000"/>
              </a:srgbClr>
            </a:solidFill>
            <a:prstDash val="solid"/>
          </a:ln>
        </p:spPr>
      </p:cxnSp>
      <p:cxnSp>
        <p:nvCxnSpPr>
          <p:cNvPr id="2099810944" name="Straight Arrow Connector 2036758710"/>
          <p:cNvCxnSpPr>
            <a:stCxn id="1357426308" idx="6"/>
            <a:endCxn id="1907423826" idx="2"/>
          </p:cNvCxnSpPr>
          <p:nvPr/>
        </p:nvCxnSpPr>
        <p:spPr bwMode="auto">
          <a:xfrm rot="0" flipH="0" flipV="0">
            <a:off x="7277099" y="3047999"/>
            <a:ext cx="2019299" cy="1271587"/>
          </a:xfrm>
          <a:prstGeom prst="straightConnector1">
            <a:avLst/>
          </a:prstGeom>
          <a:ln w="9525">
            <a:solidFill>
              <a:srgbClr val="CBD5E1">
                <a:alpha val="45000"/>
              </a:srgbClr>
            </a:solidFill>
            <a:prstDash val="solid"/>
          </a:ln>
        </p:spPr>
      </p:cxnSp>
      <p:cxnSp>
        <p:nvCxnSpPr>
          <p:cNvPr id="288449060" name="Straight Arrow Connector 2036758711"/>
          <p:cNvCxnSpPr>
            <a:stCxn id="716181229" idx="6"/>
            <a:endCxn id="2119932753" idx="2"/>
          </p:cNvCxnSpPr>
          <p:nvPr/>
        </p:nvCxnSpPr>
        <p:spPr bwMode="auto">
          <a:xfrm rot="0" flipH="0" flipV="1">
            <a:off x="7277099" y="3042046"/>
            <a:ext cx="2019299" cy="625078"/>
          </a:xfrm>
          <a:prstGeom prst="straightConnector1">
            <a:avLst/>
          </a:prstGeom>
          <a:ln w="9525">
            <a:solidFill>
              <a:srgbClr val="CBD5E1">
                <a:alpha val="45000"/>
              </a:srgbClr>
            </a:solidFill>
            <a:prstDash val="solid"/>
          </a:ln>
        </p:spPr>
      </p:cxnSp>
      <p:cxnSp>
        <p:nvCxnSpPr>
          <p:cNvPr id="1878637697" name="Straight Arrow Connector 2036758712"/>
          <p:cNvCxnSpPr>
            <a:stCxn id="716181229" idx="6"/>
            <a:endCxn id="1907423826" idx="2"/>
          </p:cNvCxnSpPr>
          <p:nvPr/>
        </p:nvCxnSpPr>
        <p:spPr bwMode="auto">
          <a:xfrm rot="0" flipH="0" flipV="0">
            <a:off x="7277099" y="3667124"/>
            <a:ext cx="2019299" cy="652462"/>
          </a:xfrm>
          <a:prstGeom prst="straightConnector1">
            <a:avLst/>
          </a:prstGeom>
          <a:ln w="9525">
            <a:solidFill>
              <a:srgbClr val="CBD5E1">
                <a:alpha val="45000"/>
              </a:srgbClr>
            </a:solidFill>
            <a:prstDash val="solid"/>
          </a:ln>
        </p:spPr>
      </p:cxnSp>
      <p:cxnSp>
        <p:nvCxnSpPr>
          <p:cNvPr id="1551567323" name="Straight Arrow Connector 2036758713"/>
          <p:cNvCxnSpPr>
            <a:stCxn id="579766288" idx="6"/>
            <a:endCxn id="2119932753" idx="2"/>
          </p:cNvCxnSpPr>
          <p:nvPr/>
        </p:nvCxnSpPr>
        <p:spPr bwMode="auto">
          <a:xfrm rot="0" flipH="0" flipV="1">
            <a:off x="7277099" y="3042046"/>
            <a:ext cx="2019299" cy="1244202"/>
          </a:xfrm>
          <a:prstGeom prst="straightConnector1">
            <a:avLst/>
          </a:prstGeom>
          <a:ln w="9525">
            <a:solidFill>
              <a:srgbClr val="CBD5E1">
                <a:alpha val="45000"/>
              </a:srgbClr>
            </a:solidFill>
            <a:prstDash val="solid"/>
          </a:ln>
        </p:spPr>
      </p:cxnSp>
      <p:cxnSp>
        <p:nvCxnSpPr>
          <p:cNvPr id="2053846396" name="Straight Arrow Connector 2036758714"/>
          <p:cNvCxnSpPr>
            <a:stCxn id="579766288" idx="6"/>
            <a:endCxn id="1907423826" idx="2"/>
          </p:cNvCxnSpPr>
          <p:nvPr/>
        </p:nvCxnSpPr>
        <p:spPr bwMode="auto">
          <a:xfrm rot="0" flipH="0" flipV="0">
            <a:off x="7277099" y="4286250"/>
            <a:ext cx="2019299" cy="33337"/>
          </a:xfrm>
          <a:prstGeom prst="straightConnector1">
            <a:avLst/>
          </a:prstGeom>
          <a:ln w="9525">
            <a:solidFill>
              <a:srgbClr val="CBD5E1">
                <a:alpha val="45000"/>
              </a:srgbClr>
            </a:solidFill>
            <a:prstDash val="solid"/>
          </a:ln>
        </p:spPr>
      </p:cxnSp>
      <p:cxnSp>
        <p:nvCxnSpPr>
          <p:cNvPr id="1648095513" name="Straight Arrow Connector 2036758715"/>
          <p:cNvCxnSpPr>
            <a:stCxn id="1519997182" idx="6"/>
            <a:endCxn id="2119932753" idx="2"/>
          </p:cNvCxnSpPr>
          <p:nvPr/>
        </p:nvCxnSpPr>
        <p:spPr bwMode="auto">
          <a:xfrm rot="0" flipH="0" flipV="1">
            <a:off x="7277099" y="3042046"/>
            <a:ext cx="2019299" cy="1863327"/>
          </a:xfrm>
          <a:prstGeom prst="straightConnector1">
            <a:avLst/>
          </a:prstGeom>
          <a:ln w="9525">
            <a:solidFill>
              <a:srgbClr val="CBD5E1">
                <a:alpha val="45000"/>
              </a:srgbClr>
            </a:solidFill>
            <a:prstDash val="solid"/>
          </a:ln>
        </p:spPr>
      </p:cxnSp>
      <p:cxnSp>
        <p:nvCxnSpPr>
          <p:cNvPr id="104470461" name="Straight Arrow Connector 2036758716"/>
          <p:cNvCxnSpPr>
            <a:stCxn id="1519997182" idx="6"/>
            <a:endCxn id="1907423826" idx="2"/>
          </p:cNvCxnSpPr>
          <p:nvPr/>
        </p:nvCxnSpPr>
        <p:spPr bwMode="auto">
          <a:xfrm rot="0" flipH="0" flipV="1">
            <a:off x="7277099" y="4319587"/>
            <a:ext cx="2019299" cy="585787"/>
          </a:xfrm>
          <a:prstGeom prst="straightConnector1">
            <a:avLst/>
          </a:prstGeom>
          <a:ln w="9525">
            <a:solidFill>
              <a:srgbClr val="CBD5E1">
                <a:alpha val="45000"/>
              </a:srgbClr>
            </a:solidFill>
            <a:prstDash val="soli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97824039" name=""/>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Neural networks</a:t>
            </a:r>
            <a:endParaRPr/>
          </a:p>
        </p:txBody>
      </p:sp>
      <p:sp>
        <p:nvSpPr>
          <p:cNvPr id="367767093" name=""/>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A tiny network: width 1, depth 2</a:t>
            </a:r>
            <a:endParaRPr/>
          </a:p>
        </p:txBody>
      </p:sp>
      <p:sp>
        <p:nvSpPr>
          <p:cNvPr id="883548823" name=""/>
          <p:cNvSpPr>
            <a:spLocks noGrp="1"/>
          </p:cNvSpPr>
          <p:nvPr/>
        </p:nvSpPr>
        <p:spPr bwMode="auto">
          <a:xfrm>
            <a:off x="609600" y="1352550"/>
            <a:ext cx="10972800" cy="4762500"/>
          </a:xfrm>
          <a:prstGeom prst="roundRect">
            <a:avLst>
              <a:gd name="adj" fmla="val 2400"/>
            </a:avLst>
          </a:prstGeom>
          <a:solidFill>
            <a:srgbClr val="F8FAFC"/>
          </a:solidFill>
          <a:ln w="14288">
            <a:solidFill>
              <a:srgbClr val="E2E8F0"/>
            </a:solidFill>
            <a:prstDash val="solid"/>
          </a:ln>
        </p:spPr>
      </p:sp>
      <p:sp>
        <p:nvSpPr>
          <p:cNvPr id="30435301" name=""/>
          <p:cNvSpPr>
            <a:spLocks noGrp="1"/>
          </p:cNvSpPr>
          <p:nvPr/>
        </p:nvSpPr>
        <p:spPr bwMode="auto">
          <a:xfrm>
            <a:off x="3276599" y="3209925"/>
            <a:ext cx="1143000" cy="438149"/>
          </a:xfrm>
          <a:prstGeom prst="rightArrow">
            <a:avLst>
              <a:gd name="adj1" fmla="val 50000"/>
              <a:gd name="adj2" fmla="val 50000"/>
            </a:avLst>
          </a:prstGeom>
          <a:solidFill>
            <a:srgbClr val="DBEAFE"/>
          </a:solidFill>
          <a:ln w="14288">
            <a:solidFill>
              <a:srgbClr val="2563EB"/>
            </a:solidFill>
            <a:prstDash val="solid"/>
          </a:ln>
        </p:spPr>
        <p:txBody>
          <a:bodyPr vert="horz" wrap="square" lIns="91440" tIns="45720" rIns="91440" bIns="45720" anchor="ctr"/>
          <a:lstStyle/>
          <a:p>
            <a:pPr algn="ctr">
              <a:buNone/>
              <a:defRPr sz="1350" b="1">
                <a:solidFill>
                  <a:srgbClr val="2563EB"/>
                </a:solidFill>
              </a:defRPr>
            </a:pPr>
            <a:r>
              <a:rPr sz="1350" b="1">
                <a:solidFill>
                  <a:srgbClr val="2563EB"/>
                </a:solidFill>
              </a:rPr>
              <a:t>w₁</a:t>
            </a:r>
            <a:endParaRPr/>
          </a:p>
        </p:txBody>
      </p:sp>
      <p:sp>
        <p:nvSpPr>
          <p:cNvPr id="664671565" name=""/>
          <p:cNvSpPr>
            <a:spLocks noGrp="1"/>
          </p:cNvSpPr>
          <p:nvPr/>
        </p:nvSpPr>
        <p:spPr bwMode="auto">
          <a:xfrm>
            <a:off x="5524499" y="3181352"/>
            <a:ext cx="1143000" cy="438149"/>
          </a:xfrm>
          <a:prstGeom prst="rightArrow">
            <a:avLst>
              <a:gd name="adj1" fmla="val 50000"/>
              <a:gd name="adj2" fmla="val 50000"/>
            </a:avLst>
          </a:prstGeom>
          <a:solidFill>
            <a:srgbClr val="DBEAFE"/>
          </a:solidFill>
          <a:ln w="14288">
            <a:solidFill>
              <a:srgbClr val="2563EB"/>
            </a:solidFill>
            <a:prstDash val="solid"/>
          </a:ln>
        </p:spPr>
        <p:txBody>
          <a:bodyPr vert="horz" wrap="square" lIns="91440" tIns="45720" rIns="91440" bIns="45720" anchor="ctr"/>
          <a:lstStyle/>
          <a:p>
            <a:pPr algn="ctr">
              <a:buNone/>
              <a:defRPr sz="1350" b="1">
                <a:solidFill>
                  <a:srgbClr val="2563EB"/>
                </a:solidFill>
              </a:defRPr>
            </a:pPr>
            <a:r>
              <a:rPr sz="1350" b="1">
                <a:solidFill>
                  <a:srgbClr val="2563EB"/>
                </a:solidFill>
              </a:rPr>
              <a:t>w₂</a:t>
            </a:r>
            <a:endParaRPr/>
          </a:p>
        </p:txBody>
      </p:sp>
      <p:sp>
        <p:nvSpPr>
          <p:cNvPr id="1891700563" name=""/>
          <p:cNvSpPr>
            <a:spLocks noGrp="1"/>
          </p:cNvSpPr>
          <p:nvPr/>
        </p:nvSpPr>
        <p:spPr bwMode="auto">
          <a:xfrm>
            <a:off x="7772400" y="3181352"/>
            <a:ext cx="1143000" cy="438149"/>
          </a:xfrm>
          <a:prstGeom prst="rightArrow">
            <a:avLst>
              <a:gd name="adj1" fmla="val 50000"/>
              <a:gd name="adj2" fmla="val 50000"/>
            </a:avLst>
          </a:prstGeom>
          <a:solidFill>
            <a:srgbClr val="DBEAFE"/>
          </a:solidFill>
          <a:ln w="14288">
            <a:solidFill>
              <a:srgbClr val="2563EB"/>
            </a:solidFill>
            <a:prstDash val="solid"/>
          </a:ln>
        </p:spPr>
        <p:txBody>
          <a:bodyPr vert="horz" wrap="square" lIns="91440" tIns="45720" rIns="91440" bIns="45720" anchor="ctr"/>
          <a:lstStyle/>
          <a:p>
            <a:pPr lvl="0" algn="ctr">
              <a:buNone/>
              <a:defRPr sz="1350" b="1">
                <a:solidFill>
                  <a:srgbClr val="2563EB"/>
                </a:solidFill>
              </a:defRPr>
            </a:pPr>
            <a:r>
              <a:rPr sz="1350" b="1">
                <a:solidFill>
                  <a:srgbClr val="2563EB"/>
                </a:solidFill>
              </a:rPr>
              <a:t>w₃</a:t>
            </a:r>
            <a:endParaRPr/>
          </a:p>
        </p:txBody>
      </p:sp>
      <p:sp>
        <p:nvSpPr>
          <p:cNvPr id="1774263469" name=""/>
          <p:cNvSpPr>
            <a:spLocks noGrp="1"/>
          </p:cNvSpPr>
          <p:nvPr/>
        </p:nvSpPr>
        <p:spPr bwMode="auto">
          <a:xfrm>
            <a:off x="2171700" y="2857501"/>
            <a:ext cx="1104900" cy="1104900"/>
          </a:xfrm>
          <a:prstGeom prst="ellipse">
            <a:avLst/>
          </a:prstGeom>
          <a:solidFill>
            <a:srgbClr val="FFFFFF"/>
          </a:solidFill>
          <a:ln w="19050">
            <a:solidFill>
              <a:srgbClr val="667085"/>
            </a:solidFill>
            <a:prstDash val="solid"/>
          </a:ln>
        </p:spPr>
        <p:txBody>
          <a:bodyPr/>
          <a:lstStyle/>
          <a:p>
            <a:pPr algn="ctr">
              <a:buNone/>
              <a:defRPr sz="2400" b="1">
                <a:solidFill>
                  <a:srgbClr val="667085"/>
                </a:solidFill>
              </a:defRPr>
            </a:pPr>
            <a:r>
              <a:rPr sz="2400" b="1">
                <a:solidFill>
                  <a:srgbClr val="667085"/>
                </a:solidFill>
              </a:rPr>
              <a:t>x</a:t>
            </a:r>
            <a:endParaRPr/>
          </a:p>
        </p:txBody>
      </p:sp>
      <p:sp>
        <p:nvSpPr>
          <p:cNvPr id="853291487" name=""/>
          <p:cNvSpPr>
            <a:spLocks noGrp="1"/>
          </p:cNvSpPr>
          <p:nvPr/>
        </p:nvSpPr>
        <p:spPr bwMode="auto">
          <a:xfrm>
            <a:off x="4419599" y="2847977"/>
            <a:ext cx="1104900" cy="1104900"/>
          </a:xfrm>
          <a:prstGeom prst="ellipse">
            <a:avLst/>
          </a:prstGeom>
          <a:solidFill>
            <a:srgbClr val="DBEAFE"/>
          </a:solidFill>
          <a:ln w="19050">
            <a:solidFill>
              <a:srgbClr val="2563EB"/>
            </a:solidFill>
            <a:prstDash val="solid"/>
          </a:ln>
        </p:spPr>
        <p:txBody>
          <a:bodyPr/>
          <a:lstStyle/>
          <a:p>
            <a:pPr algn="ctr">
              <a:buNone/>
              <a:defRPr sz="2400" b="1">
                <a:solidFill>
                  <a:srgbClr val="2563EB"/>
                </a:solidFill>
              </a:defRPr>
            </a:pPr>
            <a:r>
              <a:rPr sz="2400" b="1">
                <a:solidFill>
                  <a:srgbClr val="2563EB"/>
                </a:solidFill>
              </a:rPr>
              <a:t>h1</a:t>
            </a:r>
            <a:endParaRPr/>
          </a:p>
        </p:txBody>
      </p:sp>
      <p:sp>
        <p:nvSpPr>
          <p:cNvPr id="1792906236" name=""/>
          <p:cNvSpPr>
            <a:spLocks noGrp="1"/>
          </p:cNvSpPr>
          <p:nvPr/>
        </p:nvSpPr>
        <p:spPr bwMode="auto">
          <a:xfrm>
            <a:off x="6667499" y="2847977"/>
            <a:ext cx="1104900" cy="1104900"/>
          </a:xfrm>
          <a:prstGeom prst="ellipse">
            <a:avLst/>
          </a:prstGeom>
          <a:solidFill>
            <a:srgbClr val="EDE9FE"/>
          </a:solidFill>
          <a:ln w="19050">
            <a:solidFill>
              <a:srgbClr val="7C3AED"/>
            </a:solidFill>
            <a:prstDash val="solid"/>
          </a:ln>
        </p:spPr>
        <p:txBody>
          <a:bodyPr/>
          <a:lstStyle/>
          <a:p>
            <a:pPr algn="ctr">
              <a:buNone/>
              <a:defRPr sz="2400" b="1">
                <a:solidFill>
                  <a:srgbClr val="7C3AED"/>
                </a:solidFill>
              </a:defRPr>
            </a:pPr>
            <a:r>
              <a:rPr sz="2400" b="1">
                <a:solidFill>
                  <a:srgbClr val="7C3AED"/>
                </a:solidFill>
              </a:rPr>
              <a:t>h2</a:t>
            </a:r>
            <a:endParaRPr/>
          </a:p>
        </p:txBody>
      </p:sp>
      <p:sp>
        <p:nvSpPr>
          <p:cNvPr id="42226971" name=""/>
          <p:cNvSpPr>
            <a:spLocks noGrp="1"/>
          </p:cNvSpPr>
          <p:nvPr/>
        </p:nvSpPr>
        <p:spPr bwMode="auto">
          <a:xfrm>
            <a:off x="8915400" y="2857501"/>
            <a:ext cx="1104900" cy="1104900"/>
          </a:xfrm>
          <a:prstGeom prst="ellipse">
            <a:avLst/>
          </a:prstGeom>
          <a:solidFill>
            <a:srgbClr val="DCFCE7"/>
          </a:solidFill>
          <a:ln w="19050">
            <a:solidFill>
              <a:srgbClr val="10B981"/>
            </a:solidFill>
            <a:prstDash val="solid"/>
          </a:ln>
        </p:spPr>
        <p:txBody>
          <a:bodyPr/>
          <a:lstStyle/>
          <a:p>
            <a:pPr algn="ctr">
              <a:buNone/>
              <a:defRPr sz="2400" b="1">
                <a:solidFill>
                  <a:srgbClr val="10B981"/>
                </a:solidFill>
              </a:defRPr>
            </a:pPr>
            <a:r>
              <a:rPr sz="2400" b="1">
                <a:solidFill>
                  <a:srgbClr val="10B981"/>
                </a:solidFill>
              </a:rPr>
              <a:t>ŷ</a:t>
            </a:r>
            <a:endParaRPr/>
          </a:p>
        </p:txBody>
      </p:sp>
      <p:sp>
        <p:nvSpPr>
          <p:cNvPr id="1089881667" name=""/>
          <p:cNvSpPr>
            <a:spLocks noGrp="1"/>
          </p:cNvSpPr>
          <p:nvPr/>
        </p:nvSpPr>
        <p:spPr bwMode="auto">
          <a:xfrm>
            <a:off x="1914525" y="4219576"/>
            <a:ext cx="1619250" cy="304800"/>
          </a:xfrm>
          <a:prstGeom prst="rect">
            <a:avLst/>
          </a:prstGeom>
          <a:noFill/>
          <a:ln w="0">
            <a:noFill/>
            <a:prstDash val="solid"/>
          </a:ln>
        </p:spPr>
        <p:txBody>
          <a:bodyPr/>
          <a:lstStyle/>
          <a:p>
            <a:pPr algn="ctr">
              <a:buNone/>
              <a:defRPr sz="1650" b="1">
                <a:solidFill>
                  <a:srgbClr val="667085"/>
                </a:solidFill>
              </a:defRPr>
            </a:pPr>
            <a:r>
              <a:rPr sz="1650" b="1">
                <a:solidFill>
                  <a:srgbClr val="667085"/>
                </a:solidFill>
              </a:rPr>
              <a:t>input x</a:t>
            </a:r>
            <a:endParaRPr/>
          </a:p>
        </p:txBody>
      </p:sp>
      <p:sp>
        <p:nvSpPr>
          <p:cNvPr id="1395988585" name=""/>
          <p:cNvSpPr>
            <a:spLocks noGrp="1"/>
          </p:cNvSpPr>
          <p:nvPr/>
        </p:nvSpPr>
        <p:spPr bwMode="auto">
          <a:xfrm>
            <a:off x="4162424" y="4210052"/>
            <a:ext cx="1619250" cy="304800"/>
          </a:xfrm>
          <a:prstGeom prst="rect">
            <a:avLst/>
          </a:prstGeom>
          <a:noFill/>
          <a:ln w="0">
            <a:noFill/>
            <a:prstDash val="solid"/>
          </a:ln>
        </p:spPr>
        <p:txBody>
          <a:bodyPr/>
          <a:lstStyle/>
          <a:p>
            <a:pPr algn="ctr">
              <a:buNone/>
              <a:defRPr sz="1650" b="1">
                <a:solidFill>
                  <a:srgbClr val="2563EB"/>
                </a:solidFill>
              </a:defRPr>
            </a:pPr>
            <a:r>
              <a:rPr sz="1650" b="1">
                <a:solidFill>
                  <a:srgbClr val="2563EB"/>
                </a:solidFill>
              </a:rPr>
              <a:t>hidden 1</a:t>
            </a:r>
            <a:endParaRPr/>
          </a:p>
        </p:txBody>
      </p:sp>
      <p:sp>
        <p:nvSpPr>
          <p:cNvPr id="1242620363" name=""/>
          <p:cNvSpPr>
            <a:spLocks noGrp="1"/>
          </p:cNvSpPr>
          <p:nvPr/>
        </p:nvSpPr>
        <p:spPr bwMode="auto">
          <a:xfrm>
            <a:off x="6410324" y="4210052"/>
            <a:ext cx="1619250" cy="304800"/>
          </a:xfrm>
          <a:prstGeom prst="rect">
            <a:avLst/>
          </a:prstGeom>
          <a:noFill/>
          <a:ln w="0">
            <a:noFill/>
            <a:prstDash val="solid"/>
          </a:ln>
        </p:spPr>
        <p:txBody>
          <a:bodyPr/>
          <a:lstStyle/>
          <a:p>
            <a:pPr algn="ctr">
              <a:buNone/>
              <a:defRPr sz="1650" b="1">
                <a:solidFill>
                  <a:srgbClr val="7C3AED"/>
                </a:solidFill>
              </a:defRPr>
            </a:pPr>
            <a:r>
              <a:rPr sz="1650" b="1">
                <a:solidFill>
                  <a:srgbClr val="7C3AED"/>
                </a:solidFill>
              </a:rPr>
              <a:t>hidden 2</a:t>
            </a:r>
            <a:endParaRPr/>
          </a:p>
        </p:txBody>
      </p:sp>
      <p:sp>
        <p:nvSpPr>
          <p:cNvPr id="407247671" name=""/>
          <p:cNvSpPr>
            <a:spLocks noGrp="1"/>
          </p:cNvSpPr>
          <p:nvPr/>
        </p:nvSpPr>
        <p:spPr bwMode="auto">
          <a:xfrm>
            <a:off x="8658225" y="4219576"/>
            <a:ext cx="1619250" cy="304800"/>
          </a:xfrm>
          <a:prstGeom prst="rect">
            <a:avLst/>
          </a:prstGeom>
          <a:noFill/>
          <a:ln w="0">
            <a:noFill/>
            <a:prstDash val="solid"/>
          </a:ln>
        </p:spPr>
        <p:txBody>
          <a:bodyPr/>
          <a:lstStyle/>
          <a:p>
            <a:pPr algn="ctr">
              <a:buNone/>
              <a:defRPr sz="1650" b="1">
                <a:solidFill>
                  <a:srgbClr val="10B981"/>
                </a:solidFill>
              </a:defRPr>
            </a:pPr>
            <a:r>
              <a:rPr sz="1650" b="1">
                <a:solidFill>
                  <a:srgbClr val="10B981"/>
                </a:solidFill>
              </a:rPr>
              <a:t>output ŷ</a:t>
            </a:r>
            <a:endParaRPr/>
          </a:p>
        </p:txBody>
      </p:sp>
      <p:sp>
        <p:nvSpPr>
          <p:cNvPr id="678696763" name=""/>
          <p:cNvSpPr>
            <a:spLocks noGrp="1"/>
          </p:cNvSpPr>
          <p:nvPr/>
        </p:nvSpPr>
        <p:spPr bwMode="auto">
          <a:xfrm>
            <a:off x="3095625" y="1952625"/>
            <a:ext cx="6000750" cy="400050"/>
          </a:xfrm>
          <a:prstGeom prst="rect">
            <a:avLst/>
          </a:prstGeom>
          <a:noFill/>
          <a:ln w="0">
            <a:noFill/>
            <a:prstDash val="solid"/>
          </a:ln>
        </p:spPr>
        <p:txBody>
          <a:bodyPr/>
          <a:lstStyle/>
          <a:p>
            <a:pPr algn="ctr">
              <a:buNone/>
              <a:defRPr sz="2250" b="1">
                <a:solidFill>
                  <a:srgbClr val="2563EB"/>
                </a:solidFill>
              </a:defRPr>
            </a:pPr>
            <a:r>
              <a:rPr sz="2250" b="1">
                <a:solidFill>
                  <a:srgbClr val="2563EB"/>
                </a:solidFill>
              </a:rPr>
              <a:t>width = 1  ·  hidden layers = 2</a:t>
            </a:r>
            <a:endParaRPr/>
          </a:p>
        </p:txBody>
      </p:sp>
      <p:sp>
        <p:nvSpPr>
          <p:cNvPr id="1192495433" name=""/>
          <p:cNvSpPr>
            <a:spLocks noGrp="1"/>
          </p:cNvSpPr>
          <p:nvPr/>
        </p:nvSpPr>
        <p:spPr bwMode="auto">
          <a:xfrm>
            <a:off x="1571625" y="5095875"/>
            <a:ext cx="9048750" cy="342900"/>
          </a:xfrm>
          <a:prstGeom prst="rect">
            <a:avLst/>
          </a:prstGeom>
          <a:noFill/>
          <a:ln w="0">
            <a:noFill/>
            <a:prstDash val="solid"/>
          </a:ln>
        </p:spPr>
        <p:txBody>
          <a:bodyPr/>
          <a:lstStyle/>
          <a:p>
            <a:pPr algn="ctr">
              <a:buNone/>
              <a:defRPr sz="1800" b="1">
                <a:solidFill>
                  <a:srgbClr val="0B0F19"/>
                </a:solidFill>
              </a:defRPr>
            </a:pPr>
            <a:r>
              <a:rPr sz="1800" b="1">
                <a:solidFill>
                  <a:srgbClr val="0B0F19"/>
                </a:solidFill>
              </a:rPr>
              <a:t>h₁ = σ(w₁x + b₁)     h₂ = σ(w₂h₁ + b₂)     ŷ = w₃h₂ + b₃</a:t>
            </a:r>
            <a:endParaRPr/>
          </a:p>
        </p:txBody>
      </p:sp>
      <p:sp>
        <p:nvSpPr>
          <p:cNvPr id="1983941595" name=""/>
          <p:cNvSpPr>
            <a:spLocks noGrp="1"/>
          </p:cNvSpPr>
          <p:nvPr/>
        </p:nvSpPr>
        <p:spPr bwMode="auto">
          <a:xfrm>
            <a:off x="4572000" y="3609977"/>
            <a:ext cx="800100" cy="209550"/>
          </a:xfrm>
          <a:prstGeom prst="rect">
            <a:avLst/>
          </a:prstGeom>
          <a:noFill/>
          <a:ln w="0">
            <a:noFill/>
            <a:prstDash val="solid"/>
          </a:ln>
        </p:spPr>
        <p:txBody>
          <a:bodyPr/>
          <a:lstStyle/>
          <a:p>
            <a:pPr algn="ctr">
              <a:buNone/>
              <a:defRPr sz="1200" b="1">
                <a:solidFill>
                  <a:srgbClr val="2563EB"/>
                </a:solidFill>
              </a:defRPr>
            </a:pPr>
            <a:r>
              <a:rPr sz="1200" b="1">
                <a:solidFill>
                  <a:srgbClr val="2563EB"/>
                </a:solidFill>
              </a:rPr>
              <a:t>+ b₁</a:t>
            </a:r>
            <a:endParaRPr/>
          </a:p>
        </p:txBody>
      </p:sp>
      <p:sp>
        <p:nvSpPr>
          <p:cNvPr id="1298832520" name=""/>
          <p:cNvSpPr>
            <a:spLocks noGrp="1"/>
          </p:cNvSpPr>
          <p:nvPr/>
        </p:nvSpPr>
        <p:spPr bwMode="auto">
          <a:xfrm>
            <a:off x="6819899" y="3609977"/>
            <a:ext cx="800100" cy="209550"/>
          </a:xfrm>
          <a:prstGeom prst="rect">
            <a:avLst/>
          </a:prstGeom>
          <a:noFill/>
          <a:ln w="0">
            <a:noFill/>
            <a:prstDash val="solid"/>
          </a:ln>
        </p:spPr>
        <p:txBody>
          <a:bodyPr/>
          <a:lstStyle/>
          <a:p>
            <a:pPr algn="ctr">
              <a:buNone/>
              <a:defRPr sz="1200" b="1">
                <a:solidFill>
                  <a:srgbClr val="7C3AED"/>
                </a:solidFill>
              </a:defRPr>
            </a:pPr>
            <a:r>
              <a:rPr sz="1200" b="1">
                <a:solidFill>
                  <a:srgbClr val="7C3AED"/>
                </a:solidFill>
              </a:rPr>
              <a:t>+ b₂</a:t>
            </a:r>
            <a:endParaRPr/>
          </a:p>
        </p:txBody>
      </p:sp>
      <p:sp>
        <p:nvSpPr>
          <p:cNvPr id="1998109536" name=""/>
          <p:cNvSpPr>
            <a:spLocks noGrp="1"/>
          </p:cNvSpPr>
          <p:nvPr/>
        </p:nvSpPr>
        <p:spPr bwMode="auto">
          <a:xfrm>
            <a:off x="9067799" y="3619501"/>
            <a:ext cx="800100" cy="209550"/>
          </a:xfrm>
          <a:prstGeom prst="rect">
            <a:avLst/>
          </a:prstGeom>
          <a:noFill/>
          <a:ln w="0">
            <a:noFill/>
            <a:prstDash val="solid"/>
          </a:ln>
        </p:spPr>
        <p:txBody>
          <a:bodyPr/>
          <a:lstStyle/>
          <a:p>
            <a:pPr algn="ctr">
              <a:buNone/>
              <a:defRPr sz="1200" b="1">
                <a:solidFill>
                  <a:srgbClr val="10B981"/>
                </a:solidFill>
              </a:defRPr>
            </a:pPr>
            <a:r>
              <a:rPr sz="1200" b="1">
                <a:solidFill>
                  <a:srgbClr val="10B981"/>
                </a:solidFill>
              </a:rPr>
              <a:t>+ b₃</a:t>
            </a:r>
            <a:endParaRPr/>
          </a:p>
        </p:txBody>
      </p:sp>
      <p:sp>
        <p:nvSpPr>
          <p:cNvPr id="808663873" name=""/>
          <p:cNvSpPr>
            <a:spLocks noGrp="1"/>
          </p:cNvSpPr>
          <p:nvPr/>
        </p:nvSpPr>
        <p:spPr bwMode="auto">
          <a:xfrm>
            <a:off x="4524375" y="5524500"/>
            <a:ext cx="3143250" cy="266700"/>
          </a:xfrm>
          <a:prstGeom prst="rect">
            <a:avLst/>
          </a:prstGeom>
          <a:noFill/>
          <a:ln w="0">
            <a:noFill/>
            <a:prstDash val="solid"/>
          </a:ln>
        </p:spPr>
        <p:txBody>
          <a:bodyPr/>
          <a:lstStyle/>
          <a:p>
            <a:pPr algn="ctr">
              <a:buNone/>
              <a:defRPr sz="1350" b="1">
                <a:solidFill>
                  <a:srgbClr val="2563EB"/>
                </a:solidFill>
              </a:defRPr>
            </a:pPr>
            <a:r>
              <a:rPr sz="1350" b="1">
                <a:solidFill>
                  <a:srgbClr val="2563EB"/>
                </a:solidFill>
              </a:rPr>
              <a:t>σ = activation function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89908975" name=""/>
          <p:cNvSpPr>
            <a:spLocks noGrp="1"/>
          </p:cNvSpPr>
          <p:nvPr/>
        </p:nvSpPr>
        <p:spPr bwMode="auto">
          <a:xfrm>
            <a:off x="0" y="0"/>
            <a:ext cx="12192000" cy="6858000"/>
          </a:xfrm>
          <a:prstGeom prst="rect">
            <a:avLst/>
          </a:prstGeom>
          <a:solidFill>
            <a:srgbClr val="FFFFFF"/>
          </a:solidFill>
          <a:ln w="0">
            <a:noFill/>
            <a:prstDash val="solid"/>
          </a:ln>
        </p:spPr>
      </p:sp>
      <p:sp>
        <p:nvSpPr>
          <p:cNvPr id="1456675059" name=""/>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Activation functions</a:t>
            </a:r>
            <a:endParaRPr/>
          </a:p>
        </p:txBody>
      </p:sp>
      <p:sp>
        <p:nvSpPr>
          <p:cNvPr id="685086082" name=""/>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latin typeface="Calibri"/>
                <a:ea typeface="Calibri"/>
                <a:cs typeface="Calibri"/>
              </a:defRPr>
            </a:pPr>
            <a:r>
              <a:rPr sz="3000" b="1">
                <a:solidFill>
                  <a:srgbClr val="0B0F19"/>
                </a:solidFill>
                <a:latin typeface="Calibri"/>
                <a:ea typeface="Calibri"/>
                <a:cs typeface="Calibri"/>
              </a:rPr>
              <a:t>Activation functions make depth useful</a:t>
            </a:r>
            <a:endParaRPr/>
          </a:p>
        </p:txBody>
      </p:sp>
      <p:sp>
        <p:nvSpPr>
          <p:cNvPr id="703067206" name=""/>
          <p:cNvSpPr>
            <a:spLocks noGrp="1"/>
          </p:cNvSpPr>
          <p:nvPr/>
        </p:nvSpPr>
        <p:spPr bwMode="auto">
          <a:xfrm>
            <a:off x="609600" y="1352550"/>
            <a:ext cx="10972800" cy="4762500"/>
          </a:xfrm>
          <a:prstGeom prst="roundRect">
            <a:avLst>
              <a:gd name="adj" fmla="val 2400"/>
            </a:avLst>
          </a:prstGeom>
          <a:solidFill>
            <a:srgbClr val="F8FAFC"/>
          </a:solidFill>
          <a:ln w="14288">
            <a:solidFill>
              <a:srgbClr val="E2E8F0"/>
            </a:solidFill>
            <a:prstDash val="solid"/>
          </a:ln>
        </p:spPr>
      </p:sp>
      <p:sp>
        <p:nvSpPr>
          <p:cNvPr id="2073093973" name=""/>
          <p:cNvSpPr>
            <a:spLocks noGrp="1"/>
          </p:cNvSpPr>
          <p:nvPr/>
        </p:nvSpPr>
        <p:spPr bwMode="auto">
          <a:xfrm>
            <a:off x="1095375" y="1809750"/>
            <a:ext cx="4191000" cy="552450"/>
          </a:xfrm>
          <a:prstGeom prst="roundRect">
            <a:avLst>
              <a:gd name="adj" fmla="val 20690"/>
            </a:avLst>
          </a:prstGeom>
          <a:solidFill>
            <a:srgbClr val="FEF2F2"/>
          </a:solidFill>
          <a:ln w="14288">
            <a:solidFill>
              <a:srgbClr val="EF4444"/>
            </a:solidFill>
            <a:prstDash val="solid"/>
          </a:ln>
        </p:spPr>
        <p:txBody>
          <a:bodyPr/>
          <a:lstStyle/>
          <a:p>
            <a:pPr algn="ctr">
              <a:buNone/>
              <a:defRPr sz="1900" b="1">
                <a:solidFill>
                  <a:srgbClr val="EF4444"/>
                </a:solidFill>
                <a:latin typeface="Calibri"/>
                <a:ea typeface="Calibri"/>
                <a:cs typeface="Calibri"/>
              </a:defRPr>
            </a:pPr>
            <a:r>
              <a:rPr sz="1900" b="1">
                <a:solidFill>
                  <a:srgbClr val="EF4444"/>
                </a:solidFill>
                <a:latin typeface="Calibri"/>
                <a:ea typeface="Calibri"/>
                <a:cs typeface="Calibri"/>
              </a:rPr>
              <a:t>Linear layers only</a:t>
            </a:r>
            <a:endParaRPr/>
          </a:p>
        </p:txBody>
      </p:sp>
      <p:sp>
        <p:nvSpPr>
          <p:cNvPr id="1748555113" name=""/>
          <p:cNvSpPr>
            <a:spLocks noGrp="1"/>
          </p:cNvSpPr>
          <p:nvPr/>
        </p:nvSpPr>
        <p:spPr bwMode="auto">
          <a:xfrm>
            <a:off x="6905625" y="1809750"/>
            <a:ext cx="4191000" cy="552450"/>
          </a:xfrm>
          <a:prstGeom prst="roundRect">
            <a:avLst>
              <a:gd name="adj" fmla="val 20690"/>
            </a:avLst>
          </a:prstGeom>
          <a:solidFill>
            <a:srgbClr val="ECFDF5"/>
          </a:solidFill>
          <a:ln w="14288">
            <a:solidFill>
              <a:srgbClr val="10B981"/>
            </a:solidFill>
            <a:prstDash val="solid"/>
          </a:ln>
        </p:spPr>
        <p:txBody>
          <a:bodyPr/>
          <a:lstStyle/>
          <a:p>
            <a:pPr algn="ctr">
              <a:buNone/>
              <a:defRPr sz="1900" b="1">
                <a:solidFill>
                  <a:srgbClr val="10B981"/>
                </a:solidFill>
                <a:latin typeface="Calibri"/>
                <a:ea typeface="Calibri"/>
                <a:cs typeface="Calibri"/>
              </a:defRPr>
            </a:pPr>
            <a:r>
              <a:rPr sz="1900" b="1">
                <a:solidFill>
                  <a:srgbClr val="10B981"/>
                </a:solidFill>
                <a:latin typeface="Calibri"/>
                <a:ea typeface="Calibri"/>
                <a:cs typeface="Calibri"/>
              </a:rPr>
              <a:t>Activation between layers</a:t>
            </a:r>
            <a:endParaRPr/>
          </a:p>
        </p:txBody>
      </p:sp>
      <p:sp>
        <p:nvSpPr>
          <p:cNvPr id="309143750" name=""/>
          <p:cNvSpPr>
            <a:spLocks noGrp="1"/>
          </p:cNvSpPr>
          <p:nvPr/>
        </p:nvSpPr>
        <p:spPr bwMode="auto">
          <a:xfrm>
            <a:off x="1047750" y="2905125"/>
            <a:ext cx="1285875" cy="933450"/>
          </a:xfrm>
          <a:prstGeom prst="roundRect">
            <a:avLst>
              <a:gd name="adj" fmla="val 15385"/>
            </a:avLst>
          </a:prstGeom>
          <a:solidFill>
            <a:srgbClr val="FFFFFF"/>
          </a:solidFill>
          <a:ln w="14288">
            <a:solidFill>
              <a:srgbClr val="CBD5E1"/>
            </a:solidFill>
            <a:prstDash val="solid"/>
          </a:ln>
        </p:spPr>
        <p:txBody>
          <a:bodyPr anchor="ctr"/>
          <a:lstStyle/>
          <a:p>
            <a:pPr algn="ctr">
              <a:buNone/>
              <a:defRPr sz="1150" b="1">
                <a:solidFill>
                  <a:srgbClr val="0B0F19"/>
                </a:solidFill>
                <a:latin typeface="Calibri"/>
                <a:ea typeface="Calibri"/>
                <a:cs typeface="Calibri"/>
              </a:defRPr>
            </a:pPr>
            <a:r>
              <a:rPr sz="1150" b="1">
                <a:solidFill>
                  <a:srgbClr val="0B0F19"/>
                </a:solidFill>
                <a:latin typeface="Calibri"/>
                <a:ea typeface="Calibri"/>
                <a:cs typeface="Calibri"/>
              </a:rPr>
              <a:t>z₁ = w₁x + b₁</a:t>
            </a:r>
            <a:endParaRPr/>
          </a:p>
        </p:txBody>
      </p:sp>
      <p:sp>
        <p:nvSpPr>
          <p:cNvPr id="977560912" name=""/>
          <p:cNvSpPr>
            <a:spLocks noGrp="1"/>
          </p:cNvSpPr>
          <p:nvPr/>
        </p:nvSpPr>
        <p:spPr bwMode="auto">
          <a:xfrm>
            <a:off x="2333625" y="3181350"/>
            <a:ext cx="190500" cy="361950"/>
          </a:xfrm>
          <a:prstGeom prst="rightArrow">
            <a:avLst>
              <a:gd name="adj1" fmla="val 50000"/>
              <a:gd name="adj2" fmla="val 50000"/>
            </a:avLst>
          </a:prstGeom>
          <a:solidFill>
            <a:srgbClr val="FEE2E2"/>
          </a:solidFill>
          <a:ln w="14288">
            <a:solidFill>
              <a:srgbClr val="EF4444"/>
            </a:solidFill>
            <a:prstDash val="solid"/>
          </a:ln>
        </p:spPr>
      </p:sp>
      <p:sp>
        <p:nvSpPr>
          <p:cNvPr id="322329313" name=""/>
          <p:cNvSpPr>
            <a:spLocks noGrp="1"/>
          </p:cNvSpPr>
          <p:nvPr/>
        </p:nvSpPr>
        <p:spPr bwMode="auto">
          <a:xfrm>
            <a:off x="2524125" y="2905125"/>
            <a:ext cx="1285875" cy="933450"/>
          </a:xfrm>
          <a:prstGeom prst="roundRect">
            <a:avLst>
              <a:gd name="adj" fmla="val 15385"/>
            </a:avLst>
          </a:prstGeom>
          <a:solidFill>
            <a:srgbClr val="FFFFFF"/>
          </a:solidFill>
          <a:ln w="14288">
            <a:solidFill>
              <a:srgbClr val="CBD5E1"/>
            </a:solidFill>
            <a:prstDash val="solid"/>
          </a:ln>
        </p:spPr>
        <p:txBody>
          <a:bodyPr anchor="ctr"/>
          <a:lstStyle/>
          <a:p>
            <a:pPr algn="ctr">
              <a:buNone/>
              <a:defRPr sz="1150" b="1">
                <a:solidFill>
                  <a:srgbClr val="0B0F19"/>
                </a:solidFill>
                <a:latin typeface="Calibri"/>
                <a:ea typeface="Calibri"/>
                <a:cs typeface="Calibri"/>
              </a:defRPr>
            </a:pPr>
            <a:r>
              <a:rPr sz="1150" b="1">
                <a:solidFill>
                  <a:srgbClr val="0B0F19"/>
                </a:solidFill>
                <a:latin typeface="Calibri"/>
                <a:ea typeface="Calibri"/>
                <a:cs typeface="Calibri"/>
              </a:rPr>
              <a:t>z₂ = w₂z₁ + b₂</a:t>
            </a:r>
            <a:endParaRPr/>
          </a:p>
        </p:txBody>
      </p:sp>
      <p:sp>
        <p:nvSpPr>
          <p:cNvPr id="1733251711" name=""/>
          <p:cNvSpPr>
            <a:spLocks noGrp="1"/>
          </p:cNvSpPr>
          <p:nvPr/>
        </p:nvSpPr>
        <p:spPr bwMode="auto">
          <a:xfrm>
            <a:off x="3810000" y="3181350"/>
            <a:ext cx="190500" cy="361950"/>
          </a:xfrm>
          <a:prstGeom prst="rightArrow">
            <a:avLst>
              <a:gd name="adj1" fmla="val 50000"/>
              <a:gd name="adj2" fmla="val 50000"/>
            </a:avLst>
          </a:prstGeom>
          <a:solidFill>
            <a:srgbClr val="FEE2E2"/>
          </a:solidFill>
          <a:ln w="14288">
            <a:solidFill>
              <a:srgbClr val="EF4444"/>
            </a:solidFill>
            <a:prstDash val="solid"/>
          </a:ln>
        </p:spPr>
      </p:sp>
      <p:sp>
        <p:nvSpPr>
          <p:cNvPr id="320581778" name=""/>
          <p:cNvSpPr>
            <a:spLocks noGrp="1"/>
          </p:cNvSpPr>
          <p:nvPr/>
        </p:nvSpPr>
        <p:spPr bwMode="auto">
          <a:xfrm>
            <a:off x="4000500" y="2905125"/>
            <a:ext cx="1285875" cy="933450"/>
          </a:xfrm>
          <a:prstGeom prst="roundRect">
            <a:avLst>
              <a:gd name="adj" fmla="val 15385"/>
            </a:avLst>
          </a:prstGeom>
          <a:solidFill>
            <a:srgbClr val="FFFFFF"/>
          </a:solidFill>
          <a:ln w="14288">
            <a:solidFill>
              <a:srgbClr val="EF4444"/>
            </a:solidFill>
            <a:prstDash val="solid"/>
          </a:ln>
        </p:spPr>
        <p:txBody>
          <a:bodyPr anchor="ctr"/>
          <a:lstStyle/>
          <a:p>
            <a:pPr algn="ctr">
              <a:buNone/>
              <a:defRPr sz="1150" b="1">
                <a:solidFill>
                  <a:srgbClr val="EF4444"/>
                </a:solidFill>
                <a:latin typeface="Calibri"/>
                <a:ea typeface="Calibri"/>
                <a:cs typeface="Calibri"/>
              </a:defRPr>
            </a:pPr>
            <a:r>
              <a:rPr sz="1150" b="1">
                <a:solidFill>
                  <a:srgbClr val="EF4444"/>
                </a:solidFill>
                <a:latin typeface="Calibri"/>
                <a:ea typeface="Calibri"/>
                <a:cs typeface="Calibri"/>
              </a:rPr>
              <a:t>ŷ = w₃z₂ + b₃</a:t>
            </a:r>
            <a:endParaRPr/>
          </a:p>
        </p:txBody>
      </p:sp>
      <p:sp>
        <p:nvSpPr>
          <p:cNvPr id="1461810187" name=""/>
          <p:cNvSpPr>
            <a:spLocks noGrp="1"/>
          </p:cNvSpPr>
          <p:nvPr/>
        </p:nvSpPr>
        <p:spPr bwMode="auto">
          <a:xfrm>
            <a:off x="6905625" y="2905125"/>
            <a:ext cx="1285875" cy="933450"/>
          </a:xfrm>
          <a:prstGeom prst="roundRect">
            <a:avLst>
              <a:gd name="adj" fmla="val 15385"/>
            </a:avLst>
          </a:prstGeom>
          <a:solidFill>
            <a:srgbClr val="DCFCE7"/>
          </a:solidFill>
          <a:ln w="14288">
            <a:solidFill>
              <a:srgbClr val="10B981"/>
            </a:solidFill>
            <a:prstDash val="solid"/>
          </a:ln>
        </p:spPr>
        <p:txBody>
          <a:bodyPr anchor="ctr"/>
          <a:lstStyle/>
          <a:p>
            <a:pPr algn="ctr">
              <a:buNone/>
              <a:defRPr sz="1150" b="1">
                <a:solidFill>
                  <a:srgbClr val="10B981"/>
                </a:solidFill>
                <a:latin typeface="Calibri"/>
                <a:ea typeface="Calibri"/>
                <a:cs typeface="Calibri"/>
              </a:defRPr>
            </a:pPr>
            <a:r>
              <a:rPr sz="1150" b="1">
                <a:solidFill>
                  <a:srgbClr val="10B981"/>
                </a:solidFill>
                <a:latin typeface="Calibri"/>
                <a:ea typeface="Calibri"/>
                <a:cs typeface="Calibri"/>
              </a:rPr>
              <a:t>h₁ = σ(w₁x + b₁)</a:t>
            </a:r>
            <a:endParaRPr/>
          </a:p>
        </p:txBody>
      </p:sp>
      <p:sp>
        <p:nvSpPr>
          <p:cNvPr id="2100508510" name=""/>
          <p:cNvSpPr>
            <a:spLocks noGrp="1"/>
          </p:cNvSpPr>
          <p:nvPr/>
        </p:nvSpPr>
        <p:spPr bwMode="auto">
          <a:xfrm>
            <a:off x="8191500" y="3181350"/>
            <a:ext cx="190500" cy="361950"/>
          </a:xfrm>
          <a:prstGeom prst="rightArrow">
            <a:avLst>
              <a:gd name="adj1" fmla="val 50000"/>
              <a:gd name="adj2" fmla="val 50000"/>
            </a:avLst>
          </a:prstGeom>
          <a:solidFill>
            <a:srgbClr val="DBEAFE"/>
          </a:solidFill>
          <a:ln w="14288">
            <a:solidFill>
              <a:srgbClr val="2563EB"/>
            </a:solidFill>
            <a:prstDash val="solid"/>
          </a:ln>
        </p:spPr>
      </p:sp>
      <p:sp>
        <p:nvSpPr>
          <p:cNvPr id="86287408" name=""/>
          <p:cNvSpPr>
            <a:spLocks noGrp="1"/>
          </p:cNvSpPr>
          <p:nvPr/>
        </p:nvSpPr>
        <p:spPr bwMode="auto">
          <a:xfrm>
            <a:off x="8382000" y="2905125"/>
            <a:ext cx="1285875" cy="933450"/>
          </a:xfrm>
          <a:prstGeom prst="roundRect">
            <a:avLst>
              <a:gd name="adj" fmla="val 15385"/>
            </a:avLst>
          </a:prstGeom>
          <a:solidFill>
            <a:srgbClr val="DCFCE7"/>
          </a:solidFill>
          <a:ln w="14288">
            <a:solidFill>
              <a:srgbClr val="10B981"/>
            </a:solidFill>
            <a:prstDash val="solid"/>
          </a:ln>
        </p:spPr>
        <p:txBody>
          <a:bodyPr anchor="ctr"/>
          <a:lstStyle/>
          <a:p>
            <a:pPr algn="ctr">
              <a:buNone/>
              <a:defRPr sz="1150" b="1">
                <a:solidFill>
                  <a:srgbClr val="10B981"/>
                </a:solidFill>
                <a:latin typeface="Calibri"/>
                <a:ea typeface="Calibri"/>
                <a:cs typeface="Calibri"/>
              </a:defRPr>
            </a:pPr>
            <a:r>
              <a:rPr sz="1150" b="1">
                <a:solidFill>
                  <a:srgbClr val="10B981"/>
                </a:solidFill>
                <a:latin typeface="Calibri"/>
                <a:ea typeface="Calibri"/>
                <a:cs typeface="Calibri"/>
              </a:rPr>
              <a:t>h₂ = σ(w₂h₁ + b₂)</a:t>
            </a:r>
            <a:endParaRPr/>
          </a:p>
        </p:txBody>
      </p:sp>
      <p:sp>
        <p:nvSpPr>
          <p:cNvPr id="1479364582" name=""/>
          <p:cNvSpPr>
            <a:spLocks noGrp="1"/>
          </p:cNvSpPr>
          <p:nvPr/>
        </p:nvSpPr>
        <p:spPr bwMode="auto">
          <a:xfrm>
            <a:off x="9667875" y="3181350"/>
            <a:ext cx="190500" cy="361950"/>
          </a:xfrm>
          <a:prstGeom prst="rightArrow">
            <a:avLst>
              <a:gd name="adj1" fmla="val 50000"/>
              <a:gd name="adj2" fmla="val 50000"/>
            </a:avLst>
          </a:prstGeom>
          <a:solidFill>
            <a:srgbClr val="DBEAFE"/>
          </a:solidFill>
          <a:ln w="14288">
            <a:solidFill>
              <a:srgbClr val="2563EB"/>
            </a:solidFill>
            <a:prstDash val="solid"/>
          </a:ln>
        </p:spPr>
      </p:sp>
      <p:sp>
        <p:nvSpPr>
          <p:cNvPr id="1923103502" name=""/>
          <p:cNvSpPr>
            <a:spLocks noGrp="1"/>
          </p:cNvSpPr>
          <p:nvPr/>
        </p:nvSpPr>
        <p:spPr bwMode="auto">
          <a:xfrm>
            <a:off x="9858375" y="2905125"/>
            <a:ext cx="1285875" cy="933450"/>
          </a:xfrm>
          <a:prstGeom prst="roundRect">
            <a:avLst>
              <a:gd name="adj" fmla="val 15385"/>
            </a:avLst>
          </a:prstGeom>
          <a:solidFill>
            <a:srgbClr val="FFFFFF"/>
          </a:solidFill>
          <a:ln w="14288">
            <a:solidFill>
              <a:srgbClr val="10B981"/>
            </a:solidFill>
            <a:prstDash val="solid"/>
          </a:ln>
        </p:spPr>
        <p:txBody>
          <a:bodyPr anchor="ctr"/>
          <a:lstStyle/>
          <a:p>
            <a:pPr algn="ctr">
              <a:buNone/>
              <a:defRPr sz="1150" b="1">
                <a:solidFill>
                  <a:srgbClr val="10B981"/>
                </a:solidFill>
                <a:latin typeface="Calibri"/>
                <a:ea typeface="Calibri"/>
                <a:cs typeface="Calibri"/>
              </a:defRPr>
            </a:pPr>
            <a:r>
              <a:rPr sz="1150" b="1">
                <a:solidFill>
                  <a:srgbClr val="10B981"/>
                </a:solidFill>
                <a:latin typeface="Calibri"/>
                <a:ea typeface="Calibri"/>
                <a:cs typeface="Calibri"/>
              </a:rPr>
              <a:t>ŷ = w₃h₂ + b₃</a:t>
            </a:r>
            <a:endParaRPr/>
          </a:p>
        </p:txBody>
      </p:sp>
      <p:sp>
        <p:nvSpPr>
          <p:cNvPr id="577350655" name=""/>
          <p:cNvSpPr>
            <a:spLocks noGrp="1"/>
          </p:cNvSpPr>
          <p:nvPr/>
        </p:nvSpPr>
        <p:spPr bwMode="auto">
          <a:xfrm>
            <a:off x="1000125" y="4143375"/>
            <a:ext cx="4381500" cy="323850"/>
          </a:xfrm>
          <a:prstGeom prst="rect">
            <a:avLst/>
          </a:prstGeom>
          <a:noFill/>
          <a:ln w="0">
            <a:noFill/>
            <a:prstDash val="solid"/>
          </a:ln>
        </p:spPr>
        <p:txBody>
          <a:bodyPr/>
          <a:lstStyle/>
          <a:p>
            <a:pPr algn="ctr">
              <a:buNone/>
              <a:defRPr sz="1450" b="1">
                <a:solidFill>
                  <a:srgbClr val="EF4444"/>
                </a:solidFill>
                <a:latin typeface="Calibri"/>
                <a:ea typeface="Calibri"/>
                <a:cs typeface="Calibri"/>
              </a:defRPr>
            </a:pPr>
            <a:r>
              <a:rPr sz="1450" b="1">
                <a:solidFill>
                  <a:srgbClr val="EF4444"/>
                </a:solidFill>
                <a:latin typeface="Calibri"/>
                <a:ea typeface="Calibri"/>
                <a:cs typeface="Calibri"/>
              </a:rPr>
              <a:t>ŷ = w₃(w₂(w₁x + b₁) + b₂) + b₃</a:t>
            </a:r>
            <a:br>
              <a:rPr/>
            </a:br>
            <a:r>
              <a:rPr sz="1450" b="1">
                <a:solidFill>
                  <a:srgbClr val="EF4444"/>
                </a:solidFill>
                <a:latin typeface="Calibri"/>
                <a:ea typeface="Calibri"/>
                <a:cs typeface="Calibri"/>
              </a:rPr>
              <a:t>= ax + c  (one linear mapping)</a:t>
            </a:r>
            <a:endParaRPr/>
          </a:p>
        </p:txBody>
      </p:sp>
      <p:sp>
        <p:nvSpPr>
          <p:cNvPr id="518594254" name=""/>
          <p:cNvSpPr>
            <a:spLocks noGrp="1"/>
          </p:cNvSpPr>
          <p:nvPr/>
        </p:nvSpPr>
        <p:spPr bwMode="auto">
          <a:xfrm>
            <a:off x="6810375" y="4143375"/>
            <a:ext cx="4381500" cy="323850"/>
          </a:xfrm>
          <a:prstGeom prst="rect">
            <a:avLst/>
          </a:prstGeom>
          <a:noFill/>
          <a:ln w="0">
            <a:noFill/>
            <a:prstDash val="solid"/>
          </a:ln>
        </p:spPr>
        <p:txBody>
          <a:bodyPr/>
          <a:lstStyle/>
          <a:p>
            <a:pPr algn="ctr">
              <a:buNone/>
              <a:defRPr sz="1600" b="1">
                <a:solidFill>
                  <a:srgbClr val="10B981"/>
                </a:solidFill>
                <a:latin typeface="Calibri"/>
                <a:ea typeface="Calibri"/>
                <a:cs typeface="Calibri"/>
              </a:defRPr>
            </a:pPr>
            <a:r>
              <a:rPr sz="1600" b="1">
                <a:solidFill>
                  <a:srgbClr val="10B981"/>
                </a:solidFill>
                <a:latin typeface="Calibri"/>
                <a:ea typeface="Calibri"/>
                <a:cs typeface="Calibri"/>
              </a:rPr>
              <a:t>σ keeps the first two hidden layers nonlinear</a:t>
            </a:r>
            <a:endParaRPr/>
          </a:p>
        </p:txBody>
      </p:sp>
      <p:sp>
        <p:nvSpPr>
          <p:cNvPr id="1132151750" name=""/>
          <p:cNvSpPr>
            <a:spLocks noGrp="1"/>
          </p:cNvSpPr>
          <p:nvPr/>
        </p:nvSpPr>
        <p:spPr bwMode="auto">
          <a:xfrm>
            <a:off x="7524750" y="4572000"/>
            <a:ext cx="2952750" cy="285750"/>
          </a:xfrm>
          <a:prstGeom prst="rect">
            <a:avLst/>
          </a:prstGeom>
          <a:noFill/>
          <a:ln w="0">
            <a:noFill/>
            <a:prstDash val="solid"/>
          </a:ln>
        </p:spPr>
        <p:txBody>
          <a:bodyPr/>
          <a:lstStyle/>
          <a:p>
            <a:pPr algn="ctr">
              <a:buNone/>
              <a:defRPr sz="1500" b="1">
                <a:solidFill>
                  <a:srgbClr val="2563EB"/>
                </a:solidFill>
                <a:latin typeface="Calibri"/>
                <a:ea typeface="Calibri"/>
                <a:cs typeface="Calibri"/>
              </a:defRPr>
            </a:pPr>
            <a:r>
              <a:rPr sz="1500" b="1">
                <a:solidFill>
                  <a:srgbClr val="2563EB"/>
                </a:solidFill>
                <a:latin typeface="Calibri"/>
                <a:ea typeface="Calibri"/>
                <a:cs typeface="Calibri"/>
              </a:rPr>
              <a:t>σ = activation function</a:t>
            </a:r>
            <a:endParaRPr/>
          </a:p>
        </p:txBody>
      </p:sp>
      <p:sp>
        <p:nvSpPr>
          <p:cNvPr id="1591988921" name=""/>
          <p:cNvSpPr>
            <a:spLocks noGrp="1"/>
          </p:cNvSpPr>
          <p:nvPr/>
        </p:nvSpPr>
        <p:spPr bwMode="auto">
          <a:xfrm>
            <a:off x="1524000" y="5286375"/>
            <a:ext cx="9144000" cy="304800"/>
          </a:xfrm>
          <a:prstGeom prst="rect">
            <a:avLst/>
          </a:prstGeom>
          <a:noFill/>
          <a:ln w="0">
            <a:noFill/>
            <a:prstDash val="solid"/>
          </a:ln>
        </p:spPr>
        <p:txBody>
          <a:bodyPr/>
          <a:lstStyle/>
          <a:p>
            <a:pPr algn="ctr">
              <a:buNone/>
              <a:defRPr sz="1750" b="1">
                <a:solidFill>
                  <a:srgbClr val="0B0F19"/>
                </a:solidFill>
                <a:latin typeface="Calibri"/>
                <a:ea typeface="Calibri"/>
                <a:cs typeface="Calibri"/>
              </a:defRPr>
            </a:pPr>
            <a:r>
              <a:rPr sz="1750" b="1">
                <a:solidFill>
                  <a:srgbClr val="0B0F19"/>
                </a:solidFill>
                <a:latin typeface="Calibri"/>
                <a:ea typeface="Calibri"/>
                <a:cs typeface="Calibri"/>
              </a:rPr>
              <a:t>Without σ, extra depth remains only a longer linear function.</a:t>
            </a:r>
            <a:endParaRPr/>
          </a:p>
        </p:txBody>
      </p:sp>
      <p:sp>
        <p:nvSpPr>
          <p:cNvPr id="2103391201" name=""/>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18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98485085" name=""/>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Activation functions</a:t>
            </a:r>
            <a:endParaRPr/>
          </a:p>
        </p:txBody>
      </p:sp>
      <p:sp>
        <p:nvSpPr>
          <p:cNvPr id="2014745889" name=""/>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Common activation functions</a:t>
            </a:r>
            <a:endParaRPr/>
          </a:p>
        </p:txBody>
      </p:sp>
      <p:sp>
        <p:nvSpPr>
          <p:cNvPr id="858310324" name=""/>
          <p:cNvSpPr>
            <a:spLocks noGrp="1"/>
          </p:cNvSpPr>
          <p:nvPr/>
        </p:nvSpPr>
        <p:spPr bwMode="auto">
          <a:xfrm>
            <a:off x="609600" y="1352550"/>
            <a:ext cx="10972800" cy="4762500"/>
          </a:xfrm>
          <a:prstGeom prst="roundRect">
            <a:avLst>
              <a:gd name="adj" fmla="val 2400"/>
            </a:avLst>
          </a:prstGeom>
          <a:solidFill>
            <a:srgbClr val="F8FAFC"/>
          </a:solidFill>
          <a:ln w="14288">
            <a:solidFill>
              <a:srgbClr val="E2E8F0"/>
            </a:solidFill>
            <a:prstDash val="solid"/>
          </a:ln>
        </p:spPr>
      </p:sp>
      <p:pic>
        <p:nvPicPr>
          <p:cNvPr id="1236124360" name=""/>
          <p:cNvPicPr>
            <a:picLocks noChangeAspect="1"/>
          </p:cNvPicPr>
          <p:nvPr/>
        </p:nvPicPr>
        <p:blipFill rotWithShape="1">
          <a:blip r:embed="rId3"/>
          <a:stretch/>
        </p:blipFill>
        <p:spPr bwMode="auto">
          <a:xfrm>
            <a:off x="3141802" y="1466849"/>
            <a:ext cx="5908397" cy="452437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21230736" name="Rectangle 1153616344"/>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Calculus</a:t>
            </a:r>
            <a:endParaRPr/>
          </a:p>
        </p:txBody>
      </p:sp>
      <p:sp>
        <p:nvSpPr>
          <p:cNvPr id="1765255996" name="Rectangle 90078333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The chain rule multiplies local changes</a:t>
            </a:r>
            <a:endParaRPr/>
          </a:p>
        </p:txBody>
      </p:sp>
      <p:sp>
        <p:nvSpPr>
          <p:cNvPr id="1026299795" name="Rectangle 167503777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20</a:t>
            </a:r>
            <a:endParaRPr/>
          </a:p>
        </p:txBody>
      </p:sp>
      <p:sp>
        <p:nvSpPr>
          <p:cNvPr id="2030417644" name=""/>
          <p:cNvSpPr>
            <a:spLocks noGrp="1"/>
          </p:cNvSpPr>
          <p:nvPr/>
        </p:nvSpPr>
        <p:spPr bwMode="auto">
          <a:xfrm>
            <a:off x="609600" y="1352550"/>
            <a:ext cx="10972800" cy="4762500"/>
          </a:xfrm>
          <a:prstGeom prst="roundRect">
            <a:avLst>
              <a:gd name="adj" fmla="val 1600"/>
            </a:avLst>
          </a:prstGeom>
          <a:solidFill>
            <a:srgbClr val="F8FAFC"/>
          </a:solidFill>
          <a:ln w="9525">
            <a:solidFill>
              <a:srgbClr val="E2E8F0"/>
            </a:solidFill>
            <a:prstDash val="solid"/>
          </a:ln>
        </p:spPr>
      </p:sp>
      <p:sp>
        <p:nvSpPr>
          <p:cNvPr id="774837903" name=""/>
          <p:cNvSpPr>
            <a:spLocks noGrp="1"/>
          </p:cNvSpPr>
          <p:nvPr/>
        </p:nvSpPr>
        <p:spPr bwMode="auto">
          <a:xfrm>
            <a:off x="1428750" y="1714500"/>
            <a:ext cx="9334500" cy="323850"/>
          </a:xfrm>
          <a:prstGeom prst="rect">
            <a:avLst/>
          </a:prstGeom>
          <a:noFill/>
          <a:ln w="0">
            <a:noFill/>
            <a:prstDash val="solid"/>
          </a:ln>
        </p:spPr>
        <p:txBody>
          <a:bodyPr/>
          <a:lstStyle/>
          <a:p>
            <a:pPr algn="ctr">
              <a:buNone/>
              <a:defRPr sz="1650" b="0">
                <a:solidFill>
                  <a:srgbClr val="667085"/>
                </a:solidFill>
                <a:latin typeface="Calibri"/>
                <a:ea typeface="Calibri"/>
                <a:cs typeface="Calibri"/>
              </a:defRPr>
            </a:pPr>
            <a:r>
              <a:rPr sz="1650" b="0">
                <a:solidFill>
                  <a:srgbClr val="667085"/>
                </a:solidFill>
                <a:latin typeface="Calibri"/>
                <a:ea typeface="Calibri"/>
                <a:cs typeface="Calibri"/>
              </a:rPr>
              <a:t>For composed functions, follow the dependency path and multiply each local derivative.</a:t>
            </a:r>
            <a:endParaRPr/>
          </a:p>
        </p:txBody>
      </p:sp>
      <p:sp>
        <p:nvSpPr>
          <p:cNvPr id="1720535863" name=""/>
          <p:cNvSpPr>
            <a:spLocks noGrp="1"/>
          </p:cNvSpPr>
          <p:nvPr/>
        </p:nvSpPr>
        <p:spPr bwMode="auto">
          <a:xfrm>
            <a:off x="3390900" y="2743200"/>
            <a:ext cx="876299" cy="419100"/>
          </a:xfrm>
          <a:prstGeom prst="rightArrow">
            <a:avLst>
              <a:gd name="adj1" fmla="val 50000"/>
              <a:gd name="adj2" fmla="val 50000"/>
            </a:avLst>
          </a:prstGeom>
          <a:solidFill>
            <a:srgbClr val="EFF6FF"/>
          </a:solidFill>
          <a:ln w="13335">
            <a:solidFill>
              <a:srgbClr val="2563EB"/>
            </a:solidFill>
            <a:prstDash val="solid"/>
          </a:ln>
        </p:spPr>
      </p:sp>
      <p:sp>
        <p:nvSpPr>
          <p:cNvPr id="1191864326" name=""/>
          <p:cNvSpPr>
            <a:spLocks noGrp="1"/>
          </p:cNvSpPr>
          <p:nvPr/>
        </p:nvSpPr>
        <p:spPr bwMode="auto">
          <a:xfrm>
            <a:off x="6838950" y="2743200"/>
            <a:ext cx="876299" cy="419100"/>
          </a:xfrm>
          <a:prstGeom prst="rightArrow">
            <a:avLst>
              <a:gd name="adj1" fmla="val 50000"/>
              <a:gd name="adj2" fmla="val 50000"/>
            </a:avLst>
          </a:prstGeom>
          <a:solidFill>
            <a:srgbClr val="EFF6FF"/>
          </a:solidFill>
          <a:ln w="13335">
            <a:solidFill>
              <a:srgbClr val="2563EB"/>
            </a:solidFill>
            <a:prstDash val="solid"/>
          </a:ln>
        </p:spPr>
      </p:sp>
      <p:sp>
        <p:nvSpPr>
          <p:cNvPr id="757820385" name=""/>
          <p:cNvSpPr>
            <a:spLocks noGrp="1"/>
          </p:cNvSpPr>
          <p:nvPr/>
        </p:nvSpPr>
        <p:spPr bwMode="auto">
          <a:xfrm>
            <a:off x="1619250" y="2524125"/>
            <a:ext cx="1619250" cy="857250"/>
          </a:xfrm>
          <a:prstGeom prst="roundRect">
            <a:avLst>
              <a:gd name="adj" fmla="val 8889"/>
            </a:avLst>
          </a:prstGeom>
          <a:solidFill>
            <a:srgbClr val="FFFFFF"/>
          </a:solidFill>
          <a:ln w="14288">
            <a:solidFill>
              <a:srgbClr val="CBD5E1"/>
            </a:solidFill>
            <a:prstDash val="solid"/>
          </a:ln>
        </p:spPr>
        <p:txBody>
          <a:bodyPr anchor="ctr"/>
          <a:lstStyle/>
          <a:p>
            <a:pPr algn="ctr">
              <a:buNone/>
              <a:defRPr sz="2100" b="1">
                <a:solidFill>
                  <a:srgbClr val="0B0F19"/>
                </a:solidFill>
                <a:latin typeface="Calibri"/>
                <a:ea typeface="Calibri"/>
                <a:cs typeface="Calibri"/>
              </a:defRPr>
            </a:pPr>
            <a:r>
              <a:rPr sz="2100" b="1">
                <a:solidFill>
                  <a:srgbClr val="0B0F19"/>
                </a:solidFill>
                <a:latin typeface="Calibri"/>
                <a:ea typeface="Calibri"/>
                <a:cs typeface="Calibri"/>
              </a:rPr>
              <a:t>x</a:t>
            </a:r>
            <a:endParaRPr/>
          </a:p>
        </p:txBody>
      </p:sp>
      <p:sp>
        <p:nvSpPr>
          <p:cNvPr id="1138139425" name=""/>
          <p:cNvSpPr>
            <a:spLocks noGrp="1"/>
          </p:cNvSpPr>
          <p:nvPr/>
        </p:nvSpPr>
        <p:spPr bwMode="auto">
          <a:xfrm>
            <a:off x="4429125" y="2524125"/>
            <a:ext cx="2238375" cy="857250"/>
          </a:xfrm>
          <a:prstGeom prst="roundRect">
            <a:avLst>
              <a:gd name="adj" fmla="val 8889"/>
            </a:avLst>
          </a:prstGeom>
          <a:solidFill>
            <a:srgbClr val="EFF6FF"/>
          </a:solidFill>
          <a:ln w="14288">
            <a:solidFill>
              <a:srgbClr val="2563EB"/>
            </a:solidFill>
            <a:prstDash val="solid"/>
          </a:ln>
        </p:spPr>
        <p:txBody>
          <a:bodyPr anchor="ctr"/>
          <a:lstStyle/>
          <a:p>
            <a:pPr algn="ctr">
              <a:buNone/>
              <a:defRPr sz="2050" b="1">
                <a:solidFill>
                  <a:srgbClr val="2563EB"/>
                </a:solidFill>
                <a:latin typeface="Calibri"/>
                <a:ea typeface="Calibri"/>
                <a:cs typeface="Calibri"/>
              </a:defRPr>
            </a:pPr>
            <a:r>
              <a:rPr sz="2050" b="1">
                <a:solidFill>
                  <a:srgbClr val="2563EB"/>
                </a:solidFill>
                <a:latin typeface="Calibri"/>
                <a:ea typeface="Calibri"/>
                <a:cs typeface="Calibri"/>
              </a:rPr>
              <a:t>u = g(x)</a:t>
            </a:r>
            <a:endParaRPr/>
          </a:p>
        </p:txBody>
      </p:sp>
      <p:sp>
        <p:nvSpPr>
          <p:cNvPr id="1116592570" name=""/>
          <p:cNvSpPr>
            <a:spLocks noGrp="1"/>
          </p:cNvSpPr>
          <p:nvPr/>
        </p:nvSpPr>
        <p:spPr bwMode="auto">
          <a:xfrm>
            <a:off x="7886700" y="2524125"/>
            <a:ext cx="2238375" cy="857250"/>
          </a:xfrm>
          <a:prstGeom prst="roundRect">
            <a:avLst>
              <a:gd name="adj" fmla="val 8889"/>
            </a:avLst>
          </a:prstGeom>
          <a:solidFill>
            <a:srgbClr val="ECFDF5"/>
          </a:solidFill>
          <a:ln w="14288">
            <a:solidFill>
              <a:srgbClr val="059669"/>
            </a:solidFill>
            <a:prstDash val="solid"/>
          </a:ln>
        </p:spPr>
        <p:txBody>
          <a:bodyPr anchor="ctr"/>
          <a:lstStyle/>
          <a:p>
            <a:pPr algn="ctr">
              <a:buNone/>
              <a:defRPr sz="2050" b="1">
                <a:solidFill>
                  <a:srgbClr val="059669"/>
                </a:solidFill>
                <a:latin typeface="Calibri"/>
                <a:ea typeface="Calibri"/>
                <a:cs typeface="Calibri"/>
              </a:defRPr>
            </a:pPr>
            <a:r>
              <a:rPr sz="2050" b="1">
                <a:solidFill>
                  <a:srgbClr val="059669"/>
                </a:solidFill>
                <a:latin typeface="Calibri"/>
                <a:ea typeface="Calibri"/>
                <a:cs typeface="Calibri"/>
              </a:rPr>
              <a:t>y = f(u)</a:t>
            </a:r>
            <a:endParaRPr/>
          </a:p>
        </p:txBody>
      </p:sp>
      <p:sp>
        <p:nvSpPr>
          <p:cNvPr id="833562431" name=""/>
          <p:cNvSpPr>
            <a:spLocks noGrp="1"/>
          </p:cNvSpPr>
          <p:nvPr/>
        </p:nvSpPr>
        <p:spPr bwMode="auto">
          <a:xfrm>
            <a:off x="2095500" y="4000500"/>
            <a:ext cx="8001000" cy="781050"/>
          </a:xfrm>
          <a:prstGeom prst="roundRect">
            <a:avLst>
              <a:gd name="adj" fmla="val 9756"/>
            </a:avLst>
          </a:prstGeom>
          <a:solidFill>
            <a:srgbClr val="FFFFFF"/>
          </a:solidFill>
          <a:ln w="17145">
            <a:solidFill>
              <a:srgbClr val="2563EB"/>
            </a:solidFill>
            <a:prstDash val="solid"/>
          </a:ln>
        </p:spPr>
        <p:txBody>
          <a:bodyPr anchor="ctr"/>
          <a:lstStyle/>
          <a:p>
            <a:pPr algn="ctr">
              <a:buNone/>
              <a:defRPr sz="2350" b="1">
                <a:solidFill>
                  <a:srgbClr val="0B0F19"/>
                </a:solidFill>
                <a:latin typeface="Calibri"/>
                <a:ea typeface="Calibri"/>
                <a:cs typeface="Calibri"/>
              </a:defRPr>
            </a:pPr>
            <a:endParaRPr/>
          </a:p>
        </p:txBody>
      </p:sp>
      <p:sp>
        <p:nvSpPr>
          <p:cNvPr id="674000523" name=""/>
          <p:cNvSpPr>
            <a:spLocks noGrp="1"/>
          </p:cNvSpPr>
          <p:nvPr/>
        </p:nvSpPr>
        <p:spPr bwMode="auto">
          <a:xfrm>
            <a:off x="2571750" y="4953000"/>
            <a:ext cx="7048500" cy="266700"/>
          </a:xfrm>
          <a:prstGeom prst="rect">
            <a:avLst/>
          </a:prstGeom>
          <a:noFill/>
          <a:ln w="0">
            <a:noFill/>
            <a:prstDash val="solid"/>
          </a:ln>
        </p:spPr>
        <p:txBody>
          <a:bodyPr/>
          <a:lstStyle/>
          <a:p>
            <a:pPr algn="ctr">
              <a:buNone/>
              <a:defRPr sz="1350" b="0">
                <a:solidFill>
                  <a:srgbClr val="667085"/>
                </a:solidFill>
                <a:latin typeface="Calibri"/>
                <a:ea typeface="Calibri"/>
                <a:cs typeface="Calibri"/>
              </a:defRPr>
            </a:pPr>
            <a:r>
              <a:rPr sz="1350" b="0">
                <a:solidFill>
                  <a:srgbClr val="667085"/>
                </a:solidFill>
                <a:latin typeface="Calibri"/>
                <a:ea typeface="Calibri"/>
                <a:cs typeface="Calibri"/>
              </a:rPr>
              <a:t>total effect  =  downstream change  ×  local change</a:t>
            </a:r>
            <a:endParaRPr/>
          </a:p>
        </p:txBody>
      </p:sp>
      <p:pic>
        <p:nvPicPr>
          <p:cNvPr id="736381409" name=""/>
          <p:cNvPicPr>
            <a:picLocks noChangeAspect="1"/>
          </p:cNvPicPr>
          <p:nvPr/>
        </p:nvPicPr>
        <p:blipFill rotWithShape="1">
          <a:blip r:embed="rId3">
            <a:extLst>
              <a:ext uri="{96DAC541-7B7A-43D3-8B79-37D633B846F1}">
                <asvg:svgBlip xmlns:asvg="http://schemas.microsoft.com/office/drawing/2016/SVG/main" r:embed="rId4"/>
              </a:ext>
            </a:extLst>
          </a:blip>
          <a:stretch/>
        </p:blipFill>
        <p:spPr bwMode="auto">
          <a:xfrm>
            <a:off x="2381250" y="4019550"/>
            <a:ext cx="7429500" cy="7239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419133" name="Rectangle 1153616344"/>
          <p:cNvSpPr>
            <a:spLocks noGrp="1"/>
          </p:cNvSpPr>
          <p:nvPr/>
        </p:nvSpPr>
        <p:spPr bwMode="auto">
          <a:xfrm>
            <a:off x="609600" y="323850"/>
            <a:ext cx="4000500" cy="285750"/>
          </a:xfrm>
          <a:prstGeom prst="rect">
            <a:avLst/>
          </a:prstGeom>
          <a:noFill/>
          <a:ln w="0">
            <a:noFill/>
            <a:prstDash val="solid"/>
          </a:ln>
        </p:spPr>
        <p:txBody>
          <a:bodyPr anchor="ctr"/>
          <a:lstStyle/>
          <a:p>
            <a:pPr algn="l">
              <a:buNone/>
              <a:defRPr sz="1200" b="1">
                <a:solidFill>
                  <a:srgbClr val="2563EB"/>
                </a:solidFill>
                <a:latin typeface="Georgia"/>
                <a:ea typeface="Georgia"/>
                <a:cs typeface="Georgia"/>
              </a:defRPr>
            </a:pPr>
            <a:r>
              <a:rPr sz="1200" b="1">
                <a:solidFill>
                  <a:srgbClr val="2563EB"/>
                </a:solidFill>
                <a:latin typeface="Georgia"/>
                <a:ea typeface="Georgia"/>
                <a:cs typeface="Georgia"/>
              </a:rPr>
              <a:t>Example</a:t>
            </a:r>
            <a:endParaRPr/>
          </a:p>
        </p:txBody>
      </p:sp>
      <p:sp>
        <p:nvSpPr>
          <p:cNvPr id="2028485156" name="Rectangle 900783331"/>
          <p:cNvSpPr>
            <a:spLocks noGrp="1"/>
          </p:cNvSpPr>
          <p:nvPr/>
        </p:nvSpPr>
        <p:spPr bwMode="auto">
          <a:xfrm>
            <a:off x="609600" y="590549"/>
            <a:ext cx="9334500" cy="590549"/>
          </a:xfrm>
          <a:prstGeom prst="rect">
            <a:avLst/>
          </a:prstGeom>
          <a:noFill/>
          <a:ln w="0">
            <a:noFill/>
            <a:prstDash val="solid"/>
          </a:ln>
        </p:spPr>
        <p:txBody>
          <a:bodyPr anchor="ctr"/>
          <a:lstStyle/>
          <a:p>
            <a:pPr algn="l">
              <a:buNone/>
              <a:defRPr sz="2850" b="1">
                <a:solidFill>
                  <a:srgbClr val="0B0F19"/>
                </a:solidFill>
                <a:latin typeface="Georgia"/>
                <a:ea typeface="Georgia"/>
                <a:cs typeface="Georgia"/>
              </a:defRPr>
            </a:pPr>
            <a:r>
              <a:rPr sz="2850" b="1">
                <a:solidFill>
                  <a:srgbClr val="0B0F19"/>
                </a:solidFill>
                <a:latin typeface="Georgia"/>
                <a:ea typeface="Georgia"/>
                <a:cs typeface="Georgia"/>
              </a:rPr>
              <a:t>u splits the calculation into two steps</a:t>
            </a:r>
            <a:endParaRPr/>
          </a:p>
        </p:txBody>
      </p:sp>
      <p:sp>
        <p:nvSpPr>
          <p:cNvPr id="1256121741" name="Rectangle 167503777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21</a:t>
            </a:r>
            <a:endParaRPr/>
          </a:p>
        </p:txBody>
      </p:sp>
      <p:sp>
        <p:nvSpPr>
          <p:cNvPr id="1424783322" name=""/>
          <p:cNvSpPr>
            <a:spLocks noGrp="1"/>
          </p:cNvSpPr>
          <p:nvPr/>
        </p:nvSpPr>
        <p:spPr bwMode="auto">
          <a:xfrm>
            <a:off x="609600" y="1352550"/>
            <a:ext cx="10972800" cy="4762500"/>
          </a:xfrm>
          <a:prstGeom prst="roundRect">
            <a:avLst>
              <a:gd name="adj" fmla="val 1600"/>
            </a:avLst>
          </a:prstGeom>
          <a:solidFill>
            <a:srgbClr val="F8FAFC"/>
          </a:solidFill>
          <a:ln w="9525">
            <a:solidFill>
              <a:srgbClr val="E2E8F0"/>
            </a:solidFill>
            <a:prstDash val="solid"/>
          </a:ln>
        </p:spPr>
      </p:sp>
      <p:sp>
        <p:nvSpPr>
          <p:cNvPr id="1728519340" name=""/>
          <p:cNvSpPr>
            <a:spLocks noGrp="1"/>
          </p:cNvSpPr>
          <p:nvPr/>
        </p:nvSpPr>
        <p:spPr bwMode="auto">
          <a:xfrm>
            <a:off x="1143000" y="1619250"/>
            <a:ext cx="1714500" cy="247650"/>
          </a:xfrm>
          <a:prstGeom prst="rect">
            <a:avLst/>
          </a:prstGeom>
          <a:noFill/>
          <a:ln w="0">
            <a:noFill/>
            <a:prstDash val="solid"/>
          </a:ln>
        </p:spPr>
        <p:txBody>
          <a:bodyPr/>
          <a:lstStyle/>
          <a:p>
            <a:pPr algn="l">
              <a:buNone/>
              <a:defRPr sz="1350" b="1">
                <a:solidFill>
                  <a:srgbClr val="2563EB"/>
                </a:solidFill>
                <a:latin typeface="Calibri"/>
                <a:ea typeface="Calibri"/>
                <a:cs typeface="Calibri"/>
              </a:defRPr>
            </a:pPr>
            <a:r>
              <a:rPr sz="1350" b="1">
                <a:solidFill>
                  <a:srgbClr val="2563EB"/>
                </a:solidFill>
                <a:latin typeface="Calibri"/>
                <a:ea typeface="Calibri"/>
                <a:cs typeface="Calibri"/>
              </a:rPr>
              <a:t>1   Define</a:t>
            </a:r>
            <a:endParaRPr/>
          </a:p>
        </p:txBody>
      </p:sp>
      <p:sp>
        <p:nvSpPr>
          <p:cNvPr id="574157869" name=""/>
          <p:cNvSpPr>
            <a:spLocks noGrp="1"/>
          </p:cNvSpPr>
          <p:nvPr/>
        </p:nvSpPr>
        <p:spPr bwMode="auto">
          <a:xfrm>
            <a:off x="5572125" y="2057400"/>
            <a:ext cx="857250" cy="381000"/>
          </a:xfrm>
          <a:prstGeom prst="rightArrow">
            <a:avLst>
              <a:gd name="adj1" fmla="val 50000"/>
              <a:gd name="adj2" fmla="val 50000"/>
            </a:avLst>
          </a:prstGeom>
          <a:solidFill>
            <a:srgbClr val="EFF6FF"/>
          </a:solidFill>
          <a:ln w="13335">
            <a:solidFill>
              <a:srgbClr val="2563EB"/>
            </a:solidFill>
            <a:prstDash val="solid"/>
          </a:ln>
        </p:spPr>
      </p:sp>
      <p:sp>
        <p:nvSpPr>
          <p:cNvPr id="872926416" name=""/>
          <p:cNvSpPr>
            <a:spLocks noGrp="1"/>
          </p:cNvSpPr>
          <p:nvPr/>
        </p:nvSpPr>
        <p:spPr bwMode="auto">
          <a:xfrm>
            <a:off x="1666875" y="1943100"/>
            <a:ext cx="3429000" cy="628650"/>
          </a:xfrm>
          <a:prstGeom prst="roundRect">
            <a:avLst>
              <a:gd name="adj" fmla="val 12121"/>
            </a:avLst>
          </a:prstGeom>
          <a:solidFill>
            <a:srgbClr val="EFF6FF"/>
          </a:solidFill>
          <a:ln w="13335">
            <a:solidFill>
              <a:srgbClr val="2563EB"/>
            </a:solidFill>
            <a:prstDash val="solid"/>
          </a:ln>
        </p:spPr>
      </p:sp>
      <p:sp>
        <p:nvSpPr>
          <p:cNvPr id="700815695" name=""/>
          <p:cNvSpPr>
            <a:spLocks noGrp="1"/>
          </p:cNvSpPr>
          <p:nvPr/>
        </p:nvSpPr>
        <p:spPr bwMode="auto">
          <a:xfrm>
            <a:off x="6905625" y="1943100"/>
            <a:ext cx="3429000" cy="628650"/>
          </a:xfrm>
          <a:prstGeom prst="roundRect">
            <a:avLst>
              <a:gd name="adj" fmla="val 12121"/>
            </a:avLst>
          </a:prstGeom>
          <a:solidFill>
            <a:srgbClr val="ECFDF5"/>
          </a:solidFill>
          <a:ln w="13335">
            <a:solidFill>
              <a:srgbClr val="059669"/>
            </a:solidFill>
            <a:prstDash val="solid"/>
          </a:ln>
        </p:spPr>
      </p:sp>
      <p:pic>
        <p:nvPicPr>
          <p:cNvPr id="600519430" name=""/>
          <p:cNvPicPr>
            <a:picLocks noChangeAspect="1"/>
          </p:cNvPicPr>
          <p:nvPr/>
        </p:nvPicPr>
        <p:blipFill rotWithShape="1">
          <a:blip r:embed="rId3">
            <a:extLst>
              <a:ext uri="{96DAC541-7B7A-43D3-8B79-37D633B846F1}">
                <asvg:svgBlip xmlns:asvg="http://schemas.microsoft.com/office/drawing/2016/SVG/main" r:embed="rId4"/>
              </a:ext>
            </a:extLst>
          </a:blip>
          <a:stretch/>
        </p:blipFill>
        <p:spPr bwMode="auto">
          <a:xfrm>
            <a:off x="1857375" y="2009775"/>
            <a:ext cx="3048000" cy="476250"/>
          </a:xfrm>
          <a:prstGeom prst="rect">
            <a:avLst/>
          </a:prstGeom>
        </p:spPr>
      </p:pic>
      <p:pic>
        <p:nvPicPr>
          <p:cNvPr id="1827206843" name=""/>
          <p:cNvPicPr>
            <a:picLocks noChangeAspect="1"/>
          </p:cNvPicPr>
          <p:nvPr/>
        </p:nvPicPr>
        <p:blipFill rotWithShape="1">
          <a:blip r:embed="rId5">
            <a:extLst>
              <a:ext uri="{96DAC541-7B7A-43D3-8B79-37D633B846F1}">
                <asvg:svgBlip xmlns:asvg="http://schemas.microsoft.com/office/drawing/2016/SVG/main" r:embed="rId6"/>
              </a:ext>
            </a:extLst>
          </a:blip>
          <a:stretch/>
        </p:blipFill>
        <p:spPr bwMode="auto">
          <a:xfrm>
            <a:off x="7096125" y="2009775"/>
            <a:ext cx="3048000" cy="476250"/>
          </a:xfrm>
          <a:prstGeom prst="rect">
            <a:avLst/>
          </a:prstGeom>
        </p:spPr>
      </p:pic>
      <p:sp>
        <p:nvSpPr>
          <p:cNvPr id="1290544024" name=""/>
          <p:cNvSpPr>
            <a:spLocks noGrp="1"/>
          </p:cNvSpPr>
          <p:nvPr/>
        </p:nvSpPr>
        <p:spPr bwMode="auto">
          <a:xfrm>
            <a:off x="1143000" y="2838450"/>
            <a:ext cx="2476500" cy="247650"/>
          </a:xfrm>
          <a:prstGeom prst="rect">
            <a:avLst/>
          </a:prstGeom>
          <a:noFill/>
          <a:ln w="0">
            <a:noFill/>
            <a:prstDash val="solid"/>
          </a:ln>
        </p:spPr>
        <p:txBody>
          <a:bodyPr/>
          <a:lstStyle/>
          <a:p>
            <a:pPr algn="l">
              <a:buNone/>
              <a:defRPr sz="1350" b="1">
                <a:solidFill>
                  <a:srgbClr val="059669"/>
                </a:solidFill>
                <a:latin typeface="Calibri"/>
                <a:ea typeface="Calibri"/>
                <a:cs typeface="Calibri"/>
              </a:defRPr>
            </a:pPr>
            <a:r>
              <a:rPr sz="1350" b="1">
                <a:solidFill>
                  <a:srgbClr val="059669"/>
                </a:solidFill>
                <a:latin typeface="Calibri"/>
                <a:ea typeface="Calibri"/>
                <a:cs typeface="Calibri"/>
              </a:rPr>
              <a:t>2   Evaluate at x = 2</a:t>
            </a:r>
            <a:endParaRPr/>
          </a:p>
        </p:txBody>
      </p:sp>
      <p:sp>
        <p:nvSpPr>
          <p:cNvPr id="541833277" name=""/>
          <p:cNvSpPr>
            <a:spLocks noGrp="1"/>
          </p:cNvSpPr>
          <p:nvPr/>
        </p:nvSpPr>
        <p:spPr bwMode="auto">
          <a:xfrm>
            <a:off x="5572125" y="3267075"/>
            <a:ext cx="857250" cy="381000"/>
          </a:xfrm>
          <a:prstGeom prst="rightArrow">
            <a:avLst>
              <a:gd name="adj1" fmla="val 50000"/>
              <a:gd name="adj2" fmla="val 50000"/>
            </a:avLst>
          </a:prstGeom>
          <a:solidFill>
            <a:srgbClr val="ECFDF5"/>
          </a:solidFill>
          <a:ln w="13335">
            <a:solidFill>
              <a:srgbClr val="059669"/>
            </a:solidFill>
            <a:prstDash val="solid"/>
          </a:ln>
        </p:spPr>
      </p:sp>
      <p:sp>
        <p:nvSpPr>
          <p:cNvPr id="1306720252" name=""/>
          <p:cNvSpPr>
            <a:spLocks noGrp="1"/>
          </p:cNvSpPr>
          <p:nvPr/>
        </p:nvSpPr>
        <p:spPr bwMode="auto">
          <a:xfrm>
            <a:off x="1666875" y="3152775"/>
            <a:ext cx="3429000" cy="628650"/>
          </a:xfrm>
          <a:prstGeom prst="roundRect">
            <a:avLst>
              <a:gd name="adj" fmla="val 12121"/>
            </a:avLst>
          </a:prstGeom>
          <a:solidFill>
            <a:srgbClr val="FFFFFF"/>
          </a:solidFill>
          <a:ln w="13335">
            <a:solidFill>
              <a:srgbClr val="CBD5E1"/>
            </a:solidFill>
            <a:prstDash val="solid"/>
          </a:ln>
        </p:spPr>
      </p:sp>
      <p:sp>
        <p:nvSpPr>
          <p:cNvPr id="414102631" name=""/>
          <p:cNvSpPr>
            <a:spLocks noGrp="1"/>
          </p:cNvSpPr>
          <p:nvPr/>
        </p:nvSpPr>
        <p:spPr bwMode="auto">
          <a:xfrm>
            <a:off x="6905625" y="3152775"/>
            <a:ext cx="3429000" cy="628650"/>
          </a:xfrm>
          <a:prstGeom prst="roundRect">
            <a:avLst>
              <a:gd name="adj" fmla="val 12121"/>
            </a:avLst>
          </a:prstGeom>
          <a:solidFill>
            <a:srgbClr val="FFFFFF"/>
          </a:solidFill>
          <a:ln w="13335">
            <a:solidFill>
              <a:srgbClr val="CBD5E1"/>
            </a:solidFill>
            <a:prstDash val="solid"/>
          </a:ln>
        </p:spPr>
      </p:sp>
      <p:pic>
        <p:nvPicPr>
          <p:cNvPr id="154591658" name=""/>
          <p:cNvPicPr>
            <a:picLocks noChangeAspect="1"/>
          </p:cNvPicPr>
          <p:nvPr/>
        </p:nvPicPr>
        <p:blipFill rotWithShape="1">
          <a:blip r:embed="rId7">
            <a:extLst>
              <a:ext uri="{96DAC541-7B7A-43D3-8B79-37D633B846F1}">
                <asvg:svgBlip xmlns:asvg="http://schemas.microsoft.com/office/drawing/2016/SVG/main" r:embed="rId8"/>
              </a:ext>
            </a:extLst>
          </a:blip>
          <a:stretch/>
        </p:blipFill>
        <p:spPr bwMode="auto">
          <a:xfrm>
            <a:off x="1857375" y="3219449"/>
            <a:ext cx="3048000" cy="476250"/>
          </a:xfrm>
          <a:prstGeom prst="rect">
            <a:avLst/>
          </a:prstGeom>
        </p:spPr>
      </p:pic>
      <p:pic>
        <p:nvPicPr>
          <p:cNvPr id="145493106" name=""/>
          <p:cNvPicPr>
            <a:picLocks noChangeAspect="1"/>
          </p:cNvPicPr>
          <p:nvPr/>
        </p:nvPicPr>
        <p:blipFill rotWithShape="1">
          <a:blip r:embed="rId9">
            <a:extLst>
              <a:ext uri="{96DAC541-7B7A-43D3-8B79-37D633B846F1}">
                <asvg:svgBlip xmlns:asvg="http://schemas.microsoft.com/office/drawing/2016/SVG/main" r:embed="rId10"/>
              </a:ext>
            </a:extLst>
          </a:blip>
          <a:stretch/>
        </p:blipFill>
        <p:spPr bwMode="auto">
          <a:xfrm>
            <a:off x="7096125" y="3219449"/>
            <a:ext cx="3048000" cy="476250"/>
          </a:xfrm>
          <a:prstGeom prst="rect">
            <a:avLst/>
          </a:prstGeom>
        </p:spPr>
      </p:pic>
      <p:sp>
        <p:nvSpPr>
          <p:cNvPr id="226076668" name=""/>
          <p:cNvSpPr>
            <a:spLocks noGrp="1"/>
          </p:cNvSpPr>
          <p:nvPr/>
        </p:nvSpPr>
        <p:spPr bwMode="auto">
          <a:xfrm>
            <a:off x="1143000" y="4057650"/>
            <a:ext cx="2095500" cy="247650"/>
          </a:xfrm>
          <a:prstGeom prst="rect">
            <a:avLst/>
          </a:prstGeom>
          <a:noFill/>
          <a:ln w="0">
            <a:noFill/>
            <a:prstDash val="solid"/>
          </a:ln>
        </p:spPr>
        <p:txBody>
          <a:bodyPr/>
          <a:lstStyle/>
          <a:p>
            <a:pPr algn="l">
              <a:buNone/>
              <a:defRPr sz="1350" b="1">
                <a:solidFill>
                  <a:srgbClr val="EF4444"/>
                </a:solidFill>
                <a:latin typeface="Calibri"/>
                <a:ea typeface="Calibri"/>
                <a:cs typeface="Calibri"/>
              </a:defRPr>
            </a:pPr>
            <a:r>
              <a:rPr sz="1350" b="1">
                <a:solidFill>
                  <a:srgbClr val="EF4444"/>
                </a:solidFill>
                <a:latin typeface="Calibri"/>
                <a:ea typeface="Calibri"/>
                <a:cs typeface="Calibri"/>
              </a:rPr>
              <a:t>3   Differentiate</a:t>
            </a:r>
            <a:endParaRPr/>
          </a:p>
        </p:txBody>
      </p:sp>
      <p:sp>
        <p:nvSpPr>
          <p:cNvPr id="882725437" name=""/>
          <p:cNvSpPr>
            <a:spLocks noGrp="1"/>
          </p:cNvSpPr>
          <p:nvPr/>
        </p:nvSpPr>
        <p:spPr bwMode="auto">
          <a:xfrm flipH="0" flipV="0">
            <a:off x="1428750" y="4410074"/>
            <a:ext cx="9334499" cy="675915"/>
          </a:xfrm>
          <a:prstGeom prst="roundRect">
            <a:avLst>
              <a:gd name="adj" fmla="val 11429"/>
            </a:avLst>
          </a:prstGeom>
          <a:solidFill>
            <a:srgbClr val="FFFFFF"/>
          </a:solidFill>
          <a:ln w="16193">
            <a:solidFill>
              <a:srgbClr val="EF4444"/>
            </a:solidFill>
            <a:prstDash val="solid"/>
          </a:ln>
        </p:spPr>
      </p:sp>
      <p:pic>
        <p:nvPicPr>
          <p:cNvPr id="2145169562" name=""/>
          <p:cNvPicPr>
            <a:picLocks noChangeAspect="1"/>
          </p:cNvPicPr>
          <p:nvPr/>
        </p:nvPicPr>
        <p:blipFill rotWithShape="1">
          <a:blip r:embed="rId11">
            <a:extLst>
              <a:ext uri="{96DAC541-7B7A-43D3-8B79-37D633B846F1}">
                <asvg:svgBlip xmlns:asvg="http://schemas.microsoft.com/office/drawing/2016/SVG/main" r:embed="rId12"/>
              </a:ext>
            </a:extLst>
          </a:blip>
          <a:stretch/>
        </p:blipFill>
        <p:spPr bwMode="auto">
          <a:xfrm>
            <a:off x="1809750" y="4467225"/>
            <a:ext cx="8572500" cy="552450"/>
          </a:xfrm>
          <a:prstGeom prst="rect">
            <a:avLst/>
          </a:prstGeom>
        </p:spPr>
      </p:pic>
      <p:sp>
        <p:nvSpPr>
          <p:cNvPr id="1279759938" name=""/>
          <p:cNvSpPr>
            <a:spLocks noGrp="1"/>
          </p:cNvSpPr>
          <p:nvPr/>
        </p:nvSpPr>
        <p:spPr bwMode="auto">
          <a:xfrm flipH="0" flipV="0">
            <a:off x="3143249" y="5314949"/>
            <a:ext cx="5905499" cy="549813"/>
          </a:xfrm>
          <a:prstGeom prst="roundRect">
            <a:avLst>
              <a:gd name="adj" fmla="val 15385"/>
            </a:avLst>
          </a:prstGeom>
          <a:solidFill>
            <a:srgbClr val="FFF7ED"/>
          </a:solidFill>
          <a:ln w="14288">
            <a:solidFill>
              <a:srgbClr val="F97316"/>
            </a:solidFill>
            <a:prstDash val="solid"/>
          </a:ln>
        </p:spPr>
      </p:sp>
      <p:pic>
        <p:nvPicPr>
          <p:cNvPr id="1769991085" name=""/>
          <p:cNvPicPr>
            <a:picLocks noChangeAspect="1"/>
          </p:cNvPicPr>
          <p:nvPr/>
        </p:nvPicPr>
        <p:blipFill rotWithShape="1">
          <a:blip r:embed="rId13">
            <a:extLst>
              <a:ext uri="{96DAC541-7B7A-43D3-8B79-37D633B846F1}">
                <asvg:svgBlip xmlns:asvg="http://schemas.microsoft.com/office/drawing/2016/SVG/main" r:embed="rId14"/>
              </a:ext>
            </a:extLst>
          </a:blip>
          <a:stretch/>
        </p:blipFill>
        <p:spPr bwMode="auto">
          <a:xfrm>
            <a:off x="3429000" y="5343525"/>
            <a:ext cx="5334000" cy="438149"/>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26503728" name="Rectangle 1153616344"/>
          <p:cNvSpPr>
            <a:spLocks noGrp="1"/>
          </p:cNvSpPr>
          <p:nvPr/>
        </p:nvSpPr>
        <p:spPr bwMode="auto">
          <a:xfrm>
            <a:off x="609600" y="323850"/>
            <a:ext cx="4000500" cy="285750"/>
          </a:xfrm>
          <a:prstGeom prst="rect">
            <a:avLst/>
          </a:prstGeom>
          <a:noFill/>
          <a:ln w="0">
            <a:noFill/>
            <a:prstDash val="solid"/>
          </a:ln>
        </p:spPr>
        <p:txBody>
          <a:bodyPr anchor="ctr"/>
          <a:lstStyle/>
          <a:p>
            <a:pPr algn="l">
              <a:buNone/>
              <a:defRPr sz="1200" b="1">
                <a:solidFill>
                  <a:srgbClr val="2563EB"/>
                </a:solidFill>
                <a:latin typeface="Georgia"/>
                <a:ea typeface="Georgia"/>
                <a:cs typeface="Georgia"/>
              </a:defRPr>
            </a:pPr>
            <a:r>
              <a:rPr sz="1200" b="1">
                <a:solidFill>
                  <a:srgbClr val="2563EB"/>
                </a:solidFill>
                <a:latin typeface="Georgia"/>
                <a:ea typeface="Georgia"/>
                <a:cs typeface="Georgia"/>
              </a:rPr>
              <a:t>Learning</a:t>
            </a:r>
            <a:endParaRPr/>
          </a:p>
        </p:txBody>
      </p:sp>
      <p:sp>
        <p:nvSpPr>
          <p:cNvPr id="513191435" name="Rectangle 900783331"/>
          <p:cNvSpPr>
            <a:spLocks noGrp="1"/>
          </p:cNvSpPr>
          <p:nvPr/>
        </p:nvSpPr>
        <p:spPr bwMode="auto">
          <a:xfrm>
            <a:off x="609600" y="590549"/>
            <a:ext cx="9334500" cy="590549"/>
          </a:xfrm>
          <a:prstGeom prst="rect">
            <a:avLst/>
          </a:prstGeom>
          <a:noFill/>
          <a:ln w="0">
            <a:noFill/>
            <a:prstDash val="solid"/>
          </a:ln>
        </p:spPr>
        <p:txBody>
          <a:bodyPr anchor="ctr"/>
          <a:lstStyle/>
          <a:p>
            <a:pPr algn="l">
              <a:buNone/>
              <a:defRPr sz="2850" b="1">
                <a:solidFill>
                  <a:srgbClr val="0B0F19"/>
                </a:solidFill>
                <a:latin typeface="Georgia"/>
                <a:ea typeface="Georgia"/>
                <a:cs typeface="Georgia"/>
              </a:defRPr>
            </a:pPr>
            <a:r>
              <a:rPr sz="2850" b="1">
                <a:solidFill>
                  <a:srgbClr val="0B0F19"/>
                </a:solidFill>
                <a:latin typeface="Georgia"/>
                <a:ea typeface="Georgia"/>
                <a:cs typeface="Georgia"/>
              </a:rPr>
              <a:t>Backpropagation uses the chain rule</a:t>
            </a:r>
            <a:endParaRPr/>
          </a:p>
        </p:txBody>
      </p:sp>
      <p:sp>
        <p:nvSpPr>
          <p:cNvPr id="644133822" name="Rectangle 167503777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22</a:t>
            </a:r>
            <a:endParaRPr/>
          </a:p>
        </p:txBody>
      </p:sp>
      <p:sp>
        <p:nvSpPr>
          <p:cNvPr id="829312679" name=""/>
          <p:cNvSpPr>
            <a:spLocks noGrp="1"/>
          </p:cNvSpPr>
          <p:nvPr/>
        </p:nvSpPr>
        <p:spPr bwMode="auto">
          <a:xfrm>
            <a:off x="609600" y="1352550"/>
            <a:ext cx="10972800" cy="4762500"/>
          </a:xfrm>
          <a:prstGeom prst="roundRect">
            <a:avLst>
              <a:gd name="adj" fmla="val 1600"/>
            </a:avLst>
          </a:prstGeom>
          <a:solidFill>
            <a:srgbClr val="F8FAFC"/>
          </a:solidFill>
          <a:ln w="9525">
            <a:solidFill>
              <a:srgbClr val="E2E8F0"/>
            </a:solidFill>
            <a:prstDash val="solid"/>
          </a:ln>
        </p:spPr>
      </p:sp>
      <p:sp>
        <p:nvSpPr>
          <p:cNvPr id="122013397" name=""/>
          <p:cNvSpPr>
            <a:spLocks noGrp="1"/>
          </p:cNvSpPr>
          <p:nvPr/>
        </p:nvSpPr>
        <p:spPr bwMode="auto">
          <a:xfrm>
            <a:off x="1143000" y="1714500"/>
            <a:ext cx="9906000" cy="323850"/>
          </a:xfrm>
          <a:prstGeom prst="rect">
            <a:avLst/>
          </a:prstGeom>
          <a:noFill/>
          <a:ln w="0">
            <a:noFill/>
            <a:prstDash val="solid"/>
          </a:ln>
        </p:spPr>
        <p:txBody>
          <a:bodyPr/>
          <a:lstStyle/>
          <a:p>
            <a:pPr algn="ctr">
              <a:buNone/>
              <a:defRPr sz="1650" b="0">
                <a:solidFill>
                  <a:srgbClr val="667085"/>
                </a:solidFill>
                <a:latin typeface="Calibri"/>
                <a:ea typeface="Calibri"/>
                <a:cs typeface="Calibri"/>
              </a:defRPr>
            </a:pPr>
            <a:r>
              <a:rPr sz="1650" b="0">
                <a:solidFill>
                  <a:srgbClr val="667085"/>
                </a:solidFill>
                <a:latin typeface="Calibri"/>
                <a:ea typeface="Calibri"/>
                <a:cs typeface="Calibri"/>
              </a:rPr>
              <a:t>The forward pass computes values; the backward pass computes how the loss changes each weight.</a:t>
            </a:r>
            <a:endParaRPr/>
          </a:p>
        </p:txBody>
      </p:sp>
      <p:sp>
        <p:nvSpPr>
          <p:cNvPr id="317120134" name=""/>
          <p:cNvSpPr>
            <a:spLocks noGrp="1"/>
          </p:cNvSpPr>
          <p:nvPr/>
        </p:nvSpPr>
        <p:spPr bwMode="auto">
          <a:xfrm>
            <a:off x="2828925" y="2647949"/>
            <a:ext cx="762000" cy="361950"/>
          </a:xfrm>
          <a:prstGeom prst="rightArrow">
            <a:avLst>
              <a:gd name="adj1" fmla="val 50000"/>
              <a:gd name="adj2" fmla="val 50000"/>
            </a:avLst>
          </a:prstGeom>
          <a:solidFill>
            <a:srgbClr val="EFF6FF"/>
          </a:solidFill>
          <a:ln w="13335">
            <a:solidFill>
              <a:srgbClr val="2563EB"/>
            </a:solidFill>
            <a:prstDash val="solid"/>
          </a:ln>
        </p:spPr>
      </p:sp>
      <p:sp>
        <p:nvSpPr>
          <p:cNvPr id="1214036268" name=""/>
          <p:cNvSpPr>
            <a:spLocks noGrp="1"/>
          </p:cNvSpPr>
          <p:nvPr/>
        </p:nvSpPr>
        <p:spPr bwMode="auto">
          <a:xfrm>
            <a:off x="5400675" y="2647949"/>
            <a:ext cx="762000" cy="361950"/>
          </a:xfrm>
          <a:prstGeom prst="rightArrow">
            <a:avLst>
              <a:gd name="adj1" fmla="val 50000"/>
              <a:gd name="adj2" fmla="val 50000"/>
            </a:avLst>
          </a:prstGeom>
          <a:solidFill>
            <a:srgbClr val="EFF6FF"/>
          </a:solidFill>
          <a:ln w="13335">
            <a:solidFill>
              <a:srgbClr val="2563EB"/>
            </a:solidFill>
            <a:prstDash val="solid"/>
          </a:ln>
        </p:spPr>
      </p:sp>
      <p:sp>
        <p:nvSpPr>
          <p:cNvPr id="1681436009" name=""/>
          <p:cNvSpPr>
            <a:spLocks noGrp="1"/>
          </p:cNvSpPr>
          <p:nvPr/>
        </p:nvSpPr>
        <p:spPr bwMode="auto">
          <a:xfrm>
            <a:off x="8067675" y="2647949"/>
            <a:ext cx="762000" cy="361950"/>
          </a:xfrm>
          <a:prstGeom prst="rightArrow">
            <a:avLst>
              <a:gd name="adj1" fmla="val 50000"/>
              <a:gd name="adj2" fmla="val 50000"/>
            </a:avLst>
          </a:prstGeom>
          <a:solidFill>
            <a:srgbClr val="EFF6FF"/>
          </a:solidFill>
          <a:ln w="13335">
            <a:solidFill>
              <a:srgbClr val="2563EB"/>
            </a:solidFill>
            <a:prstDash val="solid"/>
          </a:ln>
        </p:spPr>
      </p:sp>
      <p:sp>
        <p:nvSpPr>
          <p:cNvPr id="601838431" name=""/>
          <p:cNvSpPr>
            <a:spLocks noGrp="1"/>
          </p:cNvSpPr>
          <p:nvPr/>
        </p:nvSpPr>
        <p:spPr bwMode="auto">
          <a:xfrm>
            <a:off x="2828925" y="3571875"/>
            <a:ext cx="762000" cy="361950"/>
          </a:xfrm>
          <a:prstGeom prst="leftArrow">
            <a:avLst>
              <a:gd name="adj1" fmla="val 50000"/>
              <a:gd name="adj2" fmla="val 50000"/>
            </a:avLst>
          </a:prstGeom>
          <a:solidFill>
            <a:srgbClr val="FEF2F2"/>
          </a:solidFill>
          <a:ln w="13335">
            <a:solidFill>
              <a:srgbClr val="EF4444"/>
            </a:solidFill>
            <a:prstDash val="solid"/>
          </a:ln>
        </p:spPr>
      </p:sp>
      <p:sp>
        <p:nvSpPr>
          <p:cNvPr id="1668378" name=""/>
          <p:cNvSpPr>
            <a:spLocks noGrp="1"/>
          </p:cNvSpPr>
          <p:nvPr/>
        </p:nvSpPr>
        <p:spPr bwMode="auto">
          <a:xfrm>
            <a:off x="5400675" y="3571875"/>
            <a:ext cx="762000" cy="361950"/>
          </a:xfrm>
          <a:prstGeom prst="leftArrow">
            <a:avLst>
              <a:gd name="adj1" fmla="val 50000"/>
              <a:gd name="adj2" fmla="val 50000"/>
            </a:avLst>
          </a:prstGeom>
          <a:solidFill>
            <a:srgbClr val="FEF2F2"/>
          </a:solidFill>
          <a:ln w="13335">
            <a:solidFill>
              <a:srgbClr val="EF4444"/>
            </a:solidFill>
            <a:prstDash val="solid"/>
          </a:ln>
        </p:spPr>
      </p:sp>
      <p:sp>
        <p:nvSpPr>
          <p:cNvPr id="932365598" name=""/>
          <p:cNvSpPr>
            <a:spLocks noGrp="1"/>
          </p:cNvSpPr>
          <p:nvPr/>
        </p:nvSpPr>
        <p:spPr bwMode="auto">
          <a:xfrm>
            <a:off x="8067675" y="3571875"/>
            <a:ext cx="762000" cy="361950"/>
          </a:xfrm>
          <a:prstGeom prst="leftArrow">
            <a:avLst>
              <a:gd name="adj1" fmla="val 50000"/>
              <a:gd name="adj2" fmla="val 50000"/>
            </a:avLst>
          </a:prstGeom>
          <a:solidFill>
            <a:srgbClr val="FEF2F2"/>
          </a:solidFill>
          <a:ln w="13335">
            <a:solidFill>
              <a:srgbClr val="EF4444"/>
            </a:solidFill>
            <a:prstDash val="solid"/>
          </a:ln>
        </p:spPr>
      </p:sp>
      <p:sp>
        <p:nvSpPr>
          <p:cNvPr id="82261706" name=""/>
          <p:cNvSpPr>
            <a:spLocks noGrp="1"/>
          </p:cNvSpPr>
          <p:nvPr/>
        </p:nvSpPr>
        <p:spPr bwMode="auto">
          <a:xfrm>
            <a:off x="1143000" y="2381250"/>
            <a:ext cx="1571625" cy="857250"/>
          </a:xfrm>
          <a:prstGeom prst="roundRect">
            <a:avLst>
              <a:gd name="adj" fmla="val 8889"/>
            </a:avLst>
          </a:prstGeom>
          <a:solidFill>
            <a:srgbClr val="FFFFFF"/>
          </a:solidFill>
          <a:ln w="14288">
            <a:solidFill>
              <a:srgbClr val="CBD5E1"/>
            </a:solidFill>
            <a:prstDash val="solid"/>
          </a:ln>
        </p:spPr>
        <p:txBody>
          <a:bodyPr anchor="ctr"/>
          <a:lstStyle/>
          <a:p>
            <a:pPr algn="ctr">
              <a:buNone/>
              <a:defRPr sz="2100" b="1">
                <a:solidFill>
                  <a:srgbClr val="0B0F19"/>
                </a:solidFill>
                <a:latin typeface="Calibri"/>
                <a:ea typeface="Calibri"/>
                <a:cs typeface="Calibri"/>
              </a:defRPr>
            </a:pPr>
            <a:r>
              <a:rPr sz="2100" b="1">
                <a:solidFill>
                  <a:srgbClr val="0B0F19"/>
                </a:solidFill>
                <a:latin typeface="Calibri"/>
                <a:ea typeface="Calibri"/>
                <a:cs typeface="Calibri"/>
              </a:rPr>
              <a:t>w</a:t>
            </a:r>
            <a:endParaRPr/>
          </a:p>
        </p:txBody>
      </p:sp>
      <p:sp>
        <p:nvSpPr>
          <p:cNvPr id="979735123" name=""/>
          <p:cNvSpPr>
            <a:spLocks noGrp="1"/>
          </p:cNvSpPr>
          <p:nvPr/>
        </p:nvSpPr>
        <p:spPr bwMode="auto">
          <a:xfrm>
            <a:off x="3714750" y="2381250"/>
            <a:ext cx="1571625" cy="857250"/>
          </a:xfrm>
          <a:prstGeom prst="roundRect">
            <a:avLst>
              <a:gd name="adj" fmla="val 8889"/>
            </a:avLst>
          </a:prstGeom>
          <a:solidFill>
            <a:srgbClr val="EFF6FF"/>
          </a:solidFill>
          <a:ln w="14288">
            <a:solidFill>
              <a:srgbClr val="2563EB"/>
            </a:solidFill>
            <a:prstDash val="solid"/>
          </a:ln>
        </p:spPr>
        <p:txBody>
          <a:bodyPr anchor="ctr"/>
          <a:lstStyle/>
          <a:p>
            <a:pPr algn="ctr">
              <a:buNone/>
              <a:defRPr sz="1750" b="1">
                <a:solidFill>
                  <a:srgbClr val="0B0F19"/>
                </a:solidFill>
                <a:latin typeface="Calibri"/>
                <a:ea typeface="Calibri"/>
                <a:cs typeface="Calibri"/>
              </a:defRPr>
            </a:pPr>
            <a:r>
              <a:rPr sz="1750" b="1">
                <a:solidFill>
                  <a:srgbClr val="0B0F19"/>
                </a:solidFill>
                <a:latin typeface="Calibri"/>
                <a:ea typeface="Calibri"/>
                <a:cs typeface="Calibri"/>
              </a:rPr>
              <a:t>z = wx + b</a:t>
            </a:r>
            <a:endParaRPr/>
          </a:p>
        </p:txBody>
      </p:sp>
      <p:sp>
        <p:nvSpPr>
          <p:cNvPr id="2006508149" name=""/>
          <p:cNvSpPr>
            <a:spLocks noGrp="1"/>
          </p:cNvSpPr>
          <p:nvPr/>
        </p:nvSpPr>
        <p:spPr bwMode="auto">
          <a:xfrm>
            <a:off x="6381750" y="2381250"/>
            <a:ext cx="1571625" cy="857250"/>
          </a:xfrm>
          <a:prstGeom prst="roundRect">
            <a:avLst>
              <a:gd name="adj" fmla="val 8889"/>
            </a:avLst>
          </a:prstGeom>
          <a:solidFill>
            <a:srgbClr val="ECFDF5"/>
          </a:solidFill>
          <a:ln w="14288">
            <a:solidFill>
              <a:srgbClr val="059669"/>
            </a:solidFill>
            <a:prstDash val="solid"/>
          </a:ln>
        </p:spPr>
        <p:txBody>
          <a:bodyPr anchor="ctr"/>
          <a:lstStyle/>
          <a:p>
            <a:pPr algn="ctr">
              <a:buNone/>
              <a:defRPr sz="1750" b="1">
                <a:solidFill>
                  <a:srgbClr val="0B0F19"/>
                </a:solidFill>
                <a:latin typeface="Calibri"/>
                <a:ea typeface="Calibri"/>
                <a:cs typeface="Calibri"/>
              </a:defRPr>
            </a:pPr>
            <a:r>
              <a:rPr sz="1750" b="1">
                <a:solidFill>
                  <a:srgbClr val="0B0F19"/>
                </a:solidFill>
                <a:latin typeface="Calibri"/>
                <a:ea typeface="Calibri"/>
                <a:cs typeface="Calibri"/>
              </a:rPr>
              <a:t>a = σ(z)</a:t>
            </a:r>
            <a:endParaRPr/>
          </a:p>
        </p:txBody>
      </p:sp>
      <p:sp>
        <p:nvSpPr>
          <p:cNvPr id="1981951544" name=""/>
          <p:cNvSpPr>
            <a:spLocks noGrp="1"/>
          </p:cNvSpPr>
          <p:nvPr/>
        </p:nvSpPr>
        <p:spPr bwMode="auto">
          <a:xfrm>
            <a:off x="9144000" y="2381250"/>
            <a:ext cx="1571625" cy="857250"/>
          </a:xfrm>
          <a:prstGeom prst="roundRect">
            <a:avLst>
              <a:gd name="adj" fmla="val 8889"/>
            </a:avLst>
          </a:prstGeom>
          <a:solidFill>
            <a:srgbClr val="FEF2F2"/>
          </a:solidFill>
          <a:ln w="14288">
            <a:solidFill>
              <a:srgbClr val="EF4444"/>
            </a:solidFill>
            <a:prstDash val="solid"/>
          </a:ln>
        </p:spPr>
        <p:txBody>
          <a:bodyPr anchor="ctr"/>
          <a:lstStyle/>
          <a:p>
            <a:pPr algn="ctr">
              <a:buNone/>
              <a:defRPr sz="1750" b="1">
                <a:solidFill>
                  <a:srgbClr val="EF4444"/>
                </a:solidFill>
                <a:latin typeface="Calibri"/>
                <a:ea typeface="Calibri"/>
                <a:cs typeface="Calibri"/>
              </a:defRPr>
            </a:pPr>
            <a:r>
              <a:rPr sz="1750" b="1">
                <a:solidFill>
                  <a:srgbClr val="EF4444"/>
                </a:solidFill>
                <a:latin typeface="Calibri"/>
                <a:ea typeface="Calibri"/>
                <a:cs typeface="Calibri"/>
              </a:rPr>
              <a:t>L(a)</a:t>
            </a:r>
            <a:endParaRPr/>
          </a:p>
        </p:txBody>
      </p:sp>
      <p:sp>
        <p:nvSpPr>
          <p:cNvPr id="1169762884" name=""/>
          <p:cNvSpPr>
            <a:spLocks noGrp="1"/>
          </p:cNvSpPr>
          <p:nvPr/>
        </p:nvSpPr>
        <p:spPr bwMode="auto">
          <a:xfrm>
            <a:off x="3381375" y="2095500"/>
            <a:ext cx="5429250" cy="238125"/>
          </a:xfrm>
          <a:prstGeom prst="rect">
            <a:avLst/>
          </a:prstGeom>
          <a:noFill/>
          <a:ln w="0">
            <a:noFill/>
            <a:prstDash val="solid"/>
          </a:ln>
        </p:spPr>
        <p:txBody>
          <a:bodyPr/>
          <a:lstStyle/>
          <a:p>
            <a:pPr algn="ctr">
              <a:buNone/>
              <a:defRPr sz="1300" b="1">
                <a:solidFill>
                  <a:srgbClr val="2563EB"/>
                </a:solidFill>
                <a:latin typeface="Calibri"/>
                <a:ea typeface="Calibri"/>
                <a:cs typeface="Calibri"/>
              </a:defRPr>
            </a:pPr>
            <a:r>
              <a:rPr sz="1300" b="1">
                <a:solidFill>
                  <a:srgbClr val="2563EB"/>
                </a:solidFill>
                <a:latin typeface="Calibri"/>
                <a:ea typeface="Calibri"/>
                <a:cs typeface="Calibri"/>
              </a:rPr>
              <a:t>forward: compute activations and loss</a:t>
            </a:r>
            <a:endParaRPr/>
          </a:p>
        </p:txBody>
      </p:sp>
      <p:sp>
        <p:nvSpPr>
          <p:cNvPr id="1566839673" name=""/>
          <p:cNvSpPr>
            <a:spLocks noGrp="1"/>
          </p:cNvSpPr>
          <p:nvPr/>
        </p:nvSpPr>
        <p:spPr bwMode="auto">
          <a:xfrm>
            <a:off x="3000375" y="4000500"/>
            <a:ext cx="6191250" cy="238125"/>
          </a:xfrm>
          <a:prstGeom prst="rect">
            <a:avLst/>
          </a:prstGeom>
          <a:noFill/>
          <a:ln w="0">
            <a:noFill/>
            <a:prstDash val="solid"/>
          </a:ln>
        </p:spPr>
        <p:txBody>
          <a:bodyPr/>
          <a:lstStyle/>
          <a:p>
            <a:pPr algn="ctr">
              <a:buNone/>
              <a:defRPr sz="1300" b="1">
                <a:solidFill>
                  <a:srgbClr val="EF4444"/>
                </a:solidFill>
                <a:latin typeface="Calibri"/>
                <a:ea typeface="Calibri"/>
                <a:cs typeface="Calibri"/>
              </a:defRPr>
            </a:pPr>
            <a:r>
              <a:rPr sz="1300" b="1">
                <a:solidFill>
                  <a:srgbClr val="EF4444"/>
                </a:solidFill>
                <a:latin typeface="Calibri"/>
                <a:ea typeface="Calibri"/>
                <a:cs typeface="Calibri"/>
              </a:rPr>
              <a:t>backward: propagate gradients toward earlier parameters</a:t>
            </a:r>
            <a:endParaRPr/>
          </a:p>
        </p:txBody>
      </p:sp>
      <p:sp>
        <p:nvSpPr>
          <p:cNvPr id="1779932145" name=""/>
          <p:cNvSpPr>
            <a:spLocks noGrp="1"/>
          </p:cNvSpPr>
          <p:nvPr/>
        </p:nvSpPr>
        <p:spPr bwMode="auto">
          <a:xfrm flipH="0" flipV="0">
            <a:off x="1571623" y="4450990"/>
            <a:ext cx="9048749" cy="702034"/>
          </a:xfrm>
          <a:prstGeom prst="roundRect">
            <a:avLst>
              <a:gd name="adj" fmla="val 12121"/>
            </a:avLst>
          </a:prstGeom>
          <a:solidFill>
            <a:srgbClr val="FFFFFF"/>
          </a:solidFill>
          <a:ln w="17145">
            <a:solidFill>
              <a:srgbClr val="EF4444"/>
            </a:solidFill>
            <a:prstDash val="solid"/>
          </a:ln>
        </p:spPr>
        <p:txBody>
          <a:bodyPr anchor="ctr"/>
          <a:lstStyle/>
          <a:p>
            <a:pPr algn="ctr">
              <a:buNone/>
              <a:defRPr sz="2050" b="1">
                <a:solidFill>
                  <a:srgbClr val="0B0F19"/>
                </a:solidFill>
                <a:latin typeface="Calibri"/>
                <a:ea typeface="Calibri"/>
                <a:cs typeface="Calibri"/>
              </a:defRPr>
            </a:pPr>
            <a:endParaRPr/>
          </a:p>
        </p:txBody>
      </p:sp>
      <p:sp>
        <p:nvSpPr>
          <p:cNvPr id="1594311439" name=""/>
          <p:cNvSpPr>
            <a:spLocks noGrp="1"/>
          </p:cNvSpPr>
          <p:nvPr/>
        </p:nvSpPr>
        <p:spPr bwMode="auto">
          <a:xfrm flipH="0" flipV="0">
            <a:off x="3333749" y="5265707"/>
            <a:ext cx="5524499" cy="592167"/>
          </a:xfrm>
          <a:prstGeom prst="roundRect">
            <a:avLst>
              <a:gd name="adj" fmla="val 16000"/>
            </a:avLst>
          </a:prstGeom>
          <a:solidFill>
            <a:srgbClr val="FFF7ED"/>
          </a:solidFill>
          <a:ln w="14288">
            <a:solidFill>
              <a:srgbClr val="F97316"/>
            </a:solidFill>
            <a:prstDash val="solid"/>
          </a:ln>
        </p:spPr>
        <p:txBody>
          <a:bodyPr anchor="ctr"/>
          <a:lstStyle/>
          <a:p>
            <a:pPr algn="ctr">
              <a:buNone/>
              <a:defRPr sz="1650" b="1">
                <a:solidFill>
                  <a:srgbClr val="C2410C"/>
                </a:solidFill>
                <a:latin typeface="Calibri"/>
                <a:ea typeface="Calibri"/>
                <a:cs typeface="Calibri"/>
              </a:defRPr>
            </a:pPr>
            <a:endParaRPr/>
          </a:p>
        </p:txBody>
      </p:sp>
      <p:pic>
        <p:nvPicPr>
          <p:cNvPr id="2043260691" name=""/>
          <p:cNvPicPr>
            <a:picLocks noChangeAspect="1"/>
          </p:cNvPicPr>
          <p:nvPr/>
        </p:nvPicPr>
        <p:blipFill rotWithShape="1">
          <a:blip r:embed="rId3">
            <a:extLst>
              <a:ext uri="{96DAC541-7B7A-43D3-8B79-37D633B846F1}">
                <asvg:svgBlip xmlns:asvg="http://schemas.microsoft.com/office/drawing/2016/SVG/main" r:embed="rId4"/>
              </a:ext>
            </a:extLst>
          </a:blip>
          <a:stretch/>
        </p:blipFill>
        <p:spPr bwMode="auto">
          <a:xfrm>
            <a:off x="2000250" y="4514850"/>
            <a:ext cx="8572500" cy="609600"/>
          </a:xfrm>
          <a:prstGeom prst="rect">
            <a:avLst/>
          </a:prstGeom>
        </p:spPr>
      </p:pic>
      <p:pic>
        <p:nvPicPr>
          <p:cNvPr id="50783599" name=""/>
          <p:cNvPicPr>
            <a:picLocks noChangeAspect="1"/>
          </p:cNvPicPr>
          <p:nvPr/>
        </p:nvPicPr>
        <p:blipFill rotWithShape="1">
          <a:blip r:embed="rId5">
            <a:extLst>
              <a:ext uri="{96DAC541-7B7A-43D3-8B79-37D633B846F1}">
                <asvg:svgBlip xmlns:asvg="http://schemas.microsoft.com/office/drawing/2016/SVG/main" r:embed="rId6"/>
              </a:ext>
            </a:extLst>
          </a:blip>
          <a:stretch/>
        </p:blipFill>
        <p:spPr bwMode="auto">
          <a:xfrm>
            <a:off x="4095750" y="5353050"/>
            <a:ext cx="4762500" cy="51435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58559349" name="Rectangle 549712311"/>
          <p:cNvSpPr>
            <a:spLocks noGrp="1"/>
          </p:cNvSpPr>
          <p:nvPr/>
        </p:nvSpPr>
        <p:spPr bwMode="auto">
          <a:xfrm>
            <a:off x="609599" y="323849"/>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Neural networks</a:t>
            </a:r>
            <a:endParaRPr/>
          </a:p>
        </p:txBody>
      </p:sp>
      <p:sp>
        <p:nvSpPr>
          <p:cNvPr id="486064002" name="Rectangle 504424573"/>
          <p:cNvSpPr>
            <a:spLocks noGrp="1"/>
          </p:cNvSpPr>
          <p:nvPr/>
        </p:nvSpPr>
        <p:spPr bwMode="auto">
          <a:xfrm>
            <a:off x="609599" y="590548"/>
            <a:ext cx="9334500" cy="590548"/>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Neural network: basic structure</a:t>
            </a:r>
            <a:endParaRPr/>
          </a:p>
        </p:txBody>
      </p:sp>
      <p:sp>
        <p:nvSpPr>
          <p:cNvPr id="1503402353" name="Rectangle: Rounded Corners 8473207"/>
          <p:cNvSpPr>
            <a:spLocks noGrp="1"/>
          </p:cNvSpPr>
          <p:nvPr/>
        </p:nvSpPr>
        <p:spPr bwMode="auto">
          <a:xfrm>
            <a:off x="609598" y="1343025"/>
            <a:ext cx="10972800" cy="4762499"/>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971298680" name="Oval 1713827263"/>
          <p:cNvSpPr>
            <a:spLocks noGrp="1"/>
          </p:cNvSpPr>
          <p:nvPr/>
        </p:nvSpPr>
        <p:spPr bwMode="auto">
          <a:xfrm>
            <a:off x="1962148" y="2616993"/>
            <a:ext cx="457200" cy="457200"/>
          </a:xfrm>
          <a:prstGeom prst="ellipse">
            <a:avLst/>
          </a:prstGeom>
          <a:solidFill>
            <a:srgbClr val="FFFFFF"/>
          </a:solidFill>
          <a:ln w="19050">
            <a:solidFill>
              <a:srgbClr val="667085"/>
            </a:solidFill>
            <a:prstDash val="solid"/>
          </a:ln>
        </p:spPr>
        <p:txBody>
          <a:bodyPr/>
          <a:lstStyle/>
          <a:p>
            <a:pPr>
              <a:buNone/>
              <a:defRPr/>
            </a:pPr>
            <a:endParaRPr/>
          </a:p>
        </p:txBody>
      </p:sp>
      <p:sp>
        <p:nvSpPr>
          <p:cNvPr id="1708127616" name="Oval 324013536"/>
          <p:cNvSpPr>
            <a:spLocks noGrp="1"/>
          </p:cNvSpPr>
          <p:nvPr/>
        </p:nvSpPr>
        <p:spPr bwMode="auto">
          <a:xfrm>
            <a:off x="1962148" y="3414710"/>
            <a:ext cx="457200" cy="457200"/>
          </a:xfrm>
          <a:prstGeom prst="ellipse">
            <a:avLst/>
          </a:prstGeom>
          <a:solidFill>
            <a:srgbClr val="FFFFFF"/>
          </a:solidFill>
          <a:ln w="19050">
            <a:solidFill>
              <a:srgbClr val="667085"/>
            </a:solidFill>
            <a:prstDash val="solid"/>
          </a:ln>
        </p:spPr>
        <p:txBody>
          <a:bodyPr/>
          <a:lstStyle/>
          <a:p>
            <a:pPr>
              <a:buNone/>
              <a:defRPr/>
            </a:pPr>
            <a:endParaRPr/>
          </a:p>
        </p:txBody>
      </p:sp>
      <p:sp>
        <p:nvSpPr>
          <p:cNvPr id="1020289225" name="Oval 1149235491"/>
          <p:cNvSpPr>
            <a:spLocks noGrp="1"/>
          </p:cNvSpPr>
          <p:nvPr/>
        </p:nvSpPr>
        <p:spPr bwMode="auto">
          <a:xfrm>
            <a:off x="1962148" y="4171950"/>
            <a:ext cx="457200" cy="457200"/>
          </a:xfrm>
          <a:prstGeom prst="ellipse">
            <a:avLst/>
          </a:prstGeom>
          <a:solidFill>
            <a:srgbClr val="FFFFFF"/>
          </a:solidFill>
          <a:ln w="19050">
            <a:solidFill>
              <a:srgbClr val="667085"/>
            </a:solidFill>
            <a:prstDash val="solid"/>
          </a:ln>
        </p:spPr>
        <p:txBody>
          <a:bodyPr/>
          <a:lstStyle/>
          <a:p>
            <a:pPr>
              <a:buNone/>
              <a:defRPr/>
            </a:pPr>
            <a:endParaRPr/>
          </a:p>
        </p:txBody>
      </p:sp>
      <p:sp>
        <p:nvSpPr>
          <p:cNvPr id="129621589" name="Oval 1750953689"/>
          <p:cNvSpPr>
            <a:spLocks noGrp="1"/>
          </p:cNvSpPr>
          <p:nvPr/>
        </p:nvSpPr>
        <p:spPr bwMode="auto">
          <a:xfrm>
            <a:off x="4343400" y="2200275"/>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349824516" name="Oval 1513393046"/>
          <p:cNvSpPr>
            <a:spLocks noGrp="1"/>
          </p:cNvSpPr>
          <p:nvPr/>
        </p:nvSpPr>
        <p:spPr bwMode="auto">
          <a:xfrm>
            <a:off x="4343400" y="2819399"/>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1744004942" name="Oval 496081326"/>
          <p:cNvSpPr>
            <a:spLocks noGrp="1"/>
          </p:cNvSpPr>
          <p:nvPr/>
        </p:nvSpPr>
        <p:spPr bwMode="auto">
          <a:xfrm>
            <a:off x="4343400" y="3438524"/>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92012033" name="Oval 953579843"/>
          <p:cNvSpPr>
            <a:spLocks noGrp="1"/>
          </p:cNvSpPr>
          <p:nvPr/>
        </p:nvSpPr>
        <p:spPr bwMode="auto">
          <a:xfrm>
            <a:off x="4343400" y="4057650"/>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1667163449" name="Oval 268581152"/>
          <p:cNvSpPr>
            <a:spLocks noGrp="1"/>
          </p:cNvSpPr>
          <p:nvPr/>
        </p:nvSpPr>
        <p:spPr bwMode="auto">
          <a:xfrm>
            <a:off x="4343400" y="4676774"/>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365214690" name="Oval 1782461718"/>
          <p:cNvSpPr>
            <a:spLocks noGrp="1"/>
          </p:cNvSpPr>
          <p:nvPr/>
        </p:nvSpPr>
        <p:spPr bwMode="auto">
          <a:xfrm>
            <a:off x="6819900" y="2200275"/>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1866044648" name="Oval 1638488983"/>
          <p:cNvSpPr>
            <a:spLocks noGrp="1"/>
          </p:cNvSpPr>
          <p:nvPr/>
        </p:nvSpPr>
        <p:spPr bwMode="auto">
          <a:xfrm>
            <a:off x="6819900" y="2819399"/>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1720041730" name="Oval 1018913497"/>
          <p:cNvSpPr>
            <a:spLocks noGrp="1"/>
          </p:cNvSpPr>
          <p:nvPr/>
        </p:nvSpPr>
        <p:spPr bwMode="auto">
          <a:xfrm>
            <a:off x="6819900" y="3438524"/>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669116851" name="Oval 1292287629"/>
          <p:cNvSpPr>
            <a:spLocks noGrp="1"/>
          </p:cNvSpPr>
          <p:nvPr/>
        </p:nvSpPr>
        <p:spPr bwMode="auto">
          <a:xfrm>
            <a:off x="6819900" y="4057650"/>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1940375169" name="Oval 1410545746"/>
          <p:cNvSpPr>
            <a:spLocks noGrp="1"/>
          </p:cNvSpPr>
          <p:nvPr/>
        </p:nvSpPr>
        <p:spPr bwMode="auto">
          <a:xfrm>
            <a:off x="6819900" y="4676774"/>
            <a:ext cx="457200" cy="457200"/>
          </a:xfrm>
          <a:prstGeom prst="ellipse">
            <a:avLst/>
          </a:prstGeom>
          <a:solidFill>
            <a:srgbClr val="FFFFFF"/>
          </a:solidFill>
          <a:ln w="19050">
            <a:solidFill>
              <a:srgbClr val="2563EB"/>
            </a:solidFill>
            <a:prstDash val="solid"/>
          </a:ln>
        </p:spPr>
        <p:txBody>
          <a:bodyPr/>
          <a:lstStyle/>
          <a:p>
            <a:pPr>
              <a:buNone/>
              <a:defRPr/>
            </a:pPr>
            <a:endParaRPr/>
          </a:p>
        </p:txBody>
      </p:sp>
      <p:sp>
        <p:nvSpPr>
          <p:cNvPr id="915937652" name="Oval 1923839338"/>
          <p:cNvSpPr>
            <a:spLocks noGrp="1"/>
          </p:cNvSpPr>
          <p:nvPr/>
        </p:nvSpPr>
        <p:spPr bwMode="auto">
          <a:xfrm>
            <a:off x="9296399" y="2813445"/>
            <a:ext cx="457200" cy="457200"/>
          </a:xfrm>
          <a:prstGeom prst="ellipse">
            <a:avLst/>
          </a:prstGeom>
          <a:solidFill>
            <a:srgbClr val="DCFCE7"/>
          </a:solidFill>
          <a:ln w="19050">
            <a:solidFill>
              <a:srgbClr val="2563EB"/>
            </a:solidFill>
            <a:prstDash val="solid"/>
          </a:ln>
        </p:spPr>
        <p:txBody>
          <a:bodyPr/>
          <a:lstStyle/>
          <a:p>
            <a:pPr>
              <a:buNone/>
              <a:defRPr/>
            </a:pPr>
            <a:endParaRPr/>
          </a:p>
        </p:txBody>
      </p:sp>
      <p:sp>
        <p:nvSpPr>
          <p:cNvPr id="1775137628" name="Oval 452248781"/>
          <p:cNvSpPr>
            <a:spLocks noGrp="1"/>
          </p:cNvSpPr>
          <p:nvPr/>
        </p:nvSpPr>
        <p:spPr bwMode="auto">
          <a:xfrm>
            <a:off x="9296399" y="4090986"/>
            <a:ext cx="457200" cy="457200"/>
          </a:xfrm>
          <a:prstGeom prst="ellipse">
            <a:avLst/>
          </a:prstGeom>
          <a:solidFill>
            <a:srgbClr val="DCFCE7"/>
          </a:solidFill>
          <a:ln w="19050">
            <a:solidFill>
              <a:srgbClr val="2563EB"/>
            </a:solidFill>
            <a:prstDash val="solid"/>
          </a:ln>
        </p:spPr>
        <p:txBody>
          <a:bodyPr/>
          <a:lstStyle/>
          <a:p>
            <a:pPr>
              <a:buNone/>
              <a:defRPr/>
            </a:pPr>
            <a:endParaRPr/>
          </a:p>
        </p:txBody>
      </p:sp>
      <p:sp>
        <p:nvSpPr>
          <p:cNvPr id="280630796" name="Rectangle 2036757279"/>
          <p:cNvSpPr>
            <a:spLocks noGrp="1"/>
          </p:cNvSpPr>
          <p:nvPr/>
        </p:nvSpPr>
        <p:spPr bwMode="auto">
          <a:xfrm>
            <a:off x="1571625" y="5333999"/>
            <a:ext cx="1238249" cy="266699"/>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input</a:t>
            </a:r>
            <a:endParaRPr/>
          </a:p>
        </p:txBody>
      </p:sp>
      <p:sp>
        <p:nvSpPr>
          <p:cNvPr id="33112283" name="Rectangle 899691756"/>
          <p:cNvSpPr>
            <a:spLocks noGrp="1"/>
          </p:cNvSpPr>
          <p:nvPr/>
        </p:nvSpPr>
        <p:spPr bwMode="auto">
          <a:xfrm>
            <a:off x="3952874" y="5333999"/>
            <a:ext cx="1238249" cy="266699"/>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hidden</a:t>
            </a:r>
            <a:endParaRPr/>
          </a:p>
        </p:txBody>
      </p:sp>
      <p:sp>
        <p:nvSpPr>
          <p:cNvPr id="823166292" name="Rectangle 1393267236"/>
          <p:cNvSpPr>
            <a:spLocks noGrp="1"/>
          </p:cNvSpPr>
          <p:nvPr/>
        </p:nvSpPr>
        <p:spPr bwMode="auto">
          <a:xfrm>
            <a:off x="6429375" y="5333999"/>
            <a:ext cx="1238249" cy="266699"/>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hidden</a:t>
            </a:r>
            <a:endParaRPr/>
          </a:p>
        </p:txBody>
      </p:sp>
      <p:sp>
        <p:nvSpPr>
          <p:cNvPr id="777974573" name="Rectangle 1802476533"/>
          <p:cNvSpPr>
            <a:spLocks noGrp="1"/>
          </p:cNvSpPr>
          <p:nvPr/>
        </p:nvSpPr>
        <p:spPr bwMode="auto">
          <a:xfrm>
            <a:off x="8905875" y="5333999"/>
            <a:ext cx="1238249" cy="266699"/>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output</a:t>
            </a:r>
            <a:endParaRPr/>
          </a:p>
        </p:txBody>
      </p:sp>
      <p:sp>
        <p:nvSpPr>
          <p:cNvPr id="838397220" name="Rectangle 1736954645"/>
          <p:cNvSpPr>
            <a:spLocks noGrp="1"/>
          </p:cNvSpPr>
          <p:nvPr/>
        </p:nvSpPr>
        <p:spPr bwMode="auto">
          <a:xfrm>
            <a:off x="11106150" y="6286500"/>
            <a:ext cx="476249"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16</a:t>
            </a:r>
            <a:endParaRPr/>
          </a:p>
        </p:txBody>
      </p:sp>
      <p:cxnSp>
        <p:nvCxnSpPr>
          <p:cNvPr id="1392301227" name="Straight Arrow Connector 2036758667"/>
          <p:cNvCxnSpPr>
            <a:stCxn id="1971298680" idx="6"/>
            <a:endCxn id="129621589" idx="2"/>
          </p:cNvCxnSpPr>
          <p:nvPr/>
        </p:nvCxnSpPr>
        <p:spPr bwMode="auto">
          <a:xfrm rot="0" flipH="0" flipV="1">
            <a:off x="2419349" y="2428875"/>
            <a:ext cx="1924048" cy="416718"/>
          </a:xfrm>
          <a:prstGeom prst="straightConnector1">
            <a:avLst/>
          </a:prstGeom>
          <a:ln w="9525">
            <a:solidFill>
              <a:srgbClr val="CBD5E1">
                <a:alpha val="45000"/>
              </a:srgbClr>
            </a:solidFill>
            <a:prstDash val="solid"/>
          </a:ln>
        </p:spPr>
      </p:cxnSp>
      <p:cxnSp>
        <p:nvCxnSpPr>
          <p:cNvPr id="1056732106" name="Straight Arrow Connector 2036758668"/>
          <p:cNvCxnSpPr>
            <a:stCxn id="1971298680" idx="6"/>
            <a:endCxn id="349824516" idx="2"/>
          </p:cNvCxnSpPr>
          <p:nvPr/>
        </p:nvCxnSpPr>
        <p:spPr bwMode="auto">
          <a:xfrm rot="0" flipH="0" flipV="0">
            <a:off x="2419349" y="2845593"/>
            <a:ext cx="1924048" cy="202405"/>
          </a:xfrm>
          <a:prstGeom prst="straightConnector1">
            <a:avLst/>
          </a:prstGeom>
          <a:ln w="9525">
            <a:solidFill>
              <a:srgbClr val="CBD5E1">
                <a:alpha val="45000"/>
              </a:srgbClr>
            </a:solidFill>
            <a:prstDash val="solid"/>
          </a:ln>
        </p:spPr>
      </p:cxnSp>
      <p:cxnSp>
        <p:nvCxnSpPr>
          <p:cNvPr id="1703713542" name="Straight Arrow Connector 2036758669"/>
          <p:cNvCxnSpPr>
            <a:stCxn id="1971298680" idx="6"/>
            <a:endCxn id="1744004942" idx="2"/>
          </p:cNvCxnSpPr>
          <p:nvPr/>
        </p:nvCxnSpPr>
        <p:spPr bwMode="auto">
          <a:xfrm rot="0" flipH="0" flipV="0">
            <a:off x="2419349" y="2845593"/>
            <a:ext cx="1924048" cy="821530"/>
          </a:xfrm>
          <a:prstGeom prst="straightConnector1">
            <a:avLst/>
          </a:prstGeom>
          <a:ln w="9525">
            <a:solidFill>
              <a:srgbClr val="CBD5E1">
                <a:alpha val="45000"/>
              </a:srgbClr>
            </a:solidFill>
            <a:prstDash val="solid"/>
          </a:ln>
        </p:spPr>
      </p:cxnSp>
      <p:cxnSp>
        <p:nvCxnSpPr>
          <p:cNvPr id="940534494" name="Straight Arrow Connector 2036758670"/>
          <p:cNvCxnSpPr>
            <a:stCxn id="1971298680" idx="6"/>
            <a:endCxn id="92012033" idx="2"/>
          </p:cNvCxnSpPr>
          <p:nvPr/>
        </p:nvCxnSpPr>
        <p:spPr bwMode="auto">
          <a:xfrm rot="0" flipH="0" flipV="0">
            <a:off x="2419349" y="2845593"/>
            <a:ext cx="1924048" cy="1440654"/>
          </a:xfrm>
          <a:prstGeom prst="straightConnector1">
            <a:avLst/>
          </a:prstGeom>
          <a:ln w="9525">
            <a:solidFill>
              <a:srgbClr val="CBD5E1">
                <a:alpha val="45000"/>
              </a:srgbClr>
            </a:solidFill>
            <a:prstDash val="solid"/>
          </a:ln>
        </p:spPr>
      </p:cxnSp>
      <p:cxnSp>
        <p:nvCxnSpPr>
          <p:cNvPr id="2117013085" name="Straight Arrow Connector 2036758671"/>
          <p:cNvCxnSpPr>
            <a:stCxn id="1971298680" idx="6"/>
            <a:endCxn id="1667163449" idx="2"/>
          </p:cNvCxnSpPr>
          <p:nvPr/>
        </p:nvCxnSpPr>
        <p:spPr bwMode="auto">
          <a:xfrm rot="0" flipH="0" flipV="0">
            <a:off x="2419349" y="2845593"/>
            <a:ext cx="1924048" cy="2059780"/>
          </a:xfrm>
          <a:prstGeom prst="straightConnector1">
            <a:avLst/>
          </a:prstGeom>
          <a:ln w="9525">
            <a:solidFill>
              <a:srgbClr val="CBD5E1">
                <a:alpha val="45000"/>
              </a:srgbClr>
            </a:solidFill>
            <a:prstDash val="solid"/>
          </a:ln>
        </p:spPr>
      </p:cxnSp>
      <p:cxnSp>
        <p:nvCxnSpPr>
          <p:cNvPr id="312191493" name="Straight Arrow Connector 2036758672"/>
          <p:cNvCxnSpPr>
            <a:stCxn id="1708127616" idx="6"/>
            <a:endCxn id="129621589" idx="2"/>
          </p:cNvCxnSpPr>
          <p:nvPr/>
        </p:nvCxnSpPr>
        <p:spPr bwMode="auto">
          <a:xfrm rot="0" flipH="0" flipV="1">
            <a:off x="2419349" y="2428875"/>
            <a:ext cx="1924048" cy="1214436"/>
          </a:xfrm>
          <a:prstGeom prst="straightConnector1">
            <a:avLst/>
          </a:prstGeom>
          <a:ln w="9525">
            <a:solidFill>
              <a:srgbClr val="CBD5E1">
                <a:alpha val="45000"/>
              </a:srgbClr>
            </a:solidFill>
            <a:prstDash val="solid"/>
          </a:ln>
        </p:spPr>
      </p:cxnSp>
      <p:cxnSp>
        <p:nvCxnSpPr>
          <p:cNvPr id="1067702722" name="Straight Arrow Connector 2036758673"/>
          <p:cNvCxnSpPr>
            <a:stCxn id="1708127616" idx="6"/>
            <a:endCxn id="349824516" idx="2"/>
          </p:cNvCxnSpPr>
          <p:nvPr/>
        </p:nvCxnSpPr>
        <p:spPr bwMode="auto">
          <a:xfrm rot="0" flipH="0" flipV="1">
            <a:off x="2419349" y="3047998"/>
            <a:ext cx="1924048" cy="595311"/>
          </a:xfrm>
          <a:prstGeom prst="straightConnector1">
            <a:avLst/>
          </a:prstGeom>
          <a:ln w="9525">
            <a:solidFill>
              <a:srgbClr val="CBD5E1">
                <a:alpha val="45000"/>
              </a:srgbClr>
            </a:solidFill>
            <a:prstDash val="solid"/>
          </a:ln>
        </p:spPr>
      </p:cxnSp>
      <p:cxnSp>
        <p:nvCxnSpPr>
          <p:cNvPr id="840735624" name="Straight Arrow Connector 2036758674"/>
          <p:cNvCxnSpPr>
            <a:stCxn id="1708127616" idx="6"/>
            <a:endCxn id="1744004942" idx="2"/>
          </p:cNvCxnSpPr>
          <p:nvPr/>
        </p:nvCxnSpPr>
        <p:spPr bwMode="auto">
          <a:xfrm rot="0" flipH="0" flipV="0">
            <a:off x="2419349" y="3643311"/>
            <a:ext cx="1924048" cy="23810"/>
          </a:xfrm>
          <a:prstGeom prst="straightConnector1">
            <a:avLst/>
          </a:prstGeom>
          <a:ln w="9525">
            <a:solidFill>
              <a:srgbClr val="CBD5E1">
                <a:alpha val="45000"/>
              </a:srgbClr>
            </a:solidFill>
            <a:prstDash val="solid"/>
          </a:ln>
        </p:spPr>
      </p:cxnSp>
      <p:cxnSp>
        <p:nvCxnSpPr>
          <p:cNvPr id="1420775543" name="Straight Arrow Connector 2036758675"/>
          <p:cNvCxnSpPr>
            <a:stCxn id="1708127616" idx="6"/>
            <a:endCxn id="92012033" idx="2"/>
          </p:cNvCxnSpPr>
          <p:nvPr/>
        </p:nvCxnSpPr>
        <p:spPr bwMode="auto">
          <a:xfrm rot="0" flipH="0" flipV="0">
            <a:off x="2419349" y="3643311"/>
            <a:ext cx="1924048" cy="642935"/>
          </a:xfrm>
          <a:prstGeom prst="straightConnector1">
            <a:avLst/>
          </a:prstGeom>
          <a:ln w="9525">
            <a:solidFill>
              <a:srgbClr val="CBD5E1">
                <a:alpha val="45000"/>
              </a:srgbClr>
            </a:solidFill>
            <a:prstDash val="solid"/>
          </a:ln>
        </p:spPr>
      </p:cxnSp>
      <p:cxnSp>
        <p:nvCxnSpPr>
          <p:cNvPr id="1753127936" name="Straight Arrow Connector 2036758676"/>
          <p:cNvCxnSpPr>
            <a:stCxn id="1708127616" idx="6"/>
            <a:endCxn id="1667163449" idx="2"/>
          </p:cNvCxnSpPr>
          <p:nvPr/>
        </p:nvCxnSpPr>
        <p:spPr bwMode="auto">
          <a:xfrm rot="0" flipH="0" flipV="0">
            <a:off x="2419349" y="3643311"/>
            <a:ext cx="1924048" cy="1262061"/>
          </a:xfrm>
          <a:prstGeom prst="straightConnector1">
            <a:avLst/>
          </a:prstGeom>
          <a:ln w="9525">
            <a:solidFill>
              <a:srgbClr val="CBD5E1">
                <a:alpha val="45000"/>
              </a:srgbClr>
            </a:solidFill>
            <a:prstDash val="solid"/>
          </a:ln>
        </p:spPr>
      </p:cxnSp>
      <p:cxnSp>
        <p:nvCxnSpPr>
          <p:cNvPr id="135993162" name="Straight Arrow Connector 2036758677"/>
          <p:cNvCxnSpPr>
            <a:stCxn id="1020289225" idx="6"/>
            <a:endCxn id="129621589" idx="2"/>
          </p:cNvCxnSpPr>
          <p:nvPr/>
        </p:nvCxnSpPr>
        <p:spPr bwMode="auto">
          <a:xfrm rot="0" flipH="0" flipV="1">
            <a:off x="2419349" y="2428875"/>
            <a:ext cx="1924048" cy="1971675"/>
          </a:xfrm>
          <a:prstGeom prst="straightConnector1">
            <a:avLst/>
          </a:prstGeom>
          <a:ln w="9525">
            <a:solidFill>
              <a:srgbClr val="CBD5E1">
                <a:alpha val="45000"/>
              </a:srgbClr>
            </a:solidFill>
            <a:prstDash val="solid"/>
          </a:ln>
        </p:spPr>
      </p:cxnSp>
      <p:cxnSp>
        <p:nvCxnSpPr>
          <p:cNvPr id="1752419019" name="Straight Arrow Connector 2036758678"/>
          <p:cNvCxnSpPr>
            <a:stCxn id="1020289225" idx="6"/>
            <a:endCxn id="349824516" idx="2"/>
          </p:cNvCxnSpPr>
          <p:nvPr/>
        </p:nvCxnSpPr>
        <p:spPr bwMode="auto">
          <a:xfrm rot="0" flipH="0" flipV="1">
            <a:off x="2419349" y="3047998"/>
            <a:ext cx="1924048" cy="1352548"/>
          </a:xfrm>
          <a:prstGeom prst="straightConnector1">
            <a:avLst/>
          </a:prstGeom>
          <a:ln w="9525">
            <a:solidFill>
              <a:srgbClr val="CBD5E1">
                <a:alpha val="45000"/>
              </a:srgbClr>
            </a:solidFill>
            <a:prstDash val="solid"/>
          </a:ln>
        </p:spPr>
      </p:cxnSp>
      <p:cxnSp>
        <p:nvCxnSpPr>
          <p:cNvPr id="777371890" name="Straight Arrow Connector 2036758679"/>
          <p:cNvCxnSpPr/>
          <p:nvPr/>
        </p:nvCxnSpPr>
        <p:spPr bwMode="auto">
          <a:xfrm rot="0" flipH="0" flipV="1">
            <a:off x="2419349" y="3667123"/>
            <a:ext cx="1924048" cy="847723"/>
          </a:xfrm>
          <a:prstGeom prst="straightConnector1">
            <a:avLst/>
          </a:prstGeom>
          <a:ln w="9525">
            <a:solidFill>
              <a:srgbClr val="CBD5E1">
                <a:alpha val="45000"/>
              </a:srgbClr>
            </a:solidFill>
            <a:prstDash val="solid"/>
          </a:ln>
        </p:spPr>
      </p:cxnSp>
      <p:cxnSp>
        <p:nvCxnSpPr>
          <p:cNvPr id="23297992" name="Straight Arrow Connector 2036758680"/>
          <p:cNvCxnSpPr>
            <a:stCxn id="1020289225" idx="6"/>
            <a:endCxn id="92012033" idx="2"/>
          </p:cNvCxnSpPr>
          <p:nvPr/>
        </p:nvCxnSpPr>
        <p:spPr bwMode="auto">
          <a:xfrm rot="0" flipH="0" flipV="1">
            <a:off x="2419349" y="4286250"/>
            <a:ext cx="1924048" cy="114300"/>
          </a:xfrm>
          <a:prstGeom prst="straightConnector1">
            <a:avLst/>
          </a:prstGeom>
          <a:ln w="9525">
            <a:solidFill>
              <a:srgbClr val="CBD5E1">
                <a:alpha val="45000"/>
              </a:srgbClr>
            </a:solidFill>
            <a:prstDash val="solid"/>
          </a:ln>
        </p:spPr>
      </p:cxnSp>
      <p:cxnSp>
        <p:nvCxnSpPr>
          <p:cNvPr id="499800125" name="Straight Arrow Connector 2036758681"/>
          <p:cNvCxnSpPr>
            <a:stCxn id="1020289225" idx="6"/>
            <a:endCxn id="1667163449" idx="2"/>
          </p:cNvCxnSpPr>
          <p:nvPr/>
        </p:nvCxnSpPr>
        <p:spPr bwMode="auto">
          <a:xfrm rot="0" flipH="0" flipV="0">
            <a:off x="2419349" y="4400550"/>
            <a:ext cx="1924048" cy="504823"/>
          </a:xfrm>
          <a:prstGeom prst="straightConnector1">
            <a:avLst/>
          </a:prstGeom>
          <a:ln w="9525">
            <a:solidFill>
              <a:srgbClr val="CBD5E1">
                <a:alpha val="45000"/>
              </a:srgbClr>
            </a:solidFill>
            <a:prstDash val="solid"/>
          </a:ln>
        </p:spPr>
      </p:cxnSp>
      <p:cxnSp>
        <p:nvCxnSpPr>
          <p:cNvPr id="508794011" name="Straight Arrow Connector 2036758682"/>
          <p:cNvCxnSpPr>
            <a:stCxn id="129621589" idx="6"/>
            <a:endCxn id="365214690" idx="2"/>
          </p:cNvCxnSpPr>
          <p:nvPr/>
        </p:nvCxnSpPr>
        <p:spPr bwMode="auto">
          <a:xfrm>
            <a:off x="4800600" y="2428875"/>
            <a:ext cx="2019299" cy="0"/>
          </a:xfrm>
          <a:prstGeom prst="straightConnector1">
            <a:avLst/>
          </a:prstGeom>
          <a:ln w="9525">
            <a:solidFill>
              <a:srgbClr val="CBD5E1">
                <a:alpha val="45000"/>
              </a:srgbClr>
            </a:solidFill>
            <a:prstDash val="solid"/>
          </a:ln>
        </p:spPr>
      </p:cxnSp>
      <p:cxnSp>
        <p:nvCxnSpPr>
          <p:cNvPr id="1305498668" name="Straight Arrow Connector 2036758683"/>
          <p:cNvCxnSpPr>
            <a:stCxn id="129621589" idx="6"/>
            <a:endCxn id="1866044648" idx="2"/>
          </p:cNvCxnSpPr>
          <p:nvPr/>
        </p:nvCxnSpPr>
        <p:spPr bwMode="auto">
          <a:xfrm>
            <a:off x="4800600" y="2428875"/>
            <a:ext cx="2019299" cy="619124"/>
          </a:xfrm>
          <a:prstGeom prst="straightConnector1">
            <a:avLst/>
          </a:prstGeom>
          <a:ln w="9525">
            <a:solidFill>
              <a:srgbClr val="CBD5E1">
                <a:alpha val="45000"/>
              </a:srgbClr>
            </a:solidFill>
            <a:prstDash val="solid"/>
          </a:ln>
        </p:spPr>
      </p:cxnSp>
      <p:cxnSp>
        <p:nvCxnSpPr>
          <p:cNvPr id="1012198336" name="Straight Arrow Connector 2036758684"/>
          <p:cNvCxnSpPr>
            <a:stCxn id="129621589" idx="6"/>
            <a:endCxn id="1720041730" idx="2"/>
          </p:cNvCxnSpPr>
          <p:nvPr/>
        </p:nvCxnSpPr>
        <p:spPr bwMode="auto">
          <a:xfrm>
            <a:off x="4800600" y="2428875"/>
            <a:ext cx="2019299" cy="1238249"/>
          </a:xfrm>
          <a:prstGeom prst="straightConnector1">
            <a:avLst/>
          </a:prstGeom>
          <a:ln w="9525">
            <a:solidFill>
              <a:srgbClr val="CBD5E1">
                <a:alpha val="45000"/>
              </a:srgbClr>
            </a:solidFill>
            <a:prstDash val="solid"/>
          </a:ln>
        </p:spPr>
      </p:cxnSp>
      <p:cxnSp>
        <p:nvCxnSpPr>
          <p:cNvPr id="901052269" name="Straight Arrow Connector 2036758685"/>
          <p:cNvCxnSpPr>
            <a:stCxn id="129621589" idx="6"/>
            <a:endCxn id="669116851" idx="2"/>
          </p:cNvCxnSpPr>
          <p:nvPr/>
        </p:nvCxnSpPr>
        <p:spPr bwMode="auto">
          <a:xfrm>
            <a:off x="4800600" y="2428875"/>
            <a:ext cx="2019299" cy="1857375"/>
          </a:xfrm>
          <a:prstGeom prst="straightConnector1">
            <a:avLst/>
          </a:prstGeom>
          <a:ln w="9525">
            <a:solidFill>
              <a:srgbClr val="CBD5E1">
                <a:alpha val="45000"/>
              </a:srgbClr>
            </a:solidFill>
            <a:prstDash val="solid"/>
          </a:ln>
        </p:spPr>
      </p:cxnSp>
      <p:cxnSp>
        <p:nvCxnSpPr>
          <p:cNvPr id="587730572" name="Straight Arrow Connector 2036758686"/>
          <p:cNvCxnSpPr>
            <a:stCxn id="129621589" idx="6"/>
            <a:endCxn id="1940375169" idx="2"/>
          </p:cNvCxnSpPr>
          <p:nvPr/>
        </p:nvCxnSpPr>
        <p:spPr bwMode="auto">
          <a:xfrm>
            <a:off x="4800600" y="2428875"/>
            <a:ext cx="2019299" cy="2476499"/>
          </a:xfrm>
          <a:prstGeom prst="straightConnector1">
            <a:avLst/>
          </a:prstGeom>
          <a:ln w="9525">
            <a:solidFill>
              <a:srgbClr val="CBD5E1">
                <a:alpha val="45000"/>
              </a:srgbClr>
            </a:solidFill>
            <a:prstDash val="solid"/>
          </a:ln>
        </p:spPr>
      </p:cxnSp>
      <p:cxnSp>
        <p:nvCxnSpPr>
          <p:cNvPr id="192842209" name="Straight Arrow Connector 2036758687"/>
          <p:cNvCxnSpPr>
            <a:stCxn id="349824516" idx="6"/>
            <a:endCxn id="365214690" idx="2"/>
          </p:cNvCxnSpPr>
          <p:nvPr/>
        </p:nvCxnSpPr>
        <p:spPr bwMode="auto">
          <a:xfrm flipV="1">
            <a:off x="4800600" y="2428875"/>
            <a:ext cx="2019299" cy="619124"/>
          </a:xfrm>
          <a:prstGeom prst="straightConnector1">
            <a:avLst/>
          </a:prstGeom>
          <a:ln w="9525">
            <a:solidFill>
              <a:srgbClr val="CBD5E1">
                <a:alpha val="45000"/>
              </a:srgbClr>
            </a:solidFill>
            <a:prstDash val="solid"/>
          </a:ln>
        </p:spPr>
      </p:cxnSp>
      <p:cxnSp>
        <p:nvCxnSpPr>
          <p:cNvPr id="907730524" name="Straight Arrow Connector 2036758688"/>
          <p:cNvCxnSpPr>
            <a:stCxn id="349824516" idx="6"/>
            <a:endCxn id="1866044648" idx="2"/>
          </p:cNvCxnSpPr>
          <p:nvPr/>
        </p:nvCxnSpPr>
        <p:spPr bwMode="auto">
          <a:xfrm>
            <a:off x="4800600" y="3047999"/>
            <a:ext cx="2019299" cy="0"/>
          </a:xfrm>
          <a:prstGeom prst="straightConnector1">
            <a:avLst/>
          </a:prstGeom>
          <a:ln w="9525">
            <a:solidFill>
              <a:srgbClr val="CBD5E1">
                <a:alpha val="45000"/>
              </a:srgbClr>
            </a:solidFill>
            <a:prstDash val="solid"/>
          </a:ln>
        </p:spPr>
      </p:cxnSp>
      <p:cxnSp>
        <p:nvCxnSpPr>
          <p:cNvPr id="821711092" name="Straight Arrow Connector 2036758689"/>
          <p:cNvCxnSpPr>
            <a:stCxn id="349824516" idx="6"/>
            <a:endCxn id="1720041730" idx="2"/>
          </p:cNvCxnSpPr>
          <p:nvPr/>
        </p:nvCxnSpPr>
        <p:spPr bwMode="auto">
          <a:xfrm>
            <a:off x="4800600" y="3047999"/>
            <a:ext cx="2019299" cy="619124"/>
          </a:xfrm>
          <a:prstGeom prst="straightConnector1">
            <a:avLst/>
          </a:prstGeom>
          <a:ln w="9525">
            <a:solidFill>
              <a:srgbClr val="CBD5E1">
                <a:alpha val="45000"/>
              </a:srgbClr>
            </a:solidFill>
            <a:prstDash val="solid"/>
          </a:ln>
        </p:spPr>
      </p:cxnSp>
      <p:cxnSp>
        <p:nvCxnSpPr>
          <p:cNvPr id="1560986658" name="Straight Arrow Connector 2036758690"/>
          <p:cNvCxnSpPr>
            <a:stCxn id="349824516" idx="6"/>
            <a:endCxn id="669116851" idx="2"/>
          </p:cNvCxnSpPr>
          <p:nvPr/>
        </p:nvCxnSpPr>
        <p:spPr bwMode="auto">
          <a:xfrm>
            <a:off x="4800600" y="3047999"/>
            <a:ext cx="2019299" cy="1238249"/>
          </a:xfrm>
          <a:prstGeom prst="straightConnector1">
            <a:avLst/>
          </a:prstGeom>
          <a:ln w="9525">
            <a:solidFill>
              <a:srgbClr val="CBD5E1">
                <a:alpha val="45000"/>
              </a:srgbClr>
            </a:solidFill>
            <a:prstDash val="solid"/>
          </a:ln>
        </p:spPr>
      </p:cxnSp>
      <p:cxnSp>
        <p:nvCxnSpPr>
          <p:cNvPr id="228260732" name="Straight Arrow Connector 2036758691"/>
          <p:cNvCxnSpPr>
            <a:stCxn id="349824516" idx="6"/>
            <a:endCxn id="1940375169" idx="2"/>
          </p:cNvCxnSpPr>
          <p:nvPr/>
        </p:nvCxnSpPr>
        <p:spPr bwMode="auto">
          <a:xfrm>
            <a:off x="4800600" y="3047999"/>
            <a:ext cx="2019299" cy="1857375"/>
          </a:xfrm>
          <a:prstGeom prst="straightConnector1">
            <a:avLst/>
          </a:prstGeom>
          <a:ln w="9525">
            <a:solidFill>
              <a:srgbClr val="CBD5E1">
                <a:alpha val="45000"/>
              </a:srgbClr>
            </a:solidFill>
            <a:prstDash val="solid"/>
          </a:ln>
        </p:spPr>
      </p:cxnSp>
      <p:cxnSp>
        <p:nvCxnSpPr>
          <p:cNvPr id="1626469810" name="Straight Arrow Connector 2036758692"/>
          <p:cNvCxnSpPr>
            <a:stCxn id="1744004942" idx="6"/>
            <a:endCxn id="365214690" idx="2"/>
          </p:cNvCxnSpPr>
          <p:nvPr/>
        </p:nvCxnSpPr>
        <p:spPr bwMode="auto">
          <a:xfrm flipV="1">
            <a:off x="4800600" y="2428875"/>
            <a:ext cx="2019299" cy="1238249"/>
          </a:xfrm>
          <a:prstGeom prst="straightConnector1">
            <a:avLst/>
          </a:prstGeom>
          <a:ln w="9525">
            <a:solidFill>
              <a:srgbClr val="CBD5E1">
                <a:alpha val="45000"/>
              </a:srgbClr>
            </a:solidFill>
            <a:prstDash val="solid"/>
          </a:ln>
        </p:spPr>
      </p:cxnSp>
      <p:cxnSp>
        <p:nvCxnSpPr>
          <p:cNvPr id="1035888686" name="Straight Arrow Connector 2036758693"/>
          <p:cNvCxnSpPr>
            <a:stCxn id="1744004942" idx="6"/>
            <a:endCxn id="1866044648" idx="2"/>
          </p:cNvCxnSpPr>
          <p:nvPr/>
        </p:nvCxnSpPr>
        <p:spPr bwMode="auto">
          <a:xfrm flipV="1">
            <a:off x="4800600" y="3047999"/>
            <a:ext cx="2019299" cy="619124"/>
          </a:xfrm>
          <a:prstGeom prst="straightConnector1">
            <a:avLst/>
          </a:prstGeom>
          <a:ln w="9525">
            <a:solidFill>
              <a:srgbClr val="CBD5E1">
                <a:alpha val="45000"/>
              </a:srgbClr>
            </a:solidFill>
            <a:prstDash val="solid"/>
          </a:ln>
        </p:spPr>
      </p:cxnSp>
      <p:cxnSp>
        <p:nvCxnSpPr>
          <p:cNvPr id="2045755089" name="Straight Arrow Connector 2036758694"/>
          <p:cNvCxnSpPr>
            <a:stCxn id="1744004942" idx="6"/>
            <a:endCxn id="1720041730" idx="2"/>
          </p:cNvCxnSpPr>
          <p:nvPr/>
        </p:nvCxnSpPr>
        <p:spPr bwMode="auto">
          <a:xfrm>
            <a:off x="4800600" y="3667124"/>
            <a:ext cx="2019299" cy="0"/>
          </a:xfrm>
          <a:prstGeom prst="straightConnector1">
            <a:avLst/>
          </a:prstGeom>
          <a:ln w="9525">
            <a:solidFill>
              <a:srgbClr val="CBD5E1">
                <a:alpha val="45000"/>
              </a:srgbClr>
            </a:solidFill>
            <a:prstDash val="solid"/>
          </a:ln>
        </p:spPr>
      </p:cxnSp>
      <p:cxnSp>
        <p:nvCxnSpPr>
          <p:cNvPr id="1883908573" name="Straight Arrow Connector 2036758695"/>
          <p:cNvCxnSpPr>
            <a:stCxn id="1744004942" idx="6"/>
            <a:endCxn id="669116851" idx="2"/>
          </p:cNvCxnSpPr>
          <p:nvPr/>
        </p:nvCxnSpPr>
        <p:spPr bwMode="auto">
          <a:xfrm>
            <a:off x="4800600" y="3667124"/>
            <a:ext cx="2019299" cy="619124"/>
          </a:xfrm>
          <a:prstGeom prst="straightConnector1">
            <a:avLst/>
          </a:prstGeom>
          <a:ln w="9525">
            <a:solidFill>
              <a:srgbClr val="CBD5E1">
                <a:alpha val="45000"/>
              </a:srgbClr>
            </a:solidFill>
            <a:prstDash val="solid"/>
          </a:ln>
        </p:spPr>
      </p:cxnSp>
      <p:cxnSp>
        <p:nvCxnSpPr>
          <p:cNvPr id="31925691" name="Straight Arrow Connector 2036758696"/>
          <p:cNvCxnSpPr>
            <a:stCxn id="1744004942" idx="6"/>
            <a:endCxn id="1940375169" idx="2"/>
          </p:cNvCxnSpPr>
          <p:nvPr/>
        </p:nvCxnSpPr>
        <p:spPr bwMode="auto">
          <a:xfrm>
            <a:off x="4800600" y="3667124"/>
            <a:ext cx="2019299" cy="1238249"/>
          </a:xfrm>
          <a:prstGeom prst="straightConnector1">
            <a:avLst/>
          </a:prstGeom>
          <a:ln w="9525">
            <a:solidFill>
              <a:srgbClr val="CBD5E1">
                <a:alpha val="45000"/>
              </a:srgbClr>
            </a:solidFill>
            <a:prstDash val="solid"/>
          </a:ln>
        </p:spPr>
      </p:cxnSp>
      <p:cxnSp>
        <p:nvCxnSpPr>
          <p:cNvPr id="480487993" name="Straight Arrow Connector 2036758697"/>
          <p:cNvCxnSpPr>
            <a:stCxn id="92012033" idx="6"/>
            <a:endCxn id="365214690" idx="2"/>
          </p:cNvCxnSpPr>
          <p:nvPr/>
        </p:nvCxnSpPr>
        <p:spPr bwMode="auto">
          <a:xfrm flipV="1">
            <a:off x="4800600" y="2428875"/>
            <a:ext cx="2019299" cy="1857375"/>
          </a:xfrm>
          <a:prstGeom prst="straightConnector1">
            <a:avLst/>
          </a:prstGeom>
          <a:ln w="9525">
            <a:solidFill>
              <a:srgbClr val="CBD5E1">
                <a:alpha val="45000"/>
              </a:srgbClr>
            </a:solidFill>
            <a:prstDash val="solid"/>
          </a:ln>
        </p:spPr>
      </p:cxnSp>
      <p:cxnSp>
        <p:nvCxnSpPr>
          <p:cNvPr id="560727349" name="Straight Arrow Connector 2036758698"/>
          <p:cNvCxnSpPr>
            <a:stCxn id="92012033" idx="6"/>
            <a:endCxn id="1866044648" idx="2"/>
          </p:cNvCxnSpPr>
          <p:nvPr/>
        </p:nvCxnSpPr>
        <p:spPr bwMode="auto">
          <a:xfrm flipV="1">
            <a:off x="4800600" y="3047999"/>
            <a:ext cx="2019299" cy="1238249"/>
          </a:xfrm>
          <a:prstGeom prst="straightConnector1">
            <a:avLst/>
          </a:prstGeom>
          <a:ln w="9525">
            <a:solidFill>
              <a:srgbClr val="CBD5E1">
                <a:alpha val="45000"/>
              </a:srgbClr>
            </a:solidFill>
            <a:prstDash val="solid"/>
          </a:ln>
        </p:spPr>
      </p:cxnSp>
      <p:cxnSp>
        <p:nvCxnSpPr>
          <p:cNvPr id="246381340" name="Straight Arrow Connector 2036758699"/>
          <p:cNvCxnSpPr>
            <a:stCxn id="92012033" idx="6"/>
            <a:endCxn id="1720041730" idx="2"/>
          </p:cNvCxnSpPr>
          <p:nvPr/>
        </p:nvCxnSpPr>
        <p:spPr bwMode="auto">
          <a:xfrm flipV="1">
            <a:off x="4800600" y="3667124"/>
            <a:ext cx="2019299" cy="619124"/>
          </a:xfrm>
          <a:prstGeom prst="straightConnector1">
            <a:avLst/>
          </a:prstGeom>
          <a:ln w="9525">
            <a:solidFill>
              <a:srgbClr val="CBD5E1">
                <a:alpha val="45000"/>
              </a:srgbClr>
            </a:solidFill>
            <a:prstDash val="solid"/>
          </a:ln>
        </p:spPr>
      </p:cxnSp>
      <p:cxnSp>
        <p:nvCxnSpPr>
          <p:cNvPr id="99515837" name="Straight Arrow Connector 2036758700"/>
          <p:cNvCxnSpPr>
            <a:stCxn id="92012033" idx="6"/>
            <a:endCxn id="669116851" idx="2"/>
          </p:cNvCxnSpPr>
          <p:nvPr/>
        </p:nvCxnSpPr>
        <p:spPr bwMode="auto">
          <a:xfrm>
            <a:off x="4800600" y="4286250"/>
            <a:ext cx="2019299" cy="0"/>
          </a:xfrm>
          <a:prstGeom prst="straightConnector1">
            <a:avLst/>
          </a:prstGeom>
          <a:ln w="9525">
            <a:solidFill>
              <a:srgbClr val="CBD5E1">
                <a:alpha val="45000"/>
              </a:srgbClr>
            </a:solidFill>
            <a:prstDash val="solid"/>
          </a:ln>
        </p:spPr>
      </p:cxnSp>
      <p:cxnSp>
        <p:nvCxnSpPr>
          <p:cNvPr id="1534061662" name="Straight Arrow Connector 2036758701"/>
          <p:cNvCxnSpPr>
            <a:stCxn id="92012033" idx="6"/>
            <a:endCxn id="1940375169" idx="2"/>
          </p:cNvCxnSpPr>
          <p:nvPr/>
        </p:nvCxnSpPr>
        <p:spPr bwMode="auto">
          <a:xfrm>
            <a:off x="4800600" y="4286250"/>
            <a:ext cx="2019299" cy="619124"/>
          </a:xfrm>
          <a:prstGeom prst="straightConnector1">
            <a:avLst/>
          </a:prstGeom>
          <a:ln w="9525">
            <a:solidFill>
              <a:srgbClr val="CBD5E1">
                <a:alpha val="45000"/>
              </a:srgbClr>
            </a:solidFill>
            <a:prstDash val="solid"/>
          </a:ln>
        </p:spPr>
      </p:cxnSp>
      <p:cxnSp>
        <p:nvCxnSpPr>
          <p:cNvPr id="1764478243" name="Straight Arrow Connector 2036758702"/>
          <p:cNvCxnSpPr>
            <a:stCxn id="1667163449" idx="6"/>
            <a:endCxn id="365214690" idx="2"/>
          </p:cNvCxnSpPr>
          <p:nvPr/>
        </p:nvCxnSpPr>
        <p:spPr bwMode="auto">
          <a:xfrm flipV="1">
            <a:off x="4800600" y="2428875"/>
            <a:ext cx="2019299" cy="2476499"/>
          </a:xfrm>
          <a:prstGeom prst="straightConnector1">
            <a:avLst/>
          </a:prstGeom>
          <a:ln w="9525">
            <a:solidFill>
              <a:srgbClr val="CBD5E1">
                <a:alpha val="45000"/>
              </a:srgbClr>
            </a:solidFill>
            <a:prstDash val="solid"/>
          </a:ln>
        </p:spPr>
      </p:cxnSp>
      <p:cxnSp>
        <p:nvCxnSpPr>
          <p:cNvPr id="625568182" name="Straight Arrow Connector 2036758703"/>
          <p:cNvCxnSpPr>
            <a:stCxn id="1667163449" idx="6"/>
            <a:endCxn id="1866044648" idx="2"/>
          </p:cNvCxnSpPr>
          <p:nvPr/>
        </p:nvCxnSpPr>
        <p:spPr bwMode="auto">
          <a:xfrm flipV="1">
            <a:off x="4800600" y="3047999"/>
            <a:ext cx="2019299" cy="1857375"/>
          </a:xfrm>
          <a:prstGeom prst="straightConnector1">
            <a:avLst/>
          </a:prstGeom>
          <a:ln w="9525">
            <a:solidFill>
              <a:srgbClr val="CBD5E1">
                <a:alpha val="45000"/>
              </a:srgbClr>
            </a:solidFill>
            <a:prstDash val="solid"/>
          </a:ln>
        </p:spPr>
      </p:cxnSp>
      <p:cxnSp>
        <p:nvCxnSpPr>
          <p:cNvPr id="436128331" name="Straight Arrow Connector 2036758704"/>
          <p:cNvCxnSpPr>
            <a:stCxn id="1667163449" idx="6"/>
            <a:endCxn id="1720041730" idx="2"/>
          </p:cNvCxnSpPr>
          <p:nvPr/>
        </p:nvCxnSpPr>
        <p:spPr bwMode="auto">
          <a:xfrm flipV="1">
            <a:off x="4800600" y="3667124"/>
            <a:ext cx="2019299" cy="1238249"/>
          </a:xfrm>
          <a:prstGeom prst="straightConnector1">
            <a:avLst/>
          </a:prstGeom>
          <a:ln w="9525">
            <a:solidFill>
              <a:srgbClr val="CBD5E1">
                <a:alpha val="45000"/>
              </a:srgbClr>
            </a:solidFill>
            <a:prstDash val="solid"/>
          </a:ln>
        </p:spPr>
      </p:cxnSp>
      <p:cxnSp>
        <p:nvCxnSpPr>
          <p:cNvPr id="463893899" name="Straight Arrow Connector 2036758705"/>
          <p:cNvCxnSpPr>
            <a:stCxn id="1667163449" idx="6"/>
            <a:endCxn id="669116851" idx="2"/>
          </p:cNvCxnSpPr>
          <p:nvPr/>
        </p:nvCxnSpPr>
        <p:spPr bwMode="auto">
          <a:xfrm flipV="1">
            <a:off x="4800600" y="4286250"/>
            <a:ext cx="2019299" cy="619124"/>
          </a:xfrm>
          <a:prstGeom prst="straightConnector1">
            <a:avLst/>
          </a:prstGeom>
          <a:ln w="9525">
            <a:solidFill>
              <a:srgbClr val="CBD5E1">
                <a:alpha val="45000"/>
              </a:srgbClr>
            </a:solidFill>
            <a:prstDash val="solid"/>
          </a:ln>
        </p:spPr>
      </p:cxnSp>
      <p:cxnSp>
        <p:nvCxnSpPr>
          <p:cNvPr id="668542961" name="Straight Arrow Connector 2036758706"/>
          <p:cNvCxnSpPr>
            <a:stCxn id="1667163449" idx="6"/>
            <a:endCxn id="1940375169" idx="2"/>
          </p:cNvCxnSpPr>
          <p:nvPr/>
        </p:nvCxnSpPr>
        <p:spPr bwMode="auto">
          <a:xfrm>
            <a:off x="4800600" y="4905374"/>
            <a:ext cx="2019299" cy="0"/>
          </a:xfrm>
          <a:prstGeom prst="straightConnector1">
            <a:avLst/>
          </a:prstGeom>
          <a:ln w="9525">
            <a:solidFill>
              <a:srgbClr val="CBD5E1">
                <a:alpha val="45000"/>
              </a:srgbClr>
            </a:solidFill>
            <a:prstDash val="solid"/>
          </a:ln>
        </p:spPr>
      </p:cxnSp>
      <p:cxnSp>
        <p:nvCxnSpPr>
          <p:cNvPr id="611063893" name="Straight Arrow Connector 2036758707"/>
          <p:cNvCxnSpPr>
            <a:stCxn id="365214690" idx="6"/>
            <a:endCxn id="915937652" idx="2"/>
          </p:cNvCxnSpPr>
          <p:nvPr/>
        </p:nvCxnSpPr>
        <p:spPr bwMode="auto">
          <a:xfrm rot="0" flipH="0" flipV="0">
            <a:off x="7277099" y="2428875"/>
            <a:ext cx="2019298" cy="613170"/>
          </a:xfrm>
          <a:prstGeom prst="straightConnector1">
            <a:avLst/>
          </a:prstGeom>
          <a:ln w="9525">
            <a:solidFill>
              <a:srgbClr val="CBD5E1">
                <a:alpha val="45000"/>
              </a:srgbClr>
            </a:solidFill>
            <a:prstDash val="solid"/>
          </a:ln>
        </p:spPr>
      </p:cxnSp>
      <p:cxnSp>
        <p:nvCxnSpPr>
          <p:cNvPr id="293193292" name="Straight Arrow Connector 2036758708"/>
          <p:cNvCxnSpPr>
            <a:stCxn id="365214690" idx="6"/>
            <a:endCxn id="1775137628" idx="2"/>
          </p:cNvCxnSpPr>
          <p:nvPr/>
        </p:nvCxnSpPr>
        <p:spPr bwMode="auto">
          <a:xfrm rot="0" flipH="0" flipV="0">
            <a:off x="7277099" y="2428875"/>
            <a:ext cx="2019298" cy="1890711"/>
          </a:xfrm>
          <a:prstGeom prst="straightConnector1">
            <a:avLst/>
          </a:prstGeom>
          <a:ln w="9525">
            <a:solidFill>
              <a:srgbClr val="CBD5E1">
                <a:alpha val="45000"/>
              </a:srgbClr>
            </a:solidFill>
            <a:prstDash val="solid"/>
          </a:ln>
        </p:spPr>
      </p:cxnSp>
      <p:cxnSp>
        <p:nvCxnSpPr>
          <p:cNvPr id="1775319910" name="Straight Arrow Connector 2036758709"/>
          <p:cNvCxnSpPr>
            <a:stCxn id="1866044648" idx="6"/>
            <a:endCxn id="915937652" idx="2"/>
          </p:cNvCxnSpPr>
          <p:nvPr/>
        </p:nvCxnSpPr>
        <p:spPr bwMode="auto">
          <a:xfrm rot="0" flipH="0" flipV="1">
            <a:off x="7277099" y="3045022"/>
            <a:ext cx="2019298" cy="0"/>
          </a:xfrm>
          <a:prstGeom prst="straightConnector1">
            <a:avLst/>
          </a:prstGeom>
          <a:ln w="9525">
            <a:solidFill>
              <a:srgbClr val="CBD5E1">
                <a:alpha val="45000"/>
              </a:srgbClr>
            </a:solidFill>
            <a:prstDash val="solid"/>
          </a:ln>
        </p:spPr>
      </p:cxnSp>
      <p:cxnSp>
        <p:nvCxnSpPr>
          <p:cNvPr id="849619675" name="Straight Arrow Connector 2036758710"/>
          <p:cNvCxnSpPr>
            <a:stCxn id="1866044648" idx="6"/>
            <a:endCxn id="1775137628" idx="2"/>
          </p:cNvCxnSpPr>
          <p:nvPr/>
        </p:nvCxnSpPr>
        <p:spPr bwMode="auto">
          <a:xfrm rot="0" flipH="0" flipV="0">
            <a:off x="7277099" y="3047998"/>
            <a:ext cx="2019298" cy="1271586"/>
          </a:xfrm>
          <a:prstGeom prst="straightConnector1">
            <a:avLst/>
          </a:prstGeom>
          <a:ln w="9525">
            <a:solidFill>
              <a:srgbClr val="CBD5E1">
                <a:alpha val="45000"/>
              </a:srgbClr>
            </a:solidFill>
            <a:prstDash val="solid"/>
          </a:ln>
        </p:spPr>
      </p:cxnSp>
      <p:cxnSp>
        <p:nvCxnSpPr>
          <p:cNvPr id="1974032665" name="Straight Arrow Connector 2036758711"/>
          <p:cNvCxnSpPr>
            <a:stCxn id="1720041730" idx="6"/>
            <a:endCxn id="915937652" idx="2"/>
          </p:cNvCxnSpPr>
          <p:nvPr/>
        </p:nvCxnSpPr>
        <p:spPr bwMode="auto">
          <a:xfrm rot="0" flipH="0" flipV="1">
            <a:off x="7277099" y="3042045"/>
            <a:ext cx="2019298" cy="625077"/>
          </a:xfrm>
          <a:prstGeom prst="straightConnector1">
            <a:avLst/>
          </a:prstGeom>
          <a:ln w="9525">
            <a:solidFill>
              <a:srgbClr val="CBD5E1">
                <a:alpha val="45000"/>
              </a:srgbClr>
            </a:solidFill>
            <a:prstDash val="solid"/>
          </a:ln>
        </p:spPr>
      </p:cxnSp>
      <p:cxnSp>
        <p:nvCxnSpPr>
          <p:cNvPr id="899989783" name="Straight Arrow Connector 2036758712"/>
          <p:cNvCxnSpPr>
            <a:stCxn id="1720041730" idx="6"/>
            <a:endCxn id="1775137628" idx="2"/>
          </p:cNvCxnSpPr>
          <p:nvPr/>
        </p:nvCxnSpPr>
        <p:spPr bwMode="auto">
          <a:xfrm rot="0" flipH="0" flipV="0">
            <a:off x="7277099" y="3667123"/>
            <a:ext cx="2019298" cy="652461"/>
          </a:xfrm>
          <a:prstGeom prst="straightConnector1">
            <a:avLst/>
          </a:prstGeom>
          <a:ln w="9525">
            <a:solidFill>
              <a:srgbClr val="CBD5E1">
                <a:alpha val="45000"/>
              </a:srgbClr>
            </a:solidFill>
            <a:prstDash val="solid"/>
          </a:ln>
        </p:spPr>
      </p:cxnSp>
      <p:cxnSp>
        <p:nvCxnSpPr>
          <p:cNvPr id="2111307044" name="Straight Arrow Connector 2036758713"/>
          <p:cNvCxnSpPr>
            <a:stCxn id="669116851" idx="6"/>
            <a:endCxn id="915937652" idx="2"/>
          </p:cNvCxnSpPr>
          <p:nvPr/>
        </p:nvCxnSpPr>
        <p:spPr bwMode="auto">
          <a:xfrm rot="0" flipH="0" flipV="1">
            <a:off x="7277099" y="3042045"/>
            <a:ext cx="2019298" cy="1244201"/>
          </a:xfrm>
          <a:prstGeom prst="straightConnector1">
            <a:avLst/>
          </a:prstGeom>
          <a:ln w="9525">
            <a:solidFill>
              <a:srgbClr val="CBD5E1">
                <a:alpha val="45000"/>
              </a:srgbClr>
            </a:solidFill>
            <a:prstDash val="solid"/>
          </a:ln>
        </p:spPr>
      </p:cxnSp>
      <p:cxnSp>
        <p:nvCxnSpPr>
          <p:cNvPr id="1265972669" name="Straight Arrow Connector 2036758714"/>
          <p:cNvCxnSpPr>
            <a:stCxn id="669116851" idx="6"/>
            <a:endCxn id="1775137628" idx="2"/>
          </p:cNvCxnSpPr>
          <p:nvPr/>
        </p:nvCxnSpPr>
        <p:spPr bwMode="auto">
          <a:xfrm rot="0" flipH="0" flipV="0">
            <a:off x="7277099" y="4286250"/>
            <a:ext cx="2019298" cy="33336"/>
          </a:xfrm>
          <a:prstGeom prst="straightConnector1">
            <a:avLst/>
          </a:prstGeom>
          <a:ln w="9525">
            <a:solidFill>
              <a:srgbClr val="CBD5E1">
                <a:alpha val="45000"/>
              </a:srgbClr>
            </a:solidFill>
            <a:prstDash val="solid"/>
          </a:ln>
        </p:spPr>
      </p:cxnSp>
      <p:cxnSp>
        <p:nvCxnSpPr>
          <p:cNvPr id="1687069862" name="Straight Arrow Connector 2036758715"/>
          <p:cNvCxnSpPr>
            <a:stCxn id="1940375169" idx="6"/>
            <a:endCxn id="915937652" idx="2"/>
          </p:cNvCxnSpPr>
          <p:nvPr/>
        </p:nvCxnSpPr>
        <p:spPr bwMode="auto">
          <a:xfrm rot="0" flipH="0" flipV="1">
            <a:off x="7277099" y="3042045"/>
            <a:ext cx="2019298" cy="1863326"/>
          </a:xfrm>
          <a:prstGeom prst="straightConnector1">
            <a:avLst/>
          </a:prstGeom>
          <a:ln w="9525">
            <a:solidFill>
              <a:srgbClr val="CBD5E1">
                <a:alpha val="45000"/>
              </a:srgbClr>
            </a:solidFill>
            <a:prstDash val="solid"/>
          </a:ln>
        </p:spPr>
      </p:cxnSp>
      <p:cxnSp>
        <p:nvCxnSpPr>
          <p:cNvPr id="1702994448" name="Straight Arrow Connector 2036758716"/>
          <p:cNvCxnSpPr>
            <a:stCxn id="1940375169" idx="6"/>
            <a:endCxn id="1775137628" idx="2"/>
          </p:cNvCxnSpPr>
          <p:nvPr/>
        </p:nvCxnSpPr>
        <p:spPr bwMode="auto">
          <a:xfrm rot="0" flipH="0" flipV="1">
            <a:off x="7277099" y="4319586"/>
            <a:ext cx="2019298" cy="585786"/>
          </a:xfrm>
          <a:prstGeom prst="straightConnector1">
            <a:avLst/>
          </a:prstGeom>
          <a:ln w="9525">
            <a:solidFill>
              <a:srgbClr val="CBD5E1">
                <a:alpha val="45000"/>
              </a:srgbClr>
            </a:solidFill>
            <a:prstDash val="soli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27909159" name="Rectangle 1153616344"/>
          <p:cNvSpPr>
            <a:spLocks noGrp="1"/>
          </p:cNvSpPr>
          <p:nvPr/>
        </p:nvSpPr>
        <p:spPr bwMode="auto">
          <a:xfrm>
            <a:off x="609600" y="323850"/>
            <a:ext cx="4000500" cy="285750"/>
          </a:xfrm>
          <a:prstGeom prst="rect">
            <a:avLst/>
          </a:prstGeom>
          <a:noFill/>
          <a:ln w="0">
            <a:noFill/>
            <a:prstDash val="solid"/>
          </a:ln>
        </p:spPr>
        <p:txBody>
          <a:bodyPr anchor="ct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Matrix multiplication</a:t>
            </a:r>
            <a:endParaRPr/>
          </a:p>
        </p:txBody>
      </p:sp>
      <p:sp>
        <p:nvSpPr>
          <p:cNvPr id="1483305175" name="Rectangle 900783331"/>
          <p:cNvSpPr>
            <a:spLocks noGrp="1"/>
          </p:cNvSpPr>
          <p:nvPr/>
        </p:nvSpPr>
        <p:spPr bwMode="auto">
          <a:xfrm>
            <a:off x="609600" y="590549"/>
            <a:ext cx="9334500" cy="590549"/>
          </a:xfrm>
          <a:prstGeom prst="rect">
            <a:avLst/>
          </a:prstGeom>
          <a:noFill/>
          <a:ln w="0">
            <a:noFill/>
            <a:prstDash val="solid"/>
          </a:ln>
        </p:spPr>
        <p:txBody>
          <a:bodyPr anchor="ctr"/>
          <a:lstStyle/>
          <a:p>
            <a:pPr algn="l">
              <a:buNone/>
              <a:defRPr sz="2650" b="1">
                <a:solidFill>
                  <a:srgbClr val="0B0F19"/>
                </a:solidFill>
                <a:latin typeface="Calibri"/>
                <a:ea typeface="Calibri"/>
                <a:cs typeface="Calibri"/>
              </a:defRPr>
            </a:pPr>
            <a:r>
              <a:rPr sz="2650" b="1">
                <a:solidFill>
                  <a:srgbClr val="0B0F19"/>
                </a:solidFill>
                <a:latin typeface="Calibri"/>
                <a:ea typeface="Calibri"/>
                <a:cs typeface="Calibri"/>
              </a:rPr>
              <a:t>Two hidden neurons compute two weighted sums at once</a:t>
            </a:r>
            <a:endParaRPr/>
          </a:p>
        </p:txBody>
      </p:sp>
      <p:sp>
        <p:nvSpPr>
          <p:cNvPr id="2001568230" name="Rectangle 167503777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24</a:t>
            </a:r>
            <a:endParaRPr/>
          </a:p>
        </p:txBody>
      </p:sp>
      <p:sp>
        <p:nvSpPr>
          <p:cNvPr id="1738154033" name=""/>
          <p:cNvSpPr>
            <a:spLocks noGrp="1"/>
          </p:cNvSpPr>
          <p:nvPr/>
        </p:nvSpPr>
        <p:spPr bwMode="auto">
          <a:xfrm>
            <a:off x="609600" y="1352550"/>
            <a:ext cx="10972800" cy="4762500"/>
          </a:xfrm>
          <a:prstGeom prst="roundRect">
            <a:avLst>
              <a:gd name="adj" fmla="val 1600"/>
            </a:avLst>
          </a:prstGeom>
          <a:solidFill>
            <a:srgbClr val="F8FAFC"/>
          </a:solidFill>
          <a:ln w="9525">
            <a:solidFill>
              <a:srgbClr val="E2E8F0"/>
            </a:solidFill>
            <a:prstDash val="solid"/>
          </a:ln>
        </p:spPr>
      </p:sp>
      <p:sp>
        <p:nvSpPr>
          <p:cNvPr id="473571382" name=""/>
          <p:cNvSpPr>
            <a:spLocks noGrp="1"/>
          </p:cNvSpPr>
          <p:nvPr/>
        </p:nvSpPr>
        <p:spPr bwMode="auto">
          <a:xfrm>
            <a:off x="1143000" y="1714500"/>
            <a:ext cx="9906000" cy="323850"/>
          </a:xfrm>
          <a:prstGeom prst="rect">
            <a:avLst/>
          </a:prstGeom>
          <a:noFill/>
          <a:ln w="0">
            <a:noFill/>
            <a:prstDash val="solid"/>
          </a:ln>
        </p:spPr>
        <p:txBody>
          <a:bodyPr/>
          <a:lstStyle/>
          <a:p>
            <a:pPr algn="ctr">
              <a:buNone/>
              <a:defRPr sz="1650" b="0">
                <a:solidFill>
                  <a:srgbClr val="667085"/>
                </a:solidFill>
                <a:latin typeface="Calibri"/>
                <a:ea typeface="Calibri"/>
                <a:cs typeface="Calibri"/>
              </a:defRPr>
            </a:pPr>
            <a:r>
              <a:rPr sz="1650" b="0">
                <a:solidFill>
                  <a:srgbClr val="667085"/>
                </a:solidFill>
                <a:latin typeface="Calibri"/>
                <a:ea typeface="Calibri"/>
                <a:cs typeface="Calibri"/>
              </a:rPr>
              <a:t>The forward pass computes values; the backward pass computes how the loss changes each weight.</a:t>
            </a:r>
            <a:endParaRPr/>
          </a:p>
        </p:txBody>
      </p:sp>
      <p:sp>
        <p:nvSpPr>
          <p:cNvPr id="834289175" name=""/>
          <p:cNvSpPr>
            <a:spLocks noGrp="1"/>
          </p:cNvSpPr>
          <p:nvPr/>
        </p:nvSpPr>
        <p:spPr bwMode="auto">
          <a:xfrm>
            <a:off x="2828925" y="2647949"/>
            <a:ext cx="762000" cy="361950"/>
          </a:xfrm>
          <a:prstGeom prst="rightArrow">
            <a:avLst>
              <a:gd name="adj1" fmla="val 50000"/>
              <a:gd name="adj2" fmla="val 50000"/>
            </a:avLst>
          </a:prstGeom>
          <a:solidFill>
            <a:srgbClr val="EFF6FF"/>
          </a:solidFill>
          <a:ln w="13335">
            <a:solidFill>
              <a:srgbClr val="2563EB"/>
            </a:solidFill>
            <a:prstDash val="solid"/>
          </a:ln>
        </p:spPr>
      </p:sp>
      <p:sp>
        <p:nvSpPr>
          <p:cNvPr id="7322694" name=""/>
          <p:cNvSpPr>
            <a:spLocks noGrp="1"/>
          </p:cNvSpPr>
          <p:nvPr/>
        </p:nvSpPr>
        <p:spPr bwMode="auto">
          <a:xfrm>
            <a:off x="5400675" y="2647949"/>
            <a:ext cx="762000" cy="361950"/>
          </a:xfrm>
          <a:prstGeom prst="rightArrow">
            <a:avLst>
              <a:gd name="adj1" fmla="val 50000"/>
              <a:gd name="adj2" fmla="val 50000"/>
            </a:avLst>
          </a:prstGeom>
          <a:solidFill>
            <a:srgbClr val="EFF6FF"/>
          </a:solidFill>
          <a:ln w="13335">
            <a:solidFill>
              <a:srgbClr val="2563EB"/>
            </a:solidFill>
            <a:prstDash val="solid"/>
          </a:ln>
        </p:spPr>
      </p:sp>
      <p:sp>
        <p:nvSpPr>
          <p:cNvPr id="389239171" name=""/>
          <p:cNvSpPr>
            <a:spLocks noGrp="1"/>
          </p:cNvSpPr>
          <p:nvPr/>
        </p:nvSpPr>
        <p:spPr bwMode="auto">
          <a:xfrm>
            <a:off x="8067675" y="2647949"/>
            <a:ext cx="762000" cy="361950"/>
          </a:xfrm>
          <a:prstGeom prst="rightArrow">
            <a:avLst>
              <a:gd name="adj1" fmla="val 50000"/>
              <a:gd name="adj2" fmla="val 50000"/>
            </a:avLst>
          </a:prstGeom>
          <a:solidFill>
            <a:srgbClr val="EFF6FF"/>
          </a:solidFill>
          <a:ln w="13335">
            <a:solidFill>
              <a:srgbClr val="2563EB"/>
            </a:solidFill>
            <a:prstDash val="solid"/>
          </a:ln>
        </p:spPr>
      </p:sp>
      <p:sp>
        <p:nvSpPr>
          <p:cNvPr id="454515978" name=""/>
          <p:cNvSpPr>
            <a:spLocks noGrp="1"/>
          </p:cNvSpPr>
          <p:nvPr/>
        </p:nvSpPr>
        <p:spPr bwMode="auto">
          <a:xfrm>
            <a:off x="2828925" y="3571875"/>
            <a:ext cx="762000" cy="361950"/>
          </a:xfrm>
          <a:prstGeom prst="leftArrow">
            <a:avLst>
              <a:gd name="adj1" fmla="val 50000"/>
              <a:gd name="adj2" fmla="val 50000"/>
            </a:avLst>
          </a:prstGeom>
          <a:solidFill>
            <a:srgbClr val="FEF2F2"/>
          </a:solidFill>
          <a:ln w="13335">
            <a:solidFill>
              <a:srgbClr val="EF4444"/>
            </a:solidFill>
            <a:prstDash val="solid"/>
          </a:ln>
        </p:spPr>
      </p:sp>
      <p:sp>
        <p:nvSpPr>
          <p:cNvPr id="1622544163" name=""/>
          <p:cNvSpPr>
            <a:spLocks noGrp="1"/>
          </p:cNvSpPr>
          <p:nvPr/>
        </p:nvSpPr>
        <p:spPr bwMode="auto">
          <a:xfrm>
            <a:off x="5400675" y="3571875"/>
            <a:ext cx="762000" cy="361950"/>
          </a:xfrm>
          <a:prstGeom prst="leftArrow">
            <a:avLst>
              <a:gd name="adj1" fmla="val 50000"/>
              <a:gd name="adj2" fmla="val 50000"/>
            </a:avLst>
          </a:prstGeom>
          <a:solidFill>
            <a:srgbClr val="FEF2F2"/>
          </a:solidFill>
          <a:ln w="13335">
            <a:solidFill>
              <a:srgbClr val="EF4444"/>
            </a:solidFill>
            <a:prstDash val="solid"/>
          </a:ln>
        </p:spPr>
      </p:sp>
      <p:sp>
        <p:nvSpPr>
          <p:cNvPr id="2097827436" name=""/>
          <p:cNvSpPr>
            <a:spLocks noGrp="1"/>
          </p:cNvSpPr>
          <p:nvPr/>
        </p:nvSpPr>
        <p:spPr bwMode="auto">
          <a:xfrm>
            <a:off x="8067675" y="3571875"/>
            <a:ext cx="762000" cy="361950"/>
          </a:xfrm>
          <a:prstGeom prst="leftArrow">
            <a:avLst>
              <a:gd name="adj1" fmla="val 50000"/>
              <a:gd name="adj2" fmla="val 50000"/>
            </a:avLst>
          </a:prstGeom>
          <a:solidFill>
            <a:srgbClr val="FEF2F2"/>
          </a:solidFill>
          <a:ln w="13335">
            <a:solidFill>
              <a:srgbClr val="EF4444"/>
            </a:solidFill>
            <a:prstDash val="solid"/>
          </a:ln>
        </p:spPr>
      </p:sp>
      <p:sp>
        <p:nvSpPr>
          <p:cNvPr id="2129607036" name=""/>
          <p:cNvSpPr>
            <a:spLocks noGrp="1"/>
          </p:cNvSpPr>
          <p:nvPr/>
        </p:nvSpPr>
        <p:spPr bwMode="auto">
          <a:xfrm>
            <a:off x="1143000" y="2381250"/>
            <a:ext cx="1571625" cy="857250"/>
          </a:xfrm>
          <a:prstGeom prst="roundRect">
            <a:avLst>
              <a:gd name="adj" fmla="val 8889"/>
            </a:avLst>
          </a:prstGeom>
          <a:solidFill>
            <a:srgbClr val="FFFFFF"/>
          </a:solidFill>
          <a:ln w="14288">
            <a:solidFill>
              <a:srgbClr val="CBD5E1"/>
            </a:solidFill>
            <a:prstDash val="solid"/>
          </a:ln>
        </p:spPr>
        <p:txBody>
          <a:bodyPr anchor="ctr"/>
          <a:lstStyle/>
          <a:p>
            <a:pPr algn="ctr">
              <a:buNone/>
              <a:defRPr sz="2100" b="1">
                <a:solidFill>
                  <a:srgbClr val="0B0F19"/>
                </a:solidFill>
                <a:latin typeface="Calibri"/>
                <a:ea typeface="Calibri"/>
                <a:cs typeface="Calibri"/>
              </a:defRPr>
            </a:pPr>
            <a:r>
              <a:rPr sz="2100" b="1">
                <a:solidFill>
                  <a:srgbClr val="0B0F19"/>
                </a:solidFill>
                <a:latin typeface="Calibri"/>
                <a:ea typeface="Calibri"/>
                <a:cs typeface="Calibri"/>
              </a:rPr>
              <a:t>w</a:t>
            </a:r>
            <a:endParaRPr/>
          </a:p>
        </p:txBody>
      </p:sp>
      <p:sp>
        <p:nvSpPr>
          <p:cNvPr id="1970210730" name=""/>
          <p:cNvSpPr>
            <a:spLocks noGrp="1"/>
          </p:cNvSpPr>
          <p:nvPr/>
        </p:nvSpPr>
        <p:spPr bwMode="auto">
          <a:xfrm>
            <a:off x="3714750" y="2381250"/>
            <a:ext cx="1571625" cy="857250"/>
          </a:xfrm>
          <a:prstGeom prst="roundRect">
            <a:avLst>
              <a:gd name="adj" fmla="val 8889"/>
            </a:avLst>
          </a:prstGeom>
          <a:solidFill>
            <a:srgbClr val="EFF6FF"/>
          </a:solidFill>
          <a:ln w="14288">
            <a:solidFill>
              <a:srgbClr val="2563EB"/>
            </a:solidFill>
            <a:prstDash val="solid"/>
          </a:ln>
        </p:spPr>
        <p:txBody>
          <a:bodyPr anchor="ctr"/>
          <a:lstStyle/>
          <a:p>
            <a:pPr algn="ctr">
              <a:buNone/>
              <a:defRPr sz="1750" b="1">
                <a:solidFill>
                  <a:srgbClr val="0B0F19"/>
                </a:solidFill>
                <a:latin typeface="Calibri"/>
                <a:ea typeface="Calibri"/>
                <a:cs typeface="Calibri"/>
              </a:defRPr>
            </a:pPr>
            <a:r>
              <a:rPr sz="1750" b="1">
                <a:solidFill>
                  <a:srgbClr val="0B0F19"/>
                </a:solidFill>
                <a:latin typeface="Calibri"/>
                <a:ea typeface="Calibri"/>
                <a:cs typeface="Calibri"/>
              </a:rPr>
              <a:t>z = wx + b</a:t>
            </a:r>
            <a:endParaRPr/>
          </a:p>
        </p:txBody>
      </p:sp>
      <p:sp>
        <p:nvSpPr>
          <p:cNvPr id="494431788" name=""/>
          <p:cNvSpPr>
            <a:spLocks noGrp="1"/>
          </p:cNvSpPr>
          <p:nvPr/>
        </p:nvSpPr>
        <p:spPr bwMode="auto">
          <a:xfrm>
            <a:off x="6381750" y="2381250"/>
            <a:ext cx="1571625" cy="857250"/>
          </a:xfrm>
          <a:prstGeom prst="roundRect">
            <a:avLst>
              <a:gd name="adj" fmla="val 8889"/>
            </a:avLst>
          </a:prstGeom>
          <a:solidFill>
            <a:srgbClr val="ECFDF5"/>
          </a:solidFill>
          <a:ln w="14288">
            <a:solidFill>
              <a:srgbClr val="059669"/>
            </a:solidFill>
            <a:prstDash val="solid"/>
          </a:ln>
        </p:spPr>
        <p:txBody>
          <a:bodyPr anchor="ctr"/>
          <a:lstStyle/>
          <a:p>
            <a:pPr algn="ctr">
              <a:buNone/>
              <a:defRPr sz="1750" b="1">
                <a:solidFill>
                  <a:srgbClr val="0B0F19"/>
                </a:solidFill>
                <a:latin typeface="Calibri"/>
                <a:ea typeface="Calibri"/>
                <a:cs typeface="Calibri"/>
              </a:defRPr>
            </a:pPr>
            <a:r>
              <a:rPr sz="1750" b="1">
                <a:solidFill>
                  <a:srgbClr val="0B0F19"/>
                </a:solidFill>
                <a:latin typeface="Calibri"/>
                <a:ea typeface="Calibri"/>
                <a:cs typeface="Calibri"/>
              </a:rPr>
              <a:t>a = σ(z)</a:t>
            </a:r>
            <a:endParaRPr/>
          </a:p>
        </p:txBody>
      </p:sp>
      <p:sp>
        <p:nvSpPr>
          <p:cNvPr id="1007137138" name=""/>
          <p:cNvSpPr>
            <a:spLocks noGrp="1"/>
          </p:cNvSpPr>
          <p:nvPr/>
        </p:nvSpPr>
        <p:spPr bwMode="auto">
          <a:xfrm>
            <a:off x="9144000" y="2381250"/>
            <a:ext cx="1571625" cy="857250"/>
          </a:xfrm>
          <a:prstGeom prst="roundRect">
            <a:avLst>
              <a:gd name="adj" fmla="val 8889"/>
            </a:avLst>
          </a:prstGeom>
          <a:solidFill>
            <a:srgbClr val="FEF2F2"/>
          </a:solidFill>
          <a:ln w="14288">
            <a:solidFill>
              <a:srgbClr val="EF4444"/>
            </a:solidFill>
            <a:prstDash val="solid"/>
          </a:ln>
        </p:spPr>
        <p:txBody>
          <a:bodyPr anchor="ctr"/>
          <a:lstStyle/>
          <a:p>
            <a:pPr algn="ctr">
              <a:buNone/>
              <a:defRPr sz="1750" b="1">
                <a:solidFill>
                  <a:srgbClr val="EF4444"/>
                </a:solidFill>
                <a:latin typeface="Calibri"/>
                <a:ea typeface="Calibri"/>
                <a:cs typeface="Calibri"/>
              </a:defRPr>
            </a:pPr>
            <a:r>
              <a:rPr sz="1750" b="1">
                <a:solidFill>
                  <a:srgbClr val="EF4444"/>
                </a:solidFill>
                <a:latin typeface="Calibri"/>
                <a:ea typeface="Calibri"/>
                <a:cs typeface="Calibri"/>
              </a:rPr>
              <a:t>L(a)</a:t>
            </a:r>
            <a:endParaRPr/>
          </a:p>
        </p:txBody>
      </p:sp>
      <p:sp>
        <p:nvSpPr>
          <p:cNvPr id="887916804" name=""/>
          <p:cNvSpPr>
            <a:spLocks noGrp="1"/>
          </p:cNvSpPr>
          <p:nvPr/>
        </p:nvSpPr>
        <p:spPr bwMode="auto">
          <a:xfrm>
            <a:off x="3381375" y="2095500"/>
            <a:ext cx="5429250" cy="238125"/>
          </a:xfrm>
          <a:prstGeom prst="rect">
            <a:avLst/>
          </a:prstGeom>
          <a:noFill/>
          <a:ln w="0">
            <a:noFill/>
            <a:prstDash val="solid"/>
          </a:ln>
        </p:spPr>
        <p:txBody>
          <a:bodyPr/>
          <a:lstStyle/>
          <a:p>
            <a:pPr algn="ctr">
              <a:buNone/>
              <a:defRPr sz="1300" b="1">
                <a:solidFill>
                  <a:srgbClr val="2563EB"/>
                </a:solidFill>
                <a:latin typeface="Calibri"/>
                <a:ea typeface="Calibri"/>
                <a:cs typeface="Calibri"/>
              </a:defRPr>
            </a:pPr>
            <a:r>
              <a:rPr sz="1300" b="1">
                <a:solidFill>
                  <a:srgbClr val="2563EB"/>
                </a:solidFill>
                <a:latin typeface="Calibri"/>
                <a:ea typeface="Calibri"/>
                <a:cs typeface="Calibri"/>
              </a:rPr>
              <a:t>forward: compute activations and loss</a:t>
            </a:r>
            <a:endParaRPr/>
          </a:p>
        </p:txBody>
      </p:sp>
      <p:sp>
        <p:nvSpPr>
          <p:cNvPr id="4341858" name=""/>
          <p:cNvSpPr>
            <a:spLocks noGrp="1"/>
          </p:cNvSpPr>
          <p:nvPr/>
        </p:nvSpPr>
        <p:spPr bwMode="auto">
          <a:xfrm>
            <a:off x="3000375" y="4000500"/>
            <a:ext cx="6191250" cy="238125"/>
          </a:xfrm>
          <a:prstGeom prst="rect">
            <a:avLst/>
          </a:prstGeom>
          <a:noFill/>
          <a:ln w="0">
            <a:noFill/>
            <a:prstDash val="solid"/>
          </a:ln>
        </p:spPr>
        <p:txBody>
          <a:bodyPr/>
          <a:lstStyle/>
          <a:p>
            <a:pPr algn="ctr">
              <a:buNone/>
              <a:defRPr sz="1300" b="1">
                <a:solidFill>
                  <a:srgbClr val="EF4444"/>
                </a:solidFill>
                <a:latin typeface="Calibri"/>
                <a:ea typeface="Calibri"/>
                <a:cs typeface="Calibri"/>
              </a:defRPr>
            </a:pPr>
            <a:r>
              <a:rPr sz="1300" b="1">
                <a:solidFill>
                  <a:srgbClr val="EF4444"/>
                </a:solidFill>
                <a:latin typeface="Calibri"/>
                <a:ea typeface="Calibri"/>
                <a:cs typeface="Calibri"/>
              </a:rPr>
              <a:t>backward: propagate gradients toward earlier parameters</a:t>
            </a:r>
            <a:endParaRPr/>
          </a:p>
        </p:txBody>
      </p:sp>
      <p:sp>
        <p:nvSpPr>
          <p:cNvPr id="1582732102" name=""/>
          <p:cNvSpPr>
            <a:spLocks noGrp="1"/>
          </p:cNvSpPr>
          <p:nvPr/>
        </p:nvSpPr>
        <p:spPr bwMode="auto">
          <a:xfrm flipH="0" flipV="0">
            <a:off x="1571623" y="4450990"/>
            <a:ext cx="9048749" cy="702034"/>
          </a:xfrm>
          <a:prstGeom prst="roundRect">
            <a:avLst>
              <a:gd name="adj" fmla="val 12121"/>
            </a:avLst>
          </a:prstGeom>
          <a:solidFill>
            <a:srgbClr val="FFFFFF"/>
          </a:solidFill>
          <a:ln w="17145">
            <a:solidFill>
              <a:srgbClr val="EF4444"/>
            </a:solidFill>
            <a:prstDash val="solid"/>
          </a:ln>
        </p:spPr>
        <p:txBody>
          <a:bodyPr anchor="ctr"/>
          <a:lstStyle/>
          <a:p>
            <a:pPr algn="ctr">
              <a:buNone/>
              <a:defRPr sz="2050" b="1">
                <a:solidFill>
                  <a:srgbClr val="0B0F19"/>
                </a:solidFill>
                <a:latin typeface="Calibri"/>
                <a:ea typeface="Calibri"/>
                <a:cs typeface="Calibri"/>
              </a:defRPr>
            </a:pPr>
            <a:endParaRPr/>
          </a:p>
        </p:txBody>
      </p:sp>
      <p:sp>
        <p:nvSpPr>
          <p:cNvPr id="28654523" name=""/>
          <p:cNvSpPr>
            <a:spLocks noGrp="1"/>
          </p:cNvSpPr>
          <p:nvPr/>
        </p:nvSpPr>
        <p:spPr bwMode="auto">
          <a:xfrm flipH="0" flipV="0">
            <a:off x="3333749" y="5265707"/>
            <a:ext cx="5524499" cy="592167"/>
          </a:xfrm>
          <a:prstGeom prst="roundRect">
            <a:avLst>
              <a:gd name="adj" fmla="val 16000"/>
            </a:avLst>
          </a:prstGeom>
          <a:solidFill>
            <a:srgbClr val="FFF7ED"/>
          </a:solidFill>
          <a:ln w="14288">
            <a:solidFill>
              <a:srgbClr val="F97316"/>
            </a:solidFill>
            <a:prstDash val="solid"/>
          </a:ln>
        </p:spPr>
        <p:txBody>
          <a:bodyPr anchor="ctr"/>
          <a:lstStyle/>
          <a:p>
            <a:pPr algn="ctr">
              <a:buNone/>
              <a:defRPr sz="1650" b="1">
                <a:solidFill>
                  <a:srgbClr val="C2410C"/>
                </a:solidFill>
                <a:latin typeface="Calibri"/>
                <a:ea typeface="Calibri"/>
                <a:cs typeface="Calibri"/>
              </a:defRPr>
            </a:pPr>
            <a:endParaRPr/>
          </a:p>
        </p:txBody>
      </p:sp>
      <p:pic>
        <p:nvPicPr>
          <p:cNvPr id="1490077403" name=""/>
          <p:cNvPicPr>
            <a:picLocks noChangeAspect="1"/>
          </p:cNvPicPr>
          <p:nvPr/>
        </p:nvPicPr>
        <p:blipFill rotWithShape="1">
          <a:blip r:embed="rId3"/>
          <a:stretch/>
        </p:blipFill>
        <p:spPr bwMode="auto">
          <a:xfrm>
            <a:off x="2000250" y="4514850"/>
            <a:ext cx="8572500" cy="609600"/>
          </a:xfrm>
          <a:prstGeom prst="rect">
            <a:avLst/>
          </a:prstGeom>
        </p:spPr>
      </p:pic>
      <p:pic>
        <p:nvPicPr>
          <p:cNvPr id="2070005546" name=""/>
          <p:cNvPicPr>
            <a:picLocks noChangeAspect="1"/>
          </p:cNvPicPr>
          <p:nvPr/>
        </p:nvPicPr>
        <p:blipFill rotWithShape="1">
          <a:blip r:embed="rId4"/>
          <a:stretch/>
        </p:blipFill>
        <p:spPr bwMode="auto">
          <a:xfrm>
            <a:off x="4095750" y="5353050"/>
            <a:ext cx="4762500" cy="514350"/>
          </a:xfrm>
          <a:prstGeom prst="rect">
            <a:avLst/>
          </a:prstGeom>
        </p:spPr>
      </p:pic>
      <p:sp>
        <p:nvSpPr>
          <p:cNvPr id="946434869" name=""/>
          <p:cNvSpPr>
            <a:spLocks noGrp="1"/>
          </p:cNvSpPr>
          <p:nvPr/>
        </p:nvSpPr>
        <p:spPr bwMode="auto">
          <a:xfrm>
            <a:off x="590549" y="1352550"/>
            <a:ext cx="11010900" cy="4772025"/>
          </a:xfrm>
          <a:prstGeom prst="roundRect">
            <a:avLst>
              <a:gd name="adj" fmla="val 2395"/>
            </a:avLst>
          </a:prstGeom>
          <a:solidFill>
            <a:srgbClr val="F8FAFC"/>
          </a:solidFill>
          <a:ln w="9525">
            <a:solidFill>
              <a:srgbClr val="CBD5E1"/>
            </a:solidFill>
            <a:prstDash val="solid"/>
          </a:ln>
        </p:spPr>
      </p:sp>
      <p:sp>
        <p:nvSpPr>
          <p:cNvPr id="519679007" name=""/>
          <p:cNvSpPr>
            <a:spLocks noGrp="1"/>
          </p:cNvSpPr>
          <p:nvPr/>
        </p:nvSpPr>
        <p:spPr bwMode="auto">
          <a:xfrm>
            <a:off x="876299" y="1514475"/>
            <a:ext cx="10382250" cy="285750"/>
          </a:xfrm>
          <a:prstGeom prst="rect">
            <a:avLst/>
          </a:prstGeom>
          <a:noFill/>
          <a:ln w="0">
            <a:noFill/>
            <a:prstDash val="solid"/>
          </a:ln>
        </p:spPr>
        <p:txBody>
          <a:bodyPr anchor="ctr"/>
          <a:lstStyle/>
          <a:p>
            <a:pPr algn="l">
              <a:buNone/>
              <a:defRPr sz="1450" b="0">
                <a:solidFill>
                  <a:srgbClr val="667085"/>
                </a:solidFill>
                <a:latin typeface="Calibri"/>
                <a:ea typeface="Calibri"/>
                <a:cs typeface="Calibri"/>
              </a:defRPr>
            </a:pPr>
            <a:r>
              <a:rPr sz="1450" b="0">
                <a:solidFill>
                  <a:srgbClr val="667085"/>
                </a:solidFill>
                <a:latin typeface="Calibri"/>
                <a:ea typeface="Calibri"/>
                <a:cs typeface="Calibri"/>
              </a:rPr>
              <a:t>A layer with 2 inputs and 2 neurons has four weights: a 2 × 2 matrix.</a:t>
            </a:r>
            <a:endParaRPr/>
          </a:p>
        </p:txBody>
      </p:sp>
      <p:sp>
        <p:nvSpPr>
          <p:cNvPr id="1876525533" name=""/>
          <p:cNvSpPr>
            <a:spLocks noGrp="1"/>
          </p:cNvSpPr>
          <p:nvPr/>
        </p:nvSpPr>
        <p:spPr bwMode="auto">
          <a:xfrm>
            <a:off x="904875" y="2533650"/>
            <a:ext cx="428625" cy="1047750"/>
          </a:xfrm>
          <a:prstGeom prst="rect">
            <a:avLst/>
          </a:prstGeom>
          <a:noFill/>
          <a:ln w="0">
            <a:noFill/>
            <a:prstDash val="solid"/>
          </a:ln>
        </p:spPr>
        <p:txBody>
          <a:bodyPr anchor="ctr"/>
          <a:lstStyle/>
          <a:p>
            <a:pPr algn="ctr">
              <a:buNone/>
              <a:defRPr sz="2400" b="1">
                <a:solidFill>
                  <a:srgbClr val="0B0F19"/>
                </a:solidFill>
                <a:latin typeface="Calibri"/>
                <a:ea typeface="Calibri"/>
                <a:cs typeface="Calibri"/>
              </a:defRPr>
            </a:pPr>
            <a:r>
              <a:rPr sz="2400" b="1">
                <a:solidFill>
                  <a:srgbClr val="0B0F19"/>
                </a:solidFill>
                <a:latin typeface="Calibri"/>
                <a:ea typeface="Calibri"/>
                <a:cs typeface="Calibri"/>
              </a:rPr>
              <a:t>z</a:t>
            </a:r>
            <a:endParaRPr/>
          </a:p>
        </p:txBody>
      </p:sp>
      <p:sp>
        <p:nvSpPr>
          <p:cNvPr id="172556051" name=""/>
          <p:cNvSpPr>
            <a:spLocks noGrp="1"/>
          </p:cNvSpPr>
          <p:nvPr/>
        </p:nvSpPr>
        <p:spPr bwMode="auto">
          <a:xfrm>
            <a:off x="1438275" y="2533650"/>
            <a:ext cx="400050" cy="1047750"/>
          </a:xfrm>
          <a:prstGeom prst="rect">
            <a:avLst/>
          </a:prstGeom>
          <a:noFill/>
          <a:ln w="0">
            <a:noFill/>
            <a:prstDash val="solid"/>
          </a:ln>
        </p:spPr>
        <p:txBody>
          <a:bodyPr anchor="ctr"/>
          <a:lstStyle/>
          <a:p>
            <a:pPr algn="ctr">
              <a:buNone/>
              <a:defRPr sz="2250" b="1">
                <a:solidFill>
                  <a:srgbClr val="0B0F19"/>
                </a:solidFill>
                <a:latin typeface="Calibri"/>
                <a:ea typeface="Calibri"/>
                <a:cs typeface="Calibri"/>
              </a:defRPr>
            </a:pPr>
            <a:r>
              <a:rPr sz="2250" b="1">
                <a:solidFill>
                  <a:srgbClr val="0B0F19"/>
                </a:solidFill>
                <a:latin typeface="Calibri"/>
                <a:ea typeface="Calibri"/>
                <a:cs typeface="Calibri"/>
              </a:rPr>
              <a:t>=</a:t>
            </a:r>
            <a:endParaRPr/>
          </a:p>
        </p:txBody>
      </p:sp>
      <p:sp>
        <p:nvSpPr>
          <p:cNvPr id="1769582323" name=""/>
          <p:cNvSpPr>
            <a:spLocks noGrp="1"/>
          </p:cNvSpPr>
          <p:nvPr/>
        </p:nvSpPr>
        <p:spPr bwMode="auto">
          <a:xfrm>
            <a:off x="2619375" y="1971675"/>
            <a:ext cx="1143000" cy="285750"/>
          </a:xfrm>
          <a:prstGeom prst="rect">
            <a:avLst/>
          </a:prstGeom>
          <a:noFill/>
          <a:ln w="0">
            <a:noFill/>
            <a:prstDash val="solid"/>
          </a:ln>
        </p:spPr>
        <p:txBody>
          <a:bodyPr anchor="ctr"/>
          <a:lstStyle/>
          <a:p>
            <a:pPr algn="ctr">
              <a:buNone/>
              <a:defRPr sz="1450" b="1">
                <a:solidFill>
                  <a:srgbClr val="2563EB"/>
                </a:solidFill>
                <a:latin typeface="Calibri"/>
                <a:ea typeface="Calibri"/>
                <a:cs typeface="Calibri"/>
              </a:defRPr>
            </a:pPr>
            <a:r>
              <a:rPr sz="1450" b="1">
                <a:solidFill>
                  <a:srgbClr val="2563EB"/>
                </a:solidFill>
                <a:latin typeface="Calibri"/>
                <a:ea typeface="Calibri"/>
                <a:cs typeface="Calibri"/>
              </a:rPr>
              <a:t>W</a:t>
            </a:r>
            <a:endParaRPr/>
          </a:p>
        </p:txBody>
      </p:sp>
      <p:sp>
        <p:nvSpPr>
          <p:cNvPr id="1485502724" name=""/>
          <p:cNvSpPr>
            <a:spLocks noGrp="1"/>
          </p:cNvSpPr>
          <p:nvPr/>
        </p:nvSpPr>
        <p:spPr bwMode="auto">
          <a:xfrm>
            <a:off x="2047875" y="2438400"/>
            <a:ext cx="685800" cy="495300"/>
          </a:xfrm>
          <a:prstGeom prst="rect">
            <a:avLst/>
          </a:prstGeom>
          <a:solidFill>
            <a:srgbClr val="DBEAFE"/>
          </a:solidFill>
          <a:ln w="9525">
            <a:solidFill>
              <a:srgbClr val="CBD5E1"/>
            </a:solidFill>
            <a:prstDash val="solid"/>
          </a:ln>
        </p:spPr>
      </p:sp>
      <p:sp>
        <p:nvSpPr>
          <p:cNvPr id="1656404165" name=""/>
          <p:cNvSpPr>
            <a:spLocks noGrp="1"/>
          </p:cNvSpPr>
          <p:nvPr/>
        </p:nvSpPr>
        <p:spPr bwMode="auto">
          <a:xfrm>
            <a:off x="2047875" y="2438400"/>
            <a:ext cx="685800" cy="495300"/>
          </a:xfrm>
          <a:prstGeom prst="rect">
            <a:avLst/>
          </a:prstGeom>
          <a:noFill/>
          <a:ln w="0">
            <a:noFill/>
            <a:prstDash val="solid"/>
          </a:ln>
        </p:spPr>
        <p:txBody>
          <a:bodyPr anchor="ctr"/>
          <a:lstStyle/>
          <a:p>
            <a:pPr algn="ctr">
              <a:buNone/>
              <a:defRPr sz="1650" b="1">
                <a:solidFill>
                  <a:srgbClr val="0B0F19"/>
                </a:solidFill>
                <a:latin typeface="Calibri"/>
                <a:ea typeface="Calibri"/>
                <a:cs typeface="Calibri"/>
              </a:defRPr>
            </a:pPr>
            <a:r>
              <a:rPr sz="1650" b="1">
                <a:solidFill>
                  <a:srgbClr val="0B0F19"/>
                </a:solidFill>
                <a:latin typeface="Calibri"/>
                <a:ea typeface="Calibri"/>
                <a:cs typeface="Calibri"/>
              </a:rPr>
              <a:t>0.2</a:t>
            </a:r>
            <a:endParaRPr/>
          </a:p>
        </p:txBody>
      </p:sp>
      <p:sp>
        <p:nvSpPr>
          <p:cNvPr id="1754758388" name=""/>
          <p:cNvSpPr>
            <a:spLocks noGrp="1"/>
          </p:cNvSpPr>
          <p:nvPr/>
        </p:nvSpPr>
        <p:spPr bwMode="auto">
          <a:xfrm>
            <a:off x="2733675" y="2438400"/>
            <a:ext cx="685800" cy="495300"/>
          </a:xfrm>
          <a:prstGeom prst="rect">
            <a:avLst/>
          </a:prstGeom>
          <a:solidFill>
            <a:srgbClr val="DBEAFE"/>
          </a:solidFill>
          <a:ln w="9525">
            <a:solidFill>
              <a:srgbClr val="CBD5E1"/>
            </a:solidFill>
            <a:prstDash val="solid"/>
          </a:ln>
        </p:spPr>
      </p:sp>
      <p:sp>
        <p:nvSpPr>
          <p:cNvPr id="1702064343" name=""/>
          <p:cNvSpPr>
            <a:spLocks noGrp="1"/>
          </p:cNvSpPr>
          <p:nvPr/>
        </p:nvSpPr>
        <p:spPr bwMode="auto">
          <a:xfrm>
            <a:off x="2733675" y="2438400"/>
            <a:ext cx="685800" cy="495300"/>
          </a:xfrm>
          <a:prstGeom prst="rect">
            <a:avLst/>
          </a:prstGeom>
          <a:noFill/>
          <a:ln w="0">
            <a:noFill/>
            <a:prstDash val="solid"/>
          </a:ln>
        </p:spPr>
        <p:txBody>
          <a:bodyPr anchor="ctr"/>
          <a:lstStyle/>
          <a:p>
            <a:pPr algn="ctr">
              <a:buNone/>
              <a:defRPr sz="1650" b="1">
                <a:solidFill>
                  <a:srgbClr val="0B0F19"/>
                </a:solidFill>
                <a:latin typeface="Calibri"/>
                <a:ea typeface="Calibri"/>
                <a:cs typeface="Calibri"/>
              </a:defRPr>
            </a:pPr>
            <a:r>
              <a:rPr sz="1650" b="1">
                <a:solidFill>
                  <a:srgbClr val="0B0F19"/>
                </a:solidFill>
                <a:latin typeface="Calibri"/>
                <a:ea typeface="Calibri"/>
                <a:cs typeface="Calibri"/>
              </a:rPr>
              <a:t>−0.4</a:t>
            </a:r>
            <a:endParaRPr/>
          </a:p>
        </p:txBody>
      </p:sp>
      <p:sp>
        <p:nvSpPr>
          <p:cNvPr id="49765688" name=""/>
          <p:cNvSpPr>
            <a:spLocks noGrp="1"/>
          </p:cNvSpPr>
          <p:nvPr/>
        </p:nvSpPr>
        <p:spPr bwMode="auto">
          <a:xfrm>
            <a:off x="2047875" y="2933699"/>
            <a:ext cx="685800" cy="495300"/>
          </a:xfrm>
          <a:prstGeom prst="rect">
            <a:avLst/>
          </a:prstGeom>
          <a:solidFill>
            <a:srgbClr val="D1FAE5"/>
          </a:solidFill>
          <a:ln w="9525">
            <a:solidFill>
              <a:srgbClr val="CBD5E1"/>
            </a:solidFill>
            <a:prstDash val="solid"/>
          </a:ln>
        </p:spPr>
      </p:sp>
      <p:sp>
        <p:nvSpPr>
          <p:cNvPr id="620229750" name=""/>
          <p:cNvSpPr>
            <a:spLocks noGrp="1"/>
          </p:cNvSpPr>
          <p:nvPr/>
        </p:nvSpPr>
        <p:spPr bwMode="auto">
          <a:xfrm>
            <a:off x="2047875" y="2933699"/>
            <a:ext cx="685800" cy="495300"/>
          </a:xfrm>
          <a:prstGeom prst="rect">
            <a:avLst/>
          </a:prstGeom>
          <a:noFill/>
          <a:ln w="0">
            <a:noFill/>
            <a:prstDash val="solid"/>
          </a:ln>
        </p:spPr>
        <p:txBody>
          <a:bodyPr anchor="ctr"/>
          <a:lstStyle/>
          <a:p>
            <a:pPr algn="ctr">
              <a:buNone/>
              <a:defRPr sz="1650" b="1">
                <a:solidFill>
                  <a:srgbClr val="0B0F19"/>
                </a:solidFill>
                <a:latin typeface="Calibri"/>
                <a:ea typeface="Calibri"/>
                <a:cs typeface="Calibri"/>
              </a:defRPr>
            </a:pPr>
            <a:r>
              <a:rPr sz="1650" b="1">
                <a:solidFill>
                  <a:srgbClr val="0B0F19"/>
                </a:solidFill>
                <a:latin typeface="Calibri"/>
                <a:ea typeface="Calibri"/>
                <a:cs typeface="Calibri"/>
              </a:rPr>
              <a:t>0.7</a:t>
            </a:r>
            <a:endParaRPr/>
          </a:p>
        </p:txBody>
      </p:sp>
      <p:sp>
        <p:nvSpPr>
          <p:cNvPr id="1132335320" name=""/>
          <p:cNvSpPr>
            <a:spLocks noGrp="1"/>
          </p:cNvSpPr>
          <p:nvPr/>
        </p:nvSpPr>
        <p:spPr bwMode="auto">
          <a:xfrm>
            <a:off x="2733675" y="2933699"/>
            <a:ext cx="685800" cy="495300"/>
          </a:xfrm>
          <a:prstGeom prst="rect">
            <a:avLst/>
          </a:prstGeom>
          <a:solidFill>
            <a:srgbClr val="D1FAE5"/>
          </a:solidFill>
          <a:ln w="9525">
            <a:solidFill>
              <a:srgbClr val="CBD5E1"/>
            </a:solidFill>
            <a:prstDash val="solid"/>
          </a:ln>
        </p:spPr>
      </p:sp>
      <p:sp>
        <p:nvSpPr>
          <p:cNvPr id="1946561467" name=""/>
          <p:cNvSpPr>
            <a:spLocks noGrp="1"/>
          </p:cNvSpPr>
          <p:nvPr/>
        </p:nvSpPr>
        <p:spPr bwMode="auto">
          <a:xfrm>
            <a:off x="2733675" y="2933699"/>
            <a:ext cx="685800" cy="495300"/>
          </a:xfrm>
          <a:prstGeom prst="rect">
            <a:avLst/>
          </a:prstGeom>
          <a:noFill/>
          <a:ln w="0">
            <a:noFill/>
            <a:prstDash val="solid"/>
          </a:ln>
        </p:spPr>
        <p:txBody>
          <a:bodyPr anchor="ctr"/>
          <a:lstStyle/>
          <a:p>
            <a:pPr algn="ctr">
              <a:buNone/>
              <a:defRPr sz="1650" b="1">
                <a:solidFill>
                  <a:srgbClr val="0B0F19"/>
                </a:solidFill>
                <a:latin typeface="Calibri"/>
                <a:ea typeface="Calibri"/>
                <a:cs typeface="Calibri"/>
              </a:defRPr>
            </a:pPr>
            <a:r>
              <a:rPr sz="1650" b="1">
                <a:solidFill>
                  <a:srgbClr val="0B0F19"/>
                </a:solidFill>
                <a:latin typeface="Calibri"/>
                <a:ea typeface="Calibri"/>
                <a:cs typeface="Calibri"/>
              </a:rPr>
              <a:t>0.1</a:t>
            </a:r>
            <a:endParaRPr/>
          </a:p>
        </p:txBody>
      </p:sp>
      <p:sp>
        <p:nvSpPr>
          <p:cNvPr id="1794899800" name=""/>
          <p:cNvSpPr>
            <a:spLocks noGrp="1"/>
          </p:cNvSpPr>
          <p:nvPr/>
        </p:nvSpPr>
        <p:spPr bwMode="auto">
          <a:xfrm>
            <a:off x="3552825" y="2543175"/>
            <a:ext cx="438149" cy="933450"/>
          </a:xfrm>
          <a:prstGeom prst="rect">
            <a:avLst/>
          </a:prstGeom>
          <a:noFill/>
          <a:ln w="0">
            <a:noFill/>
            <a:prstDash val="solid"/>
          </a:ln>
        </p:spPr>
        <p:txBody>
          <a:bodyPr anchor="ctr"/>
          <a:lstStyle/>
          <a:p>
            <a:pPr algn="ctr">
              <a:buNone/>
              <a:defRPr sz="2250" b="1">
                <a:solidFill>
                  <a:srgbClr val="0B0F19"/>
                </a:solidFill>
                <a:latin typeface="Calibri"/>
                <a:ea typeface="Calibri"/>
                <a:cs typeface="Calibri"/>
              </a:defRPr>
            </a:pPr>
            <a:r>
              <a:rPr sz="2250" b="1">
                <a:solidFill>
                  <a:srgbClr val="0B0F19"/>
                </a:solidFill>
                <a:latin typeface="Calibri"/>
                <a:ea typeface="Calibri"/>
                <a:cs typeface="Calibri"/>
              </a:rPr>
              <a:t>×</a:t>
            </a:r>
            <a:endParaRPr/>
          </a:p>
        </p:txBody>
      </p:sp>
      <p:sp>
        <p:nvSpPr>
          <p:cNvPr id="1908884569" name=""/>
          <p:cNvSpPr>
            <a:spLocks noGrp="1"/>
          </p:cNvSpPr>
          <p:nvPr/>
        </p:nvSpPr>
        <p:spPr bwMode="auto">
          <a:xfrm>
            <a:off x="4229100" y="1971675"/>
            <a:ext cx="685800" cy="285750"/>
          </a:xfrm>
          <a:prstGeom prst="rect">
            <a:avLst/>
          </a:prstGeom>
          <a:noFill/>
          <a:ln w="0">
            <a:noFill/>
            <a:prstDash val="solid"/>
          </a:ln>
        </p:spPr>
        <p:txBody>
          <a:bodyPr anchor="ctr"/>
          <a:lstStyle/>
          <a:p>
            <a:pPr algn="ctr">
              <a:buNone/>
              <a:defRPr sz="1450" b="1">
                <a:solidFill>
                  <a:srgbClr val="2563EB"/>
                </a:solidFill>
                <a:latin typeface="Calibri"/>
                <a:ea typeface="Calibri"/>
                <a:cs typeface="Calibri"/>
              </a:defRPr>
            </a:pPr>
            <a:r>
              <a:rPr sz="1450" b="1">
                <a:solidFill>
                  <a:srgbClr val="2563EB"/>
                </a:solidFill>
                <a:latin typeface="Calibri"/>
                <a:ea typeface="Calibri"/>
                <a:cs typeface="Calibri"/>
              </a:rPr>
              <a:t>x</a:t>
            </a:r>
            <a:endParaRPr/>
          </a:p>
        </p:txBody>
      </p:sp>
      <p:sp>
        <p:nvSpPr>
          <p:cNvPr id="2060007129" name=""/>
          <p:cNvSpPr>
            <a:spLocks noGrp="1"/>
          </p:cNvSpPr>
          <p:nvPr/>
        </p:nvSpPr>
        <p:spPr bwMode="auto">
          <a:xfrm>
            <a:off x="4229100" y="2438400"/>
            <a:ext cx="685800" cy="495300"/>
          </a:xfrm>
          <a:prstGeom prst="rect">
            <a:avLst/>
          </a:prstGeom>
          <a:solidFill>
            <a:srgbClr val="FFFFFF"/>
          </a:solidFill>
          <a:ln w="9525">
            <a:solidFill>
              <a:srgbClr val="CBD5E1"/>
            </a:solidFill>
            <a:prstDash val="solid"/>
          </a:ln>
        </p:spPr>
      </p:sp>
      <p:sp>
        <p:nvSpPr>
          <p:cNvPr id="927400953" name=""/>
          <p:cNvSpPr>
            <a:spLocks noGrp="1"/>
          </p:cNvSpPr>
          <p:nvPr/>
        </p:nvSpPr>
        <p:spPr bwMode="auto">
          <a:xfrm>
            <a:off x="4229100" y="2438400"/>
            <a:ext cx="685800" cy="495300"/>
          </a:xfrm>
          <a:prstGeom prst="rect">
            <a:avLst/>
          </a:prstGeom>
          <a:noFill/>
          <a:ln w="0">
            <a:noFill/>
            <a:prstDash val="solid"/>
          </a:ln>
        </p:spPr>
        <p:txBody>
          <a:bodyPr anchor="ctr"/>
          <a:lstStyle/>
          <a:p>
            <a:pPr algn="ctr">
              <a:buNone/>
              <a:defRPr sz="1650" b="1">
                <a:solidFill>
                  <a:srgbClr val="0B0F19"/>
                </a:solidFill>
                <a:latin typeface="Calibri"/>
                <a:ea typeface="Calibri"/>
                <a:cs typeface="Calibri"/>
              </a:defRPr>
            </a:pPr>
            <a:r>
              <a:rPr sz="1650" b="1">
                <a:solidFill>
                  <a:srgbClr val="0B0F19"/>
                </a:solidFill>
                <a:latin typeface="Calibri"/>
                <a:ea typeface="Calibri"/>
                <a:cs typeface="Calibri"/>
              </a:rPr>
              <a:t>2</a:t>
            </a:r>
            <a:endParaRPr/>
          </a:p>
        </p:txBody>
      </p:sp>
      <p:sp>
        <p:nvSpPr>
          <p:cNvPr id="1035567829" name=""/>
          <p:cNvSpPr>
            <a:spLocks noGrp="1"/>
          </p:cNvSpPr>
          <p:nvPr/>
        </p:nvSpPr>
        <p:spPr bwMode="auto">
          <a:xfrm>
            <a:off x="4229100" y="2933699"/>
            <a:ext cx="685800" cy="495300"/>
          </a:xfrm>
          <a:prstGeom prst="rect">
            <a:avLst/>
          </a:prstGeom>
          <a:solidFill>
            <a:srgbClr val="FFFFFF"/>
          </a:solidFill>
          <a:ln w="9525">
            <a:solidFill>
              <a:srgbClr val="CBD5E1"/>
            </a:solidFill>
            <a:prstDash val="solid"/>
          </a:ln>
        </p:spPr>
      </p:sp>
      <p:sp>
        <p:nvSpPr>
          <p:cNvPr id="1930621636" name=""/>
          <p:cNvSpPr>
            <a:spLocks noGrp="1"/>
          </p:cNvSpPr>
          <p:nvPr/>
        </p:nvSpPr>
        <p:spPr bwMode="auto">
          <a:xfrm>
            <a:off x="4229100" y="2933699"/>
            <a:ext cx="685800" cy="495300"/>
          </a:xfrm>
          <a:prstGeom prst="rect">
            <a:avLst/>
          </a:prstGeom>
          <a:noFill/>
          <a:ln w="0">
            <a:noFill/>
            <a:prstDash val="solid"/>
          </a:ln>
        </p:spPr>
        <p:txBody>
          <a:bodyPr anchor="ctr"/>
          <a:lstStyle/>
          <a:p>
            <a:pPr algn="ctr">
              <a:buNone/>
              <a:defRPr sz="1650" b="1">
                <a:solidFill>
                  <a:srgbClr val="0B0F19"/>
                </a:solidFill>
                <a:latin typeface="Calibri"/>
                <a:ea typeface="Calibri"/>
                <a:cs typeface="Calibri"/>
              </a:defRPr>
            </a:pPr>
            <a:r>
              <a:rPr sz="1650" b="1">
                <a:solidFill>
                  <a:srgbClr val="0B0F19"/>
                </a:solidFill>
                <a:latin typeface="Calibri"/>
                <a:ea typeface="Calibri"/>
                <a:cs typeface="Calibri"/>
              </a:rPr>
              <a:t>1</a:t>
            </a:r>
            <a:endParaRPr/>
          </a:p>
        </p:txBody>
      </p:sp>
      <p:sp>
        <p:nvSpPr>
          <p:cNvPr id="1195187904" name=""/>
          <p:cNvSpPr>
            <a:spLocks noGrp="1"/>
          </p:cNvSpPr>
          <p:nvPr/>
        </p:nvSpPr>
        <p:spPr bwMode="auto">
          <a:xfrm>
            <a:off x="5076825" y="2543175"/>
            <a:ext cx="438149" cy="933450"/>
          </a:xfrm>
          <a:prstGeom prst="rect">
            <a:avLst/>
          </a:prstGeom>
          <a:noFill/>
          <a:ln w="0">
            <a:noFill/>
            <a:prstDash val="solid"/>
          </a:ln>
        </p:spPr>
        <p:txBody>
          <a:bodyPr anchor="ctr"/>
          <a:lstStyle/>
          <a:p>
            <a:pPr algn="ctr">
              <a:buNone/>
              <a:defRPr sz="2250" b="1">
                <a:solidFill>
                  <a:srgbClr val="0B0F19"/>
                </a:solidFill>
                <a:latin typeface="Calibri"/>
                <a:ea typeface="Calibri"/>
                <a:cs typeface="Calibri"/>
              </a:defRPr>
            </a:pPr>
            <a:r>
              <a:rPr sz="2250" b="1">
                <a:solidFill>
                  <a:srgbClr val="0B0F19"/>
                </a:solidFill>
                <a:latin typeface="Calibri"/>
                <a:ea typeface="Calibri"/>
                <a:cs typeface="Calibri"/>
              </a:rPr>
              <a:t>+</a:t>
            </a:r>
            <a:endParaRPr/>
          </a:p>
        </p:txBody>
      </p:sp>
      <p:sp>
        <p:nvSpPr>
          <p:cNvPr id="572902862" name=""/>
          <p:cNvSpPr>
            <a:spLocks noGrp="1"/>
          </p:cNvSpPr>
          <p:nvPr/>
        </p:nvSpPr>
        <p:spPr bwMode="auto">
          <a:xfrm>
            <a:off x="5762625" y="1971675"/>
            <a:ext cx="685800" cy="285750"/>
          </a:xfrm>
          <a:prstGeom prst="rect">
            <a:avLst/>
          </a:prstGeom>
          <a:noFill/>
          <a:ln w="0">
            <a:noFill/>
            <a:prstDash val="solid"/>
          </a:ln>
        </p:spPr>
        <p:txBody>
          <a:bodyPr anchor="ctr"/>
          <a:lstStyle/>
          <a:p>
            <a:pPr algn="ctr">
              <a:buNone/>
              <a:defRPr sz="1450" b="1">
                <a:solidFill>
                  <a:srgbClr val="2563EB"/>
                </a:solidFill>
                <a:latin typeface="Calibri"/>
                <a:ea typeface="Calibri"/>
                <a:cs typeface="Calibri"/>
              </a:defRPr>
            </a:pPr>
            <a:r>
              <a:rPr sz="1450" b="1">
                <a:solidFill>
                  <a:srgbClr val="2563EB"/>
                </a:solidFill>
                <a:latin typeface="Calibri"/>
                <a:ea typeface="Calibri"/>
                <a:cs typeface="Calibri"/>
              </a:rPr>
              <a:t>b</a:t>
            </a:r>
            <a:endParaRPr/>
          </a:p>
        </p:txBody>
      </p:sp>
      <p:sp>
        <p:nvSpPr>
          <p:cNvPr id="2018228308" name=""/>
          <p:cNvSpPr>
            <a:spLocks noGrp="1"/>
          </p:cNvSpPr>
          <p:nvPr/>
        </p:nvSpPr>
        <p:spPr bwMode="auto">
          <a:xfrm>
            <a:off x="5762625" y="2438400"/>
            <a:ext cx="685800" cy="495300"/>
          </a:xfrm>
          <a:prstGeom prst="rect">
            <a:avLst/>
          </a:prstGeom>
          <a:solidFill>
            <a:srgbClr val="FFFFFF"/>
          </a:solidFill>
          <a:ln w="9525">
            <a:solidFill>
              <a:srgbClr val="CBD5E1"/>
            </a:solidFill>
            <a:prstDash val="solid"/>
          </a:ln>
        </p:spPr>
      </p:sp>
      <p:sp>
        <p:nvSpPr>
          <p:cNvPr id="501212678" name=""/>
          <p:cNvSpPr>
            <a:spLocks noGrp="1"/>
          </p:cNvSpPr>
          <p:nvPr/>
        </p:nvSpPr>
        <p:spPr bwMode="auto">
          <a:xfrm>
            <a:off x="5762625" y="2438400"/>
            <a:ext cx="685800" cy="495300"/>
          </a:xfrm>
          <a:prstGeom prst="rect">
            <a:avLst/>
          </a:prstGeom>
          <a:noFill/>
          <a:ln w="0">
            <a:noFill/>
            <a:prstDash val="solid"/>
          </a:ln>
        </p:spPr>
        <p:txBody>
          <a:bodyPr anchor="ctr"/>
          <a:lstStyle/>
          <a:p>
            <a:pPr algn="ctr">
              <a:buNone/>
              <a:defRPr sz="1650" b="1">
                <a:solidFill>
                  <a:srgbClr val="0B0F19"/>
                </a:solidFill>
                <a:latin typeface="Calibri"/>
                <a:ea typeface="Calibri"/>
                <a:cs typeface="Calibri"/>
              </a:defRPr>
            </a:pPr>
            <a:r>
              <a:rPr sz="1650" b="1">
                <a:solidFill>
                  <a:srgbClr val="0B0F19"/>
                </a:solidFill>
                <a:latin typeface="Calibri"/>
                <a:ea typeface="Calibri"/>
                <a:cs typeface="Calibri"/>
              </a:rPr>
              <a:t>0.1</a:t>
            </a:r>
            <a:endParaRPr/>
          </a:p>
        </p:txBody>
      </p:sp>
      <p:sp>
        <p:nvSpPr>
          <p:cNvPr id="1936098359" name=""/>
          <p:cNvSpPr>
            <a:spLocks noGrp="1"/>
          </p:cNvSpPr>
          <p:nvPr/>
        </p:nvSpPr>
        <p:spPr bwMode="auto">
          <a:xfrm>
            <a:off x="5762625" y="2933699"/>
            <a:ext cx="685800" cy="495300"/>
          </a:xfrm>
          <a:prstGeom prst="rect">
            <a:avLst/>
          </a:prstGeom>
          <a:solidFill>
            <a:srgbClr val="FFFFFF"/>
          </a:solidFill>
          <a:ln w="9525">
            <a:solidFill>
              <a:srgbClr val="CBD5E1"/>
            </a:solidFill>
            <a:prstDash val="solid"/>
          </a:ln>
        </p:spPr>
      </p:sp>
      <p:sp>
        <p:nvSpPr>
          <p:cNvPr id="1918561193" name=""/>
          <p:cNvSpPr>
            <a:spLocks noGrp="1"/>
          </p:cNvSpPr>
          <p:nvPr/>
        </p:nvSpPr>
        <p:spPr bwMode="auto">
          <a:xfrm>
            <a:off x="5762625" y="2933699"/>
            <a:ext cx="685800" cy="495300"/>
          </a:xfrm>
          <a:prstGeom prst="rect">
            <a:avLst/>
          </a:prstGeom>
          <a:noFill/>
          <a:ln w="0">
            <a:noFill/>
            <a:prstDash val="solid"/>
          </a:ln>
        </p:spPr>
        <p:txBody>
          <a:bodyPr anchor="ctr"/>
          <a:lstStyle/>
          <a:p>
            <a:pPr algn="ctr">
              <a:buNone/>
              <a:defRPr sz="1650" b="1">
                <a:solidFill>
                  <a:srgbClr val="0B0F19"/>
                </a:solidFill>
                <a:latin typeface="Calibri"/>
                <a:ea typeface="Calibri"/>
                <a:cs typeface="Calibri"/>
              </a:defRPr>
            </a:pPr>
            <a:r>
              <a:rPr sz="1650" b="1">
                <a:solidFill>
                  <a:srgbClr val="0B0F19"/>
                </a:solidFill>
                <a:latin typeface="Calibri"/>
                <a:ea typeface="Calibri"/>
                <a:cs typeface="Calibri"/>
              </a:rPr>
              <a:t>−0.2</a:t>
            </a:r>
            <a:endParaRPr/>
          </a:p>
        </p:txBody>
      </p:sp>
      <p:sp>
        <p:nvSpPr>
          <p:cNvPr id="433232461" name=""/>
          <p:cNvSpPr>
            <a:spLocks noGrp="1"/>
          </p:cNvSpPr>
          <p:nvPr/>
        </p:nvSpPr>
        <p:spPr bwMode="auto">
          <a:xfrm>
            <a:off x="6600825" y="2543175"/>
            <a:ext cx="438149" cy="933450"/>
          </a:xfrm>
          <a:prstGeom prst="rect">
            <a:avLst/>
          </a:prstGeom>
          <a:noFill/>
          <a:ln w="0">
            <a:noFill/>
            <a:prstDash val="solid"/>
          </a:ln>
        </p:spPr>
        <p:txBody>
          <a:bodyPr anchor="ctr"/>
          <a:lstStyle/>
          <a:p>
            <a:pPr algn="ctr">
              <a:buNone/>
              <a:defRPr sz="2250" b="1">
                <a:solidFill>
                  <a:srgbClr val="0B0F19"/>
                </a:solidFill>
                <a:latin typeface="Calibri"/>
                <a:ea typeface="Calibri"/>
                <a:cs typeface="Calibri"/>
              </a:defRPr>
            </a:pPr>
            <a:r>
              <a:rPr sz="2250" b="1">
                <a:solidFill>
                  <a:srgbClr val="0B0F19"/>
                </a:solidFill>
                <a:latin typeface="Calibri"/>
                <a:ea typeface="Calibri"/>
                <a:cs typeface="Calibri"/>
              </a:rPr>
              <a:t>=</a:t>
            </a:r>
            <a:endParaRPr/>
          </a:p>
        </p:txBody>
      </p:sp>
      <p:sp>
        <p:nvSpPr>
          <p:cNvPr id="348333594" name=""/>
          <p:cNvSpPr>
            <a:spLocks noGrp="1"/>
          </p:cNvSpPr>
          <p:nvPr/>
        </p:nvSpPr>
        <p:spPr bwMode="auto">
          <a:xfrm>
            <a:off x="7353300" y="1971675"/>
            <a:ext cx="685800" cy="285750"/>
          </a:xfrm>
          <a:prstGeom prst="rect">
            <a:avLst/>
          </a:prstGeom>
          <a:noFill/>
          <a:ln w="0">
            <a:noFill/>
            <a:prstDash val="solid"/>
          </a:ln>
        </p:spPr>
        <p:txBody>
          <a:bodyPr anchor="ctr"/>
          <a:lstStyle/>
          <a:p>
            <a:pPr algn="ctr">
              <a:buNone/>
              <a:defRPr sz="1450" b="1">
                <a:solidFill>
                  <a:srgbClr val="2563EB"/>
                </a:solidFill>
                <a:latin typeface="Calibri"/>
                <a:ea typeface="Calibri"/>
                <a:cs typeface="Calibri"/>
              </a:defRPr>
            </a:pPr>
            <a:r>
              <a:rPr sz="1450" b="1">
                <a:solidFill>
                  <a:srgbClr val="2563EB"/>
                </a:solidFill>
                <a:latin typeface="Calibri"/>
                <a:ea typeface="Calibri"/>
                <a:cs typeface="Calibri"/>
              </a:rPr>
              <a:t>z</a:t>
            </a:r>
            <a:endParaRPr/>
          </a:p>
        </p:txBody>
      </p:sp>
      <p:sp>
        <p:nvSpPr>
          <p:cNvPr id="1936097751" name=""/>
          <p:cNvSpPr>
            <a:spLocks noGrp="1"/>
          </p:cNvSpPr>
          <p:nvPr/>
        </p:nvSpPr>
        <p:spPr bwMode="auto">
          <a:xfrm>
            <a:off x="7353300" y="2438400"/>
            <a:ext cx="685800" cy="495300"/>
          </a:xfrm>
          <a:prstGeom prst="rect">
            <a:avLst/>
          </a:prstGeom>
          <a:solidFill>
            <a:srgbClr val="DBEAFE"/>
          </a:solidFill>
          <a:ln w="9525">
            <a:solidFill>
              <a:srgbClr val="CBD5E1"/>
            </a:solidFill>
            <a:prstDash val="solid"/>
          </a:ln>
        </p:spPr>
      </p:sp>
      <p:sp>
        <p:nvSpPr>
          <p:cNvPr id="1238464080" name=""/>
          <p:cNvSpPr>
            <a:spLocks noGrp="1"/>
          </p:cNvSpPr>
          <p:nvPr/>
        </p:nvSpPr>
        <p:spPr bwMode="auto">
          <a:xfrm>
            <a:off x="7353300" y="2438400"/>
            <a:ext cx="685800" cy="495300"/>
          </a:xfrm>
          <a:prstGeom prst="rect">
            <a:avLst/>
          </a:prstGeom>
          <a:noFill/>
          <a:ln w="0">
            <a:noFill/>
            <a:prstDash val="solid"/>
          </a:ln>
        </p:spPr>
        <p:txBody>
          <a:bodyPr anchor="ctr"/>
          <a:lstStyle/>
          <a:p>
            <a:pPr algn="ctr">
              <a:buNone/>
              <a:defRPr sz="1650" b="1">
                <a:solidFill>
                  <a:srgbClr val="0B0F19"/>
                </a:solidFill>
                <a:latin typeface="Calibri"/>
                <a:ea typeface="Calibri"/>
                <a:cs typeface="Calibri"/>
              </a:defRPr>
            </a:pPr>
            <a:r>
              <a:rPr sz="1650" b="1">
                <a:solidFill>
                  <a:srgbClr val="0B0F19"/>
                </a:solidFill>
                <a:latin typeface="Calibri"/>
                <a:ea typeface="Calibri"/>
                <a:cs typeface="Calibri"/>
              </a:rPr>
              <a:t>0.1</a:t>
            </a:r>
            <a:endParaRPr/>
          </a:p>
        </p:txBody>
      </p:sp>
      <p:sp>
        <p:nvSpPr>
          <p:cNvPr id="3266000" name=""/>
          <p:cNvSpPr>
            <a:spLocks noGrp="1"/>
          </p:cNvSpPr>
          <p:nvPr/>
        </p:nvSpPr>
        <p:spPr bwMode="auto">
          <a:xfrm>
            <a:off x="7353300" y="2933699"/>
            <a:ext cx="685800" cy="495300"/>
          </a:xfrm>
          <a:prstGeom prst="rect">
            <a:avLst/>
          </a:prstGeom>
          <a:solidFill>
            <a:srgbClr val="D1FAE5"/>
          </a:solidFill>
          <a:ln w="9525">
            <a:solidFill>
              <a:srgbClr val="CBD5E1"/>
            </a:solidFill>
            <a:prstDash val="solid"/>
          </a:ln>
        </p:spPr>
      </p:sp>
      <p:sp>
        <p:nvSpPr>
          <p:cNvPr id="1370797598" name=""/>
          <p:cNvSpPr>
            <a:spLocks noGrp="1"/>
          </p:cNvSpPr>
          <p:nvPr/>
        </p:nvSpPr>
        <p:spPr bwMode="auto">
          <a:xfrm>
            <a:off x="7353300" y="2933699"/>
            <a:ext cx="685800" cy="495300"/>
          </a:xfrm>
          <a:prstGeom prst="rect">
            <a:avLst/>
          </a:prstGeom>
          <a:noFill/>
          <a:ln w="0">
            <a:noFill/>
            <a:prstDash val="solid"/>
          </a:ln>
        </p:spPr>
        <p:txBody>
          <a:bodyPr anchor="ctr"/>
          <a:lstStyle/>
          <a:p>
            <a:pPr algn="ctr">
              <a:buNone/>
              <a:defRPr sz="1650" b="1">
                <a:solidFill>
                  <a:srgbClr val="0B0F19"/>
                </a:solidFill>
                <a:latin typeface="Calibri"/>
                <a:ea typeface="Calibri"/>
                <a:cs typeface="Calibri"/>
              </a:defRPr>
            </a:pPr>
            <a:r>
              <a:rPr sz="1650" b="1">
                <a:solidFill>
                  <a:srgbClr val="0B0F19"/>
                </a:solidFill>
                <a:latin typeface="Calibri"/>
                <a:ea typeface="Calibri"/>
                <a:cs typeface="Calibri"/>
              </a:rPr>
              <a:t>1.3</a:t>
            </a:r>
            <a:endParaRPr/>
          </a:p>
        </p:txBody>
      </p:sp>
      <p:sp>
        <p:nvSpPr>
          <p:cNvPr id="1395113878" name=""/>
          <p:cNvSpPr>
            <a:spLocks noGrp="1"/>
          </p:cNvSpPr>
          <p:nvPr/>
        </p:nvSpPr>
        <p:spPr bwMode="auto">
          <a:xfrm>
            <a:off x="8743950" y="2028825"/>
            <a:ext cx="2000250" cy="266700"/>
          </a:xfrm>
          <a:prstGeom prst="rect">
            <a:avLst/>
          </a:prstGeom>
          <a:noFill/>
          <a:ln w="0">
            <a:noFill/>
            <a:prstDash val="solid"/>
          </a:ln>
        </p:spPr>
        <p:txBody>
          <a:bodyPr anchor="ctr"/>
          <a:lstStyle/>
          <a:p>
            <a:pPr algn="ctr">
              <a:buNone/>
              <a:defRPr sz="1350" b="1">
                <a:solidFill>
                  <a:srgbClr val="2563EB"/>
                </a:solidFill>
                <a:latin typeface="Calibri"/>
                <a:ea typeface="Calibri"/>
                <a:cs typeface="Calibri"/>
              </a:defRPr>
            </a:pPr>
            <a:r>
              <a:rPr sz="1350" b="1">
                <a:solidFill>
                  <a:srgbClr val="2563EB"/>
                </a:solidFill>
                <a:latin typeface="Calibri"/>
                <a:ea typeface="Calibri"/>
                <a:cs typeface="Calibri"/>
              </a:rPr>
              <a:t>hidden neuron 1</a:t>
            </a:r>
            <a:endParaRPr/>
          </a:p>
        </p:txBody>
      </p:sp>
      <p:sp>
        <p:nvSpPr>
          <p:cNvPr id="468329988" name=""/>
          <p:cNvSpPr>
            <a:spLocks noGrp="1"/>
          </p:cNvSpPr>
          <p:nvPr/>
        </p:nvSpPr>
        <p:spPr bwMode="auto">
          <a:xfrm>
            <a:off x="9391650" y="2428875"/>
            <a:ext cx="704850" cy="704850"/>
          </a:xfrm>
          <a:prstGeom prst="roundRect">
            <a:avLst>
              <a:gd name="adj" fmla="val 16216"/>
            </a:avLst>
          </a:prstGeom>
          <a:solidFill>
            <a:srgbClr val="DBEAFE"/>
          </a:solidFill>
          <a:ln w="9525">
            <a:solidFill>
              <a:srgbClr val="2563EB"/>
            </a:solidFill>
            <a:prstDash val="solid"/>
          </a:ln>
        </p:spPr>
      </p:sp>
      <p:sp>
        <p:nvSpPr>
          <p:cNvPr id="194191489" name=""/>
          <p:cNvSpPr>
            <a:spLocks noGrp="1"/>
          </p:cNvSpPr>
          <p:nvPr/>
        </p:nvSpPr>
        <p:spPr bwMode="auto">
          <a:xfrm>
            <a:off x="9391650" y="2428875"/>
            <a:ext cx="704850" cy="704850"/>
          </a:xfrm>
          <a:prstGeom prst="rect">
            <a:avLst/>
          </a:prstGeom>
          <a:noFill/>
          <a:ln w="0">
            <a:noFill/>
            <a:prstDash val="solid"/>
          </a:ln>
        </p:spPr>
        <p:txBody>
          <a:bodyPr anchor="ctr"/>
          <a:lstStyle/>
          <a:p>
            <a:pPr algn="ctr">
              <a:buNone/>
              <a:defRPr sz="1900" b="1">
                <a:solidFill>
                  <a:srgbClr val="2563EB"/>
                </a:solidFill>
                <a:latin typeface="Calibri"/>
                <a:ea typeface="Calibri"/>
                <a:cs typeface="Calibri"/>
              </a:defRPr>
            </a:pPr>
            <a:r>
              <a:rPr sz="1900" b="1">
                <a:solidFill>
                  <a:srgbClr val="2563EB"/>
                </a:solidFill>
                <a:latin typeface="Calibri"/>
                <a:ea typeface="Calibri"/>
                <a:cs typeface="Calibri"/>
              </a:rPr>
              <a:t>z₁</a:t>
            </a:r>
            <a:endParaRPr/>
          </a:p>
        </p:txBody>
      </p:sp>
      <p:sp>
        <p:nvSpPr>
          <p:cNvPr id="1259048862" name=""/>
          <p:cNvSpPr>
            <a:spLocks noGrp="1"/>
          </p:cNvSpPr>
          <p:nvPr/>
        </p:nvSpPr>
        <p:spPr bwMode="auto">
          <a:xfrm>
            <a:off x="8743950" y="3333750"/>
            <a:ext cx="2000250" cy="266700"/>
          </a:xfrm>
          <a:prstGeom prst="rect">
            <a:avLst/>
          </a:prstGeom>
          <a:noFill/>
          <a:ln w="0">
            <a:noFill/>
            <a:prstDash val="solid"/>
          </a:ln>
        </p:spPr>
        <p:txBody>
          <a:bodyPr anchor="ctr"/>
          <a:lstStyle/>
          <a:p>
            <a:pPr algn="ctr">
              <a:buNone/>
              <a:defRPr sz="1350" b="1">
                <a:solidFill>
                  <a:srgbClr val="059669"/>
                </a:solidFill>
                <a:latin typeface="Calibri"/>
                <a:ea typeface="Calibri"/>
                <a:cs typeface="Calibri"/>
              </a:defRPr>
            </a:pPr>
            <a:r>
              <a:rPr sz="1350" b="1">
                <a:solidFill>
                  <a:srgbClr val="059669"/>
                </a:solidFill>
                <a:latin typeface="Calibri"/>
                <a:ea typeface="Calibri"/>
                <a:cs typeface="Calibri"/>
              </a:rPr>
              <a:t>hidden neuron 2</a:t>
            </a:r>
            <a:endParaRPr/>
          </a:p>
        </p:txBody>
      </p:sp>
      <p:sp>
        <p:nvSpPr>
          <p:cNvPr id="384074966" name=""/>
          <p:cNvSpPr>
            <a:spLocks noGrp="1"/>
          </p:cNvSpPr>
          <p:nvPr/>
        </p:nvSpPr>
        <p:spPr bwMode="auto">
          <a:xfrm>
            <a:off x="9391650" y="3733800"/>
            <a:ext cx="704850" cy="704850"/>
          </a:xfrm>
          <a:prstGeom prst="roundRect">
            <a:avLst>
              <a:gd name="adj" fmla="val 16216"/>
            </a:avLst>
          </a:prstGeom>
          <a:solidFill>
            <a:srgbClr val="D1FAE5"/>
          </a:solidFill>
          <a:ln w="9525">
            <a:solidFill>
              <a:srgbClr val="059669"/>
            </a:solidFill>
            <a:prstDash val="solid"/>
          </a:ln>
        </p:spPr>
      </p:sp>
      <p:sp>
        <p:nvSpPr>
          <p:cNvPr id="1089496264" name=""/>
          <p:cNvSpPr>
            <a:spLocks noGrp="1"/>
          </p:cNvSpPr>
          <p:nvPr/>
        </p:nvSpPr>
        <p:spPr bwMode="auto">
          <a:xfrm>
            <a:off x="9391650" y="3733800"/>
            <a:ext cx="704850" cy="704850"/>
          </a:xfrm>
          <a:prstGeom prst="rect">
            <a:avLst/>
          </a:prstGeom>
          <a:noFill/>
          <a:ln w="0">
            <a:noFill/>
            <a:prstDash val="solid"/>
          </a:ln>
        </p:spPr>
        <p:txBody>
          <a:bodyPr anchor="ctr"/>
          <a:lstStyle/>
          <a:p>
            <a:pPr algn="ctr">
              <a:buNone/>
              <a:defRPr sz="1900" b="1">
                <a:solidFill>
                  <a:srgbClr val="059669"/>
                </a:solidFill>
                <a:latin typeface="Calibri"/>
                <a:ea typeface="Calibri"/>
                <a:cs typeface="Calibri"/>
              </a:defRPr>
            </a:pPr>
            <a:r>
              <a:rPr sz="1900" b="1">
                <a:solidFill>
                  <a:srgbClr val="059669"/>
                </a:solidFill>
                <a:latin typeface="Calibri"/>
                <a:ea typeface="Calibri"/>
                <a:cs typeface="Calibri"/>
              </a:rPr>
              <a:t>z₂</a:t>
            </a:r>
            <a:endParaRPr/>
          </a:p>
        </p:txBody>
      </p:sp>
      <p:sp>
        <p:nvSpPr>
          <p:cNvPr id="918652309" name=""/>
          <p:cNvSpPr>
            <a:spLocks noGrp="1"/>
          </p:cNvSpPr>
          <p:nvPr/>
        </p:nvSpPr>
        <p:spPr bwMode="auto">
          <a:xfrm>
            <a:off x="1219200" y="4095750"/>
            <a:ext cx="6762750" cy="381000"/>
          </a:xfrm>
          <a:prstGeom prst="rect">
            <a:avLst/>
          </a:prstGeom>
          <a:noFill/>
          <a:ln w="0">
            <a:noFill/>
            <a:prstDash val="solid"/>
          </a:ln>
        </p:spPr>
        <p:txBody>
          <a:bodyPr anchor="ctr"/>
          <a:lstStyle/>
          <a:p>
            <a:pPr algn="l">
              <a:buNone/>
              <a:defRPr sz="1600" b="1">
                <a:solidFill>
                  <a:srgbClr val="2563EB"/>
                </a:solidFill>
                <a:latin typeface="Calibri"/>
                <a:ea typeface="Calibri"/>
                <a:cs typeface="Calibri"/>
              </a:defRPr>
            </a:pPr>
            <a:r>
              <a:rPr sz="1600" b="1">
                <a:solidFill>
                  <a:srgbClr val="2563EB"/>
                </a:solidFill>
                <a:latin typeface="Calibri"/>
                <a:ea typeface="Calibri"/>
                <a:cs typeface="Calibri"/>
              </a:rPr>
              <a:t>Row 1 → z₁ = 0.2·2 + (−0.4)·1 + 0.1 = 0.1</a:t>
            </a:r>
            <a:endParaRPr/>
          </a:p>
        </p:txBody>
      </p:sp>
      <p:sp>
        <p:nvSpPr>
          <p:cNvPr id="1727548027" name=""/>
          <p:cNvSpPr>
            <a:spLocks noGrp="1"/>
          </p:cNvSpPr>
          <p:nvPr/>
        </p:nvSpPr>
        <p:spPr bwMode="auto">
          <a:xfrm>
            <a:off x="1219200" y="4572000"/>
            <a:ext cx="6762750" cy="381000"/>
          </a:xfrm>
          <a:prstGeom prst="rect">
            <a:avLst/>
          </a:prstGeom>
          <a:noFill/>
          <a:ln w="0">
            <a:noFill/>
            <a:prstDash val="solid"/>
          </a:ln>
        </p:spPr>
        <p:txBody>
          <a:bodyPr anchor="ctr"/>
          <a:lstStyle/>
          <a:p>
            <a:pPr algn="l">
              <a:buNone/>
              <a:defRPr sz="1600" b="1">
                <a:solidFill>
                  <a:srgbClr val="059669"/>
                </a:solidFill>
                <a:latin typeface="Calibri"/>
                <a:ea typeface="Calibri"/>
                <a:cs typeface="Calibri"/>
              </a:defRPr>
            </a:pPr>
            <a:r>
              <a:rPr sz="1600" b="1">
                <a:solidFill>
                  <a:srgbClr val="059669"/>
                </a:solidFill>
                <a:latin typeface="Calibri"/>
                <a:ea typeface="Calibri"/>
                <a:cs typeface="Calibri"/>
              </a:rPr>
              <a:t>Row 2 → z₂ = 0.7·2 + 0.1·1 − 0.2 = 1.3</a:t>
            </a:r>
            <a:endParaRPr/>
          </a:p>
        </p:txBody>
      </p:sp>
      <p:sp>
        <p:nvSpPr>
          <p:cNvPr id="119361047" name=""/>
          <p:cNvSpPr>
            <a:spLocks noGrp="1"/>
          </p:cNvSpPr>
          <p:nvPr/>
        </p:nvSpPr>
        <p:spPr bwMode="auto">
          <a:xfrm>
            <a:off x="1143000" y="5362575"/>
            <a:ext cx="9525000" cy="285750"/>
          </a:xfrm>
          <a:prstGeom prst="rect">
            <a:avLst/>
          </a:prstGeom>
          <a:noFill/>
          <a:ln w="0">
            <a:noFill/>
            <a:prstDash val="solid"/>
          </a:ln>
        </p:spPr>
        <p:txBody>
          <a:bodyPr anchor="ctr"/>
          <a:lstStyle/>
          <a:p>
            <a:pPr algn="ctr">
              <a:buNone/>
              <a:defRPr sz="1450" b="1">
                <a:solidFill>
                  <a:srgbClr val="0B0F19"/>
                </a:solidFill>
                <a:latin typeface="Calibri"/>
                <a:ea typeface="Calibri"/>
                <a:cs typeface="Calibri"/>
              </a:defRPr>
            </a:pPr>
            <a:r>
              <a:rPr sz="1450" b="1">
                <a:solidFill>
                  <a:srgbClr val="0B0F19"/>
                </a:solidFill>
                <a:latin typeface="Calibri"/>
                <a:ea typeface="Calibri"/>
                <a:cs typeface="Calibri"/>
              </a:rPr>
              <a:t>One row of W contains all weights entering one hidden neuron.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34851991" name=""/>
          <p:cNvSpPr>
            <a:spLocks noGrp="1"/>
          </p:cNvSpPr>
          <p:nvPr/>
        </p:nvSpPr>
        <p:spPr bwMode="auto">
          <a:xfrm>
            <a:off x="0" y="0"/>
            <a:ext cx="12192000" cy="6858000"/>
          </a:xfrm>
          <a:prstGeom prst="rect">
            <a:avLst/>
          </a:prstGeom>
          <a:solidFill>
            <a:srgbClr val="FFFFFF"/>
          </a:solidFill>
          <a:ln w="0">
            <a:noFill/>
            <a:prstDash val="solid"/>
          </a:ln>
        </p:spPr>
      </p:sp>
      <p:sp>
        <p:nvSpPr>
          <p:cNvPr id="479021827" name=""/>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Vision</a:t>
            </a:r>
            <a:endParaRPr/>
          </a:p>
        </p:txBody>
      </p:sp>
      <p:sp>
        <p:nvSpPr>
          <p:cNvPr id="1978977910" name=""/>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latin typeface="Calibri"/>
                <a:ea typeface="Calibri"/>
                <a:cs typeface="Calibri"/>
              </a:defRPr>
            </a:pPr>
            <a:r>
              <a:rPr sz="3000" b="1">
                <a:solidFill>
                  <a:srgbClr val="0B0F19"/>
                </a:solidFill>
                <a:latin typeface="Calibri"/>
                <a:ea typeface="Calibri"/>
                <a:cs typeface="Calibri"/>
              </a:rPr>
              <a:t>CNNs reuse filters to find local patterns</a:t>
            </a:r>
            <a:endParaRPr/>
          </a:p>
        </p:txBody>
      </p:sp>
      <p:pic>
        <p:nvPicPr>
          <p:cNvPr id="515916085" name=""/>
          <p:cNvPicPr>
            <a:picLocks noChangeAspect="1"/>
          </p:cNvPicPr>
          <p:nvPr/>
        </p:nvPicPr>
        <p:blipFill rotWithShape="1">
          <a:blip r:embed="rId3"/>
          <a:stretch/>
        </p:blipFill>
        <p:spPr bwMode="auto">
          <a:xfrm>
            <a:off x="1181505" y="1571625"/>
            <a:ext cx="9828989" cy="4619625"/>
          </a:xfrm>
          <a:prstGeom prst="rect">
            <a:avLst/>
          </a:prstGeom>
        </p:spPr>
      </p:pic>
      <p:sp>
        <p:nvSpPr>
          <p:cNvPr id="2015264449" name=""/>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25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707212893" name=""/>
          <p:cNvSpPr>
            <a:spLocks noGrp="1"/>
          </p:cNvSpPr>
          <p:nvPr/>
        </p:nvSpPr>
        <p:spPr bwMode="auto">
          <a:xfrm>
            <a:off x="0" y="0"/>
            <a:ext cx="12192000" cy="6858000"/>
          </a:xfrm>
          <a:prstGeom prst="rect">
            <a:avLst/>
          </a:prstGeom>
          <a:solidFill>
            <a:srgbClr val="FFFFFF"/>
          </a:solidFill>
          <a:ln w="0">
            <a:noFill/>
            <a:prstDash val="solid"/>
          </a:ln>
        </p:spPr>
      </p:sp>
      <p:sp>
        <p:nvSpPr>
          <p:cNvPr id="5570926" name=""/>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Vision</a:t>
            </a:r>
            <a:endParaRPr/>
          </a:p>
        </p:txBody>
      </p:sp>
      <p:sp>
        <p:nvSpPr>
          <p:cNvPr id="926875630" name=""/>
          <p:cNvSpPr>
            <a:spLocks noGrp="1"/>
          </p:cNvSpPr>
          <p:nvPr/>
        </p:nvSpPr>
        <p:spPr bwMode="auto">
          <a:xfrm>
            <a:off x="609600" y="590549"/>
            <a:ext cx="10287000" cy="590549"/>
          </a:xfrm>
          <a:prstGeom prst="rect">
            <a:avLst/>
          </a:prstGeom>
          <a:noFill/>
          <a:ln w="0">
            <a:noFill/>
            <a:prstDash val="solid"/>
          </a:ln>
        </p:spPr>
        <p:txBody>
          <a:bodyPr anchor="ctr"/>
          <a:lstStyle/>
          <a:p>
            <a:pPr algn="l">
              <a:buNone/>
              <a:defRPr sz="2700" b="1">
                <a:solidFill>
                  <a:srgbClr val="0B0F19"/>
                </a:solidFill>
                <a:latin typeface="Calibri"/>
                <a:ea typeface="Calibri"/>
                <a:cs typeface="Calibri"/>
              </a:defRPr>
            </a:pPr>
            <a:r>
              <a:rPr sz="2700" b="1">
                <a:solidFill>
                  <a:srgbClr val="0B0F19"/>
                </a:solidFill>
                <a:latin typeface="Calibri"/>
                <a:ea typeface="Calibri"/>
                <a:cs typeface="Calibri"/>
              </a:rPr>
              <a:t>CNNs detect local patterns in images</a:t>
            </a:r>
            <a:endParaRPr/>
          </a:p>
        </p:txBody>
      </p:sp>
      <p:sp>
        <p:nvSpPr>
          <p:cNvPr id="265467360" name=""/>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26</a:t>
            </a:r>
            <a:endParaRPr/>
          </a:p>
        </p:txBody>
      </p:sp>
      <p:sp>
        <p:nvSpPr>
          <p:cNvPr id="1467988730" name=""/>
          <p:cNvSpPr>
            <a:spLocks noGrp="1"/>
          </p:cNvSpPr>
          <p:nvPr/>
        </p:nvSpPr>
        <p:spPr bwMode="auto">
          <a:xfrm>
            <a:off x="704850" y="1257300"/>
            <a:ext cx="10668000" cy="285750"/>
          </a:xfrm>
          <a:prstGeom prst="rect">
            <a:avLst/>
          </a:prstGeom>
          <a:noFill/>
          <a:ln w="0">
            <a:noFill/>
            <a:prstDash val="solid"/>
          </a:ln>
        </p:spPr>
        <p:txBody>
          <a:bodyPr anchor="ctr"/>
          <a:lstStyle/>
          <a:p>
            <a:pPr algn="l">
              <a:buNone/>
              <a:defRPr sz="1450" b="0">
                <a:solidFill>
                  <a:srgbClr val="667085"/>
                </a:solidFill>
                <a:latin typeface="Calibri"/>
                <a:ea typeface="Calibri"/>
                <a:cs typeface="Calibri"/>
              </a:defRPr>
            </a:pPr>
            <a:r>
              <a:rPr sz="1450" b="0">
                <a:solidFill>
                  <a:srgbClr val="667085"/>
                </a:solidFill>
                <a:latin typeface="Calibri"/>
                <a:ea typeface="Calibri"/>
                <a:cs typeface="Calibri"/>
              </a:rPr>
              <a:t>Use: vision tasks such as image classification, object detection, and segmentation.</a:t>
            </a:r>
            <a:endParaRPr/>
          </a:p>
        </p:txBody>
      </p:sp>
      <p:sp>
        <p:nvSpPr>
          <p:cNvPr id="977157621" name=""/>
          <p:cNvSpPr>
            <a:spLocks noGrp="1"/>
          </p:cNvSpPr>
          <p:nvPr/>
        </p:nvSpPr>
        <p:spPr bwMode="auto">
          <a:xfrm>
            <a:off x="742950" y="1924050"/>
            <a:ext cx="3448050" cy="3105150"/>
          </a:xfrm>
          <a:prstGeom prst="roundRect">
            <a:avLst>
              <a:gd name="adj" fmla="val 3681"/>
            </a:avLst>
          </a:prstGeom>
          <a:solidFill>
            <a:srgbClr val="F8FAFC"/>
          </a:solidFill>
          <a:ln w="9525">
            <a:solidFill>
              <a:srgbClr val="CBD5E1"/>
            </a:solidFill>
            <a:prstDash val="solid"/>
          </a:ln>
        </p:spPr>
      </p:sp>
      <p:sp>
        <p:nvSpPr>
          <p:cNvPr id="1876551930" name=""/>
          <p:cNvSpPr>
            <a:spLocks noGrp="1"/>
          </p:cNvSpPr>
          <p:nvPr/>
        </p:nvSpPr>
        <p:spPr bwMode="auto">
          <a:xfrm>
            <a:off x="990600" y="2133600"/>
            <a:ext cx="2952750" cy="323850"/>
          </a:xfrm>
          <a:prstGeom prst="rect">
            <a:avLst/>
          </a:prstGeom>
          <a:noFill/>
          <a:ln w="0">
            <a:noFill/>
            <a:prstDash val="solid"/>
          </a:ln>
        </p:spPr>
        <p:txBody>
          <a:bodyPr anchor="ctr"/>
          <a:lstStyle/>
          <a:p>
            <a:pPr algn="l">
              <a:buNone/>
              <a:defRPr sz="1600" b="1">
                <a:solidFill>
                  <a:srgbClr val="0B0F19"/>
                </a:solidFill>
                <a:latin typeface="Calibri"/>
                <a:ea typeface="Calibri"/>
                <a:cs typeface="Calibri"/>
              </a:defRPr>
            </a:pPr>
            <a:r>
              <a:rPr sz="1600" b="1">
                <a:solidFill>
                  <a:srgbClr val="0B0F19"/>
                </a:solidFill>
                <a:latin typeface="Calibri"/>
                <a:ea typeface="Calibri"/>
                <a:cs typeface="Calibri"/>
              </a:rPr>
              <a:t>A small filter slides across the image</a:t>
            </a:r>
            <a:endParaRPr/>
          </a:p>
        </p:txBody>
      </p:sp>
      <p:sp>
        <p:nvSpPr>
          <p:cNvPr id="147356607" name=""/>
          <p:cNvSpPr>
            <a:spLocks noGrp="1"/>
          </p:cNvSpPr>
          <p:nvPr/>
        </p:nvSpPr>
        <p:spPr bwMode="auto">
          <a:xfrm>
            <a:off x="1190625" y="2733675"/>
            <a:ext cx="361950" cy="361950"/>
          </a:xfrm>
          <a:prstGeom prst="rect">
            <a:avLst/>
          </a:prstGeom>
          <a:solidFill>
            <a:srgbClr val="DCE8FF"/>
          </a:solidFill>
          <a:ln w="9525">
            <a:solidFill>
              <a:srgbClr val="FFFFFF"/>
            </a:solidFill>
            <a:prstDash val="solid"/>
          </a:ln>
        </p:spPr>
      </p:sp>
      <p:sp>
        <p:nvSpPr>
          <p:cNvPr id="2124479603" name=""/>
          <p:cNvSpPr>
            <a:spLocks noGrp="1"/>
          </p:cNvSpPr>
          <p:nvPr/>
        </p:nvSpPr>
        <p:spPr bwMode="auto">
          <a:xfrm>
            <a:off x="1609724" y="2733675"/>
            <a:ext cx="361950" cy="361950"/>
          </a:xfrm>
          <a:prstGeom prst="rect">
            <a:avLst/>
          </a:prstGeom>
          <a:solidFill>
            <a:srgbClr val="DCE8FF"/>
          </a:solidFill>
          <a:ln w="9525">
            <a:solidFill>
              <a:srgbClr val="FFFFFF"/>
            </a:solidFill>
            <a:prstDash val="solid"/>
          </a:ln>
        </p:spPr>
      </p:sp>
      <p:sp>
        <p:nvSpPr>
          <p:cNvPr id="1422142784" name=""/>
          <p:cNvSpPr>
            <a:spLocks noGrp="1"/>
          </p:cNvSpPr>
          <p:nvPr/>
        </p:nvSpPr>
        <p:spPr bwMode="auto">
          <a:xfrm>
            <a:off x="2028825" y="2733675"/>
            <a:ext cx="361950" cy="361950"/>
          </a:xfrm>
          <a:prstGeom prst="rect">
            <a:avLst/>
          </a:prstGeom>
          <a:solidFill>
            <a:srgbClr val="2563EB"/>
          </a:solidFill>
          <a:ln w="9525">
            <a:solidFill>
              <a:srgbClr val="FFFFFF"/>
            </a:solidFill>
            <a:prstDash val="solid"/>
          </a:ln>
        </p:spPr>
      </p:sp>
      <p:sp>
        <p:nvSpPr>
          <p:cNvPr id="823330126" name=""/>
          <p:cNvSpPr>
            <a:spLocks noGrp="1"/>
          </p:cNvSpPr>
          <p:nvPr/>
        </p:nvSpPr>
        <p:spPr bwMode="auto">
          <a:xfrm>
            <a:off x="1190625" y="3152775"/>
            <a:ext cx="361950" cy="361950"/>
          </a:xfrm>
          <a:prstGeom prst="rect">
            <a:avLst/>
          </a:prstGeom>
          <a:solidFill>
            <a:srgbClr val="DCE8FF"/>
          </a:solidFill>
          <a:ln w="9525">
            <a:solidFill>
              <a:srgbClr val="FFFFFF"/>
            </a:solidFill>
            <a:prstDash val="solid"/>
          </a:ln>
        </p:spPr>
      </p:sp>
      <p:sp>
        <p:nvSpPr>
          <p:cNvPr id="1922826062" name=""/>
          <p:cNvSpPr>
            <a:spLocks noGrp="1"/>
          </p:cNvSpPr>
          <p:nvPr/>
        </p:nvSpPr>
        <p:spPr bwMode="auto">
          <a:xfrm>
            <a:off x="1609724" y="3152775"/>
            <a:ext cx="361950" cy="361950"/>
          </a:xfrm>
          <a:prstGeom prst="rect">
            <a:avLst/>
          </a:prstGeom>
          <a:solidFill>
            <a:srgbClr val="2563EB"/>
          </a:solidFill>
          <a:ln w="9525">
            <a:solidFill>
              <a:srgbClr val="FFFFFF"/>
            </a:solidFill>
            <a:prstDash val="solid"/>
          </a:ln>
        </p:spPr>
      </p:sp>
      <p:sp>
        <p:nvSpPr>
          <p:cNvPr id="563511595" name=""/>
          <p:cNvSpPr>
            <a:spLocks noGrp="1"/>
          </p:cNvSpPr>
          <p:nvPr/>
        </p:nvSpPr>
        <p:spPr bwMode="auto">
          <a:xfrm>
            <a:off x="2028825" y="3152775"/>
            <a:ext cx="361950" cy="361950"/>
          </a:xfrm>
          <a:prstGeom prst="rect">
            <a:avLst/>
          </a:prstGeom>
          <a:solidFill>
            <a:srgbClr val="DCE8FF"/>
          </a:solidFill>
          <a:ln w="9525">
            <a:solidFill>
              <a:srgbClr val="FFFFFF"/>
            </a:solidFill>
            <a:prstDash val="solid"/>
          </a:ln>
        </p:spPr>
      </p:sp>
      <p:sp>
        <p:nvSpPr>
          <p:cNvPr id="594903218" name=""/>
          <p:cNvSpPr>
            <a:spLocks noGrp="1"/>
          </p:cNvSpPr>
          <p:nvPr/>
        </p:nvSpPr>
        <p:spPr bwMode="auto">
          <a:xfrm>
            <a:off x="1190625" y="3571875"/>
            <a:ext cx="361950" cy="361950"/>
          </a:xfrm>
          <a:prstGeom prst="rect">
            <a:avLst/>
          </a:prstGeom>
          <a:solidFill>
            <a:srgbClr val="DCE8FF"/>
          </a:solidFill>
          <a:ln w="9525">
            <a:solidFill>
              <a:srgbClr val="FFFFFF"/>
            </a:solidFill>
            <a:prstDash val="solid"/>
          </a:ln>
        </p:spPr>
      </p:sp>
      <p:sp>
        <p:nvSpPr>
          <p:cNvPr id="1325143309" name=""/>
          <p:cNvSpPr>
            <a:spLocks noGrp="1"/>
          </p:cNvSpPr>
          <p:nvPr/>
        </p:nvSpPr>
        <p:spPr bwMode="auto">
          <a:xfrm>
            <a:off x="1609724" y="3571875"/>
            <a:ext cx="361950" cy="361950"/>
          </a:xfrm>
          <a:prstGeom prst="rect">
            <a:avLst/>
          </a:prstGeom>
          <a:solidFill>
            <a:srgbClr val="DCE8FF"/>
          </a:solidFill>
          <a:ln w="9525">
            <a:solidFill>
              <a:srgbClr val="FFFFFF"/>
            </a:solidFill>
            <a:prstDash val="solid"/>
          </a:ln>
        </p:spPr>
      </p:sp>
      <p:sp>
        <p:nvSpPr>
          <p:cNvPr id="356973150" name=""/>
          <p:cNvSpPr>
            <a:spLocks noGrp="1"/>
          </p:cNvSpPr>
          <p:nvPr/>
        </p:nvSpPr>
        <p:spPr bwMode="auto">
          <a:xfrm>
            <a:off x="2028825" y="3571875"/>
            <a:ext cx="361950" cy="361950"/>
          </a:xfrm>
          <a:prstGeom prst="rect">
            <a:avLst/>
          </a:prstGeom>
          <a:solidFill>
            <a:srgbClr val="DCE8FF"/>
          </a:solidFill>
          <a:ln w="9525">
            <a:solidFill>
              <a:srgbClr val="FFFFFF"/>
            </a:solidFill>
            <a:prstDash val="solid"/>
          </a:ln>
        </p:spPr>
      </p:sp>
      <p:sp>
        <p:nvSpPr>
          <p:cNvPr id="1042048119" name=""/>
          <p:cNvSpPr>
            <a:spLocks noGrp="1"/>
          </p:cNvSpPr>
          <p:nvPr/>
        </p:nvSpPr>
        <p:spPr bwMode="auto">
          <a:xfrm>
            <a:off x="1238250" y="4076699"/>
            <a:ext cx="1066800" cy="238125"/>
          </a:xfrm>
          <a:prstGeom prst="rect">
            <a:avLst/>
          </a:prstGeom>
          <a:noFill/>
          <a:ln w="0">
            <a:noFill/>
            <a:prstDash val="solid"/>
          </a:ln>
        </p:spPr>
        <p:txBody>
          <a:bodyPr anchor="ctr"/>
          <a:lstStyle/>
          <a:p>
            <a:pPr algn="ctr">
              <a:buNone/>
              <a:defRPr sz="1200" b="0">
                <a:solidFill>
                  <a:srgbClr val="667085"/>
                </a:solidFill>
                <a:latin typeface="Calibri"/>
                <a:ea typeface="Calibri"/>
                <a:cs typeface="Calibri"/>
              </a:defRPr>
            </a:pPr>
            <a:r>
              <a:rPr sz="1200" b="0">
                <a:solidFill>
                  <a:srgbClr val="667085"/>
                </a:solidFill>
                <a:latin typeface="Calibri"/>
                <a:ea typeface="Calibri"/>
                <a:cs typeface="Calibri"/>
              </a:rPr>
              <a:t>image patch</a:t>
            </a:r>
            <a:endParaRPr/>
          </a:p>
        </p:txBody>
      </p:sp>
      <p:sp>
        <p:nvSpPr>
          <p:cNvPr id="1385166495" name=""/>
          <p:cNvSpPr>
            <a:spLocks noGrp="1"/>
          </p:cNvSpPr>
          <p:nvPr/>
        </p:nvSpPr>
        <p:spPr bwMode="auto">
          <a:xfrm>
            <a:off x="2476500" y="3019425"/>
            <a:ext cx="304800" cy="323850"/>
          </a:xfrm>
          <a:prstGeom prst="rect">
            <a:avLst/>
          </a:prstGeom>
          <a:noFill/>
          <a:ln w="0">
            <a:noFill/>
            <a:prstDash val="solid"/>
          </a:ln>
        </p:spPr>
        <p:txBody>
          <a:bodyPr anchor="ctr"/>
          <a:lstStyle/>
          <a:p>
            <a:pPr algn="ctr">
              <a:buNone/>
              <a:defRPr sz="2050" b="1">
                <a:solidFill>
                  <a:srgbClr val="667085"/>
                </a:solidFill>
                <a:latin typeface="Calibri"/>
                <a:ea typeface="Calibri"/>
                <a:cs typeface="Calibri"/>
              </a:defRPr>
            </a:pPr>
            <a:r>
              <a:rPr sz="2050" b="1">
                <a:solidFill>
                  <a:srgbClr val="667085"/>
                </a:solidFill>
                <a:latin typeface="Calibri"/>
                <a:ea typeface="Calibri"/>
                <a:cs typeface="Calibri"/>
              </a:rPr>
              <a:t>×</a:t>
            </a:r>
            <a:endParaRPr/>
          </a:p>
        </p:txBody>
      </p:sp>
      <p:sp>
        <p:nvSpPr>
          <p:cNvPr id="1601655453" name=""/>
          <p:cNvSpPr>
            <a:spLocks noGrp="1"/>
          </p:cNvSpPr>
          <p:nvPr/>
        </p:nvSpPr>
        <p:spPr bwMode="auto">
          <a:xfrm>
            <a:off x="2924175" y="2857500"/>
            <a:ext cx="304800" cy="304800"/>
          </a:xfrm>
          <a:prstGeom prst="rect">
            <a:avLst/>
          </a:prstGeom>
          <a:solidFill>
            <a:srgbClr val="1D4ED8"/>
          </a:solidFill>
          <a:ln w="9525">
            <a:solidFill>
              <a:srgbClr val="FFFFFF"/>
            </a:solidFill>
            <a:prstDash val="solid"/>
          </a:ln>
        </p:spPr>
      </p:sp>
      <p:sp>
        <p:nvSpPr>
          <p:cNvPr id="291711030" name=""/>
          <p:cNvSpPr>
            <a:spLocks noGrp="1"/>
          </p:cNvSpPr>
          <p:nvPr/>
        </p:nvSpPr>
        <p:spPr bwMode="auto">
          <a:xfrm>
            <a:off x="3286125" y="2857500"/>
            <a:ext cx="304800" cy="304800"/>
          </a:xfrm>
          <a:prstGeom prst="rect">
            <a:avLst/>
          </a:prstGeom>
          <a:solidFill>
            <a:srgbClr val="93C5FD"/>
          </a:solidFill>
          <a:ln w="9525">
            <a:solidFill>
              <a:srgbClr val="FFFFFF"/>
            </a:solidFill>
            <a:prstDash val="solid"/>
          </a:ln>
        </p:spPr>
      </p:sp>
      <p:sp>
        <p:nvSpPr>
          <p:cNvPr id="407035283" name=""/>
          <p:cNvSpPr>
            <a:spLocks noGrp="1"/>
          </p:cNvSpPr>
          <p:nvPr/>
        </p:nvSpPr>
        <p:spPr bwMode="auto">
          <a:xfrm>
            <a:off x="2924175" y="3219449"/>
            <a:ext cx="304800" cy="304800"/>
          </a:xfrm>
          <a:prstGeom prst="rect">
            <a:avLst/>
          </a:prstGeom>
          <a:solidFill>
            <a:srgbClr val="93C5FD"/>
          </a:solidFill>
          <a:ln w="9525">
            <a:solidFill>
              <a:srgbClr val="FFFFFF"/>
            </a:solidFill>
            <a:prstDash val="solid"/>
          </a:ln>
        </p:spPr>
      </p:sp>
      <p:sp>
        <p:nvSpPr>
          <p:cNvPr id="1491557476" name=""/>
          <p:cNvSpPr>
            <a:spLocks noGrp="1"/>
          </p:cNvSpPr>
          <p:nvPr/>
        </p:nvSpPr>
        <p:spPr bwMode="auto">
          <a:xfrm>
            <a:off x="3286125" y="3219449"/>
            <a:ext cx="304800" cy="304800"/>
          </a:xfrm>
          <a:prstGeom prst="rect">
            <a:avLst/>
          </a:prstGeom>
          <a:solidFill>
            <a:srgbClr val="1D4ED8"/>
          </a:solidFill>
          <a:ln w="9525">
            <a:solidFill>
              <a:srgbClr val="FFFFFF"/>
            </a:solidFill>
            <a:prstDash val="solid"/>
          </a:ln>
        </p:spPr>
      </p:sp>
      <p:sp>
        <p:nvSpPr>
          <p:cNvPr id="1056338783" name=""/>
          <p:cNvSpPr>
            <a:spLocks noGrp="1"/>
          </p:cNvSpPr>
          <p:nvPr/>
        </p:nvSpPr>
        <p:spPr bwMode="auto">
          <a:xfrm>
            <a:off x="2857500" y="4076699"/>
            <a:ext cx="857250" cy="238125"/>
          </a:xfrm>
          <a:prstGeom prst="rect">
            <a:avLst/>
          </a:prstGeom>
          <a:noFill/>
          <a:ln w="0">
            <a:noFill/>
            <a:prstDash val="solid"/>
          </a:ln>
        </p:spPr>
        <p:txBody>
          <a:bodyPr anchor="ctr"/>
          <a:lstStyle/>
          <a:p>
            <a:pPr algn="ctr">
              <a:buNone/>
              <a:defRPr sz="1200" b="0">
                <a:solidFill>
                  <a:srgbClr val="667085"/>
                </a:solidFill>
                <a:latin typeface="Calibri"/>
                <a:ea typeface="Calibri"/>
                <a:cs typeface="Calibri"/>
              </a:defRPr>
            </a:pPr>
            <a:r>
              <a:rPr sz="1200" b="0">
                <a:solidFill>
                  <a:srgbClr val="667085"/>
                </a:solidFill>
                <a:latin typeface="Calibri"/>
                <a:ea typeface="Calibri"/>
                <a:cs typeface="Calibri"/>
              </a:rPr>
              <a:t>filter</a:t>
            </a:r>
            <a:endParaRPr/>
          </a:p>
        </p:txBody>
      </p:sp>
      <p:sp>
        <p:nvSpPr>
          <p:cNvPr id="177665446" name=""/>
          <p:cNvSpPr>
            <a:spLocks noGrp="1"/>
          </p:cNvSpPr>
          <p:nvPr/>
        </p:nvSpPr>
        <p:spPr bwMode="auto">
          <a:xfrm>
            <a:off x="4676775" y="1924050"/>
            <a:ext cx="6238875" cy="3105150"/>
          </a:xfrm>
          <a:prstGeom prst="roundRect">
            <a:avLst>
              <a:gd name="adj" fmla="val 3681"/>
            </a:avLst>
          </a:prstGeom>
          <a:solidFill>
            <a:srgbClr val="F8FAFC"/>
          </a:solidFill>
          <a:ln w="9525">
            <a:solidFill>
              <a:srgbClr val="CBD5E1"/>
            </a:solidFill>
            <a:prstDash val="solid"/>
          </a:ln>
        </p:spPr>
      </p:sp>
      <p:sp>
        <p:nvSpPr>
          <p:cNvPr id="2113688218" name=""/>
          <p:cNvSpPr>
            <a:spLocks noGrp="1"/>
          </p:cNvSpPr>
          <p:nvPr/>
        </p:nvSpPr>
        <p:spPr bwMode="auto">
          <a:xfrm>
            <a:off x="5000625" y="2133600"/>
            <a:ext cx="1905000" cy="304800"/>
          </a:xfrm>
          <a:prstGeom prst="rect">
            <a:avLst/>
          </a:prstGeom>
          <a:noFill/>
          <a:ln w="0">
            <a:noFill/>
            <a:prstDash val="solid"/>
          </a:ln>
        </p:spPr>
        <p:txBody>
          <a:bodyPr anchor="ctr"/>
          <a:lstStyle/>
          <a:p>
            <a:pPr algn="l">
              <a:buNone/>
              <a:defRPr sz="1600" b="1">
                <a:solidFill>
                  <a:srgbClr val="0B0F19"/>
                </a:solidFill>
                <a:latin typeface="Calibri"/>
                <a:ea typeface="Calibri"/>
                <a:cs typeface="Calibri"/>
              </a:defRPr>
            </a:pPr>
            <a:r>
              <a:rPr sz="1600" b="1">
                <a:solidFill>
                  <a:srgbClr val="0B0F19"/>
                </a:solidFill>
                <a:latin typeface="Calibri"/>
                <a:ea typeface="Calibri"/>
                <a:cs typeface="Calibri"/>
              </a:rPr>
              <a:t>How it works</a:t>
            </a:r>
            <a:endParaRPr/>
          </a:p>
        </p:txBody>
      </p:sp>
      <p:sp>
        <p:nvSpPr>
          <p:cNvPr id="1228422649" name=""/>
          <p:cNvSpPr>
            <a:spLocks noGrp="1"/>
          </p:cNvSpPr>
          <p:nvPr/>
        </p:nvSpPr>
        <p:spPr bwMode="auto">
          <a:xfrm>
            <a:off x="5038725" y="2733675"/>
            <a:ext cx="304800" cy="304800"/>
          </a:xfrm>
          <a:prstGeom prst="rect">
            <a:avLst/>
          </a:prstGeom>
          <a:noFill/>
          <a:ln w="0">
            <a:noFill/>
            <a:prstDash val="solid"/>
          </a:ln>
        </p:spPr>
        <p:txBody>
          <a:bodyPr anchor="ctr"/>
          <a:lstStyle/>
          <a:p>
            <a:pPr algn="ctr">
              <a:buNone/>
              <a:defRPr sz="1500" b="1">
                <a:solidFill>
                  <a:srgbClr val="2563EB"/>
                </a:solidFill>
                <a:latin typeface="Calibri"/>
                <a:ea typeface="Calibri"/>
                <a:cs typeface="Calibri"/>
              </a:defRPr>
            </a:pPr>
            <a:r>
              <a:rPr sz="1500" b="1">
                <a:solidFill>
                  <a:srgbClr val="2563EB"/>
                </a:solidFill>
                <a:latin typeface="Calibri"/>
                <a:ea typeface="Calibri"/>
                <a:cs typeface="Calibri"/>
              </a:rPr>
              <a:t>1</a:t>
            </a:r>
            <a:endParaRPr/>
          </a:p>
        </p:txBody>
      </p:sp>
      <p:sp>
        <p:nvSpPr>
          <p:cNvPr id="1433360770" name=""/>
          <p:cNvSpPr>
            <a:spLocks noGrp="1"/>
          </p:cNvSpPr>
          <p:nvPr/>
        </p:nvSpPr>
        <p:spPr bwMode="auto">
          <a:xfrm>
            <a:off x="5486400" y="2686050"/>
            <a:ext cx="4953000" cy="381000"/>
          </a:xfrm>
          <a:prstGeom prst="rect">
            <a:avLst/>
          </a:prstGeom>
          <a:noFill/>
          <a:ln w="0">
            <a:noFill/>
            <a:prstDash val="solid"/>
          </a:ln>
        </p:spPr>
        <p:txBody>
          <a:bodyPr anchor="ctr"/>
          <a:lstStyle/>
          <a:p>
            <a:pPr algn="l">
              <a:buNone/>
              <a:defRPr sz="1450" b="0">
                <a:solidFill>
                  <a:srgbClr val="0B0F19"/>
                </a:solidFill>
                <a:latin typeface="Calibri"/>
                <a:ea typeface="Calibri"/>
                <a:cs typeface="Calibri"/>
              </a:defRPr>
            </a:pPr>
            <a:r>
              <a:rPr sz="1450" b="0">
                <a:solidFill>
                  <a:srgbClr val="0B0F19"/>
                </a:solidFill>
                <a:latin typeface="Calibri"/>
                <a:ea typeface="Calibri"/>
                <a:cs typeface="Calibri"/>
              </a:rPr>
              <a:t>Convolution: the same filter scans every local region.</a:t>
            </a:r>
            <a:endParaRPr/>
          </a:p>
        </p:txBody>
      </p:sp>
      <p:sp>
        <p:nvSpPr>
          <p:cNvPr id="319824198" name=""/>
          <p:cNvSpPr>
            <a:spLocks noGrp="1"/>
          </p:cNvSpPr>
          <p:nvPr/>
        </p:nvSpPr>
        <p:spPr bwMode="auto">
          <a:xfrm>
            <a:off x="5038725" y="3333750"/>
            <a:ext cx="304800" cy="304800"/>
          </a:xfrm>
          <a:prstGeom prst="rect">
            <a:avLst/>
          </a:prstGeom>
          <a:noFill/>
          <a:ln w="0">
            <a:noFill/>
            <a:prstDash val="solid"/>
          </a:ln>
        </p:spPr>
        <p:txBody>
          <a:bodyPr anchor="ctr"/>
          <a:lstStyle/>
          <a:p>
            <a:pPr algn="ctr">
              <a:buNone/>
              <a:defRPr sz="1500" b="1">
                <a:solidFill>
                  <a:srgbClr val="2563EB"/>
                </a:solidFill>
                <a:latin typeface="Calibri"/>
                <a:ea typeface="Calibri"/>
                <a:cs typeface="Calibri"/>
              </a:defRPr>
            </a:pPr>
            <a:r>
              <a:rPr sz="1500" b="1">
                <a:solidFill>
                  <a:srgbClr val="2563EB"/>
                </a:solidFill>
                <a:latin typeface="Calibri"/>
                <a:ea typeface="Calibri"/>
                <a:cs typeface="Calibri"/>
              </a:rPr>
              <a:t>2</a:t>
            </a:r>
            <a:endParaRPr/>
          </a:p>
        </p:txBody>
      </p:sp>
      <p:sp>
        <p:nvSpPr>
          <p:cNvPr id="190256975" name=""/>
          <p:cNvSpPr>
            <a:spLocks noGrp="1"/>
          </p:cNvSpPr>
          <p:nvPr/>
        </p:nvSpPr>
        <p:spPr bwMode="auto">
          <a:xfrm>
            <a:off x="5486400" y="3286125"/>
            <a:ext cx="4953000" cy="381000"/>
          </a:xfrm>
          <a:prstGeom prst="rect">
            <a:avLst/>
          </a:prstGeom>
          <a:noFill/>
          <a:ln w="0">
            <a:noFill/>
            <a:prstDash val="solid"/>
          </a:ln>
        </p:spPr>
        <p:txBody>
          <a:bodyPr anchor="ctr"/>
          <a:lstStyle/>
          <a:p>
            <a:pPr algn="l">
              <a:buNone/>
              <a:defRPr sz="1450" b="0">
                <a:solidFill>
                  <a:srgbClr val="0B0F19"/>
                </a:solidFill>
                <a:latin typeface="Calibri"/>
                <a:ea typeface="Calibri"/>
                <a:cs typeface="Calibri"/>
              </a:defRPr>
            </a:pPr>
            <a:r>
              <a:rPr sz="1450" b="0">
                <a:solidFill>
                  <a:srgbClr val="0B0F19"/>
                </a:solidFill>
                <a:latin typeface="Calibri"/>
                <a:ea typeface="Calibri"/>
                <a:cs typeface="Calibri"/>
              </a:rPr>
              <a:t>Activation map: strong matches mark useful features.</a:t>
            </a:r>
            <a:endParaRPr/>
          </a:p>
        </p:txBody>
      </p:sp>
      <p:sp>
        <p:nvSpPr>
          <p:cNvPr id="948330472" name=""/>
          <p:cNvSpPr>
            <a:spLocks noGrp="1"/>
          </p:cNvSpPr>
          <p:nvPr/>
        </p:nvSpPr>
        <p:spPr bwMode="auto">
          <a:xfrm>
            <a:off x="5038725" y="3933824"/>
            <a:ext cx="304800" cy="304800"/>
          </a:xfrm>
          <a:prstGeom prst="rect">
            <a:avLst/>
          </a:prstGeom>
          <a:noFill/>
          <a:ln w="0">
            <a:noFill/>
            <a:prstDash val="solid"/>
          </a:ln>
        </p:spPr>
        <p:txBody>
          <a:bodyPr anchor="ctr"/>
          <a:lstStyle/>
          <a:p>
            <a:pPr algn="ctr">
              <a:buNone/>
              <a:defRPr sz="1500" b="1">
                <a:solidFill>
                  <a:srgbClr val="2563EB"/>
                </a:solidFill>
                <a:latin typeface="Calibri"/>
                <a:ea typeface="Calibri"/>
                <a:cs typeface="Calibri"/>
              </a:defRPr>
            </a:pPr>
            <a:r>
              <a:rPr sz="1500" b="1">
                <a:solidFill>
                  <a:srgbClr val="2563EB"/>
                </a:solidFill>
                <a:latin typeface="Calibri"/>
                <a:ea typeface="Calibri"/>
                <a:cs typeface="Calibri"/>
              </a:rPr>
              <a:t>3</a:t>
            </a:r>
            <a:endParaRPr/>
          </a:p>
        </p:txBody>
      </p:sp>
      <p:sp>
        <p:nvSpPr>
          <p:cNvPr id="1381357357" name=""/>
          <p:cNvSpPr>
            <a:spLocks noGrp="1"/>
          </p:cNvSpPr>
          <p:nvPr/>
        </p:nvSpPr>
        <p:spPr bwMode="auto">
          <a:xfrm>
            <a:off x="5486400" y="3886200"/>
            <a:ext cx="4953000" cy="381000"/>
          </a:xfrm>
          <a:prstGeom prst="rect">
            <a:avLst/>
          </a:prstGeom>
          <a:noFill/>
          <a:ln w="0">
            <a:noFill/>
            <a:prstDash val="solid"/>
          </a:ln>
        </p:spPr>
        <p:txBody>
          <a:bodyPr anchor="ctr"/>
          <a:lstStyle/>
          <a:p>
            <a:pPr algn="l">
              <a:buNone/>
              <a:defRPr sz="1450" b="0">
                <a:solidFill>
                  <a:srgbClr val="0B0F19"/>
                </a:solidFill>
                <a:latin typeface="Calibri"/>
                <a:ea typeface="Calibri"/>
                <a:cs typeface="Calibri"/>
              </a:defRPr>
            </a:pPr>
            <a:r>
              <a:rPr sz="1450" b="0">
                <a:solidFill>
                  <a:srgbClr val="0B0F19"/>
                </a:solidFill>
                <a:latin typeface="Calibri"/>
                <a:ea typeface="Calibri"/>
                <a:cs typeface="Calibri"/>
              </a:rPr>
              <a:t>Deeper layers combine edges → textures → objects.</a:t>
            </a:r>
            <a:endParaRPr/>
          </a:p>
        </p:txBody>
      </p:sp>
      <p:sp>
        <p:nvSpPr>
          <p:cNvPr id="137947420" name=""/>
          <p:cNvSpPr>
            <a:spLocks noGrp="1"/>
          </p:cNvSpPr>
          <p:nvPr/>
        </p:nvSpPr>
        <p:spPr bwMode="auto">
          <a:xfrm>
            <a:off x="1123950" y="5429250"/>
            <a:ext cx="9906000" cy="266700"/>
          </a:xfrm>
          <a:prstGeom prst="rect">
            <a:avLst/>
          </a:prstGeom>
          <a:noFill/>
          <a:ln w="0">
            <a:noFill/>
            <a:prstDash val="solid"/>
          </a:ln>
        </p:spPr>
        <p:txBody>
          <a:bodyPr anchor="ctr"/>
          <a:lstStyle/>
          <a:p>
            <a:pPr algn="ctr">
              <a:buNone/>
              <a:defRPr sz="1450" b="1">
                <a:solidFill>
                  <a:srgbClr val="2563EB"/>
                </a:solidFill>
                <a:latin typeface="Calibri"/>
                <a:ea typeface="Calibri"/>
                <a:cs typeface="Calibri"/>
              </a:defRPr>
            </a:pPr>
            <a:r>
              <a:rPr sz="1450" b="1">
                <a:solidFill>
                  <a:srgbClr val="2563EB"/>
                </a:solidFill>
                <a:latin typeface="Calibri"/>
                <a:ea typeface="Calibri"/>
                <a:cs typeface="Calibri"/>
              </a:rPr>
              <a:t>The key idea: reuse one set of weights wherever the pattern may appear.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47590333" name=""/>
          <p:cNvSpPr>
            <a:spLocks noGrp="1"/>
          </p:cNvSpPr>
          <p:nvPr/>
        </p:nvSpPr>
        <p:spPr bwMode="auto">
          <a:xfrm>
            <a:off x="0" y="0"/>
            <a:ext cx="12192000" cy="6858000"/>
          </a:xfrm>
          <a:prstGeom prst="rect">
            <a:avLst/>
          </a:prstGeom>
          <a:solidFill>
            <a:srgbClr val="FFFFFF"/>
          </a:solidFill>
          <a:ln w="0">
            <a:noFill/>
            <a:prstDash val="solid"/>
          </a:ln>
        </p:spPr>
      </p:sp>
      <p:sp>
        <p:nvSpPr>
          <p:cNvPr id="123267950" name=""/>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Sequences</a:t>
            </a:r>
            <a:endParaRPr/>
          </a:p>
        </p:txBody>
      </p:sp>
      <p:sp>
        <p:nvSpPr>
          <p:cNvPr id="1662278910" name=""/>
          <p:cNvSpPr>
            <a:spLocks noGrp="1"/>
          </p:cNvSpPr>
          <p:nvPr/>
        </p:nvSpPr>
        <p:spPr bwMode="auto">
          <a:xfrm>
            <a:off x="609600" y="590549"/>
            <a:ext cx="10287000" cy="590549"/>
          </a:xfrm>
          <a:prstGeom prst="rect">
            <a:avLst/>
          </a:prstGeom>
          <a:noFill/>
          <a:ln w="0">
            <a:noFill/>
            <a:prstDash val="solid"/>
          </a:ln>
        </p:spPr>
        <p:txBody>
          <a:bodyPr anchor="ctr"/>
          <a:lstStyle/>
          <a:p>
            <a:pPr algn="l">
              <a:buNone/>
              <a:defRPr sz="2850" b="1">
                <a:solidFill>
                  <a:srgbClr val="0B0F19"/>
                </a:solidFill>
                <a:latin typeface="Calibri"/>
                <a:ea typeface="Calibri"/>
                <a:cs typeface="Calibri"/>
              </a:defRPr>
            </a:pPr>
            <a:r>
              <a:rPr sz="2850" b="1">
                <a:solidFill>
                  <a:srgbClr val="0B0F19"/>
                </a:solidFill>
                <a:latin typeface="Calibri"/>
                <a:ea typeface="Calibri"/>
                <a:cs typeface="Calibri"/>
              </a:rPr>
              <a:t>RNNs carry state through time</a:t>
            </a:r>
            <a:endParaRPr/>
          </a:p>
        </p:txBody>
      </p:sp>
      <p:sp>
        <p:nvSpPr>
          <p:cNvPr id="459089391" name=""/>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27</a:t>
            </a:r>
            <a:endParaRPr/>
          </a:p>
        </p:txBody>
      </p:sp>
      <p:sp>
        <p:nvSpPr>
          <p:cNvPr id="1982873100" name=""/>
          <p:cNvSpPr>
            <a:spLocks noGrp="1"/>
          </p:cNvSpPr>
          <p:nvPr/>
        </p:nvSpPr>
        <p:spPr bwMode="auto">
          <a:xfrm>
            <a:off x="704850" y="1314450"/>
            <a:ext cx="10287000" cy="285750"/>
          </a:xfrm>
          <a:prstGeom prst="rect">
            <a:avLst/>
          </a:prstGeom>
          <a:noFill/>
          <a:ln w="0">
            <a:noFill/>
            <a:prstDash val="solid"/>
          </a:ln>
        </p:spPr>
        <p:txBody>
          <a:bodyPr/>
          <a:lstStyle/>
          <a:p>
            <a:pPr algn="l">
              <a:buNone/>
              <a:defRPr sz="1500" b="0">
                <a:solidFill>
                  <a:srgbClr val="667085"/>
                </a:solidFill>
                <a:latin typeface="Calibri"/>
                <a:ea typeface="Calibri"/>
                <a:cs typeface="Calibri"/>
              </a:defRPr>
            </a:pPr>
            <a:r>
              <a:rPr sz="1500" b="0">
                <a:solidFill>
                  <a:srgbClr val="667085"/>
                </a:solidFill>
                <a:latin typeface="Calibri"/>
                <a:ea typeface="Calibri"/>
                <a:cs typeface="Calibri"/>
              </a:rPr>
              <a:t>LSTM and GRU add gates that decide what information to keep or forget.</a:t>
            </a:r>
            <a:endParaRPr/>
          </a:p>
        </p:txBody>
      </p:sp>
      <p:pic>
        <p:nvPicPr>
          <p:cNvPr id="305515906" name=""/>
          <p:cNvPicPr>
            <a:picLocks noChangeAspect="1"/>
          </p:cNvPicPr>
          <p:nvPr/>
        </p:nvPicPr>
        <p:blipFill rotWithShape="1">
          <a:blip r:embed="rId3"/>
          <a:stretch/>
        </p:blipFill>
        <p:spPr bwMode="auto">
          <a:xfrm>
            <a:off x="2047875" y="1809750"/>
            <a:ext cx="8096250" cy="3648074"/>
          </a:xfrm>
          <a:prstGeom prst="rect">
            <a:avLst/>
          </a:prstGeom>
        </p:spPr>
      </p:pic>
      <p:sp>
        <p:nvSpPr>
          <p:cNvPr id="1852267196" name=""/>
          <p:cNvSpPr>
            <a:spLocks noGrp="1"/>
          </p:cNvSpPr>
          <p:nvPr/>
        </p:nvSpPr>
        <p:spPr bwMode="auto">
          <a:xfrm>
            <a:off x="1143000" y="5762625"/>
            <a:ext cx="9906000" cy="247650"/>
          </a:xfrm>
          <a:prstGeom prst="rect">
            <a:avLst/>
          </a:prstGeom>
          <a:noFill/>
          <a:ln w="0">
            <a:noFill/>
            <a:prstDash val="solid"/>
          </a:ln>
        </p:spPr>
        <p:txBody>
          <a:bodyPr/>
          <a:lstStyle/>
          <a:p>
            <a:pPr algn="ctr">
              <a:buNone/>
              <a:defRPr sz="1300" b="0">
                <a:solidFill>
                  <a:srgbClr val="667085"/>
                </a:solidFill>
                <a:latin typeface="Calibri"/>
                <a:ea typeface="Calibri"/>
                <a:cs typeface="Calibri"/>
              </a:defRPr>
            </a:pPr>
            <a:r>
              <a:rPr sz="1300" b="0">
                <a:solidFill>
                  <a:srgbClr val="667085"/>
                </a:solidFill>
                <a:latin typeface="Calibri"/>
                <a:ea typeface="Calibri"/>
                <a:cs typeface="Calibri"/>
              </a:rPr>
              <a:t>RNN: hidden state     •     LSTM: memory cell + gates     •     GRU: compact gated unit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03920235" name=""/>
          <p:cNvSpPr>
            <a:spLocks noGrp="1"/>
          </p:cNvSpPr>
          <p:nvPr/>
        </p:nvSpPr>
        <p:spPr bwMode="auto">
          <a:xfrm>
            <a:off x="0" y="0"/>
            <a:ext cx="12192000" cy="6858000"/>
          </a:xfrm>
          <a:prstGeom prst="rect">
            <a:avLst/>
          </a:prstGeom>
          <a:solidFill>
            <a:srgbClr val="FFFFFF"/>
          </a:solidFill>
          <a:ln w="0">
            <a:noFill/>
            <a:prstDash val="solid"/>
          </a:ln>
        </p:spPr>
      </p:sp>
      <p:sp>
        <p:nvSpPr>
          <p:cNvPr id="1271380439" name=""/>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Sequences</a:t>
            </a:r>
            <a:endParaRPr/>
          </a:p>
        </p:txBody>
      </p:sp>
      <p:sp>
        <p:nvSpPr>
          <p:cNvPr id="608404556" name=""/>
          <p:cNvSpPr>
            <a:spLocks noGrp="1"/>
          </p:cNvSpPr>
          <p:nvPr/>
        </p:nvSpPr>
        <p:spPr bwMode="auto">
          <a:xfrm>
            <a:off x="609600" y="590549"/>
            <a:ext cx="10287000" cy="590549"/>
          </a:xfrm>
          <a:prstGeom prst="rect">
            <a:avLst/>
          </a:prstGeom>
          <a:noFill/>
          <a:ln w="0">
            <a:noFill/>
            <a:prstDash val="solid"/>
          </a:ln>
        </p:spPr>
        <p:txBody>
          <a:bodyPr anchor="ctr"/>
          <a:lstStyle/>
          <a:p>
            <a:pPr algn="l">
              <a:buNone/>
              <a:defRPr sz="2700" b="1">
                <a:solidFill>
                  <a:srgbClr val="0B0F19"/>
                </a:solidFill>
                <a:latin typeface="Calibri"/>
                <a:ea typeface="Calibri"/>
                <a:cs typeface="Calibri"/>
              </a:defRPr>
            </a:pPr>
            <a:r>
              <a:rPr sz="2700" b="1">
                <a:solidFill>
                  <a:srgbClr val="0B0F19"/>
                </a:solidFill>
                <a:latin typeface="Calibri"/>
                <a:ea typeface="Calibri"/>
                <a:cs typeface="Calibri"/>
              </a:rPr>
              <a:t>RNN, LSTM, and GRU: what each adds</a:t>
            </a:r>
            <a:endParaRPr/>
          </a:p>
        </p:txBody>
      </p:sp>
      <p:sp>
        <p:nvSpPr>
          <p:cNvPr id="2038265660" name=""/>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28</a:t>
            </a:r>
            <a:endParaRPr/>
          </a:p>
        </p:txBody>
      </p:sp>
      <p:sp>
        <p:nvSpPr>
          <p:cNvPr id="1642738133" name=""/>
          <p:cNvSpPr>
            <a:spLocks noGrp="1"/>
          </p:cNvSpPr>
          <p:nvPr/>
        </p:nvSpPr>
        <p:spPr bwMode="auto">
          <a:xfrm>
            <a:off x="704850" y="1257300"/>
            <a:ext cx="10668000" cy="285750"/>
          </a:xfrm>
          <a:prstGeom prst="rect">
            <a:avLst/>
          </a:prstGeom>
          <a:noFill/>
          <a:ln w="0">
            <a:noFill/>
            <a:prstDash val="solid"/>
          </a:ln>
        </p:spPr>
        <p:txBody>
          <a:bodyPr anchor="ctr"/>
          <a:lstStyle/>
          <a:p>
            <a:pPr algn="l">
              <a:buNone/>
              <a:defRPr sz="1450" b="0">
                <a:solidFill>
                  <a:srgbClr val="667085"/>
                </a:solidFill>
                <a:latin typeface="Calibri"/>
                <a:ea typeface="Calibri"/>
                <a:cs typeface="Calibri"/>
              </a:defRPr>
            </a:pPr>
            <a:r>
              <a:rPr sz="1450" b="0">
                <a:solidFill>
                  <a:srgbClr val="667085"/>
                </a:solidFill>
                <a:latin typeface="Calibri"/>
                <a:ea typeface="Calibri"/>
                <a:cs typeface="Calibri"/>
              </a:rPr>
              <a:t>All pass information through time; gates improve what can be remembered.</a:t>
            </a:r>
            <a:endParaRPr/>
          </a:p>
        </p:txBody>
      </p:sp>
      <p:sp>
        <p:nvSpPr>
          <p:cNvPr id="1850643840" name=""/>
          <p:cNvSpPr>
            <a:spLocks noGrp="1"/>
          </p:cNvSpPr>
          <p:nvPr/>
        </p:nvSpPr>
        <p:spPr bwMode="auto">
          <a:xfrm>
            <a:off x="723900" y="1981200"/>
            <a:ext cx="3124200" cy="3162300"/>
          </a:xfrm>
          <a:prstGeom prst="roundRect">
            <a:avLst>
              <a:gd name="adj" fmla="val 3659"/>
            </a:avLst>
          </a:prstGeom>
          <a:solidFill>
            <a:srgbClr val="EAF2FF"/>
          </a:solidFill>
          <a:ln w="9525">
            <a:solidFill>
              <a:srgbClr val="2563EB"/>
            </a:solidFill>
            <a:prstDash val="solid"/>
          </a:ln>
        </p:spPr>
      </p:sp>
      <p:sp>
        <p:nvSpPr>
          <p:cNvPr id="1017679781" name=""/>
          <p:cNvSpPr>
            <a:spLocks noGrp="1"/>
          </p:cNvSpPr>
          <p:nvPr/>
        </p:nvSpPr>
        <p:spPr bwMode="auto">
          <a:xfrm>
            <a:off x="990600" y="2228850"/>
            <a:ext cx="2571750" cy="361950"/>
          </a:xfrm>
          <a:prstGeom prst="rect">
            <a:avLst/>
          </a:prstGeom>
          <a:noFill/>
          <a:ln w="0">
            <a:noFill/>
            <a:prstDash val="solid"/>
          </a:ln>
        </p:spPr>
        <p:txBody>
          <a:bodyPr anchor="ctr"/>
          <a:lstStyle/>
          <a:p>
            <a:pPr algn="l">
              <a:buNone/>
              <a:defRPr sz="2100" b="1">
                <a:solidFill>
                  <a:srgbClr val="2563EB"/>
                </a:solidFill>
                <a:latin typeface="Calibri"/>
                <a:ea typeface="Calibri"/>
                <a:cs typeface="Calibri"/>
              </a:defRPr>
            </a:pPr>
            <a:r>
              <a:rPr sz="2100" b="1">
                <a:solidFill>
                  <a:srgbClr val="2563EB"/>
                </a:solidFill>
                <a:latin typeface="Calibri"/>
                <a:ea typeface="Calibri"/>
                <a:cs typeface="Calibri"/>
              </a:rPr>
              <a:t>RNN</a:t>
            </a:r>
            <a:endParaRPr/>
          </a:p>
        </p:txBody>
      </p:sp>
      <p:sp>
        <p:nvSpPr>
          <p:cNvPr id="1849476889" name=""/>
          <p:cNvSpPr>
            <a:spLocks noGrp="1"/>
          </p:cNvSpPr>
          <p:nvPr/>
        </p:nvSpPr>
        <p:spPr bwMode="auto">
          <a:xfrm>
            <a:off x="990600" y="2876550"/>
            <a:ext cx="2590800" cy="647700"/>
          </a:xfrm>
          <a:prstGeom prst="rect">
            <a:avLst/>
          </a:prstGeom>
          <a:noFill/>
          <a:ln w="0">
            <a:noFill/>
            <a:prstDash val="solid"/>
          </a:ln>
        </p:spPr>
        <p:txBody>
          <a:bodyPr anchor="ctr"/>
          <a:lstStyle/>
          <a:p>
            <a:pPr algn="l">
              <a:buNone/>
              <a:defRPr sz="1450" b="0">
                <a:solidFill>
                  <a:srgbClr val="0B0F19"/>
                </a:solidFill>
                <a:latin typeface="Calibri"/>
                <a:ea typeface="Calibri"/>
                <a:cs typeface="Calibri"/>
              </a:defRPr>
            </a:pPr>
            <a:r>
              <a:rPr sz="1450" b="0">
                <a:solidFill>
                  <a:srgbClr val="0B0F19"/>
                </a:solidFill>
                <a:latin typeface="Calibri"/>
                <a:ea typeface="Calibri"/>
                <a:cs typeface="Calibri"/>
              </a:rPr>
              <a:t>Carries one hidden state</a:t>
            </a:r>
            <a:endParaRPr/>
          </a:p>
          <a:p>
            <a:pPr algn="l">
              <a:buNone/>
              <a:defRPr sz="1450" b="0">
                <a:solidFill>
                  <a:srgbClr val="0B0F19"/>
                </a:solidFill>
                <a:latin typeface="Calibri"/>
                <a:ea typeface="Calibri"/>
                <a:cs typeface="Calibri"/>
              </a:defRPr>
            </a:pPr>
            <a:r>
              <a:rPr sz="1450" b="0">
                <a:solidFill>
                  <a:srgbClr val="0B0F19"/>
                </a:solidFill>
                <a:latin typeface="Calibri"/>
                <a:ea typeface="Calibri"/>
                <a:cs typeface="Calibri"/>
              </a:rPr>
              <a:t>from token to token.</a:t>
            </a:r>
            <a:endParaRPr/>
          </a:p>
        </p:txBody>
      </p:sp>
      <p:sp>
        <p:nvSpPr>
          <p:cNvPr id="661712453" name=""/>
          <p:cNvSpPr>
            <a:spLocks noGrp="1"/>
          </p:cNvSpPr>
          <p:nvPr/>
        </p:nvSpPr>
        <p:spPr bwMode="auto">
          <a:xfrm>
            <a:off x="990600" y="3771900"/>
            <a:ext cx="2571750" cy="0"/>
          </a:xfrm>
          <a:prstGeom prst="line">
            <a:avLst/>
          </a:prstGeom>
          <a:ln w="9525">
            <a:solidFill>
              <a:srgbClr val="2563EB"/>
            </a:solidFill>
            <a:prstDash val="solid"/>
          </a:ln>
        </p:spPr>
      </p:sp>
      <p:sp>
        <p:nvSpPr>
          <p:cNvPr id="814738558" name=""/>
          <p:cNvSpPr>
            <a:spLocks noGrp="1"/>
          </p:cNvSpPr>
          <p:nvPr/>
        </p:nvSpPr>
        <p:spPr bwMode="auto">
          <a:xfrm>
            <a:off x="990600" y="4000500"/>
            <a:ext cx="2590800" cy="619125"/>
          </a:xfrm>
          <a:prstGeom prst="rect">
            <a:avLst/>
          </a:prstGeom>
          <a:noFill/>
          <a:ln w="0">
            <a:noFill/>
            <a:prstDash val="solid"/>
          </a:ln>
        </p:spPr>
        <p:txBody>
          <a:bodyPr anchor="ctr"/>
          <a:lstStyle/>
          <a:p>
            <a:pPr algn="l">
              <a:buNone/>
              <a:defRPr sz="1350" b="1">
                <a:solidFill>
                  <a:srgbClr val="DC2626"/>
                </a:solidFill>
                <a:latin typeface="Calibri"/>
                <a:ea typeface="Calibri"/>
                <a:cs typeface="Calibri"/>
              </a:defRPr>
            </a:pPr>
            <a:r>
              <a:rPr sz="1350" b="1">
                <a:solidFill>
                  <a:srgbClr val="DC2626"/>
                </a:solidFill>
                <a:latin typeface="Calibri"/>
                <a:ea typeface="Calibri"/>
                <a:cs typeface="Calibri"/>
              </a:rPr>
              <a:t>Limit: long-range context</a:t>
            </a:r>
            <a:endParaRPr/>
          </a:p>
          <a:p>
            <a:pPr algn="l">
              <a:buNone/>
              <a:defRPr sz="1350" b="1">
                <a:solidFill>
                  <a:srgbClr val="DC2626"/>
                </a:solidFill>
                <a:latin typeface="Calibri"/>
                <a:ea typeface="Calibri"/>
                <a:cs typeface="Calibri"/>
              </a:defRPr>
            </a:pPr>
            <a:r>
              <a:rPr sz="1350" b="1">
                <a:solidFill>
                  <a:srgbClr val="DC2626"/>
                </a:solidFill>
                <a:latin typeface="Calibri"/>
                <a:ea typeface="Calibri"/>
                <a:cs typeface="Calibri"/>
              </a:rPr>
              <a:t>can fade or vanish.</a:t>
            </a:r>
            <a:endParaRPr/>
          </a:p>
        </p:txBody>
      </p:sp>
      <p:sp>
        <p:nvSpPr>
          <p:cNvPr id="1558336150" name=""/>
          <p:cNvSpPr>
            <a:spLocks noGrp="1"/>
          </p:cNvSpPr>
          <p:nvPr/>
        </p:nvSpPr>
        <p:spPr bwMode="auto">
          <a:xfrm>
            <a:off x="4191000" y="1981200"/>
            <a:ext cx="3124200" cy="3162300"/>
          </a:xfrm>
          <a:prstGeom prst="roundRect">
            <a:avLst>
              <a:gd name="adj" fmla="val 3659"/>
            </a:avLst>
          </a:prstGeom>
          <a:solidFill>
            <a:srgbClr val="EAFBF3"/>
          </a:solidFill>
          <a:ln w="9525">
            <a:solidFill>
              <a:srgbClr val="059669"/>
            </a:solidFill>
            <a:prstDash val="solid"/>
          </a:ln>
        </p:spPr>
      </p:sp>
      <p:sp>
        <p:nvSpPr>
          <p:cNvPr id="1410040052" name=""/>
          <p:cNvSpPr>
            <a:spLocks noGrp="1"/>
          </p:cNvSpPr>
          <p:nvPr/>
        </p:nvSpPr>
        <p:spPr bwMode="auto">
          <a:xfrm>
            <a:off x="4457700" y="2228850"/>
            <a:ext cx="2571750" cy="361950"/>
          </a:xfrm>
          <a:prstGeom prst="rect">
            <a:avLst/>
          </a:prstGeom>
          <a:noFill/>
          <a:ln w="0">
            <a:noFill/>
            <a:prstDash val="solid"/>
          </a:ln>
        </p:spPr>
        <p:txBody>
          <a:bodyPr anchor="ctr"/>
          <a:lstStyle/>
          <a:p>
            <a:pPr algn="l">
              <a:buNone/>
              <a:defRPr sz="2100" b="1">
                <a:solidFill>
                  <a:srgbClr val="059669"/>
                </a:solidFill>
                <a:latin typeface="Calibri"/>
                <a:ea typeface="Calibri"/>
                <a:cs typeface="Calibri"/>
              </a:defRPr>
            </a:pPr>
            <a:r>
              <a:rPr sz="2100" b="1">
                <a:solidFill>
                  <a:srgbClr val="059669"/>
                </a:solidFill>
                <a:latin typeface="Calibri"/>
                <a:ea typeface="Calibri"/>
                <a:cs typeface="Calibri"/>
              </a:rPr>
              <a:t>LSTM</a:t>
            </a:r>
            <a:endParaRPr/>
          </a:p>
        </p:txBody>
      </p:sp>
      <p:sp>
        <p:nvSpPr>
          <p:cNvPr id="1940875112" name=""/>
          <p:cNvSpPr>
            <a:spLocks noGrp="1"/>
          </p:cNvSpPr>
          <p:nvPr/>
        </p:nvSpPr>
        <p:spPr bwMode="auto">
          <a:xfrm>
            <a:off x="4457700" y="2876550"/>
            <a:ext cx="2590800" cy="647700"/>
          </a:xfrm>
          <a:prstGeom prst="rect">
            <a:avLst/>
          </a:prstGeom>
          <a:noFill/>
          <a:ln w="0">
            <a:noFill/>
            <a:prstDash val="solid"/>
          </a:ln>
        </p:spPr>
        <p:txBody>
          <a:bodyPr anchor="ctr"/>
          <a:lstStyle/>
          <a:p>
            <a:pPr algn="l">
              <a:buNone/>
              <a:defRPr sz="1450" b="0">
                <a:solidFill>
                  <a:srgbClr val="0B0F19"/>
                </a:solidFill>
                <a:latin typeface="Calibri"/>
                <a:ea typeface="Calibri"/>
                <a:cs typeface="Calibri"/>
              </a:defRPr>
            </a:pPr>
            <a:r>
              <a:rPr sz="1450" b="0">
                <a:solidFill>
                  <a:srgbClr val="0B0F19"/>
                </a:solidFill>
                <a:latin typeface="Calibri"/>
                <a:ea typeface="Calibri"/>
                <a:cs typeface="Calibri"/>
              </a:rPr>
              <a:t>Adds a memory cell plus</a:t>
            </a:r>
            <a:endParaRPr/>
          </a:p>
          <a:p>
            <a:pPr algn="l">
              <a:buNone/>
              <a:defRPr sz="1450" b="0">
                <a:solidFill>
                  <a:srgbClr val="0B0F19"/>
                </a:solidFill>
                <a:latin typeface="Calibri"/>
                <a:ea typeface="Calibri"/>
                <a:cs typeface="Calibri"/>
              </a:defRPr>
            </a:pPr>
            <a:r>
              <a:rPr sz="1450" b="0">
                <a:solidFill>
                  <a:srgbClr val="0B0F19"/>
                </a:solidFill>
                <a:latin typeface="Calibri"/>
                <a:ea typeface="Calibri"/>
                <a:cs typeface="Calibri"/>
              </a:rPr>
              <a:t>input / forget / output gates.</a:t>
            </a:r>
            <a:endParaRPr/>
          </a:p>
        </p:txBody>
      </p:sp>
      <p:sp>
        <p:nvSpPr>
          <p:cNvPr id="1325281557" name=""/>
          <p:cNvSpPr>
            <a:spLocks noGrp="1"/>
          </p:cNvSpPr>
          <p:nvPr/>
        </p:nvSpPr>
        <p:spPr bwMode="auto">
          <a:xfrm>
            <a:off x="4457700" y="3771900"/>
            <a:ext cx="2571750" cy="0"/>
          </a:xfrm>
          <a:prstGeom prst="line">
            <a:avLst/>
          </a:prstGeom>
          <a:ln w="9525">
            <a:solidFill>
              <a:srgbClr val="059669"/>
            </a:solidFill>
            <a:prstDash val="solid"/>
          </a:ln>
        </p:spPr>
      </p:sp>
      <p:sp>
        <p:nvSpPr>
          <p:cNvPr id="527931364" name=""/>
          <p:cNvSpPr>
            <a:spLocks noGrp="1"/>
          </p:cNvSpPr>
          <p:nvPr/>
        </p:nvSpPr>
        <p:spPr bwMode="auto">
          <a:xfrm>
            <a:off x="4457700" y="4000500"/>
            <a:ext cx="2590800" cy="619125"/>
          </a:xfrm>
          <a:prstGeom prst="rect">
            <a:avLst/>
          </a:prstGeom>
          <a:noFill/>
          <a:ln w="0">
            <a:noFill/>
            <a:prstDash val="solid"/>
          </a:ln>
        </p:spPr>
        <p:txBody>
          <a:bodyPr anchor="ctr"/>
          <a:lstStyle/>
          <a:p>
            <a:pPr algn="l">
              <a:buNone/>
              <a:defRPr sz="1350" b="1">
                <a:solidFill>
                  <a:srgbClr val="DC2626"/>
                </a:solidFill>
                <a:latin typeface="Calibri"/>
                <a:ea typeface="Calibri"/>
                <a:cs typeface="Calibri"/>
              </a:defRPr>
            </a:pPr>
            <a:r>
              <a:rPr sz="1350" b="1">
                <a:solidFill>
                  <a:srgbClr val="DC2626"/>
                </a:solidFill>
                <a:latin typeface="Calibri"/>
                <a:ea typeface="Calibri"/>
                <a:cs typeface="Calibri"/>
              </a:rPr>
              <a:t>Trade-off: stronger memory,</a:t>
            </a:r>
            <a:endParaRPr/>
          </a:p>
          <a:p>
            <a:pPr algn="l">
              <a:buNone/>
              <a:defRPr sz="1350" b="1">
                <a:solidFill>
                  <a:srgbClr val="DC2626"/>
                </a:solidFill>
                <a:latin typeface="Calibri"/>
                <a:ea typeface="Calibri"/>
                <a:cs typeface="Calibri"/>
              </a:defRPr>
            </a:pPr>
            <a:r>
              <a:rPr sz="1350" b="1">
                <a:solidFill>
                  <a:srgbClr val="DC2626"/>
                </a:solidFill>
                <a:latin typeface="Calibri"/>
                <a:ea typeface="Calibri"/>
                <a:cs typeface="Calibri"/>
              </a:rPr>
              <a:t>more parameters and compute.</a:t>
            </a:r>
            <a:endParaRPr/>
          </a:p>
        </p:txBody>
      </p:sp>
      <p:sp>
        <p:nvSpPr>
          <p:cNvPr id="713289507" name=""/>
          <p:cNvSpPr>
            <a:spLocks noGrp="1"/>
          </p:cNvSpPr>
          <p:nvPr/>
        </p:nvSpPr>
        <p:spPr bwMode="auto">
          <a:xfrm>
            <a:off x="7658100" y="1981200"/>
            <a:ext cx="3124200" cy="3162300"/>
          </a:xfrm>
          <a:prstGeom prst="roundRect">
            <a:avLst>
              <a:gd name="adj" fmla="val 3659"/>
            </a:avLst>
          </a:prstGeom>
          <a:solidFill>
            <a:srgbClr val="FFF4E5"/>
          </a:solidFill>
          <a:ln w="9525">
            <a:solidFill>
              <a:srgbClr val="D97706"/>
            </a:solidFill>
            <a:prstDash val="solid"/>
          </a:ln>
        </p:spPr>
      </p:sp>
      <p:sp>
        <p:nvSpPr>
          <p:cNvPr id="473538767" name=""/>
          <p:cNvSpPr>
            <a:spLocks noGrp="1"/>
          </p:cNvSpPr>
          <p:nvPr/>
        </p:nvSpPr>
        <p:spPr bwMode="auto">
          <a:xfrm>
            <a:off x="7924800" y="2228850"/>
            <a:ext cx="2571750" cy="361950"/>
          </a:xfrm>
          <a:prstGeom prst="rect">
            <a:avLst/>
          </a:prstGeom>
          <a:noFill/>
          <a:ln w="0">
            <a:noFill/>
            <a:prstDash val="solid"/>
          </a:ln>
        </p:spPr>
        <p:txBody>
          <a:bodyPr anchor="ctr"/>
          <a:lstStyle/>
          <a:p>
            <a:pPr algn="l">
              <a:buNone/>
              <a:defRPr sz="2100" b="1">
                <a:solidFill>
                  <a:srgbClr val="D97706"/>
                </a:solidFill>
                <a:latin typeface="Calibri"/>
                <a:ea typeface="Calibri"/>
                <a:cs typeface="Calibri"/>
              </a:defRPr>
            </a:pPr>
            <a:r>
              <a:rPr sz="2100" b="1">
                <a:solidFill>
                  <a:srgbClr val="D97706"/>
                </a:solidFill>
                <a:latin typeface="Calibri"/>
                <a:ea typeface="Calibri"/>
                <a:cs typeface="Calibri"/>
              </a:rPr>
              <a:t>GRU</a:t>
            </a:r>
            <a:endParaRPr/>
          </a:p>
        </p:txBody>
      </p:sp>
      <p:sp>
        <p:nvSpPr>
          <p:cNvPr id="2292723" name=""/>
          <p:cNvSpPr>
            <a:spLocks noGrp="1"/>
          </p:cNvSpPr>
          <p:nvPr/>
        </p:nvSpPr>
        <p:spPr bwMode="auto">
          <a:xfrm>
            <a:off x="7924800" y="2876550"/>
            <a:ext cx="2590800" cy="647700"/>
          </a:xfrm>
          <a:prstGeom prst="rect">
            <a:avLst/>
          </a:prstGeom>
          <a:noFill/>
          <a:ln w="0">
            <a:noFill/>
            <a:prstDash val="solid"/>
          </a:ln>
        </p:spPr>
        <p:txBody>
          <a:bodyPr anchor="ctr"/>
          <a:lstStyle/>
          <a:p>
            <a:pPr algn="l">
              <a:buNone/>
              <a:defRPr sz="1450" b="0">
                <a:solidFill>
                  <a:srgbClr val="0B0F19"/>
                </a:solidFill>
                <a:latin typeface="Calibri"/>
                <a:ea typeface="Calibri"/>
                <a:cs typeface="Calibri"/>
              </a:defRPr>
            </a:pPr>
            <a:r>
              <a:rPr sz="1450" b="0">
                <a:solidFill>
                  <a:srgbClr val="0B0F19"/>
                </a:solidFill>
                <a:latin typeface="Calibri"/>
                <a:ea typeface="Calibri"/>
                <a:cs typeface="Calibri"/>
              </a:rPr>
              <a:t>Uses update and reset gates</a:t>
            </a:r>
            <a:endParaRPr/>
          </a:p>
          <a:p>
            <a:pPr algn="l">
              <a:buNone/>
              <a:defRPr sz="1450" b="0">
                <a:solidFill>
                  <a:srgbClr val="0B0F19"/>
                </a:solidFill>
                <a:latin typeface="Calibri"/>
                <a:ea typeface="Calibri"/>
                <a:cs typeface="Calibri"/>
              </a:defRPr>
            </a:pPr>
            <a:r>
              <a:rPr sz="1450" b="0">
                <a:solidFill>
                  <a:srgbClr val="0B0F19"/>
                </a:solidFill>
                <a:latin typeface="Calibri"/>
                <a:ea typeface="Calibri"/>
                <a:cs typeface="Calibri"/>
              </a:rPr>
              <a:t>with a simpler state.</a:t>
            </a:r>
            <a:endParaRPr/>
          </a:p>
        </p:txBody>
      </p:sp>
      <p:sp>
        <p:nvSpPr>
          <p:cNvPr id="327092208" name=""/>
          <p:cNvSpPr>
            <a:spLocks noGrp="1"/>
          </p:cNvSpPr>
          <p:nvPr/>
        </p:nvSpPr>
        <p:spPr bwMode="auto">
          <a:xfrm>
            <a:off x="7924800" y="3771900"/>
            <a:ext cx="2571750" cy="0"/>
          </a:xfrm>
          <a:prstGeom prst="line">
            <a:avLst/>
          </a:prstGeom>
          <a:ln w="9525">
            <a:solidFill>
              <a:srgbClr val="D97706"/>
            </a:solidFill>
            <a:prstDash val="solid"/>
          </a:ln>
        </p:spPr>
      </p:sp>
      <p:sp>
        <p:nvSpPr>
          <p:cNvPr id="1176949748" name=""/>
          <p:cNvSpPr>
            <a:spLocks noGrp="1"/>
          </p:cNvSpPr>
          <p:nvPr/>
        </p:nvSpPr>
        <p:spPr bwMode="auto">
          <a:xfrm>
            <a:off x="7924800" y="4000500"/>
            <a:ext cx="2590800" cy="619125"/>
          </a:xfrm>
          <a:prstGeom prst="rect">
            <a:avLst/>
          </a:prstGeom>
          <a:noFill/>
          <a:ln w="0">
            <a:noFill/>
            <a:prstDash val="solid"/>
          </a:ln>
        </p:spPr>
        <p:txBody>
          <a:bodyPr anchor="ctr"/>
          <a:lstStyle/>
          <a:p>
            <a:pPr algn="l">
              <a:buNone/>
              <a:defRPr sz="1350" b="1">
                <a:solidFill>
                  <a:srgbClr val="DC2626"/>
                </a:solidFill>
                <a:latin typeface="Calibri"/>
                <a:ea typeface="Calibri"/>
                <a:cs typeface="Calibri"/>
              </a:defRPr>
            </a:pPr>
            <a:r>
              <a:rPr sz="1350" b="1">
                <a:solidFill>
                  <a:srgbClr val="DC2626"/>
                </a:solidFill>
                <a:latin typeface="Calibri"/>
                <a:ea typeface="Calibri"/>
                <a:cs typeface="Calibri"/>
              </a:rPr>
              <a:t>Trade-off: lighter than LSTM,</a:t>
            </a:r>
            <a:endParaRPr/>
          </a:p>
          <a:p>
            <a:pPr algn="l">
              <a:buNone/>
              <a:defRPr sz="1350" b="1">
                <a:solidFill>
                  <a:srgbClr val="DC2626"/>
                </a:solidFill>
                <a:latin typeface="Calibri"/>
                <a:ea typeface="Calibri"/>
                <a:cs typeface="Calibri"/>
              </a:defRPr>
            </a:pPr>
            <a:r>
              <a:rPr sz="1350" b="1">
                <a:solidFill>
                  <a:srgbClr val="DC2626"/>
                </a:solidFill>
                <a:latin typeface="Calibri"/>
                <a:ea typeface="Calibri"/>
                <a:cs typeface="Calibri"/>
              </a:rPr>
              <a:t>but still sequential.</a:t>
            </a:r>
            <a:endParaRPr/>
          </a:p>
        </p:txBody>
      </p:sp>
      <p:sp>
        <p:nvSpPr>
          <p:cNvPr id="1591407678" name=""/>
          <p:cNvSpPr>
            <a:spLocks noGrp="1"/>
          </p:cNvSpPr>
          <p:nvPr/>
        </p:nvSpPr>
        <p:spPr bwMode="auto">
          <a:xfrm>
            <a:off x="876299" y="5486400"/>
            <a:ext cx="10401300" cy="285750"/>
          </a:xfrm>
          <a:prstGeom prst="rect">
            <a:avLst/>
          </a:prstGeom>
          <a:noFill/>
          <a:ln w="0">
            <a:noFill/>
            <a:prstDash val="solid"/>
          </a:ln>
        </p:spPr>
        <p:txBody>
          <a:bodyPr anchor="ctr"/>
          <a:lstStyle/>
          <a:p>
            <a:pPr algn="ctr">
              <a:buNone/>
              <a:defRPr sz="1350" b="1">
                <a:solidFill>
                  <a:srgbClr val="667085"/>
                </a:solidFill>
                <a:latin typeface="Calibri"/>
                <a:ea typeface="Calibri"/>
                <a:cs typeface="Calibri"/>
              </a:defRPr>
            </a:pPr>
            <a:r>
              <a:rPr sz="1350" b="1">
                <a:solidFill>
                  <a:srgbClr val="667085"/>
                </a:solidFill>
                <a:latin typeface="Calibri"/>
                <a:ea typeface="Calibri"/>
                <a:cs typeface="Calibri"/>
              </a:rPr>
              <a:t>Shared limitation: each step depends on the previous step, so training and inference are hard to parallelize.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989602604" name=""/>
          <p:cNvSpPr>
            <a:spLocks noGrp="1"/>
          </p:cNvSpPr>
          <p:nvPr/>
        </p:nvSpPr>
        <p:spPr bwMode="auto">
          <a:xfrm>
            <a:off x="0" y="0"/>
            <a:ext cx="12192000" cy="6858000"/>
          </a:xfrm>
          <a:prstGeom prst="rect">
            <a:avLst/>
          </a:prstGeom>
          <a:solidFill>
            <a:srgbClr val="FFFFFF"/>
          </a:solidFill>
          <a:ln w="0">
            <a:noFill/>
            <a:prstDash val="solid"/>
          </a:ln>
        </p:spPr>
      </p:sp>
      <p:sp>
        <p:nvSpPr>
          <p:cNvPr id="261556299" name=""/>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Sequences</a:t>
            </a:r>
            <a:endParaRPr/>
          </a:p>
        </p:txBody>
      </p:sp>
      <p:sp>
        <p:nvSpPr>
          <p:cNvPr id="1512049015" name=""/>
          <p:cNvSpPr>
            <a:spLocks noGrp="1"/>
          </p:cNvSpPr>
          <p:nvPr/>
        </p:nvSpPr>
        <p:spPr bwMode="auto">
          <a:xfrm>
            <a:off x="609600" y="590549"/>
            <a:ext cx="10287000" cy="590549"/>
          </a:xfrm>
          <a:prstGeom prst="rect">
            <a:avLst/>
          </a:prstGeom>
          <a:noFill/>
          <a:ln w="0">
            <a:noFill/>
            <a:prstDash val="solid"/>
          </a:ln>
        </p:spPr>
        <p:txBody>
          <a:bodyPr anchor="ctr"/>
          <a:lstStyle/>
          <a:p>
            <a:pPr algn="l">
              <a:buNone/>
              <a:defRPr sz="2700" b="1">
                <a:solidFill>
                  <a:srgbClr val="0B0F19"/>
                </a:solidFill>
                <a:latin typeface="Calibri"/>
                <a:ea typeface="Calibri"/>
                <a:cs typeface="Calibri"/>
              </a:defRPr>
            </a:pPr>
            <a:r>
              <a:rPr sz="2700" b="1">
                <a:solidFill>
                  <a:srgbClr val="0B0F19"/>
                </a:solidFill>
                <a:latin typeface="Calibri"/>
                <a:ea typeface="Calibri"/>
                <a:cs typeface="Calibri"/>
              </a:rPr>
              <a:t>Encoder–decoder maps one sequence to another</a:t>
            </a:r>
            <a:endParaRPr/>
          </a:p>
        </p:txBody>
      </p:sp>
      <p:sp>
        <p:nvSpPr>
          <p:cNvPr id="1473387865" name=""/>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29</a:t>
            </a:r>
            <a:endParaRPr/>
          </a:p>
        </p:txBody>
      </p:sp>
      <p:pic>
        <p:nvPicPr>
          <p:cNvPr id="2063006322" name=""/>
          <p:cNvPicPr>
            <a:picLocks noChangeAspect="1"/>
          </p:cNvPicPr>
          <p:nvPr/>
        </p:nvPicPr>
        <p:blipFill rotWithShape="1">
          <a:blip r:embed="rId3"/>
          <a:stretch/>
        </p:blipFill>
        <p:spPr bwMode="auto">
          <a:xfrm>
            <a:off x="1965935" y="1409700"/>
            <a:ext cx="8260129" cy="46482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45605594" name=""/>
          <p:cNvSpPr>
            <a:spLocks noGrp="1"/>
          </p:cNvSpPr>
          <p:nvPr/>
        </p:nvSpPr>
        <p:spPr bwMode="auto">
          <a:xfrm>
            <a:off x="0" y="0"/>
            <a:ext cx="12192000" cy="6858000"/>
          </a:xfrm>
          <a:prstGeom prst="rect">
            <a:avLst/>
          </a:prstGeom>
          <a:solidFill>
            <a:srgbClr val="FFFFFF"/>
          </a:solidFill>
          <a:ln w="0">
            <a:noFill/>
            <a:prstDash val="solid"/>
          </a:ln>
        </p:spPr>
      </p:sp>
      <p:sp>
        <p:nvSpPr>
          <p:cNvPr id="1282020854" name=""/>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Attention</a:t>
            </a:r>
            <a:endParaRPr/>
          </a:p>
        </p:txBody>
      </p:sp>
      <p:sp>
        <p:nvSpPr>
          <p:cNvPr id="1826648596" name=""/>
          <p:cNvSpPr>
            <a:spLocks noGrp="1"/>
          </p:cNvSpPr>
          <p:nvPr/>
        </p:nvSpPr>
        <p:spPr bwMode="auto">
          <a:xfrm>
            <a:off x="609600" y="590549"/>
            <a:ext cx="10287000" cy="590549"/>
          </a:xfrm>
          <a:prstGeom prst="rect">
            <a:avLst/>
          </a:prstGeom>
          <a:noFill/>
          <a:ln w="0">
            <a:noFill/>
            <a:prstDash val="solid"/>
          </a:ln>
        </p:spPr>
        <p:txBody>
          <a:bodyPr anchor="ctr"/>
          <a:lstStyle/>
          <a:p>
            <a:pPr algn="l">
              <a:buNone/>
              <a:defRPr sz="2650" b="1">
                <a:solidFill>
                  <a:srgbClr val="0B0F19"/>
                </a:solidFill>
                <a:latin typeface="Calibri"/>
                <a:ea typeface="Calibri"/>
                <a:cs typeface="Calibri"/>
              </a:defRPr>
            </a:pPr>
            <a:r>
              <a:rPr sz="2650" b="1">
                <a:solidFill>
                  <a:srgbClr val="0B0F19"/>
                </a:solidFill>
                <a:latin typeface="Calibri"/>
                <a:ea typeface="Calibri"/>
                <a:cs typeface="Calibri"/>
              </a:rPr>
              <a:t>Attention removes the fixed-vector bottleneck</a:t>
            </a:r>
            <a:endParaRPr/>
          </a:p>
        </p:txBody>
      </p:sp>
      <p:sp>
        <p:nvSpPr>
          <p:cNvPr id="1183250404" name=""/>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30</a:t>
            </a:r>
            <a:endParaRPr/>
          </a:p>
        </p:txBody>
      </p:sp>
      <p:sp>
        <p:nvSpPr>
          <p:cNvPr id="1906576323" name=""/>
          <p:cNvSpPr>
            <a:spLocks noGrp="1"/>
          </p:cNvSpPr>
          <p:nvPr/>
        </p:nvSpPr>
        <p:spPr bwMode="auto">
          <a:xfrm>
            <a:off x="704850" y="1257300"/>
            <a:ext cx="10668000" cy="285750"/>
          </a:xfrm>
          <a:prstGeom prst="rect">
            <a:avLst/>
          </a:prstGeom>
          <a:noFill/>
          <a:ln w="0">
            <a:noFill/>
            <a:prstDash val="solid"/>
          </a:ln>
        </p:spPr>
        <p:txBody>
          <a:bodyPr anchor="ctr"/>
          <a:lstStyle/>
          <a:p>
            <a:pPr algn="l">
              <a:buNone/>
              <a:defRPr sz="1450" b="0">
                <a:solidFill>
                  <a:srgbClr val="667085"/>
                </a:solidFill>
                <a:latin typeface="Calibri"/>
                <a:ea typeface="Calibri"/>
                <a:cs typeface="Calibri"/>
              </a:defRPr>
            </a:pPr>
            <a:r>
              <a:rPr sz="1450" b="0">
                <a:solidFill>
                  <a:srgbClr val="667085"/>
                </a:solidFill>
                <a:latin typeface="Calibri"/>
                <a:ea typeface="Calibri"/>
                <a:cs typeface="Calibri"/>
              </a:rPr>
              <a:t>Instead of compressing every source token into one vector, each output step can consult the most relevant encoder states.</a:t>
            </a:r>
            <a:endParaRPr/>
          </a:p>
        </p:txBody>
      </p:sp>
      <p:sp>
        <p:nvSpPr>
          <p:cNvPr id="713842563" name=""/>
          <p:cNvSpPr>
            <a:spLocks noGrp="1"/>
          </p:cNvSpPr>
          <p:nvPr/>
        </p:nvSpPr>
        <p:spPr bwMode="auto">
          <a:xfrm>
            <a:off x="781050" y="1952625"/>
            <a:ext cx="4286250" cy="2857500"/>
          </a:xfrm>
          <a:prstGeom prst="roundRect">
            <a:avLst>
              <a:gd name="adj" fmla="val 4000"/>
            </a:avLst>
          </a:prstGeom>
          <a:solidFill>
            <a:srgbClr val="F8FAFC"/>
          </a:solidFill>
          <a:ln w="9525">
            <a:solidFill>
              <a:srgbClr val="CBD5E1"/>
            </a:solidFill>
            <a:prstDash val="solid"/>
          </a:ln>
        </p:spPr>
      </p:sp>
      <p:sp>
        <p:nvSpPr>
          <p:cNvPr id="969174602" name=""/>
          <p:cNvSpPr>
            <a:spLocks noGrp="1"/>
          </p:cNvSpPr>
          <p:nvPr/>
        </p:nvSpPr>
        <p:spPr bwMode="auto">
          <a:xfrm>
            <a:off x="1066800" y="2171700"/>
            <a:ext cx="2667000" cy="304800"/>
          </a:xfrm>
          <a:prstGeom prst="rect">
            <a:avLst/>
          </a:prstGeom>
          <a:noFill/>
          <a:ln w="0">
            <a:noFill/>
            <a:prstDash val="solid"/>
          </a:ln>
        </p:spPr>
        <p:txBody>
          <a:bodyPr anchor="ctr"/>
          <a:lstStyle/>
          <a:p>
            <a:pPr algn="l">
              <a:buNone/>
              <a:defRPr sz="1650" b="1">
                <a:solidFill>
                  <a:srgbClr val="DC2626"/>
                </a:solidFill>
                <a:latin typeface="Calibri"/>
                <a:ea typeface="Calibri"/>
                <a:cs typeface="Calibri"/>
              </a:defRPr>
            </a:pPr>
            <a:r>
              <a:rPr sz="1650" b="1">
                <a:solidFill>
                  <a:srgbClr val="DC2626"/>
                </a:solidFill>
                <a:latin typeface="Calibri"/>
                <a:ea typeface="Calibri"/>
                <a:cs typeface="Calibri"/>
              </a:rPr>
              <a:t>Without attention</a:t>
            </a:r>
            <a:endParaRPr/>
          </a:p>
        </p:txBody>
      </p:sp>
      <p:sp>
        <p:nvSpPr>
          <p:cNvPr id="269245450" name=""/>
          <p:cNvSpPr>
            <a:spLocks noGrp="1"/>
          </p:cNvSpPr>
          <p:nvPr/>
        </p:nvSpPr>
        <p:spPr bwMode="auto">
          <a:xfrm>
            <a:off x="1190625" y="2952750"/>
            <a:ext cx="552450" cy="400050"/>
          </a:xfrm>
          <a:prstGeom prst="roundRect">
            <a:avLst>
              <a:gd name="adj" fmla="val 28571"/>
            </a:avLst>
          </a:prstGeom>
          <a:solidFill>
            <a:srgbClr val="F1F5F9"/>
          </a:solidFill>
          <a:ln w="9525">
            <a:solidFill>
              <a:srgbClr val="CBD5E1"/>
            </a:solidFill>
            <a:prstDash val="solid"/>
          </a:ln>
        </p:spPr>
      </p:sp>
      <p:sp>
        <p:nvSpPr>
          <p:cNvPr id="93602512" name=""/>
          <p:cNvSpPr>
            <a:spLocks noGrp="1"/>
          </p:cNvSpPr>
          <p:nvPr/>
        </p:nvSpPr>
        <p:spPr bwMode="auto">
          <a:xfrm>
            <a:off x="1190625" y="2952750"/>
            <a:ext cx="552450" cy="400050"/>
          </a:xfrm>
          <a:prstGeom prst="rect">
            <a:avLst/>
          </a:prstGeom>
          <a:noFill/>
          <a:ln w="0">
            <a:noFill/>
            <a:prstDash val="solid"/>
          </a:ln>
        </p:spPr>
        <p:txBody>
          <a:bodyPr anchor="ctr"/>
          <a:lstStyle/>
          <a:p>
            <a:pPr algn="ctr">
              <a:buNone/>
              <a:defRPr sz="1200" b="1">
                <a:solidFill>
                  <a:srgbClr val="0B0F19"/>
                </a:solidFill>
                <a:latin typeface="Calibri"/>
                <a:ea typeface="Calibri"/>
                <a:cs typeface="Calibri"/>
              </a:defRPr>
            </a:pPr>
            <a:r>
              <a:rPr sz="1200" b="1">
                <a:solidFill>
                  <a:srgbClr val="0B0F19"/>
                </a:solidFill>
                <a:latin typeface="Calibri"/>
                <a:ea typeface="Calibri"/>
                <a:cs typeface="Calibri"/>
              </a:rPr>
              <a:t>The</a:t>
            </a:r>
            <a:endParaRPr/>
          </a:p>
        </p:txBody>
      </p:sp>
      <p:sp>
        <p:nvSpPr>
          <p:cNvPr id="1881943618" name=""/>
          <p:cNvSpPr>
            <a:spLocks noGrp="1"/>
          </p:cNvSpPr>
          <p:nvPr/>
        </p:nvSpPr>
        <p:spPr bwMode="auto">
          <a:xfrm>
            <a:off x="1905000" y="2952750"/>
            <a:ext cx="552450" cy="400050"/>
          </a:xfrm>
          <a:prstGeom prst="roundRect">
            <a:avLst>
              <a:gd name="adj" fmla="val 28571"/>
            </a:avLst>
          </a:prstGeom>
          <a:solidFill>
            <a:srgbClr val="F1F5F9"/>
          </a:solidFill>
          <a:ln w="9525">
            <a:solidFill>
              <a:srgbClr val="CBD5E1"/>
            </a:solidFill>
            <a:prstDash val="solid"/>
          </a:ln>
        </p:spPr>
      </p:sp>
      <p:sp>
        <p:nvSpPr>
          <p:cNvPr id="1377672320" name=""/>
          <p:cNvSpPr>
            <a:spLocks noGrp="1"/>
          </p:cNvSpPr>
          <p:nvPr/>
        </p:nvSpPr>
        <p:spPr bwMode="auto">
          <a:xfrm>
            <a:off x="1905000" y="2952750"/>
            <a:ext cx="552450" cy="400050"/>
          </a:xfrm>
          <a:prstGeom prst="rect">
            <a:avLst/>
          </a:prstGeom>
          <a:noFill/>
          <a:ln w="0">
            <a:noFill/>
            <a:prstDash val="solid"/>
          </a:ln>
        </p:spPr>
        <p:txBody>
          <a:bodyPr anchor="ctr"/>
          <a:lstStyle/>
          <a:p>
            <a:pPr algn="ctr">
              <a:buNone/>
              <a:defRPr sz="1200" b="1">
                <a:solidFill>
                  <a:srgbClr val="0B0F19"/>
                </a:solidFill>
                <a:latin typeface="Calibri"/>
                <a:ea typeface="Calibri"/>
                <a:cs typeface="Calibri"/>
              </a:defRPr>
            </a:pPr>
            <a:r>
              <a:rPr sz="1200" b="1">
                <a:solidFill>
                  <a:srgbClr val="0B0F19"/>
                </a:solidFill>
                <a:latin typeface="Calibri"/>
                <a:ea typeface="Calibri"/>
                <a:cs typeface="Calibri"/>
              </a:rPr>
              <a:t>cat</a:t>
            </a:r>
            <a:endParaRPr/>
          </a:p>
        </p:txBody>
      </p:sp>
      <p:sp>
        <p:nvSpPr>
          <p:cNvPr id="1000571148" name=""/>
          <p:cNvSpPr>
            <a:spLocks noGrp="1"/>
          </p:cNvSpPr>
          <p:nvPr/>
        </p:nvSpPr>
        <p:spPr bwMode="auto">
          <a:xfrm>
            <a:off x="2619375" y="2952750"/>
            <a:ext cx="552450" cy="400050"/>
          </a:xfrm>
          <a:prstGeom prst="roundRect">
            <a:avLst>
              <a:gd name="adj" fmla="val 28571"/>
            </a:avLst>
          </a:prstGeom>
          <a:solidFill>
            <a:srgbClr val="F1F5F9"/>
          </a:solidFill>
          <a:ln w="9525">
            <a:solidFill>
              <a:srgbClr val="CBD5E1"/>
            </a:solidFill>
            <a:prstDash val="solid"/>
          </a:ln>
        </p:spPr>
      </p:sp>
      <p:sp>
        <p:nvSpPr>
          <p:cNvPr id="234262455" name=""/>
          <p:cNvSpPr>
            <a:spLocks noGrp="1"/>
          </p:cNvSpPr>
          <p:nvPr/>
        </p:nvSpPr>
        <p:spPr bwMode="auto">
          <a:xfrm>
            <a:off x="2619375" y="2952750"/>
            <a:ext cx="552450" cy="400050"/>
          </a:xfrm>
          <a:prstGeom prst="rect">
            <a:avLst/>
          </a:prstGeom>
          <a:noFill/>
          <a:ln w="0">
            <a:noFill/>
            <a:prstDash val="solid"/>
          </a:ln>
        </p:spPr>
        <p:txBody>
          <a:bodyPr anchor="ctr"/>
          <a:lstStyle/>
          <a:p>
            <a:pPr algn="ctr">
              <a:buNone/>
              <a:defRPr sz="1200" b="1">
                <a:solidFill>
                  <a:srgbClr val="0B0F19"/>
                </a:solidFill>
                <a:latin typeface="Calibri"/>
                <a:ea typeface="Calibri"/>
                <a:cs typeface="Calibri"/>
              </a:defRPr>
            </a:pPr>
            <a:r>
              <a:rPr sz="1200" b="1">
                <a:solidFill>
                  <a:srgbClr val="0B0F19"/>
                </a:solidFill>
                <a:latin typeface="Calibri"/>
                <a:ea typeface="Calibri"/>
                <a:cs typeface="Calibri"/>
              </a:rPr>
              <a:t>sat</a:t>
            </a:r>
            <a:endParaRPr/>
          </a:p>
        </p:txBody>
      </p:sp>
      <p:sp>
        <p:nvSpPr>
          <p:cNvPr id="1325909978" name=""/>
          <p:cNvSpPr>
            <a:spLocks noGrp="1"/>
          </p:cNvSpPr>
          <p:nvPr/>
        </p:nvSpPr>
        <p:spPr bwMode="auto">
          <a:xfrm>
            <a:off x="3333750" y="2952750"/>
            <a:ext cx="552450" cy="400050"/>
          </a:xfrm>
          <a:prstGeom prst="roundRect">
            <a:avLst>
              <a:gd name="adj" fmla="val 28571"/>
            </a:avLst>
          </a:prstGeom>
          <a:solidFill>
            <a:srgbClr val="F1F5F9"/>
          </a:solidFill>
          <a:ln w="9525">
            <a:solidFill>
              <a:srgbClr val="CBD5E1"/>
            </a:solidFill>
            <a:prstDash val="solid"/>
          </a:ln>
        </p:spPr>
      </p:sp>
      <p:sp>
        <p:nvSpPr>
          <p:cNvPr id="1945518173" name=""/>
          <p:cNvSpPr>
            <a:spLocks noGrp="1"/>
          </p:cNvSpPr>
          <p:nvPr/>
        </p:nvSpPr>
        <p:spPr bwMode="auto">
          <a:xfrm>
            <a:off x="3333750" y="2952750"/>
            <a:ext cx="552450" cy="400050"/>
          </a:xfrm>
          <a:prstGeom prst="rect">
            <a:avLst/>
          </a:prstGeom>
          <a:noFill/>
          <a:ln w="0">
            <a:noFill/>
            <a:prstDash val="solid"/>
          </a:ln>
        </p:spPr>
        <p:txBody>
          <a:bodyPr anchor="ctr"/>
          <a:lstStyle/>
          <a:p>
            <a:pPr algn="ctr">
              <a:buNone/>
              <a:defRPr sz="1200" b="1">
                <a:solidFill>
                  <a:srgbClr val="0B0F19"/>
                </a:solidFill>
                <a:latin typeface="Calibri"/>
                <a:ea typeface="Calibri"/>
                <a:cs typeface="Calibri"/>
              </a:defRPr>
            </a:pPr>
            <a:r>
              <a:rPr sz="1200" b="1">
                <a:solidFill>
                  <a:srgbClr val="0B0F19"/>
                </a:solidFill>
                <a:latin typeface="Calibri"/>
                <a:ea typeface="Calibri"/>
                <a:cs typeface="Calibri"/>
              </a:rPr>
              <a:t>there</a:t>
            </a:r>
            <a:endParaRPr/>
          </a:p>
        </p:txBody>
      </p:sp>
      <p:sp>
        <p:nvSpPr>
          <p:cNvPr id="1121480323" name=""/>
          <p:cNvSpPr>
            <a:spLocks noGrp="1"/>
          </p:cNvSpPr>
          <p:nvPr/>
        </p:nvSpPr>
        <p:spPr bwMode="auto">
          <a:xfrm>
            <a:off x="2724150" y="3486150"/>
            <a:ext cx="400050" cy="400050"/>
          </a:xfrm>
          <a:prstGeom prst="rect">
            <a:avLst/>
          </a:prstGeom>
          <a:noFill/>
          <a:ln w="0">
            <a:noFill/>
            <a:prstDash val="solid"/>
          </a:ln>
        </p:spPr>
        <p:txBody>
          <a:bodyPr anchor="ctr"/>
          <a:lstStyle/>
          <a:p>
            <a:pPr algn="ctr">
              <a:buNone/>
              <a:defRPr sz="2200" b="1">
                <a:solidFill>
                  <a:srgbClr val="667085"/>
                </a:solidFill>
                <a:latin typeface="Calibri"/>
                <a:ea typeface="Calibri"/>
                <a:cs typeface="Calibri"/>
              </a:defRPr>
            </a:pPr>
            <a:r>
              <a:rPr sz="2200" b="1">
                <a:solidFill>
                  <a:srgbClr val="667085"/>
                </a:solidFill>
                <a:latin typeface="Calibri"/>
                <a:ea typeface="Calibri"/>
                <a:cs typeface="Calibri"/>
              </a:rPr>
              <a:t>→</a:t>
            </a:r>
            <a:endParaRPr/>
          </a:p>
        </p:txBody>
      </p:sp>
      <p:sp>
        <p:nvSpPr>
          <p:cNvPr id="1570394486" name=""/>
          <p:cNvSpPr>
            <a:spLocks noGrp="1"/>
          </p:cNvSpPr>
          <p:nvPr/>
        </p:nvSpPr>
        <p:spPr bwMode="auto">
          <a:xfrm>
            <a:off x="1943100" y="4010025"/>
            <a:ext cx="1943100" cy="438149"/>
          </a:xfrm>
          <a:prstGeom prst="roundRect">
            <a:avLst>
              <a:gd name="adj" fmla="val 26087"/>
            </a:avLst>
          </a:prstGeom>
          <a:solidFill>
            <a:srgbClr val="FEE2E2"/>
          </a:solidFill>
          <a:ln w="9525">
            <a:solidFill>
              <a:srgbClr val="DC2626"/>
            </a:solidFill>
            <a:prstDash val="solid"/>
          </a:ln>
        </p:spPr>
      </p:sp>
      <p:sp>
        <p:nvSpPr>
          <p:cNvPr id="1928509983" name=""/>
          <p:cNvSpPr>
            <a:spLocks noGrp="1"/>
          </p:cNvSpPr>
          <p:nvPr/>
        </p:nvSpPr>
        <p:spPr bwMode="auto">
          <a:xfrm>
            <a:off x="1943100" y="4010025"/>
            <a:ext cx="1943100" cy="438149"/>
          </a:xfrm>
          <a:prstGeom prst="rect">
            <a:avLst/>
          </a:prstGeom>
          <a:noFill/>
          <a:ln w="0">
            <a:noFill/>
            <a:prstDash val="solid"/>
          </a:ln>
        </p:spPr>
        <p:txBody>
          <a:bodyPr anchor="ctr"/>
          <a:lstStyle/>
          <a:p>
            <a:pPr algn="ctr">
              <a:buNone/>
              <a:defRPr sz="1300" b="1">
                <a:solidFill>
                  <a:srgbClr val="DC2626"/>
                </a:solidFill>
                <a:latin typeface="Calibri"/>
                <a:ea typeface="Calibri"/>
                <a:cs typeface="Calibri"/>
              </a:defRPr>
            </a:pPr>
            <a:r>
              <a:rPr sz="1300" b="1">
                <a:solidFill>
                  <a:srgbClr val="DC2626"/>
                </a:solidFill>
                <a:latin typeface="Calibri"/>
                <a:ea typeface="Calibri"/>
                <a:cs typeface="Calibri"/>
              </a:rPr>
              <a:t>one fixed context vector</a:t>
            </a:r>
            <a:endParaRPr/>
          </a:p>
        </p:txBody>
      </p:sp>
      <p:sp>
        <p:nvSpPr>
          <p:cNvPr id="1756776669" name=""/>
          <p:cNvSpPr>
            <a:spLocks noGrp="1"/>
          </p:cNvSpPr>
          <p:nvPr/>
        </p:nvSpPr>
        <p:spPr bwMode="auto">
          <a:xfrm>
            <a:off x="5562600" y="1952625"/>
            <a:ext cx="5353050" cy="2857500"/>
          </a:xfrm>
          <a:prstGeom prst="roundRect">
            <a:avLst>
              <a:gd name="adj" fmla="val 4000"/>
            </a:avLst>
          </a:prstGeom>
          <a:solidFill>
            <a:srgbClr val="F8FAFC"/>
          </a:solidFill>
          <a:ln w="9525">
            <a:solidFill>
              <a:srgbClr val="CBD5E1"/>
            </a:solidFill>
            <a:prstDash val="solid"/>
          </a:ln>
        </p:spPr>
      </p:sp>
      <p:sp>
        <p:nvSpPr>
          <p:cNvPr id="1928182548" name=""/>
          <p:cNvSpPr>
            <a:spLocks noGrp="1"/>
          </p:cNvSpPr>
          <p:nvPr/>
        </p:nvSpPr>
        <p:spPr bwMode="auto">
          <a:xfrm>
            <a:off x="5848350" y="2171700"/>
            <a:ext cx="2667000" cy="304800"/>
          </a:xfrm>
          <a:prstGeom prst="rect">
            <a:avLst/>
          </a:prstGeom>
          <a:noFill/>
          <a:ln w="0">
            <a:noFill/>
            <a:prstDash val="solid"/>
          </a:ln>
        </p:spPr>
        <p:txBody>
          <a:bodyPr anchor="ctr"/>
          <a:lstStyle/>
          <a:p>
            <a:pPr algn="l">
              <a:buNone/>
              <a:defRPr sz="1650" b="1">
                <a:solidFill>
                  <a:srgbClr val="2563EB"/>
                </a:solidFill>
                <a:latin typeface="Calibri"/>
                <a:ea typeface="Calibri"/>
                <a:cs typeface="Calibri"/>
              </a:defRPr>
            </a:pPr>
            <a:r>
              <a:rPr sz="1650" b="1">
                <a:solidFill>
                  <a:srgbClr val="2563EB"/>
                </a:solidFill>
                <a:latin typeface="Calibri"/>
                <a:ea typeface="Calibri"/>
                <a:cs typeface="Calibri"/>
              </a:rPr>
              <a:t>With attention</a:t>
            </a:r>
            <a:endParaRPr/>
          </a:p>
        </p:txBody>
      </p:sp>
      <p:sp>
        <p:nvSpPr>
          <p:cNvPr id="1064166990" name=""/>
          <p:cNvSpPr>
            <a:spLocks noGrp="1"/>
          </p:cNvSpPr>
          <p:nvPr/>
        </p:nvSpPr>
        <p:spPr bwMode="auto">
          <a:xfrm>
            <a:off x="6000750" y="2952750"/>
            <a:ext cx="571500" cy="400050"/>
          </a:xfrm>
          <a:prstGeom prst="roundRect">
            <a:avLst>
              <a:gd name="adj" fmla="val 28571"/>
            </a:avLst>
          </a:prstGeom>
          <a:solidFill>
            <a:srgbClr val="F1F5F9"/>
          </a:solidFill>
          <a:ln w="9525">
            <a:solidFill>
              <a:srgbClr val="CBD5E1"/>
            </a:solidFill>
            <a:prstDash val="solid"/>
          </a:ln>
        </p:spPr>
      </p:sp>
      <p:sp>
        <p:nvSpPr>
          <p:cNvPr id="935771942" name=""/>
          <p:cNvSpPr>
            <a:spLocks noGrp="1"/>
          </p:cNvSpPr>
          <p:nvPr/>
        </p:nvSpPr>
        <p:spPr bwMode="auto">
          <a:xfrm>
            <a:off x="6000750" y="2952750"/>
            <a:ext cx="571500" cy="400050"/>
          </a:xfrm>
          <a:prstGeom prst="rect">
            <a:avLst/>
          </a:prstGeom>
          <a:noFill/>
          <a:ln w="0">
            <a:noFill/>
            <a:prstDash val="solid"/>
          </a:ln>
        </p:spPr>
        <p:txBody>
          <a:bodyPr anchor="ctr"/>
          <a:lstStyle/>
          <a:p>
            <a:pPr algn="ctr">
              <a:buNone/>
              <a:defRPr sz="1200" b="1">
                <a:solidFill>
                  <a:srgbClr val="0B0F19"/>
                </a:solidFill>
                <a:latin typeface="Calibri"/>
                <a:ea typeface="Calibri"/>
                <a:cs typeface="Calibri"/>
              </a:defRPr>
            </a:pPr>
            <a:r>
              <a:rPr sz="1200" b="1">
                <a:solidFill>
                  <a:srgbClr val="0B0F19"/>
                </a:solidFill>
                <a:latin typeface="Calibri"/>
                <a:ea typeface="Calibri"/>
                <a:cs typeface="Calibri"/>
              </a:rPr>
              <a:t>The</a:t>
            </a:r>
            <a:endParaRPr/>
          </a:p>
        </p:txBody>
      </p:sp>
      <p:sp>
        <p:nvSpPr>
          <p:cNvPr id="1450770127" name=""/>
          <p:cNvSpPr>
            <a:spLocks noGrp="1"/>
          </p:cNvSpPr>
          <p:nvPr/>
        </p:nvSpPr>
        <p:spPr bwMode="auto">
          <a:xfrm>
            <a:off x="6734175" y="2952750"/>
            <a:ext cx="571500" cy="400050"/>
          </a:xfrm>
          <a:prstGeom prst="roundRect">
            <a:avLst>
              <a:gd name="adj" fmla="val 28571"/>
            </a:avLst>
          </a:prstGeom>
          <a:solidFill>
            <a:srgbClr val="EFF6FF"/>
          </a:solidFill>
          <a:ln w="9525">
            <a:solidFill>
              <a:srgbClr val="2563EB"/>
            </a:solidFill>
            <a:prstDash val="solid"/>
          </a:ln>
        </p:spPr>
      </p:sp>
      <p:sp>
        <p:nvSpPr>
          <p:cNvPr id="1657162876" name=""/>
          <p:cNvSpPr>
            <a:spLocks noGrp="1"/>
          </p:cNvSpPr>
          <p:nvPr/>
        </p:nvSpPr>
        <p:spPr bwMode="auto">
          <a:xfrm>
            <a:off x="6734175" y="2952750"/>
            <a:ext cx="571500" cy="400050"/>
          </a:xfrm>
          <a:prstGeom prst="rect">
            <a:avLst/>
          </a:prstGeom>
          <a:noFill/>
          <a:ln w="0">
            <a:noFill/>
            <a:prstDash val="solid"/>
          </a:ln>
        </p:spPr>
        <p:txBody>
          <a:bodyPr anchor="ctr"/>
          <a:lstStyle/>
          <a:p>
            <a:pPr algn="ctr">
              <a:buNone/>
              <a:defRPr sz="1200" b="1">
                <a:solidFill>
                  <a:srgbClr val="0B0F19"/>
                </a:solidFill>
                <a:latin typeface="Calibri"/>
                <a:ea typeface="Calibri"/>
                <a:cs typeface="Calibri"/>
              </a:defRPr>
            </a:pPr>
            <a:r>
              <a:rPr sz="1200" b="1">
                <a:solidFill>
                  <a:srgbClr val="0B0F19"/>
                </a:solidFill>
                <a:latin typeface="Calibri"/>
                <a:ea typeface="Calibri"/>
                <a:cs typeface="Calibri"/>
              </a:rPr>
              <a:t>cat</a:t>
            </a:r>
            <a:endParaRPr/>
          </a:p>
        </p:txBody>
      </p:sp>
      <p:sp>
        <p:nvSpPr>
          <p:cNvPr id="1853229097" name=""/>
          <p:cNvSpPr>
            <a:spLocks noGrp="1"/>
          </p:cNvSpPr>
          <p:nvPr/>
        </p:nvSpPr>
        <p:spPr bwMode="auto">
          <a:xfrm>
            <a:off x="7467600" y="2952750"/>
            <a:ext cx="571500" cy="400050"/>
          </a:xfrm>
          <a:prstGeom prst="roundRect">
            <a:avLst>
              <a:gd name="adj" fmla="val 28571"/>
            </a:avLst>
          </a:prstGeom>
          <a:solidFill>
            <a:srgbClr val="F1F5F9"/>
          </a:solidFill>
          <a:ln w="9525">
            <a:solidFill>
              <a:srgbClr val="CBD5E1"/>
            </a:solidFill>
            <a:prstDash val="solid"/>
          </a:ln>
        </p:spPr>
      </p:sp>
      <p:sp>
        <p:nvSpPr>
          <p:cNvPr id="1466949097" name=""/>
          <p:cNvSpPr>
            <a:spLocks noGrp="1"/>
          </p:cNvSpPr>
          <p:nvPr/>
        </p:nvSpPr>
        <p:spPr bwMode="auto">
          <a:xfrm>
            <a:off x="7467600" y="2952750"/>
            <a:ext cx="571500" cy="400050"/>
          </a:xfrm>
          <a:prstGeom prst="rect">
            <a:avLst/>
          </a:prstGeom>
          <a:noFill/>
          <a:ln w="0">
            <a:noFill/>
            <a:prstDash val="solid"/>
          </a:ln>
        </p:spPr>
        <p:txBody>
          <a:bodyPr anchor="ctr"/>
          <a:lstStyle/>
          <a:p>
            <a:pPr algn="ctr">
              <a:buNone/>
              <a:defRPr sz="1200" b="1">
                <a:solidFill>
                  <a:srgbClr val="0B0F19"/>
                </a:solidFill>
                <a:latin typeface="Calibri"/>
                <a:ea typeface="Calibri"/>
                <a:cs typeface="Calibri"/>
              </a:defRPr>
            </a:pPr>
            <a:r>
              <a:rPr sz="1200" b="1">
                <a:solidFill>
                  <a:srgbClr val="0B0F19"/>
                </a:solidFill>
                <a:latin typeface="Calibri"/>
                <a:ea typeface="Calibri"/>
                <a:cs typeface="Calibri"/>
              </a:rPr>
              <a:t>sat</a:t>
            </a:r>
            <a:endParaRPr/>
          </a:p>
        </p:txBody>
      </p:sp>
      <p:sp>
        <p:nvSpPr>
          <p:cNvPr id="138396105" name=""/>
          <p:cNvSpPr>
            <a:spLocks noGrp="1"/>
          </p:cNvSpPr>
          <p:nvPr/>
        </p:nvSpPr>
        <p:spPr bwMode="auto">
          <a:xfrm>
            <a:off x="8201025" y="2952750"/>
            <a:ext cx="571500" cy="400050"/>
          </a:xfrm>
          <a:prstGeom prst="roundRect">
            <a:avLst>
              <a:gd name="adj" fmla="val 28571"/>
            </a:avLst>
          </a:prstGeom>
          <a:solidFill>
            <a:srgbClr val="F1F5F9"/>
          </a:solidFill>
          <a:ln w="9525">
            <a:solidFill>
              <a:srgbClr val="CBD5E1"/>
            </a:solidFill>
            <a:prstDash val="solid"/>
          </a:ln>
        </p:spPr>
      </p:sp>
      <p:sp>
        <p:nvSpPr>
          <p:cNvPr id="227167136" name=""/>
          <p:cNvSpPr>
            <a:spLocks noGrp="1"/>
          </p:cNvSpPr>
          <p:nvPr/>
        </p:nvSpPr>
        <p:spPr bwMode="auto">
          <a:xfrm>
            <a:off x="8201025" y="2952750"/>
            <a:ext cx="571500" cy="400050"/>
          </a:xfrm>
          <a:prstGeom prst="rect">
            <a:avLst/>
          </a:prstGeom>
          <a:noFill/>
          <a:ln w="0">
            <a:noFill/>
            <a:prstDash val="solid"/>
          </a:ln>
        </p:spPr>
        <p:txBody>
          <a:bodyPr anchor="ctr"/>
          <a:lstStyle/>
          <a:p>
            <a:pPr algn="ctr">
              <a:buNone/>
              <a:defRPr sz="1200" b="1">
                <a:solidFill>
                  <a:srgbClr val="0B0F19"/>
                </a:solidFill>
                <a:latin typeface="Calibri"/>
                <a:ea typeface="Calibri"/>
                <a:cs typeface="Calibri"/>
              </a:defRPr>
            </a:pPr>
            <a:r>
              <a:rPr sz="1200" b="1">
                <a:solidFill>
                  <a:srgbClr val="0B0F19"/>
                </a:solidFill>
                <a:latin typeface="Calibri"/>
                <a:ea typeface="Calibri"/>
                <a:cs typeface="Calibri"/>
              </a:rPr>
              <a:t>there</a:t>
            </a:r>
            <a:endParaRPr/>
          </a:p>
        </p:txBody>
      </p:sp>
      <p:sp>
        <p:nvSpPr>
          <p:cNvPr id="1303371463" name=""/>
          <p:cNvSpPr>
            <a:spLocks noGrp="1"/>
          </p:cNvSpPr>
          <p:nvPr/>
        </p:nvSpPr>
        <p:spPr bwMode="auto">
          <a:xfrm>
            <a:off x="9134475" y="2724150"/>
            <a:ext cx="1219200" cy="266700"/>
          </a:xfrm>
          <a:prstGeom prst="rect">
            <a:avLst/>
          </a:prstGeom>
          <a:noFill/>
          <a:ln w="0">
            <a:noFill/>
            <a:prstDash val="solid"/>
          </a:ln>
        </p:spPr>
        <p:txBody>
          <a:bodyPr anchor="ctr"/>
          <a:lstStyle/>
          <a:p>
            <a:pPr algn="ctr">
              <a:buNone/>
              <a:defRPr sz="1200" b="0">
                <a:solidFill>
                  <a:srgbClr val="667085"/>
                </a:solidFill>
                <a:latin typeface="Calibri"/>
                <a:ea typeface="Calibri"/>
                <a:cs typeface="Calibri"/>
              </a:defRPr>
            </a:pPr>
            <a:r>
              <a:rPr sz="1200" b="0">
                <a:solidFill>
                  <a:srgbClr val="667085"/>
                </a:solidFill>
                <a:latin typeface="Calibri"/>
                <a:ea typeface="Calibri"/>
                <a:cs typeface="Calibri"/>
              </a:rPr>
              <a:t>output word</a:t>
            </a:r>
            <a:endParaRPr/>
          </a:p>
        </p:txBody>
      </p:sp>
      <p:sp>
        <p:nvSpPr>
          <p:cNvPr id="303264547" name=""/>
          <p:cNvSpPr>
            <a:spLocks noGrp="1"/>
          </p:cNvSpPr>
          <p:nvPr/>
        </p:nvSpPr>
        <p:spPr bwMode="auto">
          <a:xfrm>
            <a:off x="9239250" y="3133725"/>
            <a:ext cx="1028700" cy="457200"/>
          </a:xfrm>
          <a:prstGeom prst="roundRect">
            <a:avLst>
              <a:gd name="adj" fmla="val 25000"/>
            </a:avLst>
          </a:prstGeom>
          <a:solidFill>
            <a:srgbClr val="DBEAFE"/>
          </a:solidFill>
          <a:ln w="9525">
            <a:solidFill>
              <a:srgbClr val="2563EB"/>
            </a:solidFill>
            <a:prstDash val="solid"/>
          </a:ln>
        </p:spPr>
      </p:sp>
      <p:sp>
        <p:nvSpPr>
          <p:cNvPr id="133050033" name=""/>
          <p:cNvSpPr>
            <a:spLocks noGrp="1"/>
          </p:cNvSpPr>
          <p:nvPr/>
        </p:nvSpPr>
        <p:spPr bwMode="auto">
          <a:xfrm>
            <a:off x="9239250" y="3133725"/>
            <a:ext cx="1028700" cy="457200"/>
          </a:xfrm>
          <a:prstGeom prst="rect">
            <a:avLst/>
          </a:prstGeom>
          <a:noFill/>
          <a:ln w="0">
            <a:noFill/>
            <a:prstDash val="solid"/>
          </a:ln>
        </p:spPr>
        <p:txBody>
          <a:bodyPr anchor="ctr"/>
          <a:lstStyle/>
          <a:p>
            <a:pPr algn="ctr">
              <a:buNone/>
              <a:defRPr sz="1500" b="1">
                <a:solidFill>
                  <a:srgbClr val="2563EB"/>
                </a:solidFill>
                <a:latin typeface="Calibri"/>
                <a:ea typeface="Calibri"/>
                <a:cs typeface="Calibri"/>
              </a:defRPr>
            </a:pPr>
            <a:r>
              <a:rPr sz="1500" b="1">
                <a:solidFill>
                  <a:srgbClr val="2563EB"/>
                </a:solidFill>
                <a:latin typeface="Calibri"/>
                <a:ea typeface="Calibri"/>
                <a:cs typeface="Calibri"/>
              </a:rPr>
              <a:t>it</a:t>
            </a:r>
            <a:endParaRPr/>
          </a:p>
        </p:txBody>
      </p:sp>
      <p:sp>
        <p:nvSpPr>
          <p:cNvPr id="1878246071" name=""/>
          <p:cNvSpPr>
            <a:spLocks noGrp="1"/>
          </p:cNvSpPr>
          <p:nvPr/>
        </p:nvSpPr>
        <p:spPr bwMode="auto">
          <a:xfrm>
            <a:off x="6734175" y="2981325"/>
            <a:ext cx="2867025" cy="142875"/>
          </a:xfrm>
          <a:prstGeom prst="line">
            <a:avLst/>
          </a:prstGeom>
          <a:ln w="19050">
            <a:solidFill>
              <a:srgbClr val="2563EB"/>
            </a:solidFill>
            <a:prstDash val="solid"/>
          </a:ln>
        </p:spPr>
      </p:sp>
      <p:sp>
        <p:nvSpPr>
          <p:cNvPr id="966688596" name=""/>
          <p:cNvSpPr>
            <a:spLocks noGrp="1"/>
          </p:cNvSpPr>
          <p:nvPr/>
        </p:nvSpPr>
        <p:spPr bwMode="auto">
          <a:xfrm>
            <a:off x="8220075" y="2981325"/>
            <a:ext cx="1381125" cy="142875"/>
          </a:xfrm>
          <a:prstGeom prst="line">
            <a:avLst/>
          </a:prstGeom>
          <a:ln w="19050">
            <a:solidFill>
              <a:srgbClr val="93C5FD"/>
            </a:solidFill>
            <a:prstDash val="solid"/>
          </a:ln>
        </p:spPr>
      </p:sp>
      <p:sp>
        <p:nvSpPr>
          <p:cNvPr id="92084209" name=""/>
          <p:cNvSpPr>
            <a:spLocks noGrp="1"/>
          </p:cNvSpPr>
          <p:nvPr/>
        </p:nvSpPr>
        <p:spPr bwMode="auto">
          <a:xfrm>
            <a:off x="6276975" y="4019550"/>
            <a:ext cx="4095750" cy="266700"/>
          </a:xfrm>
          <a:prstGeom prst="rect">
            <a:avLst/>
          </a:prstGeom>
          <a:noFill/>
          <a:ln w="0">
            <a:noFill/>
            <a:prstDash val="solid"/>
          </a:ln>
        </p:spPr>
        <p:txBody>
          <a:bodyPr anchor="ctr"/>
          <a:lstStyle/>
          <a:p>
            <a:pPr algn="ctr">
              <a:buNone/>
              <a:defRPr sz="1350" b="1">
                <a:solidFill>
                  <a:srgbClr val="2563EB"/>
                </a:solidFill>
                <a:latin typeface="Calibri"/>
                <a:ea typeface="Calibri"/>
                <a:cs typeface="Calibri"/>
              </a:defRPr>
            </a:pPr>
            <a:r>
              <a:rPr sz="1350" b="1">
                <a:solidFill>
                  <a:srgbClr val="2563EB"/>
                </a:solidFill>
                <a:latin typeface="Calibri"/>
                <a:ea typeface="Calibri"/>
                <a:cs typeface="Calibri"/>
              </a:rPr>
              <a:t>focus more on relevant tokens</a:t>
            </a:r>
            <a:endParaRPr/>
          </a:p>
        </p:txBody>
      </p:sp>
      <p:sp>
        <p:nvSpPr>
          <p:cNvPr id="1719821600" name=""/>
          <p:cNvSpPr>
            <a:spLocks noGrp="1"/>
          </p:cNvSpPr>
          <p:nvPr/>
        </p:nvSpPr>
        <p:spPr bwMode="auto">
          <a:xfrm>
            <a:off x="1143000" y="5400675"/>
            <a:ext cx="9906000" cy="285750"/>
          </a:xfrm>
          <a:prstGeom prst="rect">
            <a:avLst/>
          </a:prstGeom>
          <a:noFill/>
          <a:ln w="0">
            <a:noFill/>
            <a:prstDash val="solid"/>
          </a:ln>
        </p:spPr>
        <p:txBody>
          <a:bodyPr anchor="ctr"/>
          <a:lstStyle/>
          <a:p>
            <a:pPr algn="ctr">
              <a:buNone/>
              <a:defRPr sz="1450" b="1">
                <a:solidFill>
                  <a:srgbClr val="2563EB"/>
                </a:solidFill>
                <a:latin typeface="Calibri"/>
                <a:ea typeface="Calibri"/>
                <a:cs typeface="Calibri"/>
              </a:defRPr>
            </a:pPr>
            <a:r>
              <a:rPr sz="1450" b="1">
                <a:solidFill>
                  <a:srgbClr val="2563EB"/>
                </a:solidFill>
                <a:latin typeface="Calibri"/>
                <a:ea typeface="Calibri"/>
                <a:cs typeface="Calibri"/>
              </a:rPr>
              <a:t>This is the bridge from seq2seq to the attention mechanism (Q, K, V).</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33126075"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Architecture</a:t>
            </a:r>
            <a:endParaRPr/>
          </a:p>
        </p:txBody>
      </p:sp>
      <p:sp>
        <p:nvSpPr>
          <p:cNvPr id="465815109" name="Rectangle 251777344"/>
          <p:cNvSpPr>
            <a:spLocks noGrp="1"/>
          </p:cNvSpPr>
          <p:nvPr/>
        </p:nvSpPr>
        <p:spPr bwMode="auto">
          <a:xfrm>
            <a:off x="609600" y="590549"/>
            <a:ext cx="10287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The Transformer connects encoder and decoder stacks</a:t>
            </a:r>
            <a:endParaRPr/>
          </a:p>
        </p:txBody>
      </p:sp>
      <p:sp>
        <p:nvSpPr>
          <p:cNvPr id="1875640130" name="Rectangle: Rounded Corners 1456392341"/>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buNone/>
              <a:defRPr/>
            </a:pPr>
            <a:endParaRPr/>
          </a:p>
        </p:txBody>
      </p:sp>
      <p:sp>
        <p:nvSpPr>
          <p:cNvPr id="1332312513" name="Rectangle: Rounded Corners 1987074982"/>
          <p:cNvSpPr>
            <a:spLocks noGrp="1"/>
          </p:cNvSpPr>
          <p:nvPr/>
        </p:nvSpPr>
        <p:spPr bwMode="auto">
          <a:xfrm>
            <a:off x="7867649" y="2000250"/>
            <a:ext cx="3200400" cy="3086100"/>
          </a:xfrm>
          <a:prstGeom prst="roundRect">
            <a:avLst>
              <a:gd name="adj" fmla="val 3704"/>
            </a:avLst>
          </a:prstGeom>
          <a:solidFill>
            <a:srgbClr val="FFFFFF"/>
          </a:solidFill>
          <a:ln w="14288">
            <a:solidFill>
              <a:srgbClr val="E2E8F0"/>
            </a:solidFill>
            <a:prstDash val="solid"/>
          </a:ln>
        </p:spPr>
        <p:txBody>
          <a:bodyPr/>
          <a:lstStyle/>
          <a:p>
            <a:pPr>
              <a:buNone/>
              <a:defRPr/>
            </a:pPr>
            <a:endParaRPr/>
          </a:p>
        </p:txBody>
      </p:sp>
      <p:sp>
        <p:nvSpPr>
          <p:cNvPr id="470386753" name="Rectangle 1286956634"/>
          <p:cNvSpPr>
            <a:spLocks noGrp="1"/>
          </p:cNvSpPr>
          <p:nvPr/>
        </p:nvSpPr>
        <p:spPr bwMode="auto">
          <a:xfrm>
            <a:off x="8153399" y="2305050"/>
            <a:ext cx="2381250" cy="323850"/>
          </a:xfrm>
          <a:prstGeom prst="rect">
            <a:avLst/>
          </a:prstGeom>
          <a:noFill/>
          <a:ln w="0">
            <a:noFill/>
            <a:prstDash val="solid"/>
          </a:ln>
        </p:spPr>
        <p:txBody>
          <a:bodyPr/>
          <a:lstStyle/>
          <a:p>
            <a:pPr algn="l">
              <a:buNone/>
              <a:defRPr sz="1950" b="1">
                <a:solidFill>
                  <a:srgbClr val="2563EB"/>
                </a:solidFill>
              </a:defRPr>
            </a:pPr>
            <a:r>
              <a:rPr sz="1950" b="1">
                <a:solidFill>
                  <a:srgbClr val="2563EB"/>
                </a:solidFill>
              </a:rPr>
              <a:t>Encoder</a:t>
            </a:r>
            <a:endParaRPr/>
          </a:p>
        </p:txBody>
      </p:sp>
      <p:sp>
        <p:nvSpPr>
          <p:cNvPr id="1713693703" name="Rectangle 399762638"/>
          <p:cNvSpPr>
            <a:spLocks noGrp="1"/>
          </p:cNvSpPr>
          <p:nvPr/>
        </p:nvSpPr>
        <p:spPr bwMode="auto">
          <a:xfrm>
            <a:off x="8153399" y="2686050"/>
            <a:ext cx="2476500" cy="685800"/>
          </a:xfrm>
          <a:prstGeom prst="rect">
            <a:avLst/>
          </a:prstGeom>
          <a:noFill/>
          <a:ln w="0">
            <a:noFill/>
            <a:prstDash val="solid"/>
          </a:ln>
        </p:spPr>
        <p:txBody>
          <a:bodyPr anchor="t"/>
          <a:lstStyle/>
          <a:p>
            <a:pPr algn="l">
              <a:buNone/>
              <a:defRPr sz="1600" b="0">
                <a:solidFill>
                  <a:srgbClr val="667085"/>
                </a:solidFill>
              </a:defRPr>
            </a:pPr>
            <a:r>
              <a:rPr sz="1600" b="0">
                <a:solidFill>
                  <a:srgbClr val="667085"/>
                </a:solidFill>
              </a:rPr>
              <a:t>self-attention</a:t>
            </a:r>
            <a:endParaRPr/>
          </a:p>
          <a:p>
            <a:pPr algn="l">
              <a:buNone/>
              <a:defRPr sz="1600" b="0">
                <a:solidFill>
                  <a:srgbClr val="667085"/>
                </a:solidFill>
              </a:defRPr>
            </a:pPr>
            <a:r>
              <a:rPr sz="1600" b="0">
                <a:solidFill>
                  <a:srgbClr val="667085"/>
                </a:solidFill>
              </a:rPr>
              <a:t>feed-forward</a:t>
            </a:r>
            <a:endParaRPr/>
          </a:p>
        </p:txBody>
      </p:sp>
      <p:sp>
        <p:nvSpPr>
          <p:cNvPr id="1580586251" name="Rectangle 1233632033"/>
          <p:cNvSpPr>
            <a:spLocks noGrp="1"/>
          </p:cNvSpPr>
          <p:nvPr/>
        </p:nvSpPr>
        <p:spPr bwMode="auto">
          <a:xfrm>
            <a:off x="8153399" y="3562350"/>
            <a:ext cx="2381250" cy="323850"/>
          </a:xfrm>
          <a:prstGeom prst="rect">
            <a:avLst/>
          </a:prstGeom>
          <a:noFill/>
          <a:ln w="0">
            <a:noFill/>
            <a:prstDash val="solid"/>
          </a:ln>
        </p:spPr>
        <p:txBody>
          <a:bodyPr/>
          <a:lstStyle/>
          <a:p>
            <a:pPr algn="l">
              <a:buNone/>
              <a:defRPr sz="1950" b="1">
                <a:solidFill>
                  <a:srgbClr val="2563EB"/>
                </a:solidFill>
              </a:defRPr>
            </a:pPr>
            <a:r>
              <a:rPr sz="1950" b="1">
                <a:solidFill>
                  <a:srgbClr val="2563EB"/>
                </a:solidFill>
              </a:rPr>
              <a:t>Decoder</a:t>
            </a:r>
            <a:endParaRPr/>
          </a:p>
        </p:txBody>
      </p:sp>
      <p:sp>
        <p:nvSpPr>
          <p:cNvPr id="1321641172" name="Rectangle 987778106"/>
          <p:cNvSpPr>
            <a:spLocks noGrp="1"/>
          </p:cNvSpPr>
          <p:nvPr/>
        </p:nvSpPr>
        <p:spPr bwMode="auto">
          <a:xfrm>
            <a:off x="8153399" y="3943350"/>
            <a:ext cx="2571750" cy="952500"/>
          </a:xfrm>
          <a:prstGeom prst="rect">
            <a:avLst/>
          </a:prstGeom>
          <a:noFill/>
          <a:ln w="0">
            <a:noFill/>
            <a:prstDash val="solid"/>
          </a:ln>
        </p:spPr>
        <p:txBody>
          <a:bodyPr anchor="t"/>
          <a:lstStyle/>
          <a:p>
            <a:pPr algn="l">
              <a:buNone/>
              <a:defRPr sz="1500" b="0">
                <a:solidFill>
                  <a:srgbClr val="667085"/>
                </a:solidFill>
              </a:defRPr>
            </a:pPr>
            <a:r>
              <a:rPr sz="1500" b="0">
                <a:solidFill>
                  <a:srgbClr val="667085"/>
                </a:solidFill>
              </a:rPr>
              <a:t>masked self-attention</a:t>
            </a:r>
            <a:endParaRPr/>
          </a:p>
          <a:p>
            <a:pPr algn="l">
              <a:buNone/>
              <a:defRPr sz="1500" b="0">
                <a:solidFill>
                  <a:srgbClr val="667085"/>
                </a:solidFill>
              </a:defRPr>
            </a:pPr>
            <a:r>
              <a:rPr sz="1500" b="0">
                <a:solidFill>
                  <a:srgbClr val="667085"/>
                </a:solidFill>
              </a:rPr>
              <a:t>cross-attention</a:t>
            </a:r>
            <a:endParaRPr/>
          </a:p>
          <a:p>
            <a:pPr algn="l">
              <a:buNone/>
              <a:defRPr sz="1500" b="0">
                <a:solidFill>
                  <a:srgbClr val="667085"/>
                </a:solidFill>
              </a:defRPr>
            </a:pPr>
            <a:r>
              <a:rPr sz="1500" b="0">
                <a:solidFill>
                  <a:srgbClr val="667085"/>
                </a:solidFill>
              </a:rPr>
              <a:t>feed-forward</a:t>
            </a:r>
            <a:endParaRPr/>
          </a:p>
        </p:txBody>
      </p:sp>
      <p:sp>
        <p:nvSpPr>
          <p:cNvPr id="1053899142"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31</a:t>
            </a:r>
            <a:endParaRPr/>
          </a:p>
        </p:txBody>
      </p:sp>
      <p:pic>
        <p:nvPicPr>
          <p:cNvPr id="1480435413" name="Picture 1987074993"/>
          <p:cNvPicPr>
            <a:picLocks noChangeAspect="1"/>
          </p:cNvPicPr>
          <p:nvPr/>
        </p:nvPicPr>
        <p:blipFill rotWithShape="1">
          <a:blip r:embed="rId3"/>
          <a:stretch/>
        </p:blipFill>
        <p:spPr bwMode="auto">
          <a:xfrm>
            <a:off x="2286000" y="1505808"/>
            <a:ext cx="3333750" cy="447503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42458334"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Transformer roadmap · Input</a:t>
            </a:r>
            <a:endParaRPr/>
          </a:p>
        </p:txBody>
      </p:sp>
      <p:sp>
        <p:nvSpPr>
          <p:cNvPr id="1368090041" name="Rectangle 251777344"/>
          <p:cNvSpPr>
            <a:spLocks noGrp="1"/>
          </p:cNvSpPr>
          <p:nvPr/>
        </p:nvSpPr>
        <p:spPr bwMode="auto">
          <a:xfrm>
            <a:off x="609600" y="590549"/>
            <a:ext cx="10287000" cy="590549"/>
          </a:xfrm>
          <a:prstGeom prst="rect">
            <a:avLst/>
          </a:prstGeom>
          <a:noFill/>
          <a:ln w="0">
            <a:noFill/>
            <a:prstDash val="solid"/>
          </a:ln>
        </p:spPr>
        <p:txBody>
          <a:bodyPr anchor="ctr"/>
          <a:lstStyle/>
          <a:p>
            <a:pPr algn="l">
              <a:buNone/>
              <a:defRPr sz="2850" b="1">
                <a:solidFill>
                  <a:srgbClr val="0B0F19"/>
                </a:solidFill>
                <a:latin typeface="Calibri"/>
                <a:ea typeface="Calibri"/>
                <a:cs typeface="Calibri"/>
              </a:defRPr>
            </a:pPr>
            <a:r>
              <a:rPr sz="2850" b="1">
                <a:solidFill>
                  <a:srgbClr val="0B0F19"/>
                </a:solidFill>
                <a:latin typeface="Calibri"/>
                <a:ea typeface="Calibri"/>
                <a:cs typeface="Calibri"/>
              </a:rPr>
              <a:t>Tokenizer</a:t>
            </a:r>
            <a:endParaRPr/>
          </a:p>
        </p:txBody>
      </p:sp>
      <p:sp>
        <p:nvSpPr>
          <p:cNvPr id="1549031365"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32</a:t>
            </a:r>
            <a:endParaRPr/>
          </a:p>
        </p:txBody>
      </p:sp>
      <p:sp>
        <p:nvSpPr>
          <p:cNvPr id="1073258182" name=""/>
          <p:cNvSpPr>
            <a:spLocks noGrp="1"/>
          </p:cNvSpPr>
          <p:nvPr/>
        </p:nvSpPr>
        <p:spPr bwMode="auto">
          <a:xfrm>
            <a:off x="723900" y="1362075"/>
            <a:ext cx="10287000" cy="323850"/>
          </a:xfrm>
          <a:prstGeom prst="rect">
            <a:avLst/>
          </a:prstGeom>
          <a:noFill/>
          <a:ln w="0">
            <a:noFill/>
            <a:prstDash val="solid"/>
          </a:ln>
        </p:spPr>
        <p:txBody>
          <a:bodyPr anchor="ctr"/>
          <a:lstStyle/>
          <a:p>
            <a:pPr algn="l">
              <a:buNone/>
              <a:defRPr sz="1600" b="0">
                <a:solidFill>
                  <a:srgbClr val="667085"/>
                </a:solidFill>
                <a:latin typeface="Calibri"/>
                <a:ea typeface="Calibri"/>
                <a:cs typeface="Calibri"/>
              </a:defRPr>
            </a:pPr>
            <a:r>
              <a:rPr sz="1600" b="0">
                <a:solidFill>
                  <a:srgbClr val="667085"/>
                </a:solidFill>
                <a:latin typeface="Calibri"/>
                <a:ea typeface="Calibri"/>
                <a:cs typeface="Calibri"/>
              </a:rPr>
              <a:t>Split text into tokens and map each token to an integer ID.</a:t>
            </a:r>
            <a:endParaRPr/>
          </a:p>
        </p:txBody>
      </p:sp>
      <p:sp>
        <p:nvSpPr>
          <p:cNvPr id="26212805" name=""/>
          <p:cNvSpPr>
            <a:spLocks noGrp="1"/>
          </p:cNvSpPr>
          <p:nvPr/>
        </p:nvSpPr>
        <p:spPr bwMode="auto">
          <a:xfrm>
            <a:off x="1619250" y="2381250"/>
            <a:ext cx="8953500" cy="1428750"/>
          </a:xfrm>
          <a:prstGeom prst="roundRect">
            <a:avLst>
              <a:gd name="adj" fmla="val 8000"/>
            </a:avLst>
          </a:prstGeom>
          <a:solidFill>
            <a:srgbClr val="F8FAFC"/>
          </a:solidFill>
          <a:ln w="9525">
            <a:solidFill>
              <a:srgbClr val="2563EB"/>
            </a:solidFill>
            <a:prstDash val="solid"/>
          </a:ln>
        </p:spPr>
      </p:sp>
      <p:sp>
        <p:nvSpPr>
          <p:cNvPr id="212794745" name=""/>
          <p:cNvSpPr>
            <a:spLocks noGrp="1"/>
          </p:cNvSpPr>
          <p:nvPr/>
        </p:nvSpPr>
        <p:spPr bwMode="auto">
          <a:xfrm>
            <a:off x="1952625" y="2686050"/>
            <a:ext cx="8286750" cy="666750"/>
          </a:xfrm>
          <a:prstGeom prst="rect">
            <a:avLst/>
          </a:prstGeom>
          <a:noFill/>
          <a:ln w="0">
            <a:noFill/>
            <a:prstDash val="solid"/>
          </a:ln>
        </p:spPr>
        <p:txBody>
          <a:bodyPr anchor="ctr"/>
          <a:lstStyle/>
          <a:p>
            <a:pPr algn="ctr">
              <a:buNone/>
              <a:defRPr sz="2350" b="1">
                <a:solidFill>
                  <a:srgbClr val="2563EB"/>
                </a:solidFill>
                <a:latin typeface="Calibri"/>
                <a:ea typeface="Calibri"/>
                <a:cs typeface="Calibri"/>
              </a:defRPr>
            </a:pPr>
            <a:r>
              <a:rPr sz="2350" b="1">
                <a:solidFill>
                  <a:srgbClr val="2563EB"/>
                </a:solidFill>
                <a:latin typeface="Calibri"/>
                <a:ea typeface="Calibri"/>
                <a:cs typeface="Calibri"/>
              </a:rPr>
              <a:t>Text  →  tokens  →  token IDs</a:t>
            </a:r>
            <a:endParaRPr/>
          </a:p>
        </p:txBody>
      </p:sp>
      <p:sp>
        <p:nvSpPr>
          <p:cNvPr id="1461007705" name=""/>
          <p:cNvSpPr>
            <a:spLocks noGrp="1"/>
          </p:cNvSpPr>
          <p:nvPr/>
        </p:nvSpPr>
        <p:spPr bwMode="auto">
          <a:xfrm>
            <a:off x="5143500" y="4114800"/>
            <a:ext cx="1905000" cy="247650"/>
          </a:xfrm>
          <a:prstGeom prst="rect">
            <a:avLst/>
          </a:prstGeom>
          <a:noFill/>
          <a:ln w="0">
            <a:noFill/>
            <a:prstDash val="solid"/>
          </a:ln>
        </p:spPr>
        <p:txBody>
          <a:bodyPr anchor="ctr"/>
          <a:lstStyle/>
          <a:p>
            <a:pPr algn="ctr">
              <a:buNone/>
              <a:defRPr sz="1300" b="0">
                <a:solidFill>
                  <a:srgbClr val="667085"/>
                </a:solidFill>
                <a:latin typeface="Calibri"/>
                <a:ea typeface="Calibri"/>
                <a:cs typeface="Calibri"/>
              </a:defRPr>
            </a:pPr>
            <a:r>
              <a:rPr sz="1300" b="0">
                <a:solidFill>
                  <a:srgbClr val="667085"/>
                </a:solidFill>
                <a:latin typeface="Calibri"/>
                <a:ea typeface="Calibri"/>
                <a:cs typeface="Calibri"/>
              </a:rPr>
              <a:t>Step 1 of 9</a:t>
            </a:r>
            <a:endParaRPr/>
          </a:p>
        </p:txBody>
      </p:sp>
      <p:sp>
        <p:nvSpPr>
          <p:cNvPr id="279736927" name=""/>
          <p:cNvSpPr>
            <a:spLocks noGrp="1"/>
          </p:cNvSpPr>
          <p:nvPr/>
        </p:nvSpPr>
        <p:spPr bwMode="auto">
          <a:xfrm>
            <a:off x="1219200" y="4857750"/>
            <a:ext cx="876299" cy="438149"/>
          </a:xfrm>
          <a:prstGeom prst="roundRect">
            <a:avLst>
              <a:gd name="adj" fmla="val 26087"/>
            </a:avLst>
          </a:prstGeom>
          <a:solidFill>
            <a:srgbClr val="2563EB"/>
          </a:solidFill>
          <a:ln w="9525">
            <a:solidFill>
              <a:srgbClr val="2563EB"/>
            </a:solidFill>
            <a:prstDash val="solid"/>
          </a:ln>
        </p:spPr>
      </p:sp>
      <p:sp>
        <p:nvSpPr>
          <p:cNvPr id="1115151554" name=""/>
          <p:cNvSpPr>
            <a:spLocks noGrp="1"/>
          </p:cNvSpPr>
          <p:nvPr/>
        </p:nvSpPr>
        <p:spPr bwMode="auto">
          <a:xfrm>
            <a:off x="1266825" y="4924425"/>
            <a:ext cx="781050" cy="285750"/>
          </a:xfrm>
          <a:prstGeom prst="rect">
            <a:avLst/>
          </a:prstGeom>
          <a:noFill/>
          <a:ln w="0">
            <a:noFill/>
            <a:prstDash val="solid"/>
          </a:ln>
        </p:spPr>
        <p:txBody>
          <a:bodyPr anchor="ctr"/>
          <a:lstStyle/>
          <a:p>
            <a:pPr algn="ctr">
              <a:buNone/>
              <a:defRPr sz="1050" b="1">
                <a:solidFill>
                  <a:srgbClr val="FFFFFF"/>
                </a:solidFill>
                <a:latin typeface="Calibri"/>
                <a:ea typeface="Calibri"/>
                <a:cs typeface="Calibri"/>
              </a:defRPr>
            </a:pPr>
            <a:r>
              <a:rPr sz="1050" b="1">
                <a:solidFill>
                  <a:srgbClr val="FFFFFF"/>
                </a:solidFill>
                <a:latin typeface="Calibri"/>
                <a:ea typeface="Calibri"/>
                <a:cs typeface="Calibri"/>
              </a:rPr>
              <a:t>Tokenizer</a:t>
            </a:r>
            <a:endParaRPr/>
          </a:p>
        </p:txBody>
      </p:sp>
      <p:sp>
        <p:nvSpPr>
          <p:cNvPr id="1619670976" name=""/>
          <p:cNvSpPr>
            <a:spLocks noGrp="1"/>
          </p:cNvSpPr>
          <p:nvPr/>
        </p:nvSpPr>
        <p:spPr bwMode="auto">
          <a:xfrm>
            <a:off x="2095500" y="5076825"/>
            <a:ext cx="190500" cy="0"/>
          </a:xfrm>
          <a:prstGeom prst="line">
            <a:avLst/>
          </a:prstGeom>
          <a:ln w="9525">
            <a:solidFill>
              <a:srgbClr val="CBD5E1"/>
            </a:solidFill>
            <a:prstDash val="solid"/>
          </a:ln>
        </p:spPr>
      </p:sp>
      <p:sp>
        <p:nvSpPr>
          <p:cNvPr id="1743333567" name=""/>
          <p:cNvSpPr>
            <a:spLocks noGrp="1"/>
          </p:cNvSpPr>
          <p:nvPr/>
        </p:nvSpPr>
        <p:spPr bwMode="auto">
          <a:xfrm>
            <a:off x="2286000" y="4857750"/>
            <a:ext cx="876299" cy="438149"/>
          </a:xfrm>
          <a:prstGeom prst="roundRect">
            <a:avLst>
              <a:gd name="adj" fmla="val 26087"/>
            </a:avLst>
          </a:prstGeom>
          <a:solidFill>
            <a:srgbClr val="FFFFFF"/>
          </a:solidFill>
          <a:ln w="9525">
            <a:solidFill>
              <a:srgbClr val="CBD5E1"/>
            </a:solidFill>
            <a:prstDash val="solid"/>
          </a:ln>
        </p:spPr>
      </p:sp>
      <p:sp>
        <p:nvSpPr>
          <p:cNvPr id="1257660028" name=""/>
          <p:cNvSpPr>
            <a:spLocks noGrp="1"/>
          </p:cNvSpPr>
          <p:nvPr/>
        </p:nvSpPr>
        <p:spPr bwMode="auto">
          <a:xfrm>
            <a:off x="2333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Embedding</a:t>
            </a:r>
            <a:endParaRPr/>
          </a:p>
        </p:txBody>
      </p:sp>
      <p:sp>
        <p:nvSpPr>
          <p:cNvPr id="145208639" name=""/>
          <p:cNvSpPr>
            <a:spLocks noGrp="1"/>
          </p:cNvSpPr>
          <p:nvPr/>
        </p:nvSpPr>
        <p:spPr bwMode="auto">
          <a:xfrm>
            <a:off x="3162300" y="5076825"/>
            <a:ext cx="190500" cy="0"/>
          </a:xfrm>
          <a:prstGeom prst="line">
            <a:avLst/>
          </a:prstGeom>
          <a:ln w="9525">
            <a:solidFill>
              <a:srgbClr val="CBD5E1"/>
            </a:solidFill>
            <a:prstDash val="solid"/>
          </a:ln>
        </p:spPr>
      </p:sp>
      <p:sp>
        <p:nvSpPr>
          <p:cNvPr id="1609950338" name=""/>
          <p:cNvSpPr>
            <a:spLocks noGrp="1"/>
          </p:cNvSpPr>
          <p:nvPr/>
        </p:nvSpPr>
        <p:spPr bwMode="auto">
          <a:xfrm>
            <a:off x="3352800" y="4857750"/>
            <a:ext cx="876299" cy="438149"/>
          </a:xfrm>
          <a:prstGeom prst="roundRect">
            <a:avLst>
              <a:gd name="adj" fmla="val 26087"/>
            </a:avLst>
          </a:prstGeom>
          <a:solidFill>
            <a:srgbClr val="FFFFFF"/>
          </a:solidFill>
          <a:ln w="9525">
            <a:solidFill>
              <a:srgbClr val="CBD5E1"/>
            </a:solidFill>
            <a:prstDash val="solid"/>
          </a:ln>
        </p:spPr>
      </p:sp>
      <p:sp>
        <p:nvSpPr>
          <p:cNvPr id="443182339" name=""/>
          <p:cNvSpPr>
            <a:spLocks noGrp="1"/>
          </p:cNvSpPr>
          <p:nvPr/>
        </p:nvSpPr>
        <p:spPr bwMode="auto">
          <a:xfrm>
            <a:off x="3400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Positional encoding</a:t>
            </a:r>
            <a:endParaRPr/>
          </a:p>
        </p:txBody>
      </p:sp>
      <p:sp>
        <p:nvSpPr>
          <p:cNvPr id="785359654" name=""/>
          <p:cNvSpPr>
            <a:spLocks noGrp="1"/>
          </p:cNvSpPr>
          <p:nvPr/>
        </p:nvSpPr>
        <p:spPr bwMode="auto">
          <a:xfrm>
            <a:off x="4229100" y="5076825"/>
            <a:ext cx="190500" cy="0"/>
          </a:xfrm>
          <a:prstGeom prst="line">
            <a:avLst/>
          </a:prstGeom>
          <a:ln w="9525">
            <a:solidFill>
              <a:srgbClr val="CBD5E1"/>
            </a:solidFill>
            <a:prstDash val="solid"/>
          </a:ln>
        </p:spPr>
      </p:sp>
      <p:sp>
        <p:nvSpPr>
          <p:cNvPr id="855638667" name=""/>
          <p:cNvSpPr>
            <a:spLocks noGrp="1"/>
          </p:cNvSpPr>
          <p:nvPr/>
        </p:nvSpPr>
        <p:spPr bwMode="auto">
          <a:xfrm>
            <a:off x="4419600" y="4857750"/>
            <a:ext cx="876299" cy="438149"/>
          </a:xfrm>
          <a:prstGeom prst="roundRect">
            <a:avLst>
              <a:gd name="adj" fmla="val 26087"/>
            </a:avLst>
          </a:prstGeom>
          <a:solidFill>
            <a:srgbClr val="FFFFFF"/>
          </a:solidFill>
          <a:ln w="9525">
            <a:solidFill>
              <a:srgbClr val="CBD5E1"/>
            </a:solidFill>
            <a:prstDash val="solid"/>
          </a:ln>
        </p:spPr>
      </p:sp>
      <p:sp>
        <p:nvSpPr>
          <p:cNvPr id="940954366" name=""/>
          <p:cNvSpPr>
            <a:spLocks noGrp="1"/>
          </p:cNvSpPr>
          <p:nvPr/>
        </p:nvSpPr>
        <p:spPr bwMode="auto">
          <a:xfrm>
            <a:off x="4467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Self-attention</a:t>
            </a:r>
            <a:endParaRPr/>
          </a:p>
        </p:txBody>
      </p:sp>
      <p:sp>
        <p:nvSpPr>
          <p:cNvPr id="693332807" name=""/>
          <p:cNvSpPr>
            <a:spLocks noGrp="1"/>
          </p:cNvSpPr>
          <p:nvPr/>
        </p:nvSpPr>
        <p:spPr bwMode="auto">
          <a:xfrm>
            <a:off x="5295899" y="5076825"/>
            <a:ext cx="190500" cy="0"/>
          </a:xfrm>
          <a:prstGeom prst="line">
            <a:avLst/>
          </a:prstGeom>
          <a:ln w="9525">
            <a:solidFill>
              <a:srgbClr val="CBD5E1"/>
            </a:solidFill>
            <a:prstDash val="solid"/>
          </a:ln>
        </p:spPr>
      </p:sp>
      <p:sp>
        <p:nvSpPr>
          <p:cNvPr id="1926968987" name=""/>
          <p:cNvSpPr>
            <a:spLocks noGrp="1"/>
          </p:cNvSpPr>
          <p:nvPr/>
        </p:nvSpPr>
        <p:spPr bwMode="auto">
          <a:xfrm>
            <a:off x="5486400" y="4857750"/>
            <a:ext cx="876299" cy="438149"/>
          </a:xfrm>
          <a:prstGeom prst="roundRect">
            <a:avLst>
              <a:gd name="adj" fmla="val 26087"/>
            </a:avLst>
          </a:prstGeom>
          <a:solidFill>
            <a:srgbClr val="FFFFFF"/>
          </a:solidFill>
          <a:ln w="9525">
            <a:solidFill>
              <a:srgbClr val="CBD5E1"/>
            </a:solidFill>
            <a:prstDash val="solid"/>
          </a:ln>
        </p:spPr>
      </p:sp>
      <p:sp>
        <p:nvSpPr>
          <p:cNvPr id="1151762914" name=""/>
          <p:cNvSpPr>
            <a:spLocks noGrp="1"/>
          </p:cNvSpPr>
          <p:nvPr/>
        </p:nvSpPr>
        <p:spPr bwMode="auto">
          <a:xfrm>
            <a:off x="55340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Attention head</a:t>
            </a:r>
            <a:endParaRPr/>
          </a:p>
        </p:txBody>
      </p:sp>
      <p:sp>
        <p:nvSpPr>
          <p:cNvPr id="365425088" name=""/>
          <p:cNvSpPr>
            <a:spLocks noGrp="1"/>
          </p:cNvSpPr>
          <p:nvPr/>
        </p:nvSpPr>
        <p:spPr bwMode="auto">
          <a:xfrm>
            <a:off x="6362700" y="5076825"/>
            <a:ext cx="190500" cy="0"/>
          </a:xfrm>
          <a:prstGeom prst="line">
            <a:avLst/>
          </a:prstGeom>
          <a:ln w="9525">
            <a:solidFill>
              <a:srgbClr val="CBD5E1"/>
            </a:solidFill>
            <a:prstDash val="solid"/>
          </a:ln>
        </p:spPr>
      </p:sp>
      <p:sp>
        <p:nvSpPr>
          <p:cNvPr id="245865222" name=""/>
          <p:cNvSpPr>
            <a:spLocks noGrp="1"/>
          </p:cNvSpPr>
          <p:nvPr/>
        </p:nvSpPr>
        <p:spPr bwMode="auto">
          <a:xfrm>
            <a:off x="6553200" y="4857750"/>
            <a:ext cx="876299" cy="438149"/>
          </a:xfrm>
          <a:prstGeom prst="roundRect">
            <a:avLst>
              <a:gd name="adj" fmla="val 26087"/>
            </a:avLst>
          </a:prstGeom>
          <a:solidFill>
            <a:srgbClr val="FFFFFF"/>
          </a:solidFill>
          <a:ln w="9525">
            <a:solidFill>
              <a:srgbClr val="CBD5E1"/>
            </a:solidFill>
            <a:prstDash val="solid"/>
          </a:ln>
        </p:spPr>
      </p:sp>
      <p:sp>
        <p:nvSpPr>
          <p:cNvPr id="1416834569" name=""/>
          <p:cNvSpPr>
            <a:spLocks noGrp="1"/>
          </p:cNvSpPr>
          <p:nvPr/>
        </p:nvSpPr>
        <p:spPr bwMode="auto">
          <a:xfrm>
            <a:off x="6600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Multi-head attention</a:t>
            </a:r>
            <a:endParaRPr/>
          </a:p>
        </p:txBody>
      </p:sp>
      <p:sp>
        <p:nvSpPr>
          <p:cNvPr id="275380548" name=""/>
          <p:cNvSpPr>
            <a:spLocks noGrp="1"/>
          </p:cNvSpPr>
          <p:nvPr/>
        </p:nvSpPr>
        <p:spPr bwMode="auto">
          <a:xfrm>
            <a:off x="7429500" y="5076825"/>
            <a:ext cx="190500" cy="0"/>
          </a:xfrm>
          <a:prstGeom prst="line">
            <a:avLst/>
          </a:prstGeom>
          <a:ln w="9525">
            <a:solidFill>
              <a:srgbClr val="CBD5E1"/>
            </a:solidFill>
            <a:prstDash val="solid"/>
          </a:ln>
        </p:spPr>
      </p:sp>
      <p:sp>
        <p:nvSpPr>
          <p:cNvPr id="2080764041" name=""/>
          <p:cNvSpPr>
            <a:spLocks noGrp="1"/>
          </p:cNvSpPr>
          <p:nvPr/>
        </p:nvSpPr>
        <p:spPr bwMode="auto">
          <a:xfrm>
            <a:off x="7620000" y="4857750"/>
            <a:ext cx="876299" cy="438149"/>
          </a:xfrm>
          <a:prstGeom prst="roundRect">
            <a:avLst>
              <a:gd name="adj" fmla="val 26087"/>
            </a:avLst>
          </a:prstGeom>
          <a:solidFill>
            <a:srgbClr val="FFFFFF"/>
          </a:solidFill>
          <a:ln w="9525">
            <a:solidFill>
              <a:srgbClr val="CBD5E1"/>
            </a:solidFill>
            <a:prstDash val="solid"/>
          </a:ln>
        </p:spPr>
      </p:sp>
      <p:sp>
        <p:nvSpPr>
          <p:cNvPr id="403501064" name=""/>
          <p:cNvSpPr>
            <a:spLocks noGrp="1"/>
          </p:cNvSpPr>
          <p:nvPr/>
        </p:nvSpPr>
        <p:spPr bwMode="auto">
          <a:xfrm>
            <a:off x="7667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Encoder block</a:t>
            </a:r>
            <a:endParaRPr/>
          </a:p>
        </p:txBody>
      </p:sp>
      <p:sp>
        <p:nvSpPr>
          <p:cNvPr id="1060762690" name=""/>
          <p:cNvSpPr>
            <a:spLocks noGrp="1"/>
          </p:cNvSpPr>
          <p:nvPr/>
        </p:nvSpPr>
        <p:spPr bwMode="auto">
          <a:xfrm>
            <a:off x="8496300" y="5076825"/>
            <a:ext cx="190500" cy="0"/>
          </a:xfrm>
          <a:prstGeom prst="line">
            <a:avLst/>
          </a:prstGeom>
          <a:ln w="9525">
            <a:solidFill>
              <a:srgbClr val="CBD5E1"/>
            </a:solidFill>
            <a:prstDash val="solid"/>
          </a:ln>
        </p:spPr>
      </p:sp>
      <p:sp>
        <p:nvSpPr>
          <p:cNvPr id="727588093" name=""/>
          <p:cNvSpPr>
            <a:spLocks noGrp="1"/>
          </p:cNvSpPr>
          <p:nvPr/>
        </p:nvSpPr>
        <p:spPr bwMode="auto">
          <a:xfrm>
            <a:off x="8686800" y="4857750"/>
            <a:ext cx="876299" cy="438149"/>
          </a:xfrm>
          <a:prstGeom prst="roundRect">
            <a:avLst>
              <a:gd name="adj" fmla="val 26087"/>
            </a:avLst>
          </a:prstGeom>
          <a:solidFill>
            <a:srgbClr val="FFFFFF"/>
          </a:solidFill>
          <a:ln w="9525">
            <a:solidFill>
              <a:srgbClr val="CBD5E1"/>
            </a:solidFill>
            <a:prstDash val="solid"/>
          </a:ln>
        </p:spPr>
      </p:sp>
      <p:sp>
        <p:nvSpPr>
          <p:cNvPr id="1735481053" name=""/>
          <p:cNvSpPr>
            <a:spLocks noGrp="1"/>
          </p:cNvSpPr>
          <p:nvPr/>
        </p:nvSpPr>
        <p:spPr bwMode="auto">
          <a:xfrm>
            <a:off x="8734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Decoder block</a:t>
            </a:r>
            <a:endParaRPr/>
          </a:p>
        </p:txBody>
      </p:sp>
      <p:sp>
        <p:nvSpPr>
          <p:cNvPr id="1664930943" name=""/>
          <p:cNvSpPr>
            <a:spLocks noGrp="1"/>
          </p:cNvSpPr>
          <p:nvPr/>
        </p:nvSpPr>
        <p:spPr bwMode="auto">
          <a:xfrm>
            <a:off x="9563100" y="5076825"/>
            <a:ext cx="190500" cy="0"/>
          </a:xfrm>
          <a:prstGeom prst="line">
            <a:avLst/>
          </a:prstGeom>
          <a:ln w="9525">
            <a:solidFill>
              <a:srgbClr val="CBD5E1"/>
            </a:solidFill>
            <a:prstDash val="solid"/>
          </a:ln>
        </p:spPr>
      </p:sp>
      <p:sp>
        <p:nvSpPr>
          <p:cNvPr id="248230013" name=""/>
          <p:cNvSpPr>
            <a:spLocks noGrp="1"/>
          </p:cNvSpPr>
          <p:nvPr/>
        </p:nvSpPr>
        <p:spPr bwMode="auto">
          <a:xfrm>
            <a:off x="9753600" y="4857750"/>
            <a:ext cx="876299" cy="438149"/>
          </a:xfrm>
          <a:prstGeom prst="roundRect">
            <a:avLst>
              <a:gd name="adj" fmla="val 26087"/>
            </a:avLst>
          </a:prstGeom>
          <a:solidFill>
            <a:srgbClr val="FFFFFF"/>
          </a:solidFill>
          <a:ln w="9525">
            <a:solidFill>
              <a:srgbClr val="CBD5E1"/>
            </a:solidFill>
            <a:prstDash val="solid"/>
          </a:ln>
        </p:spPr>
      </p:sp>
      <p:sp>
        <p:nvSpPr>
          <p:cNvPr id="1582970706" name=""/>
          <p:cNvSpPr>
            <a:spLocks noGrp="1"/>
          </p:cNvSpPr>
          <p:nvPr/>
        </p:nvSpPr>
        <p:spPr bwMode="auto">
          <a:xfrm>
            <a:off x="9801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Language-model head</a:t>
            </a:r>
            <a:endParaRPr/>
          </a:p>
        </p:txBody>
      </p:sp>
      <p:sp>
        <p:nvSpPr>
          <p:cNvPr id="2078376783" name=""/>
          <p:cNvSpPr>
            <a:spLocks noGrp="1"/>
          </p:cNvSpPr>
          <p:nvPr/>
        </p:nvSpPr>
        <p:spPr bwMode="auto">
          <a:xfrm>
            <a:off x="4610100" y="5762625"/>
            <a:ext cx="2971800" cy="266700"/>
          </a:xfrm>
          <a:prstGeom prst="rect">
            <a:avLst/>
          </a:prstGeom>
          <a:noFill/>
          <a:ln w="0">
            <a:noFill/>
            <a:prstDash val="solid"/>
          </a:ln>
        </p:spPr>
        <p:txBody>
          <a:bodyPr anchor="ctr"/>
          <a:lstStyle/>
          <a:p>
            <a:pPr algn="ctr">
              <a:buNone/>
              <a:defRPr sz="1350" b="1">
                <a:solidFill>
                  <a:srgbClr val="2563EB"/>
                </a:solidFill>
                <a:latin typeface="Calibri"/>
                <a:ea typeface="Calibri"/>
                <a:cs typeface="Calibri"/>
              </a:defRPr>
            </a:pPr>
            <a:r>
              <a:rPr sz="1350" b="1">
                <a:solidFill>
                  <a:srgbClr val="2563EB"/>
                </a:solidFill>
                <a:latin typeface="Calibri"/>
                <a:ea typeface="Calibri"/>
                <a:cs typeface="Calibri"/>
              </a:rPr>
              <a:t>Input component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94280467"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Transformer roadmap · Input</a:t>
            </a:r>
            <a:endParaRPr/>
          </a:p>
        </p:txBody>
      </p:sp>
      <p:sp>
        <p:nvSpPr>
          <p:cNvPr id="885125887" name="Rectangle 251777344"/>
          <p:cNvSpPr>
            <a:spLocks noGrp="1"/>
          </p:cNvSpPr>
          <p:nvPr/>
        </p:nvSpPr>
        <p:spPr bwMode="auto">
          <a:xfrm>
            <a:off x="609600" y="590549"/>
            <a:ext cx="10287000" cy="590549"/>
          </a:xfrm>
          <a:prstGeom prst="rect">
            <a:avLst/>
          </a:prstGeom>
          <a:noFill/>
          <a:ln w="0">
            <a:noFill/>
            <a:prstDash val="solid"/>
          </a:ln>
        </p:spPr>
        <p:txBody>
          <a:bodyPr anchor="ctr"/>
          <a:lstStyle/>
          <a:p>
            <a:pPr algn="l">
              <a:buNone/>
              <a:defRPr sz="2850" b="1">
                <a:solidFill>
                  <a:srgbClr val="0B0F19"/>
                </a:solidFill>
                <a:latin typeface="Calibri"/>
                <a:ea typeface="Calibri"/>
                <a:cs typeface="Calibri"/>
              </a:defRPr>
            </a:pPr>
            <a:r>
              <a:rPr sz="2850" b="1">
                <a:solidFill>
                  <a:srgbClr val="0B0F19"/>
                </a:solidFill>
                <a:latin typeface="Calibri"/>
                <a:ea typeface="Calibri"/>
                <a:cs typeface="Calibri"/>
              </a:rPr>
              <a:t>Embedding</a:t>
            </a:r>
            <a:endParaRPr/>
          </a:p>
        </p:txBody>
      </p:sp>
      <p:sp>
        <p:nvSpPr>
          <p:cNvPr id="360939014"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33</a:t>
            </a:r>
            <a:endParaRPr/>
          </a:p>
        </p:txBody>
      </p:sp>
      <p:sp>
        <p:nvSpPr>
          <p:cNvPr id="1430704303" name=""/>
          <p:cNvSpPr>
            <a:spLocks noGrp="1"/>
          </p:cNvSpPr>
          <p:nvPr/>
        </p:nvSpPr>
        <p:spPr bwMode="auto">
          <a:xfrm>
            <a:off x="723900" y="1362075"/>
            <a:ext cx="10287000" cy="323850"/>
          </a:xfrm>
          <a:prstGeom prst="rect">
            <a:avLst/>
          </a:prstGeom>
          <a:noFill/>
          <a:ln w="0">
            <a:noFill/>
            <a:prstDash val="solid"/>
          </a:ln>
        </p:spPr>
        <p:txBody>
          <a:bodyPr anchor="ctr"/>
          <a:lstStyle/>
          <a:p>
            <a:pPr algn="l">
              <a:buNone/>
              <a:defRPr sz="1600" b="0">
                <a:solidFill>
                  <a:srgbClr val="667085"/>
                </a:solidFill>
                <a:latin typeface="Calibri"/>
                <a:ea typeface="Calibri"/>
                <a:cs typeface="Calibri"/>
              </a:defRPr>
            </a:pPr>
            <a:r>
              <a:rPr sz="1600" b="0">
                <a:solidFill>
                  <a:srgbClr val="667085"/>
                </a:solidFill>
                <a:latin typeface="Calibri"/>
                <a:ea typeface="Calibri"/>
                <a:cs typeface="Calibri"/>
              </a:rPr>
              <a:t>Turn each token ID into a learned dense vector.</a:t>
            </a:r>
            <a:endParaRPr/>
          </a:p>
        </p:txBody>
      </p:sp>
      <p:sp>
        <p:nvSpPr>
          <p:cNvPr id="1012559161" name=""/>
          <p:cNvSpPr>
            <a:spLocks noGrp="1"/>
          </p:cNvSpPr>
          <p:nvPr/>
        </p:nvSpPr>
        <p:spPr bwMode="auto">
          <a:xfrm>
            <a:off x="1619250" y="2381250"/>
            <a:ext cx="8953500" cy="1428750"/>
          </a:xfrm>
          <a:prstGeom prst="roundRect">
            <a:avLst>
              <a:gd name="adj" fmla="val 8000"/>
            </a:avLst>
          </a:prstGeom>
          <a:solidFill>
            <a:srgbClr val="F8FAFC"/>
          </a:solidFill>
          <a:ln w="9525">
            <a:solidFill>
              <a:srgbClr val="2563EB"/>
            </a:solidFill>
            <a:prstDash val="solid"/>
          </a:ln>
        </p:spPr>
      </p:sp>
      <p:sp>
        <p:nvSpPr>
          <p:cNvPr id="1158417424" name=""/>
          <p:cNvSpPr>
            <a:spLocks noGrp="1"/>
          </p:cNvSpPr>
          <p:nvPr/>
        </p:nvSpPr>
        <p:spPr bwMode="auto">
          <a:xfrm>
            <a:off x="1952625" y="2686050"/>
            <a:ext cx="8286750" cy="666750"/>
          </a:xfrm>
          <a:prstGeom prst="rect">
            <a:avLst/>
          </a:prstGeom>
          <a:noFill/>
          <a:ln w="0">
            <a:noFill/>
            <a:prstDash val="solid"/>
          </a:ln>
        </p:spPr>
        <p:txBody>
          <a:bodyPr anchor="ctr"/>
          <a:lstStyle/>
          <a:p>
            <a:pPr algn="ctr">
              <a:buNone/>
              <a:defRPr sz="2350" b="1">
                <a:solidFill>
                  <a:srgbClr val="2563EB"/>
                </a:solidFill>
                <a:latin typeface="Calibri"/>
                <a:ea typeface="Calibri"/>
                <a:cs typeface="Calibri"/>
              </a:defRPr>
            </a:pPr>
            <a:r>
              <a:rPr sz="2350" b="1">
                <a:solidFill>
                  <a:srgbClr val="2563EB"/>
                </a:solidFill>
                <a:latin typeface="Calibri"/>
                <a:ea typeface="Calibri"/>
                <a:cs typeface="Calibri"/>
              </a:rPr>
              <a:t>token ID  →  embedding vector</a:t>
            </a:r>
            <a:endParaRPr/>
          </a:p>
        </p:txBody>
      </p:sp>
      <p:sp>
        <p:nvSpPr>
          <p:cNvPr id="427464005" name=""/>
          <p:cNvSpPr>
            <a:spLocks noGrp="1"/>
          </p:cNvSpPr>
          <p:nvPr/>
        </p:nvSpPr>
        <p:spPr bwMode="auto">
          <a:xfrm>
            <a:off x="5143500" y="4114800"/>
            <a:ext cx="1905000" cy="247650"/>
          </a:xfrm>
          <a:prstGeom prst="rect">
            <a:avLst/>
          </a:prstGeom>
          <a:noFill/>
          <a:ln w="0">
            <a:noFill/>
            <a:prstDash val="solid"/>
          </a:ln>
        </p:spPr>
        <p:txBody>
          <a:bodyPr anchor="ctr"/>
          <a:lstStyle/>
          <a:p>
            <a:pPr algn="ctr">
              <a:buNone/>
              <a:defRPr sz="1300" b="0">
                <a:solidFill>
                  <a:srgbClr val="667085"/>
                </a:solidFill>
                <a:latin typeface="Calibri"/>
                <a:ea typeface="Calibri"/>
                <a:cs typeface="Calibri"/>
              </a:defRPr>
            </a:pPr>
            <a:r>
              <a:rPr sz="1300" b="0">
                <a:solidFill>
                  <a:srgbClr val="667085"/>
                </a:solidFill>
                <a:latin typeface="Calibri"/>
                <a:ea typeface="Calibri"/>
                <a:cs typeface="Calibri"/>
              </a:rPr>
              <a:t>Step 2 of 9</a:t>
            </a:r>
            <a:endParaRPr/>
          </a:p>
        </p:txBody>
      </p:sp>
      <p:sp>
        <p:nvSpPr>
          <p:cNvPr id="215861249" name=""/>
          <p:cNvSpPr>
            <a:spLocks noGrp="1"/>
          </p:cNvSpPr>
          <p:nvPr/>
        </p:nvSpPr>
        <p:spPr bwMode="auto">
          <a:xfrm>
            <a:off x="1219200" y="4857750"/>
            <a:ext cx="876299" cy="438149"/>
          </a:xfrm>
          <a:prstGeom prst="roundRect">
            <a:avLst>
              <a:gd name="adj" fmla="val 26087"/>
            </a:avLst>
          </a:prstGeom>
          <a:solidFill>
            <a:srgbClr val="FFFFFF"/>
          </a:solidFill>
          <a:ln w="9525">
            <a:solidFill>
              <a:srgbClr val="CBD5E1"/>
            </a:solidFill>
            <a:prstDash val="solid"/>
          </a:ln>
        </p:spPr>
      </p:sp>
      <p:sp>
        <p:nvSpPr>
          <p:cNvPr id="749351608" name=""/>
          <p:cNvSpPr>
            <a:spLocks noGrp="1"/>
          </p:cNvSpPr>
          <p:nvPr/>
        </p:nvSpPr>
        <p:spPr bwMode="auto">
          <a:xfrm>
            <a:off x="1266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Tokenizer</a:t>
            </a:r>
            <a:endParaRPr/>
          </a:p>
        </p:txBody>
      </p:sp>
      <p:sp>
        <p:nvSpPr>
          <p:cNvPr id="1927723799" name=""/>
          <p:cNvSpPr>
            <a:spLocks noGrp="1"/>
          </p:cNvSpPr>
          <p:nvPr/>
        </p:nvSpPr>
        <p:spPr bwMode="auto">
          <a:xfrm>
            <a:off x="2095500" y="5076825"/>
            <a:ext cx="190500" cy="0"/>
          </a:xfrm>
          <a:prstGeom prst="line">
            <a:avLst/>
          </a:prstGeom>
          <a:ln w="9525">
            <a:solidFill>
              <a:srgbClr val="CBD5E1"/>
            </a:solidFill>
            <a:prstDash val="solid"/>
          </a:ln>
        </p:spPr>
      </p:sp>
      <p:sp>
        <p:nvSpPr>
          <p:cNvPr id="329236222" name=""/>
          <p:cNvSpPr>
            <a:spLocks noGrp="1"/>
          </p:cNvSpPr>
          <p:nvPr/>
        </p:nvSpPr>
        <p:spPr bwMode="auto">
          <a:xfrm>
            <a:off x="2286000" y="4857750"/>
            <a:ext cx="876299" cy="438149"/>
          </a:xfrm>
          <a:prstGeom prst="roundRect">
            <a:avLst>
              <a:gd name="adj" fmla="val 26087"/>
            </a:avLst>
          </a:prstGeom>
          <a:solidFill>
            <a:srgbClr val="2563EB"/>
          </a:solidFill>
          <a:ln w="9525">
            <a:solidFill>
              <a:srgbClr val="2563EB"/>
            </a:solidFill>
            <a:prstDash val="solid"/>
          </a:ln>
        </p:spPr>
      </p:sp>
      <p:sp>
        <p:nvSpPr>
          <p:cNvPr id="2041621472" name=""/>
          <p:cNvSpPr>
            <a:spLocks noGrp="1"/>
          </p:cNvSpPr>
          <p:nvPr/>
        </p:nvSpPr>
        <p:spPr bwMode="auto">
          <a:xfrm>
            <a:off x="2333625" y="4924425"/>
            <a:ext cx="781050" cy="285750"/>
          </a:xfrm>
          <a:prstGeom prst="rect">
            <a:avLst/>
          </a:prstGeom>
          <a:noFill/>
          <a:ln w="0">
            <a:noFill/>
            <a:prstDash val="solid"/>
          </a:ln>
        </p:spPr>
        <p:txBody>
          <a:bodyPr anchor="ctr"/>
          <a:lstStyle/>
          <a:p>
            <a:pPr algn="ctr">
              <a:buNone/>
              <a:defRPr sz="1050" b="1">
                <a:solidFill>
                  <a:srgbClr val="FFFFFF"/>
                </a:solidFill>
                <a:latin typeface="Calibri"/>
                <a:ea typeface="Calibri"/>
                <a:cs typeface="Calibri"/>
              </a:defRPr>
            </a:pPr>
            <a:r>
              <a:rPr sz="1050" b="1">
                <a:solidFill>
                  <a:srgbClr val="FFFFFF"/>
                </a:solidFill>
                <a:latin typeface="Calibri"/>
                <a:ea typeface="Calibri"/>
                <a:cs typeface="Calibri"/>
              </a:rPr>
              <a:t>Embedding</a:t>
            </a:r>
            <a:endParaRPr/>
          </a:p>
        </p:txBody>
      </p:sp>
      <p:sp>
        <p:nvSpPr>
          <p:cNvPr id="1239363629" name=""/>
          <p:cNvSpPr>
            <a:spLocks noGrp="1"/>
          </p:cNvSpPr>
          <p:nvPr/>
        </p:nvSpPr>
        <p:spPr bwMode="auto">
          <a:xfrm>
            <a:off x="3162300" y="5076825"/>
            <a:ext cx="190500" cy="0"/>
          </a:xfrm>
          <a:prstGeom prst="line">
            <a:avLst/>
          </a:prstGeom>
          <a:ln w="9525">
            <a:solidFill>
              <a:srgbClr val="CBD5E1"/>
            </a:solidFill>
            <a:prstDash val="solid"/>
          </a:ln>
        </p:spPr>
      </p:sp>
      <p:sp>
        <p:nvSpPr>
          <p:cNvPr id="1808606351" name=""/>
          <p:cNvSpPr>
            <a:spLocks noGrp="1"/>
          </p:cNvSpPr>
          <p:nvPr/>
        </p:nvSpPr>
        <p:spPr bwMode="auto">
          <a:xfrm>
            <a:off x="3352800" y="4857750"/>
            <a:ext cx="876299" cy="438149"/>
          </a:xfrm>
          <a:prstGeom prst="roundRect">
            <a:avLst>
              <a:gd name="adj" fmla="val 26087"/>
            </a:avLst>
          </a:prstGeom>
          <a:solidFill>
            <a:srgbClr val="FFFFFF"/>
          </a:solidFill>
          <a:ln w="9525">
            <a:solidFill>
              <a:srgbClr val="CBD5E1"/>
            </a:solidFill>
            <a:prstDash val="solid"/>
          </a:ln>
        </p:spPr>
      </p:sp>
      <p:sp>
        <p:nvSpPr>
          <p:cNvPr id="1449320914" name=""/>
          <p:cNvSpPr>
            <a:spLocks noGrp="1"/>
          </p:cNvSpPr>
          <p:nvPr/>
        </p:nvSpPr>
        <p:spPr bwMode="auto">
          <a:xfrm>
            <a:off x="3400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Positional encoding</a:t>
            </a:r>
            <a:endParaRPr/>
          </a:p>
        </p:txBody>
      </p:sp>
      <p:sp>
        <p:nvSpPr>
          <p:cNvPr id="372799237" name=""/>
          <p:cNvSpPr>
            <a:spLocks noGrp="1"/>
          </p:cNvSpPr>
          <p:nvPr/>
        </p:nvSpPr>
        <p:spPr bwMode="auto">
          <a:xfrm>
            <a:off x="4229100" y="5076825"/>
            <a:ext cx="190500" cy="0"/>
          </a:xfrm>
          <a:prstGeom prst="line">
            <a:avLst/>
          </a:prstGeom>
          <a:ln w="9525">
            <a:solidFill>
              <a:srgbClr val="CBD5E1"/>
            </a:solidFill>
            <a:prstDash val="solid"/>
          </a:ln>
        </p:spPr>
      </p:sp>
      <p:sp>
        <p:nvSpPr>
          <p:cNvPr id="39541052" name=""/>
          <p:cNvSpPr>
            <a:spLocks noGrp="1"/>
          </p:cNvSpPr>
          <p:nvPr/>
        </p:nvSpPr>
        <p:spPr bwMode="auto">
          <a:xfrm>
            <a:off x="4419600" y="4857750"/>
            <a:ext cx="876299" cy="438149"/>
          </a:xfrm>
          <a:prstGeom prst="roundRect">
            <a:avLst>
              <a:gd name="adj" fmla="val 26087"/>
            </a:avLst>
          </a:prstGeom>
          <a:solidFill>
            <a:srgbClr val="FFFFFF"/>
          </a:solidFill>
          <a:ln w="9525">
            <a:solidFill>
              <a:srgbClr val="CBD5E1"/>
            </a:solidFill>
            <a:prstDash val="solid"/>
          </a:ln>
        </p:spPr>
      </p:sp>
      <p:sp>
        <p:nvSpPr>
          <p:cNvPr id="308467907" name=""/>
          <p:cNvSpPr>
            <a:spLocks noGrp="1"/>
          </p:cNvSpPr>
          <p:nvPr/>
        </p:nvSpPr>
        <p:spPr bwMode="auto">
          <a:xfrm>
            <a:off x="4467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Self-attention</a:t>
            </a:r>
            <a:endParaRPr/>
          </a:p>
        </p:txBody>
      </p:sp>
      <p:sp>
        <p:nvSpPr>
          <p:cNvPr id="473089443" name=""/>
          <p:cNvSpPr>
            <a:spLocks noGrp="1"/>
          </p:cNvSpPr>
          <p:nvPr/>
        </p:nvSpPr>
        <p:spPr bwMode="auto">
          <a:xfrm>
            <a:off x="5295899" y="5076825"/>
            <a:ext cx="190500" cy="0"/>
          </a:xfrm>
          <a:prstGeom prst="line">
            <a:avLst/>
          </a:prstGeom>
          <a:ln w="9525">
            <a:solidFill>
              <a:srgbClr val="CBD5E1"/>
            </a:solidFill>
            <a:prstDash val="solid"/>
          </a:ln>
        </p:spPr>
      </p:sp>
      <p:sp>
        <p:nvSpPr>
          <p:cNvPr id="505397230" name=""/>
          <p:cNvSpPr>
            <a:spLocks noGrp="1"/>
          </p:cNvSpPr>
          <p:nvPr/>
        </p:nvSpPr>
        <p:spPr bwMode="auto">
          <a:xfrm>
            <a:off x="5486400" y="4857750"/>
            <a:ext cx="876299" cy="438149"/>
          </a:xfrm>
          <a:prstGeom prst="roundRect">
            <a:avLst>
              <a:gd name="adj" fmla="val 26087"/>
            </a:avLst>
          </a:prstGeom>
          <a:solidFill>
            <a:srgbClr val="FFFFFF"/>
          </a:solidFill>
          <a:ln w="9525">
            <a:solidFill>
              <a:srgbClr val="CBD5E1"/>
            </a:solidFill>
            <a:prstDash val="solid"/>
          </a:ln>
        </p:spPr>
      </p:sp>
      <p:sp>
        <p:nvSpPr>
          <p:cNvPr id="1950580430" name=""/>
          <p:cNvSpPr>
            <a:spLocks noGrp="1"/>
          </p:cNvSpPr>
          <p:nvPr/>
        </p:nvSpPr>
        <p:spPr bwMode="auto">
          <a:xfrm>
            <a:off x="55340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Attention head</a:t>
            </a:r>
            <a:endParaRPr/>
          </a:p>
        </p:txBody>
      </p:sp>
      <p:sp>
        <p:nvSpPr>
          <p:cNvPr id="1353970453" name=""/>
          <p:cNvSpPr>
            <a:spLocks noGrp="1"/>
          </p:cNvSpPr>
          <p:nvPr/>
        </p:nvSpPr>
        <p:spPr bwMode="auto">
          <a:xfrm>
            <a:off x="6362700" y="5076825"/>
            <a:ext cx="190500" cy="0"/>
          </a:xfrm>
          <a:prstGeom prst="line">
            <a:avLst/>
          </a:prstGeom>
          <a:ln w="9525">
            <a:solidFill>
              <a:srgbClr val="CBD5E1"/>
            </a:solidFill>
            <a:prstDash val="solid"/>
          </a:ln>
        </p:spPr>
      </p:sp>
      <p:sp>
        <p:nvSpPr>
          <p:cNvPr id="406273478" name=""/>
          <p:cNvSpPr>
            <a:spLocks noGrp="1"/>
          </p:cNvSpPr>
          <p:nvPr/>
        </p:nvSpPr>
        <p:spPr bwMode="auto">
          <a:xfrm>
            <a:off x="6553200" y="4857750"/>
            <a:ext cx="876299" cy="438149"/>
          </a:xfrm>
          <a:prstGeom prst="roundRect">
            <a:avLst>
              <a:gd name="adj" fmla="val 26087"/>
            </a:avLst>
          </a:prstGeom>
          <a:solidFill>
            <a:srgbClr val="FFFFFF"/>
          </a:solidFill>
          <a:ln w="9525">
            <a:solidFill>
              <a:srgbClr val="CBD5E1"/>
            </a:solidFill>
            <a:prstDash val="solid"/>
          </a:ln>
        </p:spPr>
      </p:sp>
      <p:sp>
        <p:nvSpPr>
          <p:cNvPr id="186207926" name=""/>
          <p:cNvSpPr>
            <a:spLocks noGrp="1"/>
          </p:cNvSpPr>
          <p:nvPr/>
        </p:nvSpPr>
        <p:spPr bwMode="auto">
          <a:xfrm>
            <a:off x="6600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Multi-head attention</a:t>
            </a:r>
            <a:endParaRPr/>
          </a:p>
        </p:txBody>
      </p:sp>
      <p:sp>
        <p:nvSpPr>
          <p:cNvPr id="458049315" name=""/>
          <p:cNvSpPr>
            <a:spLocks noGrp="1"/>
          </p:cNvSpPr>
          <p:nvPr/>
        </p:nvSpPr>
        <p:spPr bwMode="auto">
          <a:xfrm>
            <a:off x="7429500" y="5076825"/>
            <a:ext cx="190500" cy="0"/>
          </a:xfrm>
          <a:prstGeom prst="line">
            <a:avLst/>
          </a:prstGeom>
          <a:ln w="9525">
            <a:solidFill>
              <a:srgbClr val="CBD5E1"/>
            </a:solidFill>
            <a:prstDash val="solid"/>
          </a:ln>
        </p:spPr>
      </p:sp>
      <p:sp>
        <p:nvSpPr>
          <p:cNvPr id="1206745482" name=""/>
          <p:cNvSpPr>
            <a:spLocks noGrp="1"/>
          </p:cNvSpPr>
          <p:nvPr/>
        </p:nvSpPr>
        <p:spPr bwMode="auto">
          <a:xfrm>
            <a:off x="7620000" y="4857750"/>
            <a:ext cx="876299" cy="438149"/>
          </a:xfrm>
          <a:prstGeom prst="roundRect">
            <a:avLst>
              <a:gd name="adj" fmla="val 26087"/>
            </a:avLst>
          </a:prstGeom>
          <a:solidFill>
            <a:srgbClr val="FFFFFF"/>
          </a:solidFill>
          <a:ln w="9525">
            <a:solidFill>
              <a:srgbClr val="CBD5E1"/>
            </a:solidFill>
            <a:prstDash val="solid"/>
          </a:ln>
        </p:spPr>
      </p:sp>
      <p:sp>
        <p:nvSpPr>
          <p:cNvPr id="1993735715" name=""/>
          <p:cNvSpPr>
            <a:spLocks noGrp="1"/>
          </p:cNvSpPr>
          <p:nvPr/>
        </p:nvSpPr>
        <p:spPr bwMode="auto">
          <a:xfrm>
            <a:off x="7667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Encoder block</a:t>
            </a:r>
            <a:endParaRPr/>
          </a:p>
        </p:txBody>
      </p:sp>
      <p:sp>
        <p:nvSpPr>
          <p:cNvPr id="547570179" name=""/>
          <p:cNvSpPr>
            <a:spLocks noGrp="1"/>
          </p:cNvSpPr>
          <p:nvPr/>
        </p:nvSpPr>
        <p:spPr bwMode="auto">
          <a:xfrm>
            <a:off x="8496300" y="5076825"/>
            <a:ext cx="190500" cy="0"/>
          </a:xfrm>
          <a:prstGeom prst="line">
            <a:avLst/>
          </a:prstGeom>
          <a:ln w="9525">
            <a:solidFill>
              <a:srgbClr val="CBD5E1"/>
            </a:solidFill>
            <a:prstDash val="solid"/>
          </a:ln>
        </p:spPr>
      </p:sp>
      <p:sp>
        <p:nvSpPr>
          <p:cNvPr id="1868051657" name=""/>
          <p:cNvSpPr>
            <a:spLocks noGrp="1"/>
          </p:cNvSpPr>
          <p:nvPr/>
        </p:nvSpPr>
        <p:spPr bwMode="auto">
          <a:xfrm>
            <a:off x="8686800" y="4857750"/>
            <a:ext cx="876299" cy="438149"/>
          </a:xfrm>
          <a:prstGeom prst="roundRect">
            <a:avLst>
              <a:gd name="adj" fmla="val 26087"/>
            </a:avLst>
          </a:prstGeom>
          <a:solidFill>
            <a:srgbClr val="FFFFFF"/>
          </a:solidFill>
          <a:ln w="9525">
            <a:solidFill>
              <a:srgbClr val="CBD5E1"/>
            </a:solidFill>
            <a:prstDash val="solid"/>
          </a:ln>
        </p:spPr>
      </p:sp>
      <p:sp>
        <p:nvSpPr>
          <p:cNvPr id="383507331" name=""/>
          <p:cNvSpPr>
            <a:spLocks noGrp="1"/>
          </p:cNvSpPr>
          <p:nvPr/>
        </p:nvSpPr>
        <p:spPr bwMode="auto">
          <a:xfrm>
            <a:off x="8734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Decoder block</a:t>
            </a:r>
            <a:endParaRPr/>
          </a:p>
        </p:txBody>
      </p:sp>
      <p:sp>
        <p:nvSpPr>
          <p:cNvPr id="1197472557" name=""/>
          <p:cNvSpPr>
            <a:spLocks noGrp="1"/>
          </p:cNvSpPr>
          <p:nvPr/>
        </p:nvSpPr>
        <p:spPr bwMode="auto">
          <a:xfrm>
            <a:off x="9563100" y="5076825"/>
            <a:ext cx="190500" cy="0"/>
          </a:xfrm>
          <a:prstGeom prst="line">
            <a:avLst/>
          </a:prstGeom>
          <a:ln w="9525">
            <a:solidFill>
              <a:srgbClr val="CBD5E1"/>
            </a:solidFill>
            <a:prstDash val="solid"/>
          </a:ln>
        </p:spPr>
      </p:sp>
      <p:sp>
        <p:nvSpPr>
          <p:cNvPr id="632538635" name=""/>
          <p:cNvSpPr>
            <a:spLocks noGrp="1"/>
          </p:cNvSpPr>
          <p:nvPr/>
        </p:nvSpPr>
        <p:spPr bwMode="auto">
          <a:xfrm>
            <a:off x="9753600" y="4857750"/>
            <a:ext cx="876299" cy="438149"/>
          </a:xfrm>
          <a:prstGeom prst="roundRect">
            <a:avLst>
              <a:gd name="adj" fmla="val 26087"/>
            </a:avLst>
          </a:prstGeom>
          <a:solidFill>
            <a:srgbClr val="FFFFFF"/>
          </a:solidFill>
          <a:ln w="9525">
            <a:solidFill>
              <a:srgbClr val="CBD5E1"/>
            </a:solidFill>
            <a:prstDash val="solid"/>
          </a:ln>
        </p:spPr>
      </p:sp>
      <p:sp>
        <p:nvSpPr>
          <p:cNvPr id="1016229027" name=""/>
          <p:cNvSpPr>
            <a:spLocks noGrp="1"/>
          </p:cNvSpPr>
          <p:nvPr/>
        </p:nvSpPr>
        <p:spPr bwMode="auto">
          <a:xfrm>
            <a:off x="9801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Language-model head</a:t>
            </a:r>
            <a:endParaRPr/>
          </a:p>
        </p:txBody>
      </p:sp>
      <p:sp>
        <p:nvSpPr>
          <p:cNvPr id="982950089" name=""/>
          <p:cNvSpPr>
            <a:spLocks noGrp="1"/>
          </p:cNvSpPr>
          <p:nvPr/>
        </p:nvSpPr>
        <p:spPr bwMode="auto">
          <a:xfrm>
            <a:off x="4610100" y="5762625"/>
            <a:ext cx="2971800" cy="266700"/>
          </a:xfrm>
          <a:prstGeom prst="rect">
            <a:avLst/>
          </a:prstGeom>
          <a:noFill/>
          <a:ln w="0">
            <a:noFill/>
            <a:prstDash val="solid"/>
          </a:ln>
        </p:spPr>
        <p:txBody>
          <a:bodyPr anchor="ctr"/>
          <a:lstStyle/>
          <a:p>
            <a:pPr algn="ctr">
              <a:buNone/>
              <a:defRPr sz="1350" b="1">
                <a:solidFill>
                  <a:srgbClr val="2563EB"/>
                </a:solidFill>
                <a:latin typeface="Calibri"/>
                <a:ea typeface="Calibri"/>
                <a:cs typeface="Calibri"/>
              </a:defRPr>
            </a:pPr>
            <a:r>
              <a:rPr sz="1350" b="1">
                <a:solidFill>
                  <a:srgbClr val="2563EB"/>
                </a:solidFill>
                <a:latin typeface="Calibri"/>
                <a:ea typeface="Calibri"/>
                <a:cs typeface="Calibri"/>
              </a:rPr>
              <a:t>Input component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569924556"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Transformer roadmap · Input</a:t>
            </a:r>
            <a:endParaRPr/>
          </a:p>
        </p:txBody>
      </p:sp>
      <p:sp>
        <p:nvSpPr>
          <p:cNvPr id="1410725449" name="Rectangle 251777344"/>
          <p:cNvSpPr>
            <a:spLocks noGrp="1"/>
          </p:cNvSpPr>
          <p:nvPr/>
        </p:nvSpPr>
        <p:spPr bwMode="auto">
          <a:xfrm>
            <a:off x="609600" y="590549"/>
            <a:ext cx="10287000" cy="590549"/>
          </a:xfrm>
          <a:prstGeom prst="rect">
            <a:avLst/>
          </a:prstGeom>
          <a:noFill/>
          <a:ln w="0">
            <a:noFill/>
            <a:prstDash val="solid"/>
          </a:ln>
        </p:spPr>
        <p:txBody>
          <a:bodyPr anchor="ctr"/>
          <a:lstStyle/>
          <a:p>
            <a:pPr algn="l">
              <a:buNone/>
              <a:defRPr sz="2850" b="1">
                <a:solidFill>
                  <a:srgbClr val="0B0F19"/>
                </a:solidFill>
                <a:latin typeface="Calibri"/>
                <a:ea typeface="Calibri"/>
                <a:cs typeface="Calibri"/>
              </a:defRPr>
            </a:pPr>
            <a:r>
              <a:rPr sz="2850" b="1">
                <a:solidFill>
                  <a:srgbClr val="0B0F19"/>
                </a:solidFill>
                <a:latin typeface="Calibri"/>
                <a:ea typeface="Calibri"/>
                <a:cs typeface="Calibri"/>
              </a:rPr>
              <a:t>Positional encoding</a:t>
            </a:r>
            <a:endParaRPr/>
          </a:p>
        </p:txBody>
      </p:sp>
      <p:sp>
        <p:nvSpPr>
          <p:cNvPr id="1997651199"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34</a:t>
            </a:r>
            <a:endParaRPr/>
          </a:p>
        </p:txBody>
      </p:sp>
      <p:sp>
        <p:nvSpPr>
          <p:cNvPr id="958108389" name=""/>
          <p:cNvSpPr>
            <a:spLocks noGrp="1"/>
          </p:cNvSpPr>
          <p:nvPr/>
        </p:nvSpPr>
        <p:spPr bwMode="auto">
          <a:xfrm>
            <a:off x="723900" y="1362075"/>
            <a:ext cx="10287000" cy="323850"/>
          </a:xfrm>
          <a:prstGeom prst="rect">
            <a:avLst/>
          </a:prstGeom>
          <a:noFill/>
          <a:ln w="0">
            <a:noFill/>
            <a:prstDash val="solid"/>
          </a:ln>
        </p:spPr>
        <p:txBody>
          <a:bodyPr anchor="ctr"/>
          <a:lstStyle/>
          <a:p>
            <a:pPr algn="l">
              <a:buNone/>
              <a:defRPr sz="1600" b="0">
                <a:solidFill>
                  <a:srgbClr val="667085"/>
                </a:solidFill>
                <a:latin typeface="Calibri"/>
                <a:ea typeface="Calibri"/>
                <a:cs typeface="Calibri"/>
              </a:defRPr>
            </a:pPr>
            <a:r>
              <a:rPr sz="1600" b="0">
                <a:solidFill>
                  <a:srgbClr val="667085"/>
                </a:solidFill>
                <a:latin typeface="Calibri"/>
                <a:ea typeface="Calibri"/>
                <a:cs typeface="Calibri"/>
              </a:rPr>
              <a:t>Add position information so the model can distinguish word order.</a:t>
            </a:r>
            <a:endParaRPr/>
          </a:p>
        </p:txBody>
      </p:sp>
      <p:sp>
        <p:nvSpPr>
          <p:cNvPr id="223341810" name=""/>
          <p:cNvSpPr>
            <a:spLocks noGrp="1"/>
          </p:cNvSpPr>
          <p:nvPr/>
        </p:nvSpPr>
        <p:spPr bwMode="auto">
          <a:xfrm>
            <a:off x="1619250" y="2381250"/>
            <a:ext cx="8953500" cy="1428750"/>
          </a:xfrm>
          <a:prstGeom prst="roundRect">
            <a:avLst>
              <a:gd name="adj" fmla="val 8000"/>
            </a:avLst>
          </a:prstGeom>
          <a:solidFill>
            <a:srgbClr val="F8FAFC"/>
          </a:solidFill>
          <a:ln w="9525">
            <a:solidFill>
              <a:srgbClr val="2563EB"/>
            </a:solidFill>
            <a:prstDash val="solid"/>
          </a:ln>
        </p:spPr>
      </p:sp>
      <p:sp>
        <p:nvSpPr>
          <p:cNvPr id="1189281664" name=""/>
          <p:cNvSpPr>
            <a:spLocks noGrp="1"/>
          </p:cNvSpPr>
          <p:nvPr/>
        </p:nvSpPr>
        <p:spPr bwMode="auto">
          <a:xfrm>
            <a:off x="1952625" y="2686050"/>
            <a:ext cx="8286750" cy="666750"/>
          </a:xfrm>
          <a:prstGeom prst="rect">
            <a:avLst/>
          </a:prstGeom>
          <a:noFill/>
          <a:ln w="0">
            <a:noFill/>
            <a:prstDash val="solid"/>
          </a:ln>
        </p:spPr>
        <p:txBody>
          <a:bodyPr anchor="ctr"/>
          <a:lstStyle/>
          <a:p>
            <a:pPr algn="ctr">
              <a:buNone/>
              <a:defRPr sz="2350" b="1">
                <a:solidFill>
                  <a:srgbClr val="2563EB"/>
                </a:solidFill>
                <a:latin typeface="Calibri"/>
                <a:ea typeface="Calibri"/>
                <a:cs typeface="Calibri"/>
              </a:defRPr>
            </a:pPr>
            <a:r>
              <a:rPr sz="2350" b="1">
                <a:solidFill>
                  <a:srgbClr val="2563EB"/>
                </a:solidFill>
                <a:latin typeface="Calibri"/>
                <a:ea typeface="Calibri"/>
                <a:cs typeface="Calibri"/>
              </a:rPr>
              <a:t>token embedding  +  position signal</a:t>
            </a:r>
            <a:endParaRPr/>
          </a:p>
        </p:txBody>
      </p:sp>
      <p:sp>
        <p:nvSpPr>
          <p:cNvPr id="67193433" name=""/>
          <p:cNvSpPr>
            <a:spLocks noGrp="1"/>
          </p:cNvSpPr>
          <p:nvPr/>
        </p:nvSpPr>
        <p:spPr bwMode="auto">
          <a:xfrm>
            <a:off x="5143500" y="4114800"/>
            <a:ext cx="1905000" cy="247650"/>
          </a:xfrm>
          <a:prstGeom prst="rect">
            <a:avLst/>
          </a:prstGeom>
          <a:noFill/>
          <a:ln w="0">
            <a:noFill/>
            <a:prstDash val="solid"/>
          </a:ln>
        </p:spPr>
        <p:txBody>
          <a:bodyPr anchor="ctr"/>
          <a:lstStyle/>
          <a:p>
            <a:pPr algn="ctr">
              <a:buNone/>
              <a:defRPr sz="1300" b="0">
                <a:solidFill>
                  <a:srgbClr val="667085"/>
                </a:solidFill>
                <a:latin typeface="Calibri"/>
                <a:ea typeface="Calibri"/>
                <a:cs typeface="Calibri"/>
              </a:defRPr>
            </a:pPr>
            <a:r>
              <a:rPr sz="1300" b="0">
                <a:solidFill>
                  <a:srgbClr val="667085"/>
                </a:solidFill>
                <a:latin typeface="Calibri"/>
                <a:ea typeface="Calibri"/>
                <a:cs typeface="Calibri"/>
              </a:rPr>
              <a:t>Step 3 of 9</a:t>
            </a:r>
            <a:endParaRPr/>
          </a:p>
        </p:txBody>
      </p:sp>
      <p:sp>
        <p:nvSpPr>
          <p:cNvPr id="15823733" name=""/>
          <p:cNvSpPr>
            <a:spLocks noGrp="1"/>
          </p:cNvSpPr>
          <p:nvPr/>
        </p:nvSpPr>
        <p:spPr bwMode="auto">
          <a:xfrm>
            <a:off x="1219200" y="4857750"/>
            <a:ext cx="876299" cy="438149"/>
          </a:xfrm>
          <a:prstGeom prst="roundRect">
            <a:avLst>
              <a:gd name="adj" fmla="val 26087"/>
            </a:avLst>
          </a:prstGeom>
          <a:solidFill>
            <a:srgbClr val="FFFFFF"/>
          </a:solidFill>
          <a:ln w="9525">
            <a:solidFill>
              <a:srgbClr val="CBD5E1"/>
            </a:solidFill>
            <a:prstDash val="solid"/>
          </a:ln>
        </p:spPr>
      </p:sp>
      <p:sp>
        <p:nvSpPr>
          <p:cNvPr id="1855104786" name=""/>
          <p:cNvSpPr>
            <a:spLocks noGrp="1"/>
          </p:cNvSpPr>
          <p:nvPr/>
        </p:nvSpPr>
        <p:spPr bwMode="auto">
          <a:xfrm>
            <a:off x="1266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Tokenizer</a:t>
            </a:r>
            <a:endParaRPr/>
          </a:p>
        </p:txBody>
      </p:sp>
      <p:sp>
        <p:nvSpPr>
          <p:cNvPr id="525634099" name=""/>
          <p:cNvSpPr>
            <a:spLocks noGrp="1"/>
          </p:cNvSpPr>
          <p:nvPr/>
        </p:nvSpPr>
        <p:spPr bwMode="auto">
          <a:xfrm>
            <a:off x="2095500" y="5076825"/>
            <a:ext cx="190500" cy="0"/>
          </a:xfrm>
          <a:prstGeom prst="line">
            <a:avLst/>
          </a:prstGeom>
          <a:ln w="9525">
            <a:solidFill>
              <a:srgbClr val="CBD5E1"/>
            </a:solidFill>
            <a:prstDash val="solid"/>
          </a:ln>
        </p:spPr>
      </p:sp>
      <p:sp>
        <p:nvSpPr>
          <p:cNvPr id="674286045" name=""/>
          <p:cNvSpPr>
            <a:spLocks noGrp="1"/>
          </p:cNvSpPr>
          <p:nvPr/>
        </p:nvSpPr>
        <p:spPr bwMode="auto">
          <a:xfrm>
            <a:off x="2286000" y="4857750"/>
            <a:ext cx="876299" cy="438149"/>
          </a:xfrm>
          <a:prstGeom prst="roundRect">
            <a:avLst>
              <a:gd name="adj" fmla="val 26087"/>
            </a:avLst>
          </a:prstGeom>
          <a:solidFill>
            <a:srgbClr val="FFFFFF"/>
          </a:solidFill>
          <a:ln w="9525">
            <a:solidFill>
              <a:srgbClr val="CBD5E1"/>
            </a:solidFill>
            <a:prstDash val="solid"/>
          </a:ln>
        </p:spPr>
      </p:sp>
      <p:sp>
        <p:nvSpPr>
          <p:cNvPr id="468437567" name=""/>
          <p:cNvSpPr>
            <a:spLocks noGrp="1"/>
          </p:cNvSpPr>
          <p:nvPr/>
        </p:nvSpPr>
        <p:spPr bwMode="auto">
          <a:xfrm>
            <a:off x="2333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Embedding</a:t>
            </a:r>
            <a:endParaRPr/>
          </a:p>
        </p:txBody>
      </p:sp>
      <p:sp>
        <p:nvSpPr>
          <p:cNvPr id="1426500243" name=""/>
          <p:cNvSpPr>
            <a:spLocks noGrp="1"/>
          </p:cNvSpPr>
          <p:nvPr/>
        </p:nvSpPr>
        <p:spPr bwMode="auto">
          <a:xfrm>
            <a:off x="3162300" y="5076825"/>
            <a:ext cx="190500" cy="0"/>
          </a:xfrm>
          <a:prstGeom prst="line">
            <a:avLst/>
          </a:prstGeom>
          <a:ln w="9525">
            <a:solidFill>
              <a:srgbClr val="CBD5E1"/>
            </a:solidFill>
            <a:prstDash val="solid"/>
          </a:ln>
        </p:spPr>
      </p:sp>
      <p:sp>
        <p:nvSpPr>
          <p:cNvPr id="1367709389" name=""/>
          <p:cNvSpPr>
            <a:spLocks noGrp="1"/>
          </p:cNvSpPr>
          <p:nvPr/>
        </p:nvSpPr>
        <p:spPr bwMode="auto">
          <a:xfrm>
            <a:off x="3352800" y="4857750"/>
            <a:ext cx="876299" cy="438149"/>
          </a:xfrm>
          <a:prstGeom prst="roundRect">
            <a:avLst>
              <a:gd name="adj" fmla="val 26087"/>
            </a:avLst>
          </a:prstGeom>
          <a:solidFill>
            <a:srgbClr val="2563EB"/>
          </a:solidFill>
          <a:ln w="9525">
            <a:solidFill>
              <a:srgbClr val="2563EB"/>
            </a:solidFill>
            <a:prstDash val="solid"/>
          </a:ln>
        </p:spPr>
      </p:sp>
      <p:sp>
        <p:nvSpPr>
          <p:cNvPr id="234797797" name=""/>
          <p:cNvSpPr>
            <a:spLocks noGrp="1"/>
          </p:cNvSpPr>
          <p:nvPr/>
        </p:nvSpPr>
        <p:spPr bwMode="auto">
          <a:xfrm>
            <a:off x="3400425" y="4924425"/>
            <a:ext cx="781050" cy="285750"/>
          </a:xfrm>
          <a:prstGeom prst="rect">
            <a:avLst/>
          </a:prstGeom>
          <a:noFill/>
          <a:ln w="0">
            <a:noFill/>
            <a:prstDash val="solid"/>
          </a:ln>
        </p:spPr>
        <p:txBody>
          <a:bodyPr anchor="ctr"/>
          <a:lstStyle/>
          <a:p>
            <a:pPr algn="ctr">
              <a:buNone/>
              <a:defRPr sz="1050" b="1">
                <a:solidFill>
                  <a:srgbClr val="FFFFFF"/>
                </a:solidFill>
                <a:latin typeface="Calibri"/>
                <a:ea typeface="Calibri"/>
                <a:cs typeface="Calibri"/>
              </a:defRPr>
            </a:pPr>
            <a:r>
              <a:rPr sz="1050" b="1">
                <a:solidFill>
                  <a:srgbClr val="FFFFFF"/>
                </a:solidFill>
                <a:latin typeface="Calibri"/>
                <a:ea typeface="Calibri"/>
                <a:cs typeface="Calibri"/>
              </a:rPr>
              <a:t>Positional encoding</a:t>
            </a:r>
            <a:endParaRPr/>
          </a:p>
        </p:txBody>
      </p:sp>
      <p:sp>
        <p:nvSpPr>
          <p:cNvPr id="1500557143" name=""/>
          <p:cNvSpPr>
            <a:spLocks noGrp="1"/>
          </p:cNvSpPr>
          <p:nvPr/>
        </p:nvSpPr>
        <p:spPr bwMode="auto">
          <a:xfrm>
            <a:off x="4229100" y="5076825"/>
            <a:ext cx="190500" cy="0"/>
          </a:xfrm>
          <a:prstGeom prst="line">
            <a:avLst/>
          </a:prstGeom>
          <a:ln w="9525">
            <a:solidFill>
              <a:srgbClr val="CBD5E1"/>
            </a:solidFill>
            <a:prstDash val="solid"/>
          </a:ln>
        </p:spPr>
      </p:sp>
      <p:sp>
        <p:nvSpPr>
          <p:cNvPr id="1502394843" name=""/>
          <p:cNvSpPr>
            <a:spLocks noGrp="1"/>
          </p:cNvSpPr>
          <p:nvPr/>
        </p:nvSpPr>
        <p:spPr bwMode="auto">
          <a:xfrm>
            <a:off x="4419600" y="4857750"/>
            <a:ext cx="876299" cy="438149"/>
          </a:xfrm>
          <a:prstGeom prst="roundRect">
            <a:avLst>
              <a:gd name="adj" fmla="val 26087"/>
            </a:avLst>
          </a:prstGeom>
          <a:solidFill>
            <a:srgbClr val="FFFFFF"/>
          </a:solidFill>
          <a:ln w="9525">
            <a:solidFill>
              <a:srgbClr val="CBD5E1"/>
            </a:solidFill>
            <a:prstDash val="solid"/>
          </a:ln>
        </p:spPr>
      </p:sp>
      <p:sp>
        <p:nvSpPr>
          <p:cNvPr id="1333887881" name=""/>
          <p:cNvSpPr>
            <a:spLocks noGrp="1"/>
          </p:cNvSpPr>
          <p:nvPr/>
        </p:nvSpPr>
        <p:spPr bwMode="auto">
          <a:xfrm>
            <a:off x="4467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Self-attention</a:t>
            </a:r>
            <a:endParaRPr/>
          </a:p>
        </p:txBody>
      </p:sp>
      <p:sp>
        <p:nvSpPr>
          <p:cNvPr id="799654874" name=""/>
          <p:cNvSpPr>
            <a:spLocks noGrp="1"/>
          </p:cNvSpPr>
          <p:nvPr/>
        </p:nvSpPr>
        <p:spPr bwMode="auto">
          <a:xfrm>
            <a:off x="5295899" y="5076825"/>
            <a:ext cx="190500" cy="0"/>
          </a:xfrm>
          <a:prstGeom prst="line">
            <a:avLst/>
          </a:prstGeom>
          <a:ln w="9525">
            <a:solidFill>
              <a:srgbClr val="CBD5E1"/>
            </a:solidFill>
            <a:prstDash val="solid"/>
          </a:ln>
        </p:spPr>
      </p:sp>
      <p:sp>
        <p:nvSpPr>
          <p:cNvPr id="657808799" name=""/>
          <p:cNvSpPr>
            <a:spLocks noGrp="1"/>
          </p:cNvSpPr>
          <p:nvPr/>
        </p:nvSpPr>
        <p:spPr bwMode="auto">
          <a:xfrm>
            <a:off x="5486400" y="4857750"/>
            <a:ext cx="876299" cy="438149"/>
          </a:xfrm>
          <a:prstGeom prst="roundRect">
            <a:avLst>
              <a:gd name="adj" fmla="val 26087"/>
            </a:avLst>
          </a:prstGeom>
          <a:solidFill>
            <a:srgbClr val="FFFFFF"/>
          </a:solidFill>
          <a:ln w="9525">
            <a:solidFill>
              <a:srgbClr val="CBD5E1"/>
            </a:solidFill>
            <a:prstDash val="solid"/>
          </a:ln>
        </p:spPr>
      </p:sp>
      <p:sp>
        <p:nvSpPr>
          <p:cNvPr id="241828911" name=""/>
          <p:cNvSpPr>
            <a:spLocks noGrp="1"/>
          </p:cNvSpPr>
          <p:nvPr/>
        </p:nvSpPr>
        <p:spPr bwMode="auto">
          <a:xfrm>
            <a:off x="55340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Attention head</a:t>
            </a:r>
            <a:endParaRPr/>
          </a:p>
        </p:txBody>
      </p:sp>
      <p:sp>
        <p:nvSpPr>
          <p:cNvPr id="1949861612" name=""/>
          <p:cNvSpPr>
            <a:spLocks noGrp="1"/>
          </p:cNvSpPr>
          <p:nvPr/>
        </p:nvSpPr>
        <p:spPr bwMode="auto">
          <a:xfrm>
            <a:off x="6362700" y="5076825"/>
            <a:ext cx="190500" cy="0"/>
          </a:xfrm>
          <a:prstGeom prst="line">
            <a:avLst/>
          </a:prstGeom>
          <a:ln w="9525">
            <a:solidFill>
              <a:srgbClr val="CBD5E1"/>
            </a:solidFill>
            <a:prstDash val="solid"/>
          </a:ln>
        </p:spPr>
      </p:sp>
      <p:sp>
        <p:nvSpPr>
          <p:cNvPr id="375602485" name=""/>
          <p:cNvSpPr>
            <a:spLocks noGrp="1"/>
          </p:cNvSpPr>
          <p:nvPr/>
        </p:nvSpPr>
        <p:spPr bwMode="auto">
          <a:xfrm>
            <a:off x="6553200" y="4857750"/>
            <a:ext cx="876299" cy="438149"/>
          </a:xfrm>
          <a:prstGeom prst="roundRect">
            <a:avLst>
              <a:gd name="adj" fmla="val 26087"/>
            </a:avLst>
          </a:prstGeom>
          <a:solidFill>
            <a:srgbClr val="FFFFFF"/>
          </a:solidFill>
          <a:ln w="9525">
            <a:solidFill>
              <a:srgbClr val="CBD5E1"/>
            </a:solidFill>
            <a:prstDash val="solid"/>
          </a:ln>
        </p:spPr>
      </p:sp>
      <p:sp>
        <p:nvSpPr>
          <p:cNvPr id="1465330689" name=""/>
          <p:cNvSpPr>
            <a:spLocks noGrp="1"/>
          </p:cNvSpPr>
          <p:nvPr/>
        </p:nvSpPr>
        <p:spPr bwMode="auto">
          <a:xfrm>
            <a:off x="6600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Multi-head attention</a:t>
            </a:r>
            <a:endParaRPr/>
          </a:p>
        </p:txBody>
      </p:sp>
      <p:sp>
        <p:nvSpPr>
          <p:cNvPr id="1424137738" name=""/>
          <p:cNvSpPr>
            <a:spLocks noGrp="1"/>
          </p:cNvSpPr>
          <p:nvPr/>
        </p:nvSpPr>
        <p:spPr bwMode="auto">
          <a:xfrm>
            <a:off x="7429500" y="5076825"/>
            <a:ext cx="190500" cy="0"/>
          </a:xfrm>
          <a:prstGeom prst="line">
            <a:avLst/>
          </a:prstGeom>
          <a:ln w="9525">
            <a:solidFill>
              <a:srgbClr val="CBD5E1"/>
            </a:solidFill>
            <a:prstDash val="solid"/>
          </a:ln>
        </p:spPr>
      </p:sp>
      <p:sp>
        <p:nvSpPr>
          <p:cNvPr id="636703504" name=""/>
          <p:cNvSpPr>
            <a:spLocks noGrp="1"/>
          </p:cNvSpPr>
          <p:nvPr/>
        </p:nvSpPr>
        <p:spPr bwMode="auto">
          <a:xfrm>
            <a:off x="7620000" y="4857750"/>
            <a:ext cx="876299" cy="438149"/>
          </a:xfrm>
          <a:prstGeom prst="roundRect">
            <a:avLst>
              <a:gd name="adj" fmla="val 26087"/>
            </a:avLst>
          </a:prstGeom>
          <a:solidFill>
            <a:srgbClr val="FFFFFF"/>
          </a:solidFill>
          <a:ln w="9525">
            <a:solidFill>
              <a:srgbClr val="CBD5E1"/>
            </a:solidFill>
            <a:prstDash val="solid"/>
          </a:ln>
        </p:spPr>
      </p:sp>
      <p:sp>
        <p:nvSpPr>
          <p:cNvPr id="1674599598" name=""/>
          <p:cNvSpPr>
            <a:spLocks noGrp="1"/>
          </p:cNvSpPr>
          <p:nvPr/>
        </p:nvSpPr>
        <p:spPr bwMode="auto">
          <a:xfrm>
            <a:off x="7667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Encoder block</a:t>
            </a:r>
            <a:endParaRPr/>
          </a:p>
        </p:txBody>
      </p:sp>
      <p:sp>
        <p:nvSpPr>
          <p:cNvPr id="587719899" name=""/>
          <p:cNvSpPr>
            <a:spLocks noGrp="1"/>
          </p:cNvSpPr>
          <p:nvPr/>
        </p:nvSpPr>
        <p:spPr bwMode="auto">
          <a:xfrm>
            <a:off x="8496300" y="5076825"/>
            <a:ext cx="190500" cy="0"/>
          </a:xfrm>
          <a:prstGeom prst="line">
            <a:avLst/>
          </a:prstGeom>
          <a:ln w="9525">
            <a:solidFill>
              <a:srgbClr val="CBD5E1"/>
            </a:solidFill>
            <a:prstDash val="solid"/>
          </a:ln>
        </p:spPr>
      </p:sp>
      <p:sp>
        <p:nvSpPr>
          <p:cNvPr id="457359033" name=""/>
          <p:cNvSpPr>
            <a:spLocks noGrp="1"/>
          </p:cNvSpPr>
          <p:nvPr/>
        </p:nvSpPr>
        <p:spPr bwMode="auto">
          <a:xfrm>
            <a:off x="8686800" y="4857750"/>
            <a:ext cx="876299" cy="438149"/>
          </a:xfrm>
          <a:prstGeom prst="roundRect">
            <a:avLst>
              <a:gd name="adj" fmla="val 26087"/>
            </a:avLst>
          </a:prstGeom>
          <a:solidFill>
            <a:srgbClr val="FFFFFF"/>
          </a:solidFill>
          <a:ln w="9525">
            <a:solidFill>
              <a:srgbClr val="CBD5E1"/>
            </a:solidFill>
            <a:prstDash val="solid"/>
          </a:ln>
        </p:spPr>
      </p:sp>
      <p:sp>
        <p:nvSpPr>
          <p:cNvPr id="498635460" name=""/>
          <p:cNvSpPr>
            <a:spLocks noGrp="1"/>
          </p:cNvSpPr>
          <p:nvPr/>
        </p:nvSpPr>
        <p:spPr bwMode="auto">
          <a:xfrm>
            <a:off x="8734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Decoder block</a:t>
            </a:r>
            <a:endParaRPr/>
          </a:p>
        </p:txBody>
      </p:sp>
      <p:sp>
        <p:nvSpPr>
          <p:cNvPr id="1869277451" name=""/>
          <p:cNvSpPr>
            <a:spLocks noGrp="1"/>
          </p:cNvSpPr>
          <p:nvPr/>
        </p:nvSpPr>
        <p:spPr bwMode="auto">
          <a:xfrm>
            <a:off x="9563100" y="5076825"/>
            <a:ext cx="190500" cy="0"/>
          </a:xfrm>
          <a:prstGeom prst="line">
            <a:avLst/>
          </a:prstGeom>
          <a:ln w="9525">
            <a:solidFill>
              <a:srgbClr val="CBD5E1"/>
            </a:solidFill>
            <a:prstDash val="solid"/>
          </a:ln>
        </p:spPr>
      </p:sp>
      <p:sp>
        <p:nvSpPr>
          <p:cNvPr id="208888041" name=""/>
          <p:cNvSpPr>
            <a:spLocks noGrp="1"/>
          </p:cNvSpPr>
          <p:nvPr/>
        </p:nvSpPr>
        <p:spPr bwMode="auto">
          <a:xfrm>
            <a:off x="9753600" y="4857750"/>
            <a:ext cx="876299" cy="438149"/>
          </a:xfrm>
          <a:prstGeom prst="roundRect">
            <a:avLst>
              <a:gd name="adj" fmla="val 26087"/>
            </a:avLst>
          </a:prstGeom>
          <a:solidFill>
            <a:srgbClr val="FFFFFF"/>
          </a:solidFill>
          <a:ln w="9525">
            <a:solidFill>
              <a:srgbClr val="CBD5E1"/>
            </a:solidFill>
            <a:prstDash val="solid"/>
          </a:ln>
        </p:spPr>
      </p:sp>
      <p:sp>
        <p:nvSpPr>
          <p:cNvPr id="67936323" name=""/>
          <p:cNvSpPr>
            <a:spLocks noGrp="1"/>
          </p:cNvSpPr>
          <p:nvPr/>
        </p:nvSpPr>
        <p:spPr bwMode="auto">
          <a:xfrm>
            <a:off x="9801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Language-model head</a:t>
            </a:r>
            <a:endParaRPr/>
          </a:p>
        </p:txBody>
      </p:sp>
      <p:sp>
        <p:nvSpPr>
          <p:cNvPr id="1356855878" name=""/>
          <p:cNvSpPr>
            <a:spLocks noGrp="1"/>
          </p:cNvSpPr>
          <p:nvPr/>
        </p:nvSpPr>
        <p:spPr bwMode="auto">
          <a:xfrm>
            <a:off x="4610100" y="5762625"/>
            <a:ext cx="2971800" cy="266700"/>
          </a:xfrm>
          <a:prstGeom prst="rect">
            <a:avLst/>
          </a:prstGeom>
          <a:noFill/>
          <a:ln w="0">
            <a:noFill/>
            <a:prstDash val="solid"/>
          </a:ln>
        </p:spPr>
        <p:txBody>
          <a:bodyPr anchor="ctr"/>
          <a:lstStyle/>
          <a:p>
            <a:pPr algn="ctr">
              <a:buNone/>
              <a:defRPr sz="1350" b="1">
                <a:solidFill>
                  <a:srgbClr val="2563EB"/>
                </a:solidFill>
                <a:latin typeface="Calibri"/>
                <a:ea typeface="Calibri"/>
                <a:cs typeface="Calibri"/>
              </a:defRPr>
            </a:pPr>
            <a:r>
              <a:rPr sz="1350" b="1">
                <a:solidFill>
                  <a:srgbClr val="2563EB"/>
                </a:solidFill>
                <a:latin typeface="Calibri"/>
                <a:ea typeface="Calibri"/>
                <a:cs typeface="Calibri"/>
              </a:rPr>
              <a:t>Input component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67904153"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Transformer roadmap · Encoder</a:t>
            </a:r>
            <a:endParaRPr/>
          </a:p>
        </p:txBody>
      </p:sp>
      <p:sp>
        <p:nvSpPr>
          <p:cNvPr id="837217519" name="Rectangle 251777344"/>
          <p:cNvSpPr>
            <a:spLocks noGrp="1"/>
          </p:cNvSpPr>
          <p:nvPr/>
        </p:nvSpPr>
        <p:spPr bwMode="auto">
          <a:xfrm>
            <a:off x="609600" y="590549"/>
            <a:ext cx="10287000" cy="590549"/>
          </a:xfrm>
          <a:prstGeom prst="rect">
            <a:avLst/>
          </a:prstGeom>
          <a:noFill/>
          <a:ln w="0">
            <a:noFill/>
            <a:prstDash val="solid"/>
          </a:ln>
        </p:spPr>
        <p:txBody>
          <a:bodyPr anchor="ctr"/>
          <a:lstStyle/>
          <a:p>
            <a:pPr algn="l">
              <a:buNone/>
              <a:defRPr sz="2850" b="1">
                <a:solidFill>
                  <a:srgbClr val="0B0F19"/>
                </a:solidFill>
                <a:latin typeface="Calibri"/>
                <a:ea typeface="Calibri"/>
                <a:cs typeface="Calibri"/>
              </a:defRPr>
            </a:pPr>
            <a:r>
              <a:rPr sz="2850" b="1">
                <a:solidFill>
                  <a:srgbClr val="0B0F19"/>
                </a:solidFill>
                <a:latin typeface="Calibri"/>
                <a:ea typeface="Calibri"/>
                <a:cs typeface="Calibri"/>
              </a:rPr>
              <a:t>Self-attention</a:t>
            </a:r>
            <a:endParaRPr/>
          </a:p>
        </p:txBody>
      </p:sp>
      <p:sp>
        <p:nvSpPr>
          <p:cNvPr id="1736673638"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35</a:t>
            </a:r>
            <a:endParaRPr/>
          </a:p>
        </p:txBody>
      </p:sp>
      <p:sp>
        <p:nvSpPr>
          <p:cNvPr id="321697068" name=""/>
          <p:cNvSpPr>
            <a:spLocks noGrp="1"/>
          </p:cNvSpPr>
          <p:nvPr/>
        </p:nvSpPr>
        <p:spPr bwMode="auto">
          <a:xfrm>
            <a:off x="723900" y="1362075"/>
            <a:ext cx="10287000" cy="323850"/>
          </a:xfrm>
          <a:prstGeom prst="rect">
            <a:avLst/>
          </a:prstGeom>
          <a:noFill/>
          <a:ln w="0">
            <a:noFill/>
            <a:prstDash val="solid"/>
          </a:ln>
        </p:spPr>
        <p:txBody>
          <a:bodyPr anchor="ctr"/>
          <a:lstStyle/>
          <a:p>
            <a:pPr algn="l">
              <a:buNone/>
              <a:defRPr sz="1600" b="0">
                <a:solidFill>
                  <a:srgbClr val="667085"/>
                </a:solidFill>
                <a:latin typeface="Calibri"/>
                <a:ea typeface="Calibri"/>
                <a:cs typeface="Calibri"/>
              </a:defRPr>
            </a:pPr>
            <a:r>
              <a:rPr sz="1600" b="0">
                <a:solidFill>
                  <a:srgbClr val="667085"/>
                </a:solidFill>
                <a:latin typeface="Calibri"/>
                <a:ea typeface="Calibri"/>
                <a:cs typeface="Calibri"/>
              </a:rPr>
              <a:t>Let every input token weigh the other input tokens for context.</a:t>
            </a:r>
            <a:endParaRPr/>
          </a:p>
        </p:txBody>
      </p:sp>
      <p:sp>
        <p:nvSpPr>
          <p:cNvPr id="1349570966" name=""/>
          <p:cNvSpPr>
            <a:spLocks noGrp="1"/>
          </p:cNvSpPr>
          <p:nvPr/>
        </p:nvSpPr>
        <p:spPr bwMode="auto">
          <a:xfrm>
            <a:off x="1619250" y="2381250"/>
            <a:ext cx="8953500" cy="1428750"/>
          </a:xfrm>
          <a:prstGeom prst="roundRect">
            <a:avLst>
              <a:gd name="adj" fmla="val 8000"/>
            </a:avLst>
          </a:prstGeom>
          <a:solidFill>
            <a:srgbClr val="F8FAFC"/>
          </a:solidFill>
          <a:ln w="9525">
            <a:solidFill>
              <a:srgbClr val="059669"/>
            </a:solidFill>
            <a:prstDash val="solid"/>
          </a:ln>
        </p:spPr>
      </p:sp>
      <p:sp>
        <p:nvSpPr>
          <p:cNvPr id="812796277" name=""/>
          <p:cNvSpPr>
            <a:spLocks noGrp="1"/>
          </p:cNvSpPr>
          <p:nvPr/>
        </p:nvSpPr>
        <p:spPr bwMode="auto">
          <a:xfrm>
            <a:off x="1952625" y="2686050"/>
            <a:ext cx="8286750" cy="666750"/>
          </a:xfrm>
          <a:prstGeom prst="rect">
            <a:avLst/>
          </a:prstGeom>
          <a:noFill/>
          <a:ln w="0">
            <a:noFill/>
            <a:prstDash val="solid"/>
          </a:ln>
        </p:spPr>
        <p:txBody>
          <a:bodyPr anchor="ctr"/>
          <a:lstStyle/>
          <a:p>
            <a:pPr algn="ctr">
              <a:buNone/>
              <a:defRPr sz="2350" b="1">
                <a:solidFill>
                  <a:srgbClr val="059669"/>
                </a:solidFill>
                <a:latin typeface="Calibri"/>
                <a:ea typeface="Calibri"/>
                <a:cs typeface="Calibri"/>
              </a:defRPr>
            </a:pPr>
            <a:r>
              <a:rPr sz="2350" b="1">
                <a:solidFill>
                  <a:srgbClr val="059669"/>
                </a:solidFill>
                <a:latin typeface="Calibri"/>
                <a:ea typeface="Calibri"/>
                <a:cs typeface="Calibri"/>
              </a:rPr>
              <a:t>each token  ↔  all input tokens</a:t>
            </a:r>
            <a:endParaRPr/>
          </a:p>
        </p:txBody>
      </p:sp>
      <p:sp>
        <p:nvSpPr>
          <p:cNvPr id="1603395577" name=""/>
          <p:cNvSpPr>
            <a:spLocks noGrp="1"/>
          </p:cNvSpPr>
          <p:nvPr/>
        </p:nvSpPr>
        <p:spPr bwMode="auto">
          <a:xfrm>
            <a:off x="5143500" y="4114800"/>
            <a:ext cx="1905000" cy="247650"/>
          </a:xfrm>
          <a:prstGeom prst="rect">
            <a:avLst/>
          </a:prstGeom>
          <a:noFill/>
          <a:ln w="0">
            <a:noFill/>
            <a:prstDash val="solid"/>
          </a:ln>
        </p:spPr>
        <p:txBody>
          <a:bodyPr anchor="ctr"/>
          <a:lstStyle/>
          <a:p>
            <a:pPr algn="ctr">
              <a:buNone/>
              <a:defRPr sz="1300" b="0">
                <a:solidFill>
                  <a:srgbClr val="667085"/>
                </a:solidFill>
                <a:latin typeface="Calibri"/>
                <a:ea typeface="Calibri"/>
                <a:cs typeface="Calibri"/>
              </a:defRPr>
            </a:pPr>
            <a:r>
              <a:rPr sz="1300" b="0">
                <a:solidFill>
                  <a:srgbClr val="667085"/>
                </a:solidFill>
                <a:latin typeface="Calibri"/>
                <a:ea typeface="Calibri"/>
                <a:cs typeface="Calibri"/>
              </a:rPr>
              <a:t>Step 4 of 9</a:t>
            </a:r>
            <a:endParaRPr/>
          </a:p>
        </p:txBody>
      </p:sp>
      <p:sp>
        <p:nvSpPr>
          <p:cNvPr id="176541762" name=""/>
          <p:cNvSpPr>
            <a:spLocks noGrp="1"/>
          </p:cNvSpPr>
          <p:nvPr/>
        </p:nvSpPr>
        <p:spPr bwMode="auto">
          <a:xfrm>
            <a:off x="1219200" y="4857750"/>
            <a:ext cx="876299" cy="438149"/>
          </a:xfrm>
          <a:prstGeom prst="roundRect">
            <a:avLst>
              <a:gd name="adj" fmla="val 26087"/>
            </a:avLst>
          </a:prstGeom>
          <a:solidFill>
            <a:srgbClr val="FFFFFF"/>
          </a:solidFill>
          <a:ln w="9525">
            <a:solidFill>
              <a:srgbClr val="CBD5E1"/>
            </a:solidFill>
            <a:prstDash val="solid"/>
          </a:ln>
        </p:spPr>
      </p:sp>
      <p:sp>
        <p:nvSpPr>
          <p:cNvPr id="2141189747" name=""/>
          <p:cNvSpPr>
            <a:spLocks noGrp="1"/>
          </p:cNvSpPr>
          <p:nvPr/>
        </p:nvSpPr>
        <p:spPr bwMode="auto">
          <a:xfrm>
            <a:off x="1266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Tokenizer</a:t>
            </a:r>
            <a:endParaRPr/>
          </a:p>
        </p:txBody>
      </p:sp>
      <p:sp>
        <p:nvSpPr>
          <p:cNvPr id="600780343" name=""/>
          <p:cNvSpPr>
            <a:spLocks noGrp="1"/>
          </p:cNvSpPr>
          <p:nvPr/>
        </p:nvSpPr>
        <p:spPr bwMode="auto">
          <a:xfrm>
            <a:off x="2095500" y="5076825"/>
            <a:ext cx="190500" cy="0"/>
          </a:xfrm>
          <a:prstGeom prst="line">
            <a:avLst/>
          </a:prstGeom>
          <a:ln w="9525">
            <a:solidFill>
              <a:srgbClr val="CBD5E1"/>
            </a:solidFill>
            <a:prstDash val="solid"/>
          </a:ln>
        </p:spPr>
      </p:sp>
      <p:sp>
        <p:nvSpPr>
          <p:cNvPr id="192673419" name=""/>
          <p:cNvSpPr>
            <a:spLocks noGrp="1"/>
          </p:cNvSpPr>
          <p:nvPr/>
        </p:nvSpPr>
        <p:spPr bwMode="auto">
          <a:xfrm>
            <a:off x="2286000" y="4857750"/>
            <a:ext cx="876299" cy="438149"/>
          </a:xfrm>
          <a:prstGeom prst="roundRect">
            <a:avLst>
              <a:gd name="adj" fmla="val 26087"/>
            </a:avLst>
          </a:prstGeom>
          <a:solidFill>
            <a:srgbClr val="FFFFFF"/>
          </a:solidFill>
          <a:ln w="9525">
            <a:solidFill>
              <a:srgbClr val="CBD5E1"/>
            </a:solidFill>
            <a:prstDash val="solid"/>
          </a:ln>
        </p:spPr>
      </p:sp>
      <p:sp>
        <p:nvSpPr>
          <p:cNvPr id="1357410291" name=""/>
          <p:cNvSpPr>
            <a:spLocks noGrp="1"/>
          </p:cNvSpPr>
          <p:nvPr/>
        </p:nvSpPr>
        <p:spPr bwMode="auto">
          <a:xfrm>
            <a:off x="2333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Embedding</a:t>
            </a:r>
            <a:endParaRPr/>
          </a:p>
        </p:txBody>
      </p:sp>
      <p:sp>
        <p:nvSpPr>
          <p:cNvPr id="2115912949" name=""/>
          <p:cNvSpPr>
            <a:spLocks noGrp="1"/>
          </p:cNvSpPr>
          <p:nvPr/>
        </p:nvSpPr>
        <p:spPr bwMode="auto">
          <a:xfrm>
            <a:off x="3162300" y="5076825"/>
            <a:ext cx="190500" cy="0"/>
          </a:xfrm>
          <a:prstGeom prst="line">
            <a:avLst/>
          </a:prstGeom>
          <a:ln w="9525">
            <a:solidFill>
              <a:srgbClr val="CBD5E1"/>
            </a:solidFill>
            <a:prstDash val="solid"/>
          </a:ln>
        </p:spPr>
      </p:sp>
      <p:sp>
        <p:nvSpPr>
          <p:cNvPr id="1669837261" name=""/>
          <p:cNvSpPr>
            <a:spLocks noGrp="1"/>
          </p:cNvSpPr>
          <p:nvPr/>
        </p:nvSpPr>
        <p:spPr bwMode="auto">
          <a:xfrm>
            <a:off x="3352800" y="4857750"/>
            <a:ext cx="876299" cy="438149"/>
          </a:xfrm>
          <a:prstGeom prst="roundRect">
            <a:avLst>
              <a:gd name="adj" fmla="val 26087"/>
            </a:avLst>
          </a:prstGeom>
          <a:solidFill>
            <a:srgbClr val="FFFFFF"/>
          </a:solidFill>
          <a:ln w="9525">
            <a:solidFill>
              <a:srgbClr val="CBD5E1"/>
            </a:solidFill>
            <a:prstDash val="solid"/>
          </a:ln>
        </p:spPr>
      </p:sp>
      <p:sp>
        <p:nvSpPr>
          <p:cNvPr id="559641251" name=""/>
          <p:cNvSpPr>
            <a:spLocks noGrp="1"/>
          </p:cNvSpPr>
          <p:nvPr/>
        </p:nvSpPr>
        <p:spPr bwMode="auto">
          <a:xfrm>
            <a:off x="3400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Positional encoding</a:t>
            </a:r>
            <a:endParaRPr/>
          </a:p>
        </p:txBody>
      </p:sp>
      <p:sp>
        <p:nvSpPr>
          <p:cNvPr id="618109236" name=""/>
          <p:cNvSpPr>
            <a:spLocks noGrp="1"/>
          </p:cNvSpPr>
          <p:nvPr/>
        </p:nvSpPr>
        <p:spPr bwMode="auto">
          <a:xfrm>
            <a:off x="4229100" y="5076825"/>
            <a:ext cx="190500" cy="0"/>
          </a:xfrm>
          <a:prstGeom prst="line">
            <a:avLst/>
          </a:prstGeom>
          <a:ln w="9525">
            <a:solidFill>
              <a:srgbClr val="CBD5E1"/>
            </a:solidFill>
            <a:prstDash val="solid"/>
          </a:ln>
        </p:spPr>
      </p:sp>
      <p:sp>
        <p:nvSpPr>
          <p:cNvPr id="1448512623" name=""/>
          <p:cNvSpPr>
            <a:spLocks noGrp="1"/>
          </p:cNvSpPr>
          <p:nvPr/>
        </p:nvSpPr>
        <p:spPr bwMode="auto">
          <a:xfrm>
            <a:off x="4419600" y="4857750"/>
            <a:ext cx="876299" cy="438149"/>
          </a:xfrm>
          <a:prstGeom prst="roundRect">
            <a:avLst>
              <a:gd name="adj" fmla="val 26087"/>
            </a:avLst>
          </a:prstGeom>
          <a:solidFill>
            <a:srgbClr val="059669"/>
          </a:solidFill>
          <a:ln w="9525">
            <a:solidFill>
              <a:srgbClr val="059669"/>
            </a:solidFill>
            <a:prstDash val="solid"/>
          </a:ln>
        </p:spPr>
      </p:sp>
      <p:sp>
        <p:nvSpPr>
          <p:cNvPr id="1449560421" name=""/>
          <p:cNvSpPr>
            <a:spLocks noGrp="1"/>
          </p:cNvSpPr>
          <p:nvPr/>
        </p:nvSpPr>
        <p:spPr bwMode="auto">
          <a:xfrm>
            <a:off x="4467225" y="4924425"/>
            <a:ext cx="781050" cy="285750"/>
          </a:xfrm>
          <a:prstGeom prst="rect">
            <a:avLst/>
          </a:prstGeom>
          <a:noFill/>
          <a:ln w="0">
            <a:noFill/>
            <a:prstDash val="solid"/>
          </a:ln>
        </p:spPr>
        <p:txBody>
          <a:bodyPr anchor="ctr"/>
          <a:lstStyle/>
          <a:p>
            <a:pPr algn="ctr">
              <a:buNone/>
              <a:defRPr sz="1050" b="1">
                <a:solidFill>
                  <a:srgbClr val="FFFFFF"/>
                </a:solidFill>
                <a:latin typeface="Calibri"/>
                <a:ea typeface="Calibri"/>
                <a:cs typeface="Calibri"/>
              </a:defRPr>
            </a:pPr>
            <a:r>
              <a:rPr sz="1050" b="1">
                <a:solidFill>
                  <a:srgbClr val="FFFFFF"/>
                </a:solidFill>
                <a:latin typeface="Calibri"/>
                <a:ea typeface="Calibri"/>
                <a:cs typeface="Calibri"/>
              </a:rPr>
              <a:t>Self-attention</a:t>
            </a:r>
            <a:endParaRPr/>
          </a:p>
        </p:txBody>
      </p:sp>
      <p:sp>
        <p:nvSpPr>
          <p:cNvPr id="611044705" name=""/>
          <p:cNvSpPr>
            <a:spLocks noGrp="1"/>
          </p:cNvSpPr>
          <p:nvPr/>
        </p:nvSpPr>
        <p:spPr bwMode="auto">
          <a:xfrm>
            <a:off x="5295899" y="5076825"/>
            <a:ext cx="190500" cy="0"/>
          </a:xfrm>
          <a:prstGeom prst="line">
            <a:avLst/>
          </a:prstGeom>
          <a:ln w="9525">
            <a:solidFill>
              <a:srgbClr val="CBD5E1"/>
            </a:solidFill>
            <a:prstDash val="solid"/>
          </a:ln>
        </p:spPr>
      </p:sp>
      <p:sp>
        <p:nvSpPr>
          <p:cNvPr id="1801361335" name=""/>
          <p:cNvSpPr>
            <a:spLocks noGrp="1"/>
          </p:cNvSpPr>
          <p:nvPr/>
        </p:nvSpPr>
        <p:spPr bwMode="auto">
          <a:xfrm>
            <a:off x="5486400" y="4857750"/>
            <a:ext cx="876299" cy="438149"/>
          </a:xfrm>
          <a:prstGeom prst="roundRect">
            <a:avLst>
              <a:gd name="adj" fmla="val 26087"/>
            </a:avLst>
          </a:prstGeom>
          <a:solidFill>
            <a:srgbClr val="FFFFFF"/>
          </a:solidFill>
          <a:ln w="9525">
            <a:solidFill>
              <a:srgbClr val="CBD5E1"/>
            </a:solidFill>
            <a:prstDash val="solid"/>
          </a:ln>
        </p:spPr>
      </p:sp>
      <p:sp>
        <p:nvSpPr>
          <p:cNvPr id="455852883" name=""/>
          <p:cNvSpPr>
            <a:spLocks noGrp="1"/>
          </p:cNvSpPr>
          <p:nvPr/>
        </p:nvSpPr>
        <p:spPr bwMode="auto">
          <a:xfrm>
            <a:off x="55340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Attention head</a:t>
            </a:r>
            <a:endParaRPr/>
          </a:p>
        </p:txBody>
      </p:sp>
      <p:sp>
        <p:nvSpPr>
          <p:cNvPr id="2062227754" name=""/>
          <p:cNvSpPr>
            <a:spLocks noGrp="1"/>
          </p:cNvSpPr>
          <p:nvPr/>
        </p:nvSpPr>
        <p:spPr bwMode="auto">
          <a:xfrm>
            <a:off x="6362700" y="5076825"/>
            <a:ext cx="190500" cy="0"/>
          </a:xfrm>
          <a:prstGeom prst="line">
            <a:avLst/>
          </a:prstGeom>
          <a:ln w="9525">
            <a:solidFill>
              <a:srgbClr val="CBD5E1"/>
            </a:solidFill>
            <a:prstDash val="solid"/>
          </a:ln>
        </p:spPr>
      </p:sp>
      <p:sp>
        <p:nvSpPr>
          <p:cNvPr id="1885577814" name=""/>
          <p:cNvSpPr>
            <a:spLocks noGrp="1"/>
          </p:cNvSpPr>
          <p:nvPr/>
        </p:nvSpPr>
        <p:spPr bwMode="auto">
          <a:xfrm>
            <a:off x="6553200" y="4857750"/>
            <a:ext cx="876299" cy="438149"/>
          </a:xfrm>
          <a:prstGeom prst="roundRect">
            <a:avLst>
              <a:gd name="adj" fmla="val 26087"/>
            </a:avLst>
          </a:prstGeom>
          <a:solidFill>
            <a:srgbClr val="FFFFFF"/>
          </a:solidFill>
          <a:ln w="9525">
            <a:solidFill>
              <a:srgbClr val="CBD5E1"/>
            </a:solidFill>
            <a:prstDash val="solid"/>
          </a:ln>
        </p:spPr>
      </p:sp>
      <p:sp>
        <p:nvSpPr>
          <p:cNvPr id="698636032" name=""/>
          <p:cNvSpPr>
            <a:spLocks noGrp="1"/>
          </p:cNvSpPr>
          <p:nvPr/>
        </p:nvSpPr>
        <p:spPr bwMode="auto">
          <a:xfrm>
            <a:off x="6600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Multi-head attention</a:t>
            </a:r>
            <a:endParaRPr/>
          </a:p>
        </p:txBody>
      </p:sp>
      <p:sp>
        <p:nvSpPr>
          <p:cNvPr id="352979734" name=""/>
          <p:cNvSpPr>
            <a:spLocks noGrp="1"/>
          </p:cNvSpPr>
          <p:nvPr/>
        </p:nvSpPr>
        <p:spPr bwMode="auto">
          <a:xfrm>
            <a:off x="7429500" y="5076825"/>
            <a:ext cx="190500" cy="0"/>
          </a:xfrm>
          <a:prstGeom prst="line">
            <a:avLst/>
          </a:prstGeom>
          <a:ln w="9525">
            <a:solidFill>
              <a:srgbClr val="CBD5E1"/>
            </a:solidFill>
            <a:prstDash val="solid"/>
          </a:ln>
        </p:spPr>
      </p:sp>
      <p:sp>
        <p:nvSpPr>
          <p:cNvPr id="1336102286" name=""/>
          <p:cNvSpPr>
            <a:spLocks noGrp="1"/>
          </p:cNvSpPr>
          <p:nvPr/>
        </p:nvSpPr>
        <p:spPr bwMode="auto">
          <a:xfrm>
            <a:off x="7620000" y="4857750"/>
            <a:ext cx="876299" cy="438149"/>
          </a:xfrm>
          <a:prstGeom prst="roundRect">
            <a:avLst>
              <a:gd name="adj" fmla="val 26087"/>
            </a:avLst>
          </a:prstGeom>
          <a:solidFill>
            <a:srgbClr val="FFFFFF"/>
          </a:solidFill>
          <a:ln w="9525">
            <a:solidFill>
              <a:srgbClr val="CBD5E1"/>
            </a:solidFill>
            <a:prstDash val="solid"/>
          </a:ln>
        </p:spPr>
      </p:sp>
      <p:sp>
        <p:nvSpPr>
          <p:cNvPr id="1385054655" name=""/>
          <p:cNvSpPr>
            <a:spLocks noGrp="1"/>
          </p:cNvSpPr>
          <p:nvPr/>
        </p:nvSpPr>
        <p:spPr bwMode="auto">
          <a:xfrm>
            <a:off x="7667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Encoder block</a:t>
            </a:r>
            <a:endParaRPr/>
          </a:p>
        </p:txBody>
      </p:sp>
      <p:sp>
        <p:nvSpPr>
          <p:cNvPr id="1371789297" name=""/>
          <p:cNvSpPr>
            <a:spLocks noGrp="1"/>
          </p:cNvSpPr>
          <p:nvPr/>
        </p:nvSpPr>
        <p:spPr bwMode="auto">
          <a:xfrm>
            <a:off x="8496300" y="5076825"/>
            <a:ext cx="190500" cy="0"/>
          </a:xfrm>
          <a:prstGeom prst="line">
            <a:avLst/>
          </a:prstGeom>
          <a:ln w="9525">
            <a:solidFill>
              <a:srgbClr val="CBD5E1"/>
            </a:solidFill>
            <a:prstDash val="solid"/>
          </a:ln>
        </p:spPr>
      </p:sp>
      <p:sp>
        <p:nvSpPr>
          <p:cNvPr id="511992751" name=""/>
          <p:cNvSpPr>
            <a:spLocks noGrp="1"/>
          </p:cNvSpPr>
          <p:nvPr/>
        </p:nvSpPr>
        <p:spPr bwMode="auto">
          <a:xfrm>
            <a:off x="8686800" y="4857750"/>
            <a:ext cx="876299" cy="438149"/>
          </a:xfrm>
          <a:prstGeom prst="roundRect">
            <a:avLst>
              <a:gd name="adj" fmla="val 26087"/>
            </a:avLst>
          </a:prstGeom>
          <a:solidFill>
            <a:srgbClr val="FFFFFF"/>
          </a:solidFill>
          <a:ln w="9525">
            <a:solidFill>
              <a:srgbClr val="CBD5E1"/>
            </a:solidFill>
            <a:prstDash val="solid"/>
          </a:ln>
        </p:spPr>
      </p:sp>
      <p:sp>
        <p:nvSpPr>
          <p:cNvPr id="867618513" name=""/>
          <p:cNvSpPr>
            <a:spLocks noGrp="1"/>
          </p:cNvSpPr>
          <p:nvPr/>
        </p:nvSpPr>
        <p:spPr bwMode="auto">
          <a:xfrm>
            <a:off x="8734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Decoder block</a:t>
            </a:r>
            <a:endParaRPr/>
          </a:p>
        </p:txBody>
      </p:sp>
      <p:sp>
        <p:nvSpPr>
          <p:cNvPr id="176145286" name=""/>
          <p:cNvSpPr>
            <a:spLocks noGrp="1"/>
          </p:cNvSpPr>
          <p:nvPr/>
        </p:nvSpPr>
        <p:spPr bwMode="auto">
          <a:xfrm>
            <a:off x="9563100" y="5076825"/>
            <a:ext cx="190500" cy="0"/>
          </a:xfrm>
          <a:prstGeom prst="line">
            <a:avLst/>
          </a:prstGeom>
          <a:ln w="9525">
            <a:solidFill>
              <a:srgbClr val="CBD5E1"/>
            </a:solidFill>
            <a:prstDash val="solid"/>
          </a:ln>
        </p:spPr>
      </p:sp>
      <p:sp>
        <p:nvSpPr>
          <p:cNvPr id="938876560" name=""/>
          <p:cNvSpPr>
            <a:spLocks noGrp="1"/>
          </p:cNvSpPr>
          <p:nvPr/>
        </p:nvSpPr>
        <p:spPr bwMode="auto">
          <a:xfrm>
            <a:off x="9753600" y="4857750"/>
            <a:ext cx="876299" cy="438149"/>
          </a:xfrm>
          <a:prstGeom prst="roundRect">
            <a:avLst>
              <a:gd name="adj" fmla="val 26087"/>
            </a:avLst>
          </a:prstGeom>
          <a:solidFill>
            <a:srgbClr val="FFFFFF"/>
          </a:solidFill>
          <a:ln w="9525">
            <a:solidFill>
              <a:srgbClr val="CBD5E1"/>
            </a:solidFill>
            <a:prstDash val="solid"/>
          </a:ln>
        </p:spPr>
      </p:sp>
      <p:sp>
        <p:nvSpPr>
          <p:cNvPr id="335637446" name=""/>
          <p:cNvSpPr>
            <a:spLocks noGrp="1"/>
          </p:cNvSpPr>
          <p:nvPr/>
        </p:nvSpPr>
        <p:spPr bwMode="auto">
          <a:xfrm>
            <a:off x="9801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Language-model head</a:t>
            </a:r>
            <a:endParaRPr/>
          </a:p>
        </p:txBody>
      </p:sp>
      <p:sp>
        <p:nvSpPr>
          <p:cNvPr id="1549188429" name=""/>
          <p:cNvSpPr>
            <a:spLocks noGrp="1"/>
          </p:cNvSpPr>
          <p:nvPr/>
        </p:nvSpPr>
        <p:spPr bwMode="auto">
          <a:xfrm>
            <a:off x="4610100" y="5762625"/>
            <a:ext cx="2971800" cy="266700"/>
          </a:xfrm>
          <a:prstGeom prst="rect">
            <a:avLst/>
          </a:prstGeom>
          <a:noFill/>
          <a:ln w="0">
            <a:noFill/>
            <a:prstDash val="solid"/>
          </a:ln>
        </p:spPr>
        <p:txBody>
          <a:bodyPr anchor="ctr"/>
          <a:lstStyle/>
          <a:p>
            <a:pPr algn="ctr">
              <a:buNone/>
              <a:defRPr sz="1350" b="1">
                <a:solidFill>
                  <a:srgbClr val="059669"/>
                </a:solidFill>
                <a:latin typeface="Calibri"/>
                <a:ea typeface="Calibri"/>
                <a:cs typeface="Calibri"/>
              </a:defRPr>
            </a:pPr>
            <a:r>
              <a:rPr sz="1350" b="1">
                <a:solidFill>
                  <a:srgbClr val="059669"/>
                </a:solidFill>
                <a:latin typeface="Calibri"/>
                <a:ea typeface="Calibri"/>
                <a:cs typeface="Calibri"/>
              </a:rPr>
              <a:t>Encoder component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0857193"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Transformer roadmap · Encoder</a:t>
            </a:r>
            <a:endParaRPr/>
          </a:p>
        </p:txBody>
      </p:sp>
      <p:sp>
        <p:nvSpPr>
          <p:cNvPr id="549986352" name="Rectangle 251777344"/>
          <p:cNvSpPr>
            <a:spLocks noGrp="1"/>
          </p:cNvSpPr>
          <p:nvPr/>
        </p:nvSpPr>
        <p:spPr bwMode="auto">
          <a:xfrm>
            <a:off x="609600" y="590549"/>
            <a:ext cx="10287000" cy="590549"/>
          </a:xfrm>
          <a:prstGeom prst="rect">
            <a:avLst/>
          </a:prstGeom>
          <a:noFill/>
          <a:ln w="0">
            <a:noFill/>
            <a:prstDash val="solid"/>
          </a:ln>
        </p:spPr>
        <p:txBody>
          <a:bodyPr anchor="ctr"/>
          <a:lstStyle/>
          <a:p>
            <a:pPr algn="l">
              <a:buNone/>
              <a:defRPr sz="2850" b="1">
                <a:solidFill>
                  <a:srgbClr val="0B0F19"/>
                </a:solidFill>
                <a:latin typeface="Calibri"/>
                <a:ea typeface="Calibri"/>
                <a:cs typeface="Calibri"/>
              </a:defRPr>
            </a:pPr>
            <a:r>
              <a:rPr sz="2850" b="1">
                <a:solidFill>
                  <a:srgbClr val="0B0F19"/>
                </a:solidFill>
                <a:latin typeface="Calibri"/>
                <a:ea typeface="Calibri"/>
                <a:cs typeface="Calibri"/>
              </a:rPr>
              <a:t>Attention head</a:t>
            </a:r>
            <a:endParaRPr/>
          </a:p>
        </p:txBody>
      </p:sp>
      <p:sp>
        <p:nvSpPr>
          <p:cNvPr id="1758269857"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36</a:t>
            </a:r>
            <a:endParaRPr/>
          </a:p>
        </p:txBody>
      </p:sp>
      <p:sp>
        <p:nvSpPr>
          <p:cNvPr id="1796615842" name=""/>
          <p:cNvSpPr>
            <a:spLocks noGrp="1"/>
          </p:cNvSpPr>
          <p:nvPr/>
        </p:nvSpPr>
        <p:spPr bwMode="auto">
          <a:xfrm>
            <a:off x="723900" y="1362075"/>
            <a:ext cx="10287000" cy="323850"/>
          </a:xfrm>
          <a:prstGeom prst="rect">
            <a:avLst/>
          </a:prstGeom>
          <a:noFill/>
          <a:ln w="0">
            <a:noFill/>
            <a:prstDash val="solid"/>
          </a:ln>
        </p:spPr>
        <p:txBody>
          <a:bodyPr anchor="ctr"/>
          <a:lstStyle/>
          <a:p>
            <a:pPr algn="l">
              <a:buNone/>
              <a:defRPr sz="1600" b="0">
                <a:solidFill>
                  <a:srgbClr val="667085"/>
                </a:solidFill>
                <a:latin typeface="Calibri"/>
                <a:ea typeface="Calibri"/>
                <a:cs typeface="Calibri"/>
              </a:defRPr>
            </a:pPr>
            <a:r>
              <a:rPr sz="1600" b="0">
                <a:solidFill>
                  <a:srgbClr val="667085"/>
                </a:solidFill>
                <a:latin typeface="Calibri"/>
                <a:ea typeface="Calibri"/>
                <a:cs typeface="Calibri"/>
              </a:rPr>
              <a:t>One attention head learns one kind of token-to-token relationship.</a:t>
            </a:r>
            <a:endParaRPr/>
          </a:p>
        </p:txBody>
      </p:sp>
      <p:sp>
        <p:nvSpPr>
          <p:cNvPr id="2124759828" name=""/>
          <p:cNvSpPr>
            <a:spLocks noGrp="1"/>
          </p:cNvSpPr>
          <p:nvPr/>
        </p:nvSpPr>
        <p:spPr bwMode="auto">
          <a:xfrm>
            <a:off x="1619250" y="2381250"/>
            <a:ext cx="8953500" cy="1428750"/>
          </a:xfrm>
          <a:prstGeom prst="roundRect">
            <a:avLst>
              <a:gd name="adj" fmla="val 8000"/>
            </a:avLst>
          </a:prstGeom>
          <a:solidFill>
            <a:srgbClr val="F8FAFC"/>
          </a:solidFill>
          <a:ln w="9525">
            <a:solidFill>
              <a:srgbClr val="059669"/>
            </a:solidFill>
            <a:prstDash val="solid"/>
          </a:ln>
        </p:spPr>
      </p:sp>
      <p:sp>
        <p:nvSpPr>
          <p:cNvPr id="1142861111" name=""/>
          <p:cNvSpPr>
            <a:spLocks noGrp="1"/>
          </p:cNvSpPr>
          <p:nvPr/>
        </p:nvSpPr>
        <p:spPr bwMode="auto">
          <a:xfrm>
            <a:off x="1952625" y="2686050"/>
            <a:ext cx="8286750" cy="666750"/>
          </a:xfrm>
          <a:prstGeom prst="rect">
            <a:avLst/>
          </a:prstGeom>
          <a:noFill/>
          <a:ln w="0">
            <a:noFill/>
            <a:prstDash val="solid"/>
          </a:ln>
        </p:spPr>
        <p:txBody>
          <a:bodyPr anchor="ctr"/>
          <a:lstStyle/>
          <a:p>
            <a:pPr algn="ctr">
              <a:buNone/>
              <a:defRPr sz="2350" b="1">
                <a:solidFill>
                  <a:srgbClr val="059669"/>
                </a:solidFill>
                <a:latin typeface="Calibri"/>
                <a:ea typeface="Calibri"/>
                <a:cs typeface="Calibri"/>
              </a:defRPr>
            </a:pPr>
            <a:r>
              <a:rPr sz="2350" b="1">
                <a:solidFill>
                  <a:srgbClr val="059669"/>
                </a:solidFill>
                <a:latin typeface="Calibri"/>
                <a:ea typeface="Calibri"/>
                <a:cs typeface="Calibri"/>
              </a:rPr>
              <a:t>one learned perspective</a:t>
            </a:r>
            <a:endParaRPr/>
          </a:p>
        </p:txBody>
      </p:sp>
      <p:sp>
        <p:nvSpPr>
          <p:cNvPr id="880775110" name=""/>
          <p:cNvSpPr>
            <a:spLocks noGrp="1"/>
          </p:cNvSpPr>
          <p:nvPr/>
        </p:nvSpPr>
        <p:spPr bwMode="auto">
          <a:xfrm>
            <a:off x="5143500" y="4114800"/>
            <a:ext cx="1905000" cy="247650"/>
          </a:xfrm>
          <a:prstGeom prst="rect">
            <a:avLst/>
          </a:prstGeom>
          <a:noFill/>
          <a:ln w="0">
            <a:noFill/>
            <a:prstDash val="solid"/>
          </a:ln>
        </p:spPr>
        <p:txBody>
          <a:bodyPr anchor="ctr"/>
          <a:lstStyle/>
          <a:p>
            <a:pPr algn="ctr">
              <a:buNone/>
              <a:defRPr sz="1300" b="0">
                <a:solidFill>
                  <a:srgbClr val="667085"/>
                </a:solidFill>
                <a:latin typeface="Calibri"/>
                <a:ea typeface="Calibri"/>
                <a:cs typeface="Calibri"/>
              </a:defRPr>
            </a:pPr>
            <a:r>
              <a:rPr sz="1300" b="0">
                <a:solidFill>
                  <a:srgbClr val="667085"/>
                </a:solidFill>
                <a:latin typeface="Calibri"/>
                <a:ea typeface="Calibri"/>
                <a:cs typeface="Calibri"/>
              </a:rPr>
              <a:t>Step 5 of 9</a:t>
            </a:r>
            <a:endParaRPr/>
          </a:p>
        </p:txBody>
      </p:sp>
      <p:sp>
        <p:nvSpPr>
          <p:cNvPr id="1212521510" name=""/>
          <p:cNvSpPr>
            <a:spLocks noGrp="1"/>
          </p:cNvSpPr>
          <p:nvPr/>
        </p:nvSpPr>
        <p:spPr bwMode="auto">
          <a:xfrm>
            <a:off x="1219200" y="4857750"/>
            <a:ext cx="876299" cy="438149"/>
          </a:xfrm>
          <a:prstGeom prst="roundRect">
            <a:avLst>
              <a:gd name="adj" fmla="val 26087"/>
            </a:avLst>
          </a:prstGeom>
          <a:solidFill>
            <a:srgbClr val="FFFFFF"/>
          </a:solidFill>
          <a:ln w="9525">
            <a:solidFill>
              <a:srgbClr val="CBD5E1"/>
            </a:solidFill>
            <a:prstDash val="solid"/>
          </a:ln>
        </p:spPr>
      </p:sp>
      <p:sp>
        <p:nvSpPr>
          <p:cNvPr id="403994551" name=""/>
          <p:cNvSpPr>
            <a:spLocks noGrp="1"/>
          </p:cNvSpPr>
          <p:nvPr/>
        </p:nvSpPr>
        <p:spPr bwMode="auto">
          <a:xfrm>
            <a:off x="1266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Tokenizer</a:t>
            </a:r>
            <a:endParaRPr/>
          </a:p>
        </p:txBody>
      </p:sp>
      <p:sp>
        <p:nvSpPr>
          <p:cNvPr id="1082776074" name=""/>
          <p:cNvSpPr>
            <a:spLocks noGrp="1"/>
          </p:cNvSpPr>
          <p:nvPr/>
        </p:nvSpPr>
        <p:spPr bwMode="auto">
          <a:xfrm>
            <a:off x="2095500" y="5076825"/>
            <a:ext cx="190500" cy="0"/>
          </a:xfrm>
          <a:prstGeom prst="line">
            <a:avLst/>
          </a:prstGeom>
          <a:ln w="9525">
            <a:solidFill>
              <a:srgbClr val="CBD5E1"/>
            </a:solidFill>
            <a:prstDash val="solid"/>
          </a:ln>
        </p:spPr>
      </p:sp>
      <p:sp>
        <p:nvSpPr>
          <p:cNvPr id="889310826" name=""/>
          <p:cNvSpPr>
            <a:spLocks noGrp="1"/>
          </p:cNvSpPr>
          <p:nvPr/>
        </p:nvSpPr>
        <p:spPr bwMode="auto">
          <a:xfrm>
            <a:off x="2286000" y="4857750"/>
            <a:ext cx="876299" cy="438149"/>
          </a:xfrm>
          <a:prstGeom prst="roundRect">
            <a:avLst>
              <a:gd name="adj" fmla="val 26087"/>
            </a:avLst>
          </a:prstGeom>
          <a:solidFill>
            <a:srgbClr val="FFFFFF"/>
          </a:solidFill>
          <a:ln w="9525">
            <a:solidFill>
              <a:srgbClr val="CBD5E1"/>
            </a:solidFill>
            <a:prstDash val="solid"/>
          </a:ln>
        </p:spPr>
      </p:sp>
      <p:sp>
        <p:nvSpPr>
          <p:cNvPr id="848291848" name=""/>
          <p:cNvSpPr>
            <a:spLocks noGrp="1"/>
          </p:cNvSpPr>
          <p:nvPr/>
        </p:nvSpPr>
        <p:spPr bwMode="auto">
          <a:xfrm>
            <a:off x="2333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Embedding</a:t>
            </a:r>
            <a:endParaRPr/>
          </a:p>
        </p:txBody>
      </p:sp>
      <p:sp>
        <p:nvSpPr>
          <p:cNvPr id="1627926124" name=""/>
          <p:cNvSpPr>
            <a:spLocks noGrp="1"/>
          </p:cNvSpPr>
          <p:nvPr/>
        </p:nvSpPr>
        <p:spPr bwMode="auto">
          <a:xfrm>
            <a:off x="3162300" y="5076825"/>
            <a:ext cx="190500" cy="0"/>
          </a:xfrm>
          <a:prstGeom prst="line">
            <a:avLst/>
          </a:prstGeom>
          <a:ln w="9525">
            <a:solidFill>
              <a:srgbClr val="CBD5E1"/>
            </a:solidFill>
            <a:prstDash val="solid"/>
          </a:ln>
        </p:spPr>
      </p:sp>
      <p:sp>
        <p:nvSpPr>
          <p:cNvPr id="1192935411" name=""/>
          <p:cNvSpPr>
            <a:spLocks noGrp="1"/>
          </p:cNvSpPr>
          <p:nvPr/>
        </p:nvSpPr>
        <p:spPr bwMode="auto">
          <a:xfrm>
            <a:off x="3352800" y="4857750"/>
            <a:ext cx="876299" cy="438149"/>
          </a:xfrm>
          <a:prstGeom prst="roundRect">
            <a:avLst>
              <a:gd name="adj" fmla="val 26087"/>
            </a:avLst>
          </a:prstGeom>
          <a:solidFill>
            <a:srgbClr val="FFFFFF"/>
          </a:solidFill>
          <a:ln w="9525">
            <a:solidFill>
              <a:srgbClr val="CBD5E1"/>
            </a:solidFill>
            <a:prstDash val="solid"/>
          </a:ln>
        </p:spPr>
      </p:sp>
      <p:sp>
        <p:nvSpPr>
          <p:cNvPr id="376230542" name=""/>
          <p:cNvSpPr>
            <a:spLocks noGrp="1"/>
          </p:cNvSpPr>
          <p:nvPr/>
        </p:nvSpPr>
        <p:spPr bwMode="auto">
          <a:xfrm>
            <a:off x="3400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Positional encoding</a:t>
            </a:r>
            <a:endParaRPr/>
          </a:p>
        </p:txBody>
      </p:sp>
      <p:sp>
        <p:nvSpPr>
          <p:cNvPr id="407523361" name=""/>
          <p:cNvSpPr>
            <a:spLocks noGrp="1"/>
          </p:cNvSpPr>
          <p:nvPr/>
        </p:nvSpPr>
        <p:spPr bwMode="auto">
          <a:xfrm>
            <a:off x="4229100" y="5076825"/>
            <a:ext cx="190500" cy="0"/>
          </a:xfrm>
          <a:prstGeom prst="line">
            <a:avLst/>
          </a:prstGeom>
          <a:ln w="9525">
            <a:solidFill>
              <a:srgbClr val="CBD5E1"/>
            </a:solidFill>
            <a:prstDash val="solid"/>
          </a:ln>
        </p:spPr>
      </p:sp>
      <p:sp>
        <p:nvSpPr>
          <p:cNvPr id="139870703" name=""/>
          <p:cNvSpPr>
            <a:spLocks noGrp="1"/>
          </p:cNvSpPr>
          <p:nvPr/>
        </p:nvSpPr>
        <p:spPr bwMode="auto">
          <a:xfrm>
            <a:off x="4419600" y="4857750"/>
            <a:ext cx="876299" cy="438149"/>
          </a:xfrm>
          <a:prstGeom prst="roundRect">
            <a:avLst>
              <a:gd name="adj" fmla="val 26087"/>
            </a:avLst>
          </a:prstGeom>
          <a:solidFill>
            <a:srgbClr val="FFFFFF"/>
          </a:solidFill>
          <a:ln w="9525">
            <a:solidFill>
              <a:srgbClr val="CBD5E1"/>
            </a:solidFill>
            <a:prstDash val="solid"/>
          </a:ln>
        </p:spPr>
      </p:sp>
      <p:sp>
        <p:nvSpPr>
          <p:cNvPr id="1588099187" name=""/>
          <p:cNvSpPr>
            <a:spLocks noGrp="1"/>
          </p:cNvSpPr>
          <p:nvPr/>
        </p:nvSpPr>
        <p:spPr bwMode="auto">
          <a:xfrm>
            <a:off x="4467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Self-attention</a:t>
            </a:r>
            <a:endParaRPr/>
          </a:p>
        </p:txBody>
      </p:sp>
      <p:sp>
        <p:nvSpPr>
          <p:cNvPr id="1722433848" name=""/>
          <p:cNvSpPr>
            <a:spLocks noGrp="1"/>
          </p:cNvSpPr>
          <p:nvPr/>
        </p:nvSpPr>
        <p:spPr bwMode="auto">
          <a:xfrm>
            <a:off x="5295899" y="5076825"/>
            <a:ext cx="190500" cy="0"/>
          </a:xfrm>
          <a:prstGeom prst="line">
            <a:avLst/>
          </a:prstGeom>
          <a:ln w="9525">
            <a:solidFill>
              <a:srgbClr val="CBD5E1"/>
            </a:solidFill>
            <a:prstDash val="solid"/>
          </a:ln>
        </p:spPr>
      </p:sp>
      <p:sp>
        <p:nvSpPr>
          <p:cNvPr id="1802370231" name=""/>
          <p:cNvSpPr>
            <a:spLocks noGrp="1"/>
          </p:cNvSpPr>
          <p:nvPr/>
        </p:nvSpPr>
        <p:spPr bwMode="auto">
          <a:xfrm>
            <a:off x="5486400" y="4857750"/>
            <a:ext cx="876299" cy="438149"/>
          </a:xfrm>
          <a:prstGeom prst="roundRect">
            <a:avLst>
              <a:gd name="adj" fmla="val 26087"/>
            </a:avLst>
          </a:prstGeom>
          <a:solidFill>
            <a:srgbClr val="059669"/>
          </a:solidFill>
          <a:ln w="9525">
            <a:solidFill>
              <a:srgbClr val="059669"/>
            </a:solidFill>
            <a:prstDash val="solid"/>
          </a:ln>
        </p:spPr>
      </p:sp>
      <p:sp>
        <p:nvSpPr>
          <p:cNvPr id="1371086358" name=""/>
          <p:cNvSpPr>
            <a:spLocks noGrp="1"/>
          </p:cNvSpPr>
          <p:nvPr/>
        </p:nvSpPr>
        <p:spPr bwMode="auto">
          <a:xfrm>
            <a:off x="5534025" y="4924425"/>
            <a:ext cx="781050" cy="285750"/>
          </a:xfrm>
          <a:prstGeom prst="rect">
            <a:avLst/>
          </a:prstGeom>
          <a:noFill/>
          <a:ln w="0">
            <a:noFill/>
            <a:prstDash val="solid"/>
          </a:ln>
        </p:spPr>
        <p:txBody>
          <a:bodyPr anchor="ctr"/>
          <a:lstStyle/>
          <a:p>
            <a:pPr algn="ctr">
              <a:buNone/>
              <a:defRPr sz="1050" b="1">
                <a:solidFill>
                  <a:srgbClr val="FFFFFF"/>
                </a:solidFill>
                <a:latin typeface="Calibri"/>
                <a:ea typeface="Calibri"/>
                <a:cs typeface="Calibri"/>
              </a:defRPr>
            </a:pPr>
            <a:r>
              <a:rPr sz="1050" b="1">
                <a:solidFill>
                  <a:srgbClr val="FFFFFF"/>
                </a:solidFill>
                <a:latin typeface="Calibri"/>
                <a:ea typeface="Calibri"/>
                <a:cs typeface="Calibri"/>
              </a:rPr>
              <a:t>Attention head</a:t>
            </a:r>
            <a:endParaRPr/>
          </a:p>
        </p:txBody>
      </p:sp>
      <p:sp>
        <p:nvSpPr>
          <p:cNvPr id="1897884153" name=""/>
          <p:cNvSpPr>
            <a:spLocks noGrp="1"/>
          </p:cNvSpPr>
          <p:nvPr/>
        </p:nvSpPr>
        <p:spPr bwMode="auto">
          <a:xfrm>
            <a:off x="6362700" y="5076825"/>
            <a:ext cx="190500" cy="0"/>
          </a:xfrm>
          <a:prstGeom prst="line">
            <a:avLst/>
          </a:prstGeom>
          <a:ln w="9525">
            <a:solidFill>
              <a:srgbClr val="CBD5E1"/>
            </a:solidFill>
            <a:prstDash val="solid"/>
          </a:ln>
        </p:spPr>
      </p:sp>
      <p:sp>
        <p:nvSpPr>
          <p:cNvPr id="1387834288" name=""/>
          <p:cNvSpPr>
            <a:spLocks noGrp="1"/>
          </p:cNvSpPr>
          <p:nvPr/>
        </p:nvSpPr>
        <p:spPr bwMode="auto">
          <a:xfrm>
            <a:off x="6553200" y="4857750"/>
            <a:ext cx="876299" cy="438149"/>
          </a:xfrm>
          <a:prstGeom prst="roundRect">
            <a:avLst>
              <a:gd name="adj" fmla="val 26087"/>
            </a:avLst>
          </a:prstGeom>
          <a:solidFill>
            <a:srgbClr val="FFFFFF"/>
          </a:solidFill>
          <a:ln w="9525">
            <a:solidFill>
              <a:srgbClr val="CBD5E1"/>
            </a:solidFill>
            <a:prstDash val="solid"/>
          </a:ln>
        </p:spPr>
      </p:sp>
      <p:sp>
        <p:nvSpPr>
          <p:cNvPr id="165609481" name=""/>
          <p:cNvSpPr>
            <a:spLocks noGrp="1"/>
          </p:cNvSpPr>
          <p:nvPr/>
        </p:nvSpPr>
        <p:spPr bwMode="auto">
          <a:xfrm>
            <a:off x="6600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Multi-head attention</a:t>
            </a:r>
            <a:endParaRPr/>
          </a:p>
        </p:txBody>
      </p:sp>
      <p:sp>
        <p:nvSpPr>
          <p:cNvPr id="452092563" name=""/>
          <p:cNvSpPr>
            <a:spLocks noGrp="1"/>
          </p:cNvSpPr>
          <p:nvPr/>
        </p:nvSpPr>
        <p:spPr bwMode="auto">
          <a:xfrm>
            <a:off x="7429500" y="5076825"/>
            <a:ext cx="190500" cy="0"/>
          </a:xfrm>
          <a:prstGeom prst="line">
            <a:avLst/>
          </a:prstGeom>
          <a:ln w="9525">
            <a:solidFill>
              <a:srgbClr val="CBD5E1"/>
            </a:solidFill>
            <a:prstDash val="solid"/>
          </a:ln>
        </p:spPr>
      </p:sp>
      <p:sp>
        <p:nvSpPr>
          <p:cNvPr id="5361158" name=""/>
          <p:cNvSpPr>
            <a:spLocks noGrp="1"/>
          </p:cNvSpPr>
          <p:nvPr/>
        </p:nvSpPr>
        <p:spPr bwMode="auto">
          <a:xfrm>
            <a:off x="7620000" y="4857750"/>
            <a:ext cx="876299" cy="438149"/>
          </a:xfrm>
          <a:prstGeom prst="roundRect">
            <a:avLst>
              <a:gd name="adj" fmla="val 26087"/>
            </a:avLst>
          </a:prstGeom>
          <a:solidFill>
            <a:srgbClr val="FFFFFF"/>
          </a:solidFill>
          <a:ln w="9525">
            <a:solidFill>
              <a:srgbClr val="CBD5E1"/>
            </a:solidFill>
            <a:prstDash val="solid"/>
          </a:ln>
        </p:spPr>
      </p:sp>
      <p:sp>
        <p:nvSpPr>
          <p:cNvPr id="1287749684" name=""/>
          <p:cNvSpPr>
            <a:spLocks noGrp="1"/>
          </p:cNvSpPr>
          <p:nvPr/>
        </p:nvSpPr>
        <p:spPr bwMode="auto">
          <a:xfrm>
            <a:off x="7667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Encoder block</a:t>
            </a:r>
            <a:endParaRPr/>
          </a:p>
        </p:txBody>
      </p:sp>
      <p:sp>
        <p:nvSpPr>
          <p:cNvPr id="75788940" name=""/>
          <p:cNvSpPr>
            <a:spLocks noGrp="1"/>
          </p:cNvSpPr>
          <p:nvPr/>
        </p:nvSpPr>
        <p:spPr bwMode="auto">
          <a:xfrm>
            <a:off x="8496300" y="5076825"/>
            <a:ext cx="190500" cy="0"/>
          </a:xfrm>
          <a:prstGeom prst="line">
            <a:avLst/>
          </a:prstGeom>
          <a:ln w="9525">
            <a:solidFill>
              <a:srgbClr val="CBD5E1"/>
            </a:solidFill>
            <a:prstDash val="solid"/>
          </a:ln>
        </p:spPr>
      </p:sp>
      <p:sp>
        <p:nvSpPr>
          <p:cNvPr id="321816877" name=""/>
          <p:cNvSpPr>
            <a:spLocks noGrp="1"/>
          </p:cNvSpPr>
          <p:nvPr/>
        </p:nvSpPr>
        <p:spPr bwMode="auto">
          <a:xfrm>
            <a:off x="8686800" y="4857750"/>
            <a:ext cx="876299" cy="438149"/>
          </a:xfrm>
          <a:prstGeom prst="roundRect">
            <a:avLst>
              <a:gd name="adj" fmla="val 26087"/>
            </a:avLst>
          </a:prstGeom>
          <a:solidFill>
            <a:srgbClr val="FFFFFF"/>
          </a:solidFill>
          <a:ln w="9525">
            <a:solidFill>
              <a:srgbClr val="CBD5E1"/>
            </a:solidFill>
            <a:prstDash val="solid"/>
          </a:ln>
        </p:spPr>
      </p:sp>
      <p:sp>
        <p:nvSpPr>
          <p:cNvPr id="418740258" name=""/>
          <p:cNvSpPr>
            <a:spLocks noGrp="1"/>
          </p:cNvSpPr>
          <p:nvPr/>
        </p:nvSpPr>
        <p:spPr bwMode="auto">
          <a:xfrm>
            <a:off x="8734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Decoder block</a:t>
            </a:r>
            <a:endParaRPr/>
          </a:p>
        </p:txBody>
      </p:sp>
      <p:sp>
        <p:nvSpPr>
          <p:cNvPr id="730717557" name=""/>
          <p:cNvSpPr>
            <a:spLocks noGrp="1"/>
          </p:cNvSpPr>
          <p:nvPr/>
        </p:nvSpPr>
        <p:spPr bwMode="auto">
          <a:xfrm>
            <a:off x="9563100" y="5076825"/>
            <a:ext cx="190500" cy="0"/>
          </a:xfrm>
          <a:prstGeom prst="line">
            <a:avLst/>
          </a:prstGeom>
          <a:ln w="9525">
            <a:solidFill>
              <a:srgbClr val="CBD5E1"/>
            </a:solidFill>
            <a:prstDash val="solid"/>
          </a:ln>
        </p:spPr>
      </p:sp>
      <p:sp>
        <p:nvSpPr>
          <p:cNvPr id="403779117" name=""/>
          <p:cNvSpPr>
            <a:spLocks noGrp="1"/>
          </p:cNvSpPr>
          <p:nvPr/>
        </p:nvSpPr>
        <p:spPr bwMode="auto">
          <a:xfrm>
            <a:off x="9753600" y="4857750"/>
            <a:ext cx="876299" cy="438149"/>
          </a:xfrm>
          <a:prstGeom prst="roundRect">
            <a:avLst>
              <a:gd name="adj" fmla="val 26087"/>
            </a:avLst>
          </a:prstGeom>
          <a:solidFill>
            <a:srgbClr val="FFFFFF"/>
          </a:solidFill>
          <a:ln w="9525">
            <a:solidFill>
              <a:srgbClr val="CBD5E1"/>
            </a:solidFill>
            <a:prstDash val="solid"/>
          </a:ln>
        </p:spPr>
      </p:sp>
      <p:sp>
        <p:nvSpPr>
          <p:cNvPr id="944859034" name=""/>
          <p:cNvSpPr>
            <a:spLocks noGrp="1"/>
          </p:cNvSpPr>
          <p:nvPr/>
        </p:nvSpPr>
        <p:spPr bwMode="auto">
          <a:xfrm>
            <a:off x="9801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Language-model head</a:t>
            </a:r>
            <a:endParaRPr/>
          </a:p>
        </p:txBody>
      </p:sp>
      <p:sp>
        <p:nvSpPr>
          <p:cNvPr id="620100846" name=""/>
          <p:cNvSpPr>
            <a:spLocks noGrp="1"/>
          </p:cNvSpPr>
          <p:nvPr/>
        </p:nvSpPr>
        <p:spPr bwMode="auto">
          <a:xfrm>
            <a:off x="4610100" y="5762625"/>
            <a:ext cx="2971800" cy="266700"/>
          </a:xfrm>
          <a:prstGeom prst="rect">
            <a:avLst/>
          </a:prstGeom>
          <a:noFill/>
          <a:ln w="0">
            <a:noFill/>
            <a:prstDash val="solid"/>
          </a:ln>
        </p:spPr>
        <p:txBody>
          <a:bodyPr anchor="ctr"/>
          <a:lstStyle/>
          <a:p>
            <a:pPr algn="ctr">
              <a:buNone/>
              <a:defRPr sz="1350" b="1">
                <a:solidFill>
                  <a:srgbClr val="059669"/>
                </a:solidFill>
                <a:latin typeface="Calibri"/>
                <a:ea typeface="Calibri"/>
                <a:cs typeface="Calibri"/>
              </a:defRPr>
            </a:pPr>
            <a:r>
              <a:rPr sz="1350" b="1">
                <a:solidFill>
                  <a:srgbClr val="059669"/>
                </a:solidFill>
                <a:latin typeface="Calibri"/>
                <a:ea typeface="Calibri"/>
                <a:cs typeface="Calibri"/>
              </a:rPr>
              <a:t>Encoder component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45353708"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Transformer roadmap · Encoder</a:t>
            </a:r>
            <a:endParaRPr/>
          </a:p>
        </p:txBody>
      </p:sp>
      <p:sp>
        <p:nvSpPr>
          <p:cNvPr id="965748933" name="Rectangle 251777344"/>
          <p:cNvSpPr>
            <a:spLocks noGrp="1"/>
          </p:cNvSpPr>
          <p:nvPr/>
        </p:nvSpPr>
        <p:spPr bwMode="auto">
          <a:xfrm>
            <a:off x="609600" y="590549"/>
            <a:ext cx="10287000" cy="590549"/>
          </a:xfrm>
          <a:prstGeom prst="rect">
            <a:avLst/>
          </a:prstGeom>
          <a:noFill/>
          <a:ln w="0">
            <a:noFill/>
            <a:prstDash val="solid"/>
          </a:ln>
        </p:spPr>
        <p:txBody>
          <a:bodyPr anchor="ctr"/>
          <a:lstStyle/>
          <a:p>
            <a:pPr algn="l">
              <a:buNone/>
              <a:defRPr sz="2850" b="1">
                <a:solidFill>
                  <a:srgbClr val="0B0F19"/>
                </a:solidFill>
                <a:latin typeface="Calibri"/>
                <a:ea typeface="Calibri"/>
                <a:cs typeface="Calibri"/>
              </a:defRPr>
            </a:pPr>
            <a:r>
              <a:rPr sz="2850" b="1">
                <a:solidFill>
                  <a:srgbClr val="0B0F19"/>
                </a:solidFill>
                <a:latin typeface="Calibri"/>
                <a:ea typeface="Calibri"/>
                <a:cs typeface="Calibri"/>
              </a:rPr>
              <a:t>Multi-head attention</a:t>
            </a:r>
            <a:endParaRPr/>
          </a:p>
        </p:txBody>
      </p:sp>
      <p:sp>
        <p:nvSpPr>
          <p:cNvPr id="1146775505"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37</a:t>
            </a:r>
            <a:endParaRPr/>
          </a:p>
        </p:txBody>
      </p:sp>
      <p:sp>
        <p:nvSpPr>
          <p:cNvPr id="1832370407" name=""/>
          <p:cNvSpPr>
            <a:spLocks noGrp="1"/>
          </p:cNvSpPr>
          <p:nvPr/>
        </p:nvSpPr>
        <p:spPr bwMode="auto">
          <a:xfrm>
            <a:off x="723900" y="1362075"/>
            <a:ext cx="10287000" cy="323850"/>
          </a:xfrm>
          <a:prstGeom prst="rect">
            <a:avLst/>
          </a:prstGeom>
          <a:noFill/>
          <a:ln w="0">
            <a:noFill/>
            <a:prstDash val="solid"/>
          </a:ln>
        </p:spPr>
        <p:txBody>
          <a:bodyPr anchor="ctr"/>
          <a:lstStyle/>
          <a:p>
            <a:pPr algn="l">
              <a:buNone/>
              <a:defRPr sz="1600" b="0">
                <a:solidFill>
                  <a:srgbClr val="667085"/>
                </a:solidFill>
                <a:latin typeface="Calibri"/>
                <a:ea typeface="Calibri"/>
                <a:cs typeface="Calibri"/>
              </a:defRPr>
            </a:pPr>
            <a:r>
              <a:rPr sz="1600" b="0">
                <a:solidFill>
                  <a:srgbClr val="667085"/>
                </a:solidFill>
                <a:latin typeface="Calibri"/>
                <a:ea typeface="Calibri"/>
                <a:cs typeface="Calibri"/>
              </a:rPr>
              <a:t>Several heads learn complementary relationships in parallel.</a:t>
            </a:r>
            <a:endParaRPr/>
          </a:p>
        </p:txBody>
      </p:sp>
      <p:sp>
        <p:nvSpPr>
          <p:cNvPr id="1297482731" name=""/>
          <p:cNvSpPr>
            <a:spLocks noGrp="1"/>
          </p:cNvSpPr>
          <p:nvPr/>
        </p:nvSpPr>
        <p:spPr bwMode="auto">
          <a:xfrm>
            <a:off x="1619250" y="2381250"/>
            <a:ext cx="8953500" cy="1428750"/>
          </a:xfrm>
          <a:prstGeom prst="roundRect">
            <a:avLst>
              <a:gd name="adj" fmla="val 8000"/>
            </a:avLst>
          </a:prstGeom>
          <a:solidFill>
            <a:srgbClr val="F8FAFC"/>
          </a:solidFill>
          <a:ln w="9525">
            <a:solidFill>
              <a:srgbClr val="059669"/>
            </a:solidFill>
            <a:prstDash val="solid"/>
          </a:ln>
        </p:spPr>
      </p:sp>
      <p:sp>
        <p:nvSpPr>
          <p:cNvPr id="1200011165" name=""/>
          <p:cNvSpPr>
            <a:spLocks noGrp="1"/>
          </p:cNvSpPr>
          <p:nvPr/>
        </p:nvSpPr>
        <p:spPr bwMode="auto">
          <a:xfrm>
            <a:off x="1952625" y="2686050"/>
            <a:ext cx="8286750" cy="666750"/>
          </a:xfrm>
          <a:prstGeom prst="rect">
            <a:avLst/>
          </a:prstGeom>
          <a:noFill/>
          <a:ln w="0">
            <a:noFill/>
            <a:prstDash val="solid"/>
          </a:ln>
        </p:spPr>
        <p:txBody>
          <a:bodyPr anchor="ctr"/>
          <a:lstStyle/>
          <a:p>
            <a:pPr algn="ctr">
              <a:buNone/>
              <a:defRPr sz="2350" b="1">
                <a:solidFill>
                  <a:srgbClr val="059669"/>
                </a:solidFill>
                <a:latin typeface="Calibri"/>
                <a:ea typeface="Calibri"/>
                <a:cs typeface="Calibri"/>
              </a:defRPr>
            </a:pPr>
            <a:r>
              <a:rPr sz="2350" b="1">
                <a:solidFill>
                  <a:srgbClr val="059669"/>
                </a:solidFill>
                <a:latin typeface="Calibri"/>
                <a:ea typeface="Calibri"/>
                <a:cs typeface="Calibri"/>
              </a:rPr>
              <a:t>many perspectives  →  combined context</a:t>
            </a:r>
            <a:endParaRPr/>
          </a:p>
        </p:txBody>
      </p:sp>
      <p:sp>
        <p:nvSpPr>
          <p:cNvPr id="442300351" name=""/>
          <p:cNvSpPr>
            <a:spLocks noGrp="1"/>
          </p:cNvSpPr>
          <p:nvPr/>
        </p:nvSpPr>
        <p:spPr bwMode="auto">
          <a:xfrm>
            <a:off x="5143500" y="4114800"/>
            <a:ext cx="1905000" cy="247650"/>
          </a:xfrm>
          <a:prstGeom prst="rect">
            <a:avLst/>
          </a:prstGeom>
          <a:noFill/>
          <a:ln w="0">
            <a:noFill/>
            <a:prstDash val="solid"/>
          </a:ln>
        </p:spPr>
        <p:txBody>
          <a:bodyPr anchor="ctr"/>
          <a:lstStyle/>
          <a:p>
            <a:pPr algn="ctr">
              <a:buNone/>
              <a:defRPr sz="1300" b="0">
                <a:solidFill>
                  <a:srgbClr val="667085"/>
                </a:solidFill>
                <a:latin typeface="Calibri"/>
                <a:ea typeface="Calibri"/>
                <a:cs typeface="Calibri"/>
              </a:defRPr>
            </a:pPr>
            <a:r>
              <a:rPr sz="1300" b="0">
                <a:solidFill>
                  <a:srgbClr val="667085"/>
                </a:solidFill>
                <a:latin typeface="Calibri"/>
                <a:ea typeface="Calibri"/>
                <a:cs typeface="Calibri"/>
              </a:rPr>
              <a:t>Step 6 of 9</a:t>
            </a:r>
            <a:endParaRPr/>
          </a:p>
        </p:txBody>
      </p:sp>
      <p:sp>
        <p:nvSpPr>
          <p:cNvPr id="708556131" name=""/>
          <p:cNvSpPr>
            <a:spLocks noGrp="1"/>
          </p:cNvSpPr>
          <p:nvPr/>
        </p:nvSpPr>
        <p:spPr bwMode="auto">
          <a:xfrm>
            <a:off x="1219200" y="4857750"/>
            <a:ext cx="876299" cy="438149"/>
          </a:xfrm>
          <a:prstGeom prst="roundRect">
            <a:avLst>
              <a:gd name="adj" fmla="val 26087"/>
            </a:avLst>
          </a:prstGeom>
          <a:solidFill>
            <a:srgbClr val="FFFFFF"/>
          </a:solidFill>
          <a:ln w="9525">
            <a:solidFill>
              <a:srgbClr val="CBD5E1"/>
            </a:solidFill>
            <a:prstDash val="solid"/>
          </a:ln>
        </p:spPr>
      </p:sp>
      <p:sp>
        <p:nvSpPr>
          <p:cNvPr id="100423534" name=""/>
          <p:cNvSpPr>
            <a:spLocks noGrp="1"/>
          </p:cNvSpPr>
          <p:nvPr/>
        </p:nvSpPr>
        <p:spPr bwMode="auto">
          <a:xfrm>
            <a:off x="1266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Tokenizer</a:t>
            </a:r>
            <a:endParaRPr/>
          </a:p>
        </p:txBody>
      </p:sp>
      <p:sp>
        <p:nvSpPr>
          <p:cNvPr id="847957590" name=""/>
          <p:cNvSpPr>
            <a:spLocks noGrp="1"/>
          </p:cNvSpPr>
          <p:nvPr/>
        </p:nvSpPr>
        <p:spPr bwMode="auto">
          <a:xfrm>
            <a:off x="2095500" y="5076825"/>
            <a:ext cx="190500" cy="0"/>
          </a:xfrm>
          <a:prstGeom prst="line">
            <a:avLst/>
          </a:prstGeom>
          <a:ln w="9525">
            <a:solidFill>
              <a:srgbClr val="CBD5E1"/>
            </a:solidFill>
            <a:prstDash val="solid"/>
          </a:ln>
        </p:spPr>
      </p:sp>
      <p:sp>
        <p:nvSpPr>
          <p:cNvPr id="1044367557" name=""/>
          <p:cNvSpPr>
            <a:spLocks noGrp="1"/>
          </p:cNvSpPr>
          <p:nvPr/>
        </p:nvSpPr>
        <p:spPr bwMode="auto">
          <a:xfrm>
            <a:off x="2286000" y="4857750"/>
            <a:ext cx="876299" cy="438149"/>
          </a:xfrm>
          <a:prstGeom prst="roundRect">
            <a:avLst>
              <a:gd name="adj" fmla="val 26087"/>
            </a:avLst>
          </a:prstGeom>
          <a:solidFill>
            <a:srgbClr val="FFFFFF"/>
          </a:solidFill>
          <a:ln w="9525">
            <a:solidFill>
              <a:srgbClr val="CBD5E1"/>
            </a:solidFill>
            <a:prstDash val="solid"/>
          </a:ln>
        </p:spPr>
      </p:sp>
      <p:sp>
        <p:nvSpPr>
          <p:cNvPr id="1043684600" name=""/>
          <p:cNvSpPr>
            <a:spLocks noGrp="1"/>
          </p:cNvSpPr>
          <p:nvPr/>
        </p:nvSpPr>
        <p:spPr bwMode="auto">
          <a:xfrm>
            <a:off x="2333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Embedding</a:t>
            </a:r>
            <a:endParaRPr/>
          </a:p>
        </p:txBody>
      </p:sp>
      <p:sp>
        <p:nvSpPr>
          <p:cNvPr id="1339640359" name=""/>
          <p:cNvSpPr>
            <a:spLocks noGrp="1"/>
          </p:cNvSpPr>
          <p:nvPr/>
        </p:nvSpPr>
        <p:spPr bwMode="auto">
          <a:xfrm>
            <a:off x="3162300" y="5076825"/>
            <a:ext cx="190500" cy="0"/>
          </a:xfrm>
          <a:prstGeom prst="line">
            <a:avLst/>
          </a:prstGeom>
          <a:ln w="9525">
            <a:solidFill>
              <a:srgbClr val="CBD5E1"/>
            </a:solidFill>
            <a:prstDash val="solid"/>
          </a:ln>
        </p:spPr>
      </p:sp>
      <p:sp>
        <p:nvSpPr>
          <p:cNvPr id="1174751443" name=""/>
          <p:cNvSpPr>
            <a:spLocks noGrp="1"/>
          </p:cNvSpPr>
          <p:nvPr/>
        </p:nvSpPr>
        <p:spPr bwMode="auto">
          <a:xfrm>
            <a:off x="3352800" y="4857750"/>
            <a:ext cx="876299" cy="438149"/>
          </a:xfrm>
          <a:prstGeom prst="roundRect">
            <a:avLst>
              <a:gd name="adj" fmla="val 26087"/>
            </a:avLst>
          </a:prstGeom>
          <a:solidFill>
            <a:srgbClr val="FFFFFF"/>
          </a:solidFill>
          <a:ln w="9525">
            <a:solidFill>
              <a:srgbClr val="CBD5E1"/>
            </a:solidFill>
            <a:prstDash val="solid"/>
          </a:ln>
        </p:spPr>
      </p:sp>
      <p:sp>
        <p:nvSpPr>
          <p:cNvPr id="590160821" name=""/>
          <p:cNvSpPr>
            <a:spLocks noGrp="1"/>
          </p:cNvSpPr>
          <p:nvPr/>
        </p:nvSpPr>
        <p:spPr bwMode="auto">
          <a:xfrm>
            <a:off x="3400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Positional encoding</a:t>
            </a:r>
            <a:endParaRPr/>
          </a:p>
        </p:txBody>
      </p:sp>
      <p:sp>
        <p:nvSpPr>
          <p:cNvPr id="1896514297" name=""/>
          <p:cNvSpPr>
            <a:spLocks noGrp="1"/>
          </p:cNvSpPr>
          <p:nvPr/>
        </p:nvSpPr>
        <p:spPr bwMode="auto">
          <a:xfrm>
            <a:off x="4229100" y="5076825"/>
            <a:ext cx="190500" cy="0"/>
          </a:xfrm>
          <a:prstGeom prst="line">
            <a:avLst/>
          </a:prstGeom>
          <a:ln w="9525">
            <a:solidFill>
              <a:srgbClr val="CBD5E1"/>
            </a:solidFill>
            <a:prstDash val="solid"/>
          </a:ln>
        </p:spPr>
      </p:sp>
      <p:sp>
        <p:nvSpPr>
          <p:cNvPr id="1251191565" name=""/>
          <p:cNvSpPr>
            <a:spLocks noGrp="1"/>
          </p:cNvSpPr>
          <p:nvPr/>
        </p:nvSpPr>
        <p:spPr bwMode="auto">
          <a:xfrm>
            <a:off x="4419600" y="4857750"/>
            <a:ext cx="876299" cy="438149"/>
          </a:xfrm>
          <a:prstGeom prst="roundRect">
            <a:avLst>
              <a:gd name="adj" fmla="val 26087"/>
            </a:avLst>
          </a:prstGeom>
          <a:solidFill>
            <a:srgbClr val="FFFFFF"/>
          </a:solidFill>
          <a:ln w="9525">
            <a:solidFill>
              <a:srgbClr val="CBD5E1"/>
            </a:solidFill>
            <a:prstDash val="solid"/>
          </a:ln>
        </p:spPr>
      </p:sp>
      <p:sp>
        <p:nvSpPr>
          <p:cNvPr id="314015276" name=""/>
          <p:cNvSpPr>
            <a:spLocks noGrp="1"/>
          </p:cNvSpPr>
          <p:nvPr/>
        </p:nvSpPr>
        <p:spPr bwMode="auto">
          <a:xfrm>
            <a:off x="4467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Self-attention</a:t>
            </a:r>
            <a:endParaRPr/>
          </a:p>
        </p:txBody>
      </p:sp>
      <p:sp>
        <p:nvSpPr>
          <p:cNvPr id="1716038945" name=""/>
          <p:cNvSpPr>
            <a:spLocks noGrp="1"/>
          </p:cNvSpPr>
          <p:nvPr/>
        </p:nvSpPr>
        <p:spPr bwMode="auto">
          <a:xfrm>
            <a:off x="5295899" y="5076825"/>
            <a:ext cx="190500" cy="0"/>
          </a:xfrm>
          <a:prstGeom prst="line">
            <a:avLst/>
          </a:prstGeom>
          <a:ln w="9525">
            <a:solidFill>
              <a:srgbClr val="CBD5E1"/>
            </a:solidFill>
            <a:prstDash val="solid"/>
          </a:ln>
        </p:spPr>
      </p:sp>
      <p:sp>
        <p:nvSpPr>
          <p:cNvPr id="82172498" name=""/>
          <p:cNvSpPr>
            <a:spLocks noGrp="1"/>
          </p:cNvSpPr>
          <p:nvPr/>
        </p:nvSpPr>
        <p:spPr bwMode="auto">
          <a:xfrm>
            <a:off x="5486400" y="4857750"/>
            <a:ext cx="876299" cy="438149"/>
          </a:xfrm>
          <a:prstGeom prst="roundRect">
            <a:avLst>
              <a:gd name="adj" fmla="val 26087"/>
            </a:avLst>
          </a:prstGeom>
          <a:solidFill>
            <a:srgbClr val="FFFFFF"/>
          </a:solidFill>
          <a:ln w="9525">
            <a:solidFill>
              <a:srgbClr val="CBD5E1"/>
            </a:solidFill>
            <a:prstDash val="solid"/>
          </a:ln>
        </p:spPr>
      </p:sp>
      <p:sp>
        <p:nvSpPr>
          <p:cNvPr id="1567356554" name=""/>
          <p:cNvSpPr>
            <a:spLocks noGrp="1"/>
          </p:cNvSpPr>
          <p:nvPr/>
        </p:nvSpPr>
        <p:spPr bwMode="auto">
          <a:xfrm>
            <a:off x="55340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Attention head</a:t>
            </a:r>
            <a:endParaRPr/>
          </a:p>
        </p:txBody>
      </p:sp>
      <p:sp>
        <p:nvSpPr>
          <p:cNvPr id="1438817860" name=""/>
          <p:cNvSpPr>
            <a:spLocks noGrp="1"/>
          </p:cNvSpPr>
          <p:nvPr/>
        </p:nvSpPr>
        <p:spPr bwMode="auto">
          <a:xfrm>
            <a:off x="6362700" y="5076825"/>
            <a:ext cx="190500" cy="0"/>
          </a:xfrm>
          <a:prstGeom prst="line">
            <a:avLst/>
          </a:prstGeom>
          <a:ln w="9525">
            <a:solidFill>
              <a:srgbClr val="CBD5E1"/>
            </a:solidFill>
            <a:prstDash val="solid"/>
          </a:ln>
        </p:spPr>
      </p:sp>
      <p:sp>
        <p:nvSpPr>
          <p:cNvPr id="311964683" name=""/>
          <p:cNvSpPr>
            <a:spLocks noGrp="1"/>
          </p:cNvSpPr>
          <p:nvPr/>
        </p:nvSpPr>
        <p:spPr bwMode="auto">
          <a:xfrm>
            <a:off x="6553200" y="4857750"/>
            <a:ext cx="876299" cy="438149"/>
          </a:xfrm>
          <a:prstGeom prst="roundRect">
            <a:avLst>
              <a:gd name="adj" fmla="val 26087"/>
            </a:avLst>
          </a:prstGeom>
          <a:solidFill>
            <a:srgbClr val="059669"/>
          </a:solidFill>
          <a:ln w="9525">
            <a:solidFill>
              <a:srgbClr val="059669"/>
            </a:solidFill>
            <a:prstDash val="solid"/>
          </a:ln>
        </p:spPr>
      </p:sp>
      <p:sp>
        <p:nvSpPr>
          <p:cNvPr id="1398509590" name=""/>
          <p:cNvSpPr>
            <a:spLocks noGrp="1"/>
          </p:cNvSpPr>
          <p:nvPr/>
        </p:nvSpPr>
        <p:spPr bwMode="auto">
          <a:xfrm>
            <a:off x="6600825" y="4924425"/>
            <a:ext cx="781050" cy="285750"/>
          </a:xfrm>
          <a:prstGeom prst="rect">
            <a:avLst/>
          </a:prstGeom>
          <a:noFill/>
          <a:ln w="0">
            <a:noFill/>
            <a:prstDash val="solid"/>
          </a:ln>
        </p:spPr>
        <p:txBody>
          <a:bodyPr anchor="ctr"/>
          <a:lstStyle/>
          <a:p>
            <a:pPr algn="ctr">
              <a:buNone/>
              <a:defRPr sz="1050" b="1">
                <a:solidFill>
                  <a:srgbClr val="FFFFFF"/>
                </a:solidFill>
                <a:latin typeface="Calibri"/>
                <a:ea typeface="Calibri"/>
                <a:cs typeface="Calibri"/>
              </a:defRPr>
            </a:pPr>
            <a:r>
              <a:rPr sz="1050" b="1">
                <a:solidFill>
                  <a:srgbClr val="FFFFFF"/>
                </a:solidFill>
                <a:latin typeface="Calibri"/>
                <a:ea typeface="Calibri"/>
                <a:cs typeface="Calibri"/>
              </a:rPr>
              <a:t>Multi-head attention</a:t>
            </a:r>
            <a:endParaRPr/>
          </a:p>
        </p:txBody>
      </p:sp>
      <p:sp>
        <p:nvSpPr>
          <p:cNvPr id="172637881" name=""/>
          <p:cNvSpPr>
            <a:spLocks noGrp="1"/>
          </p:cNvSpPr>
          <p:nvPr/>
        </p:nvSpPr>
        <p:spPr bwMode="auto">
          <a:xfrm>
            <a:off x="7429500" y="5076825"/>
            <a:ext cx="190500" cy="0"/>
          </a:xfrm>
          <a:prstGeom prst="line">
            <a:avLst/>
          </a:prstGeom>
          <a:ln w="9525">
            <a:solidFill>
              <a:srgbClr val="CBD5E1"/>
            </a:solidFill>
            <a:prstDash val="solid"/>
          </a:ln>
        </p:spPr>
      </p:sp>
      <p:sp>
        <p:nvSpPr>
          <p:cNvPr id="664865696" name=""/>
          <p:cNvSpPr>
            <a:spLocks noGrp="1"/>
          </p:cNvSpPr>
          <p:nvPr/>
        </p:nvSpPr>
        <p:spPr bwMode="auto">
          <a:xfrm>
            <a:off x="7620000" y="4857750"/>
            <a:ext cx="876299" cy="438149"/>
          </a:xfrm>
          <a:prstGeom prst="roundRect">
            <a:avLst>
              <a:gd name="adj" fmla="val 26087"/>
            </a:avLst>
          </a:prstGeom>
          <a:solidFill>
            <a:srgbClr val="FFFFFF"/>
          </a:solidFill>
          <a:ln w="9525">
            <a:solidFill>
              <a:srgbClr val="CBD5E1"/>
            </a:solidFill>
            <a:prstDash val="solid"/>
          </a:ln>
        </p:spPr>
      </p:sp>
      <p:sp>
        <p:nvSpPr>
          <p:cNvPr id="643263201" name=""/>
          <p:cNvSpPr>
            <a:spLocks noGrp="1"/>
          </p:cNvSpPr>
          <p:nvPr/>
        </p:nvSpPr>
        <p:spPr bwMode="auto">
          <a:xfrm>
            <a:off x="7667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Encoder block</a:t>
            </a:r>
            <a:endParaRPr/>
          </a:p>
        </p:txBody>
      </p:sp>
      <p:sp>
        <p:nvSpPr>
          <p:cNvPr id="124461840" name=""/>
          <p:cNvSpPr>
            <a:spLocks noGrp="1"/>
          </p:cNvSpPr>
          <p:nvPr/>
        </p:nvSpPr>
        <p:spPr bwMode="auto">
          <a:xfrm>
            <a:off x="8496300" y="5076825"/>
            <a:ext cx="190500" cy="0"/>
          </a:xfrm>
          <a:prstGeom prst="line">
            <a:avLst/>
          </a:prstGeom>
          <a:ln w="9525">
            <a:solidFill>
              <a:srgbClr val="CBD5E1"/>
            </a:solidFill>
            <a:prstDash val="solid"/>
          </a:ln>
        </p:spPr>
      </p:sp>
      <p:sp>
        <p:nvSpPr>
          <p:cNvPr id="1388074795" name=""/>
          <p:cNvSpPr>
            <a:spLocks noGrp="1"/>
          </p:cNvSpPr>
          <p:nvPr/>
        </p:nvSpPr>
        <p:spPr bwMode="auto">
          <a:xfrm>
            <a:off x="8686800" y="4857750"/>
            <a:ext cx="876299" cy="438149"/>
          </a:xfrm>
          <a:prstGeom prst="roundRect">
            <a:avLst>
              <a:gd name="adj" fmla="val 26087"/>
            </a:avLst>
          </a:prstGeom>
          <a:solidFill>
            <a:srgbClr val="FFFFFF"/>
          </a:solidFill>
          <a:ln w="9525">
            <a:solidFill>
              <a:srgbClr val="CBD5E1"/>
            </a:solidFill>
            <a:prstDash val="solid"/>
          </a:ln>
        </p:spPr>
      </p:sp>
      <p:sp>
        <p:nvSpPr>
          <p:cNvPr id="1019969480" name=""/>
          <p:cNvSpPr>
            <a:spLocks noGrp="1"/>
          </p:cNvSpPr>
          <p:nvPr/>
        </p:nvSpPr>
        <p:spPr bwMode="auto">
          <a:xfrm>
            <a:off x="8734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Decoder block</a:t>
            </a:r>
            <a:endParaRPr/>
          </a:p>
        </p:txBody>
      </p:sp>
      <p:sp>
        <p:nvSpPr>
          <p:cNvPr id="626513159" name=""/>
          <p:cNvSpPr>
            <a:spLocks noGrp="1"/>
          </p:cNvSpPr>
          <p:nvPr/>
        </p:nvSpPr>
        <p:spPr bwMode="auto">
          <a:xfrm>
            <a:off x="9563100" y="5076825"/>
            <a:ext cx="190500" cy="0"/>
          </a:xfrm>
          <a:prstGeom prst="line">
            <a:avLst/>
          </a:prstGeom>
          <a:ln w="9525">
            <a:solidFill>
              <a:srgbClr val="CBD5E1"/>
            </a:solidFill>
            <a:prstDash val="solid"/>
          </a:ln>
        </p:spPr>
      </p:sp>
      <p:sp>
        <p:nvSpPr>
          <p:cNvPr id="1348387770" name=""/>
          <p:cNvSpPr>
            <a:spLocks noGrp="1"/>
          </p:cNvSpPr>
          <p:nvPr/>
        </p:nvSpPr>
        <p:spPr bwMode="auto">
          <a:xfrm>
            <a:off x="9753600" y="4857750"/>
            <a:ext cx="876299" cy="438149"/>
          </a:xfrm>
          <a:prstGeom prst="roundRect">
            <a:avLst>
              <a:gd name="adj" fmla="val 26087"/>
            </a:avLst>
          </a:prstGeom>
          <a:solidFill>
            <a:srgbClr val="FFFFFF"/>
          </a:solidFill>
          <a:ln w="9525">
            <a:solidFill>
              <a:srgbClr val="CBD5E1"/>
            </a:solidFill>
            <a:prstDash val="solid"/>
          </a:ln>
        </p:spPr>
      </p:sp>
      <p:sp>
        <p:nvSpPr>
          <p:cNvPr id="1272774207" name=""/>
          <p:cNvSpPr>
            <a:spLocks noGrp="1"/>
          </p:cNvSpPr>
          <p:nvPr/>
        </p:nvSpPr>
        <p:spPr bwMode="auto">
          <a:xfrm>
            <a:off x="9801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Language-model head</a:t>
            </a:r>
            <a:endParaRPr/>
          </a:p>
        </p:txBody>
      </p:sp>
      <p:sp>
        <p:nvSpPr>
          <p:cNvPr id="578171325" name=""/>
          <p:cNvSpPr>
            <a:spLocks noGrp="1"/>
          </p:cNvSpPr>
          <p:nvPr/>
        </p:nvSpPr>
        <p:spPr bwMode="auto">
          <a:xfrm>
            <a:off x="4610100" y="5762625"/>
            <a:ext cx="2971800" cy="266700"/>
          </a:xfrm>
          <a:prstGeom prst="rect">
            <a:avLst/>
          </a:prstGeom>
          <a:noFill/>
          <a:ln w="0">
            <a:noFill/>
            <a:prstDash val="solid"/>
          </a:ln>
        </p:spPr>
        <p:txBody>
          <a:bodyPr anchor="ctr"/>
          <a:lstStyle/>
          <a:p>
            <a:pPr algn="ctr">
              <a:buNone/>
              <a:defRPr sz="1350" b="1">
                <a:solidFill>
                  <a:srgbClr val="059669"/>
                </a:solidFill>
                <a:latin typeface="Calibri"/>
                <a:ea typeface="Calibri"/>
                <a:cs typeface="Calibri"/>
              </a:defRPr>
            </a:pPr>
            <a:r>
              <a:rPr sz="1350" b="1">
                <a:solidFill>
                  <a:srgbClr val="059669"/>
                </a:solidFill>
                <a:latin typeface="Calibri"/>
                <a:ea typeface="Calibri"/>
                <a:cs typeface="Calibri"/>
              </a:rPr>
              <a:t>Encoder component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01085379"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Transformer roadmap · Encoder</a:t>
            </a:r>
            <a:endParaRPr/>
          </a:p>
        </p:txBody>
      </p:sp>
      <p:sp>
        <p:nvSpPr>
          <p:cNvPr id="1940472532" name="Rectangle 251777344"/>
          <p:cNvSpPr>
            <a:spLocks noGrp="1"/>
          </p:cNvSpPr>
          <p:nvPr/>
        </p:nvSpPr>
        <p:spPr bwMode="auto">
          <a:xfrm>
            <a:off x="609600" y="590549"/>
            <a:ext cx="10287000" cy="590549"/>
          </a:xfrm>
          <a:prstGeom prst="rect">
            <a:avLst/>
          </a:prstGeom>
          <a:noFill/>
          <a:ln w="0">
            <a:noFill/>
            <a:prstDash val="solid"/>
          </a:ln>
        </p:spPr>
        <p:txBody>
          <a:bodyPr anchor="ctr"/>
          <a:lstStyle/>
          <a:p>
            <a:pPr algn="l">
              <a:buNone/>
              <a:defRPr sz="2850" b="1">
                <a:solidFill>
                  <a:srgbClr val="0B0F19"/>
                </a:solidFill>
                <a:latin typeface="Calibri"/>
                <a:ea typeface="Calibri"/>
                <a:cs typeface="Calibri"/>
              </a:defRPr>
            </a:pPr>
            <a:r>
              <a:rPr sz="2850" b="1">
                <a:solidFill>
                  <a:srgbClr val="0B0F19"/>
                </a:solidFill>
                <a:latin typeface="Calibri"/>
                <a:ea typeface="Calibri"/>
                <a:cs typeface="Calibri"/>
              </a:rPr>
              <a:t>Encoder block</a:t>
            </a:r>
            <a:endParaRPr/>
          </a:p>
        </p:txBody>
      </p:sp>
      <p:sp>
        <p:nvSpPr>
          <p:cNvPr id="1448675472"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38</a:t>
            </a:r>
            <a:endParaRPr/>
          </a:p>
        </p:txBody>
      </p:sp>
      <p:sp>
        <p:nvSpPr>
          <p:cNvPr id="1424745272" name=""/>
          <p:cNvSpPr>
            <a:spLocks noGrp="1"/>
          </p:cNvSpPr>
          <p:nvPr/>
        </p:nvSpPr>
        <p:spPr bwMode="auto">
          <a:xfrm>
            <a:off x="723900" y="1362075"/>
            <a:ext cx="10287000" cy="323850"/>
          </a:xfrm>
          <a:prstGeom prst="rect">
            <a:avLst/>
          </a:prstGeom>
          <a:noFill/>
          <a:ln w="0">
            <a:noFill/>
            <a:prstDash val="solid"/>
          </a:ln>
        </p:spPr>
        <p:txBody>
          <a:bodyPr anchor="ctr"/>
          <a:lstStyle/>
          <a:p>
            <a:pPr algn="l">
              <a:buNone/>
              <a:defRPr sz="1600" b="0">
                <a:solidFill>
                  <a:srgbClr val="667085"/>
                </a:solidFill>
                <a:latin typeface="Calibri"/>
                <a:ea typeface="Calibri"/>
                <a:cs typeface="Calibri"/>
              </a:defRPr>
            </a:pPr>
            <a:r>
              <a:rPr sz="1600" b="0">
                <a:solidFill>
                  <a:srgbClr val="667085"/>
                </a:solidFill>
                <a:latin typeface="Calibri"/>
                <a:ea typeface="Calibri"/>
                <a:cs typeface="Calibri"/>
              </a:rPr>
              <a:t>Repeat self-attention and a feed-forward network to refine representations.</a:t>
            </a:r>
            <a:endParaRPr/>
          </a:p>
        </p:txBody>
      </p:sp>
      <p:sp>
        <p:nvSpPr>
          <p:cNvPr id="27431759" name=""/>
          <p:cNvSpPr>
            <a:spLocks noGrp="1"/>
          </p:cNvSpPr>
          <p:nvPr/>
        </p:nvSpPr>
        <p:spPr bwMode="auto">
          <a:xfrm>
            <a:off x="1619250" y="2381250"/>
            <a:ext cx="8953500" cy="1428750"/>
          </a:xfrm>
          <a:prstGeom prst="roundRect">
            <a:avLst>
              <a:gd name="adj" fmla="val 8000"/>
            </a:avLst>
          </a:prstGeom>
          <a:solidFill>
            <a:srgbClr val="F8FAFC"/>
          </a:solidFill>
          <a:ln w="9525">
            <a:solidFill>
              <a:srgbClr val="059669"/>
            </a:solidFill>
            <a:prstDash val="solid"/>
          </a:ln>
        </p:spPr>
      </p:sp>
      <p:sp>
        <p:nvSpPr>
          <p:cNvPr id="491309083" name=""/>
          <p:cNvSpPr>
            <a:spLocks noGrp="1"/>
          </p:cNvSpPr>
          <p:nvPr/>
        </p:nvSpPr>
        <p:spPr bwMode="auto">
          <a:xfrm>
            <a:off x="1952625" y="2686050"/>
            <a:ext cx="8286750" cy="666750"/>
          </a:xfrm>
          <a:prstGeom prst="rect">
            <a:avLst/>
          </a:prstGeom>
          <a:noFill/>
          <a:ln w="0">
            <a:noFill/>
            <a:prstDash val="solid"/>
          </a:ln>
        </p:spPr>
        <p:txBody>
          <a:bodyPr anchor="ctr"/>
          <a:lstStyle/>
          <a:p>
            <a:pPr algn="ctr">
              <a:buNone/>
              <a:defRPr sz="2350" b="1">
                <a:solidFill>
                  <a:srgbClr val="059669"/>
                </a:solidFill>
                <a:latin typeface="Calibri"/>
                <a:ea typeface="Calibri"/>
                <a:cs typeface="Calibri"/>
              </a:defRPr>
            </a:pPr>
            <a:r>
              <a:rPr sz="2350" b="1">
                <a:solidFill>
                  <a:srgbClr val="059669"/>
                </a:solidFill>
                <a:latin typeface="Calibri"/>
                <a:ea typeface="Calibri"/>
                <a:cs typeface="Calibri"/>
              </a:rPr>
              <a:t>self-attention  +  feed-forward</a:t>
            </a:r>
            <a:endParaRPr/>
          </a:p>
        </p:txBody>
      </p:sp>
      <p:sp>
        <p:nvSpPr>
          <p:cNvPr id="1243841632" name=""/>
          <p:cNvSpPr>
            <a:spLocks noGrp="1"/>
          </p:cNvSpPr>
          <p:nvPr/>
        </p:nvSpPr>
        <p:spPr bwMode="auto">
          <a:xfrm>
            <a:off x="5143500" y="4114800"/>
            <a:ext cx="1905000" cy="247650"/>
          </a:xfrm>
          <a:prstGeom prst="rect">
            <a:avLst/>
          </a:prstGeom>
          <a:noFill/>
          <a:ln w="0">
            <a:noFill/>
            <a:prstDash val="solid"/>
          </a:ln>
        </p:spPr>
        <p:txBody>
          <a:bodyPr anchor="ctr"/>
          <a:lstStyle/>
          <a:p>
            <a:pPr algn="ctr">
              <a:buNone/>
              <a:defRPr sz="1300" b="0">
                <a:solidFill>
                  <a:srgbClr val="667085"/>
                </a:solidFill>
                <a:latin typeface="Calibri"/>
                <a:ea typeface="Calibri"/>
                <a:cs typeface="Calibri"/>
              </a:defRPr>
            </a:pPr>
            <a:r>
              <a:rPr sz="1300" b="0">
                <a:solidFill>
                  <a:srgbClr val="667085"/>
                </a:solidFill>
                <a:latin typeface="Calibri"/>
                <a:ea typeface="Calibri"/>
                <a:cs typeface="Calibri"/>
              </a:rPr>
              <a:t>Step 7 of 9</a:t>
            </a:r>
            <a:endParaRPr/>
          </a:p>
        </p:txBody>
      </p:sp>
      <p:sp>
        <p:nvSpPr>
          <p:cNvPr id="87767122" name=""/>
          <p:cNvSpPr>
            <a:spLocks noGrp="1"/>
          </p:cNvSpPr>
          <p:nvPr/>
        </p:nvSpPr>
        <p:spPr bwMode="auto">
          <a:xfrm>
            <a:off x="1219200" y="4857750"/>
            <a:ext cx="876299" cy="438149"/>
          </a:xfrm>
          <a:prstGeom prst="roundRect">
            <a:avLst>
              <a:gd name="adj" fmla="val 26087"/>
            </a:avLst>
          </a:prstGeom>
          <a:solidFill>
            <a:srgbClr val="FFFFFF"/>
          </a:solidFill>
          <a:ln w="9525">
            <a:solidFill>
              <a:srgbClr val="CBD5E1"/>
            </a:solidFill>
            <a:prstDash val="solid"/>
          </a:ln>
        </p:spPr>
      </p:sp>
      <p:sp>
        <p:nvSpPr>
          <p:cNvPr id="297848101" name=""/>
          <p:cNvSpPr>
            <a:spLocks noGrp="1"/>
          </p:cNvSpPr>
          <p:nvPr/>
        </p:nvSpPr>
        <p:spPr bwMode="auto">
          <a:xfrm>
            <a:off x="1266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Tokenizer</a:t>
            </a:r>
            <a:endParaRPr/>
          </a:p>
        </p:txBody>
      </p:sp>
      <p:sp>
        <p:nvSpPr>
          <p:cNvPr id="517415220" name=""/>
          <p:cNvSpPr>
            <a:spLocks noGrp="1"/>
          </p:cNvSpPr>
          <p:nvPr/>
        </p:nvSpPr>
        <p:spPr bwMode="auto">
          <a:xfrm>
            <a:off x="2095500" y="5076825"/>
            <a:ext cx="190500" cy="0"/>
          </a:xfrm>
          <a:prstGeom prst="line">
            <a:avLst/>
          </a:prstGeom>
          <a:ln w="9525">
            <a:solidFill>
              <a:srgbClr val="CBD5E1"/>
            </a:solidFill>
            <a:prstDash val="solid"/>
          </a:ln>
        </p:spPr>
      </p:sp>
      <p:sp>
        <p:nvSpPr>
          <p:cNvPr id="1999558658" name=""/>
          <p:cNvSpPr>
            <a:spLocks noGrp="1"/>
          </p:cNvSpPr>
          <p:nvPr/>
        </p:nvSpPr>
        <p:spPr bwMode="auto">
          <a:xfrm>
            <a:off x="2286000" y="4857750"/>
            <a:ext cx="876299" cy="438149"/>
          </a:xfrm>
          <a:prstGeom prst="roundRect">
            <a:avLst>
              <a:gd name="adj" fmla="val 26087"/>
            </a:avLst>
          </a:prstGeom>
          <a:solidFill>
            <a:srgbClr val="FFFFFF"/>
          </a:solidFill>
          <a:ln w="9525">
            <a:solidFill>
              <a:srgbClr val="CBD5E1"/>
            </a:solidFill>
            <a:prstDash val="solid"/>
          </a:ln>
        </p:spPr>
      </p:sp>
      <p:sp>
        <p:nvSpPr>
          <p:cNvPr id="1628592007" name=""/>
          <p:cNvSpPr>
            <a:spLocks noGrp="1"/>
          </p:cNvSpPr>
          <p:nvPr/>
        </p:nvSpPr>
        <p:spPr bwMode="auto">
          <a:xfrm>
            <a:off x="2333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Embedding</a:t>
            </a:r>
            <a:endParaRPr/>
          </a:p>
        </p:txBody>
      </p:sp>
      <p:sp>
        <p:nvSpPr>
          <p:cNvPr id="1626366938" name=""/>
          <p:cNvSpPr>
            <a:spLocks noGrp="1"/>
          </p:cNvSpPr>
          <p:nvPr/>
        </p:nvSpPr>
        <p:spPr bwMode="auto">
          <a:xfrm>
            <a:off x="3162300" y="5076825"/>
            <a:ext cx="190500" cy="0"/>
          </a:xfrm>
          <a:prstGeom prst="line">
            <a:avLst/>
          </a:prstGeom>
          <a:ln w="9525">
            <a:solidFill>
              <a:srgbClr val="CBD5E1"/>
            </a:solidFill>
            <a:prstDash val="solid"/>
          </a:ln>
        </p:spPr>
      </p:sp>
      <p:sp>
        <p:nvSpPr>
          <p:cNvPr id="1349263432" name=""/>
          <p:cNvSpPr>
            <a:spLocks noGrp="1"/>
          </p:cNvSpPr>
          <p:nvPr/>
        </p:nvSpPr>
        <p:spPr bwMode="auto">
          <a:xfrm>
            <a:off x="3352800" y="4857750"/>
            <a:ext cx="876299" cy="438149"/>
          </a:xfrm>
          <a:prstGeom prst="roundRect">
            <a:avLst>
              <a:gd name="adj" fmla="val 26087"/>
            </a:avLst>
          </a:prstGeom>
          <a:solidFill>
            <a:srgbClr val="FFFFFF"/>
          </a:solidFill>
          <a:ln w="9525">
            <a:solidFill>
              <a:srgbClr val="CBD5E1"/>
            </a:solidFill>
            <a:prstDash val="solid"/>
          </a:ln>
        </p:spPr>
      </p:sp>
      <p:sp>
        <p:nvSpPr>
          <p:cNvPr id="1489678666" name=""/>
          <p:cNvSpPr>
            <a:spLocks noGrp="1"/>
          </p:cNvSpPr>
          <p:nvPr/>
        </p:nvSpPr>
        <p:spPr bwMode="auto">
          <a:xfrm>
            <a:off x="3400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Positional encoding</a:t>
            </a:r>
            <a:endParaRPr/>
          </a:p>
        </p:txBody>
      </p:sp>
      <p:sp>
        <p:nvSpPr>
          <p:cNvPr id="1117391913" name=""/>
          <p:cNvSpPr>
            <a:spLocks noGrp="1"/>
          </p:cNvSpPr>
          <p:nvPr/>
        </p:nvSpPr>
        <p:spPr bwMode="auto">
          <a:xfrm>
            <a:off x="4229100" y="5076825"/>
            <a:ext cx="190500" cy="0"/>
          </a:xfrm>
          <a:prstGeom prst="line">
            <a:avLst/>
          </a:prstGeom>
          <a:ln w="9525">
            <a:solidFill>
              <a:srgbClr val="CBD5E1"/>
            </a:solidFill>
            <a:prstDash val="solid"/>
          </a:ln>
        </p:spPr>
      </p:sp>
      <p:sp>
        <p:nvSpPr>
          <p:cNvPr id="2030421429" name=""/>
          <p:cNvSpPr>
            <a:spLocks noGrp="1"/>
          </p:cNvSpPr>
          <p:nvPr/>
        </p:nvSpPr>
        <p:spPr bwMode="auto">
          <a:xfrm>
            <a:off x="4419600" y="4857750"/>
            <a:ext cx="876299" cy="438149"/>
          </a:xfrm>
          <a:prstGeom prst="roundRect">
            <a:avLst>
              <a:gd name="adj" fmla="val 26087"/>
            </a:avLst>
          </a:prstGeom>
          <a:solidFill>
            <a:srgbClr val="FFFFFF"/>
          </a:solidFill>
          <a:ln w="9525">
            <a:solidFill>
              <a:srgbClr val="CBD5E1"/>
            </a:solidFill>
            <a:prstDash val="solid"/>
          </a:ln>
        </p:spPr>
      </p:sp>
      <p:sp>
        <p:nvSpPr>
          <p:cNvPr id="1153048197" name=""/>
          <p:cNvSpPr>
            <a:spLocks noGrp="1"/>
          </p:cNvSpPr>
          <p:nvPr/>
        </p:nvSpPr>
        <p:spPr bwMode="auto">
          <a:xfrm>
            <a:off x="4467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Self-attention</a:t>
            </a:r>
            <a:endParaRPr/>
          </a:p>
        </p:txBody>
      </p:sp>
      <p:sp>
        <p:nvSpPr>
          <p:cNvPr id="185798313" name=""/>
          <p:cNvSpPr>
            <a:spLocks noGrp="1"/>
          </p:cNvSpPr>
          <p:nvPr/>
        </p:nvSpPr>
        <p:spPr bwMode="auto">
          <a:xfrm>
            <a:off x="5295899" y="5076825"/>
            <a:ext cx="190500" cy="0"/>
          </a:xfrm>
          <a:prstGeom prst="line">
            <a:avLst/>
          </a:prstGeom>
          <a:ln w="9525">
            <a:solidFill>
              <a:srgbClr val="CBD5E1"/>
            </a:solidFill>
            <a:prstDash val="solid"/>
          </a:ln>
        </p:spPr>
      </p:sp>
      <p:sp>
        <p:nvSpPr>
          <p:cNvPr id="1576514480" name=""/>
          <p:cNvSpPr>
            <a:spLocks noGrp="1"/>
          </p:cNvSpPr>
          <p:nvPr/>
        </p:nvSpPr>
        <p:spPr bwMode="auto">
          <a:xfrm>
            <a:off x="5486400" y="4857750"/>
            <a:ext cx="876299" cy="438149"/>
          </a:xfrm>
          <a:prstGeom prst="roundRect">
            <a:avLst>
              <a:gd name="adj" fmla="val 26087"/>
            </a:avLst>
          </a:prstGeom>
          <a:solidFill>
            <a:srgbClr val="FFFFFF"/>
          </a:solidFill>
          <a:ln w="9525">
            <a:solidFill>
              <a:srgbClr val="CBD5E1"/>
            </a:solidFill>
            <a:prstDash val="solid"/>
          </a:ln>
        </p:spPr>
      </p:sp>
      <p:sp>
        <p:nvSpPr>
          <p:cNvPr id="2016774188" name=""/>
          <p:cNvSpPr>
            <a:spLocks noGrp="1"/>
          </p:cNvSpPr>
          <p:nvPr/>
        </p:nvSpPr>
        <p:spPr bwMode="auto">
          <a:xfrm>
            <a:off x="55340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Attention head</a:t>
            </a:r>
            <a:endParaRPr/>
          </a:p>
        </p:txBody>
      </p:sp>
      <p:sp>
        <p:nvSpPr>
          <p:cNvPr id="1984365112" name=""/>
          <p:cNvSpPr>
            <a:spLocks noGrp="1"/>
          </p:cNvSpPr>
          <p:nvPr/>
        </p:nvSpPr>
        <p:spPr bwMode="auto">
          <a:xfrm>
            <a:off x="6362700" y="5076825"/>
            <a:ext cx="190500" cy="0"/>
          </a:xfrm>
          <a:prstGeom prst="line">
            <a:avLst/>
          </a:prstGeom>
          <a:ln w="9525">
            <a:solidFill>
              <a:srgbClr val="CBD5E1"/>
            </a:solidFill>
            <a:prstDash val="solid"/>
          </a:ln>
        </p:spPr>
      </p:sp>
      <p:sp>
        <p:nvSpPr>
          <p:cNvPr id="869054347" name=""/>
          <p:cNvSpPr>
            <a:spLocks noGrp="1"/>
          </p:cNvSpPr>
          <p:nvPr/>
        </p:nvSpPr>
        <p:spPr bwMode="auto">
          <a:xfrm>
            <a:off x="6553200" y="4857750"/>
            <a:ext cx="876299" cy="438149"/>
          </a:xfrm>
          <a:prstGeom prst="roundRect">
            <a:avLst>
              <a:gd name="adj" fmla="val 26087"/>
            </a:avLst>
          </a:prstGeom>
          <a:solidFill>
            <a:srgbClr val="FFFFFF"/>
          </a:solidFill>
          <a:ln w="9525">
            <a:solidFill>
              <a:srgbClr val="CBD5E1"/>
            </a:solidFill>
            <a:prstDash val="solid"/>
          </a:ln>
        </p:spPr>
      </p:sp>
      <p:sp>
        <p:nvSpPr>
          <p:cNvPr id="189843632" name=""/>
          <p:cNvSpPr>
            <a:spLocks noGrp="1"/>
          </p:cNvSpPr>
          <p:nvPr/>
        </p:nvSpPr>
        <p:spPr bwMode="auto">
          <a:xfrm>
            <a:off x="6600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Multi-head attention</a:t>
            </a:r>
            <a:endParaRPr/>
          </a:p>
        </p:txBody>
      </p:sp>
      <p:sp>
        <p:nvSpPr>
          <p:cNvPr id="2029725029" name=""/>
          <p:cNvSpPr>
            <a:spLocks noGrp="1"/>
          </p:cNvSpPr>
          <p:nvPr/>
        </p:nvSpPr>
        <p:spPr bwMode="auto">
          <a:xfrm>
            <a:off x="7429500" y="5076825"/>
            <a:ext cx="190500" cy="0"/>
          </a:xfrm>
          <a:prstGeom prst="line">
            <a:avLst/>
          </a:prstGeom>
          <a:ln w="9525">
            <a:solidFill>
              <a:srgbClr val="CBD5E1"/>
            </a:solidFill>
            <a:prstDash val="solid"/>
          </a:ln>
        </p:spPr>
      </p:sp>
      <p:sp>
        <p:nvSpPr>
          <p:cNvPr id="396229295" name=""/>
          <p:cNvSpPr>
            <a:spLocks noGrp="1"/>
          </p:cNvSpPr>
          <p:nvPr/>
        </p:nvSpPr>
        <p:spPr bwMode="auto">
          <a:xfrm>
            <a:off x="7620000" y="4857750"/>
            <a:ext cx="876299" cy="438149"/>
          </a:xfrm>
          <a:prstGeom prst="roundRect">
            <a:avLst>
              <a:gd name="adj" fmla="val 26087"/>
            </a:avLst>
          </a:prstGeom>
          <a:solidFill>
            <a:srgbClr val="059669"/>
          </a:solidFill>
          <a:ln w="9525">
            <a:solidFill>
              <a:srgbClr val="059669"/>
            </a:solidFill>
            <a:prstDash val="solid"/>
          </a:ln>
        </p:spPr>
      </p:sp>
      <p:sp>
        <p:nvSpPr>
          <p:cNvPr id="1914684956" name=""/>
          <p:cNvSpPr>
            <a:spLocks noGrp="1"/>
          </p:cNvSpPr>
          <p:nvPr/>
        </p:nvSpPr>
        <p:spPr bwMode="auto">
          <a:xfrm>
            <a:off x="7667625" y="4924425"/>
            <a:ext cx="781050" cy="285750"/>
          </a:xfrm>
          <a:prstGeom prst="rect">
            <a:avLst/>
          </a:prstGeom>
          <a:noFill/>
          <a:ln w="0">
            <a:noFill/>
            <a:prstDash val="solid"/>
          </a:ln>
        </p:spPr>
        <p:txBody>
          <a:bodyPr anchor="ctr"/>
          <a:lstStyle/>
          <a:p>
            <a:pPr algn="ctr">
              <a:buNone/>
              <a:defRPr sz="1050" b="1">
                <a:solidFill>
                  <a:srgbClr val="FFFFFF"/>
                </a:solidFill>
                <a:latin typeface="Calibri"/>
                <a:ea typeface="Calibri"/>
                <a:cs typeface="Calibri"/>
              </a:defRPr>
            </a:pPr>
            <a:r>
              <a:rPr sz="1050" b="1">
                <a:solidFill>
                  <a:srgbClr val="FFFFFF"/>
                </a:solidFill>
                <a:latin typeface="Calibri"/>
                <a:ea typeface="Calibri"/>
                <a:cs typeface="Calibri"/>
              </a:rPr>
              <a:t>Encoder block</a:t>
            </a:r>
            <a:endParaRPr/>
          </a:p>
        </p:txBody>
      </p:sp>
      <p:sp>
        <p:nvSpPr>
          <p:cNvPr id="875512188" name=""/>
          <p:cNvSpPr>
            <a:spLocks noGrp="1"/>
          </p:cNvSpPr>
          <p:nvPr/>
        </p:nvSpPr>
        <p:spPr bwMode="auto">
          <a:xfrm>
            <a:off x="8496300" y="5076825"/>
            <a:ext cx="190500" cy="0"/>
          </a:xfrm>
          <a:prstGeom prst="line">
            <a:avLst/>
          </a:prstGeom>
          <a:ln w="9525">
            <a:solidFill>
              <a:srgbClr val="CBD5E1"/>
            </a:solidFill>
            <a:prstDash val="solid"/>
          </a:ln>
        </p:spPr>
      </p:sp>
      <p:sp>
        <p:nvSpPr>
          <p:cNvPr id="1677424929" name=""/>
          <p:cNvSpPr>
            <a:spLocks noGrp="1"/>
          </p:cNvSpPr>
          <p:nvPr/>
        </p:nvSpPr>
        <p:spPr bwMode="auto">
          <a:xfrm>
            <a:off x="8686800" y="4857750"/>
            <a:ext cx="876299" cy="438149"/>
          </a:xfrm>
          <a:prstGeom prst="roundRect">
            <a:avLst>
              <a:gd name="adj" fmla="val 26087"/>
            </a:avLst>
          </a:prstGeom>
          <a:solidFill>
            <a:srgbClr val="FFFFFF"/>
          </a:solidFill>
          <a:ln w="9525">
            <a:solidFill>
              <a:srgbClr val="CBD5E1"/>
            </a:solidFill>
            <a:prstDash val="solid"/>
          </a:ln>
        </p:spPr>
      </p:sp>
      <p:sp>
        <p:nvSpPr>
          <p:cNvPr id="1176625683" name=""/>
          <p:cNvSpPr>
            <a:spLocks noGrp="1"/>
          </p:cNvSpPr>
          <p:nvPr/>
        </p:nvSpPr>
        <p:spPr bwMode="auto">
          <a:xfrm>
            <a:off x="8734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Decoder block</a:t>
            </a:r>
            <a:endParaRPr/>
          </a:p>
        </p:txBody>
      </p:sp>
      <p:sp>
        <p:nvSpPr>
          <p:cNvPr id="842723331" name=""/>
          <p:cNvSpPr>
            <a:spLocks noGrp="1"/>
          </p:cNvSpPr>
          <p:nvPr/>
        </p:nvSpPr>
        <p:spPr bwMode="auto">
          <a:xfrm>
            <a:off x="9563100" y="5076825"/>
            <a:ext cx="190500" cy="0"/>
          </a:xfrm>
          <a:prstGeom prst="line">
            <a:avLst/>
          </a:prstGeom>
          <a:ln w="9525">
            <a:solidFill>
              <a:srgbClr val="CBD5E1"/>
            </a:solidFill>
            <a:prstDash val="solid"/>
          </a:ln>
        </p:spPr>
      </p:sp>
      <p:sp>
        <p:nvSpPr>
          <p:cNvPr id="1153467285" name=""/>
          <p:cNvSpPr>
            <a:spLocks noGrp="1"/>
          </p:cNvSpPr>
          <p:nvPr/>
        </p:nvSpPr>
        <p:spPr bwMode="auto">
          <a:xfrm>
            <a:off x="9753600" y="4857750"/>
            <a:ext cx="876299" cy="438149"/>
          </a:xfrm>
          <a:prstGeom prst="roundRect">
            <a:avLst>
              <a:gd name="adj" fmla="val 26087"/>
            </a:avLst>
          </a:prstGeom>
          <a:solidFill>
            <a:srgbClr val="FFFFFF"/>
          </a:solidFill>
          <a:ln w="9525">
            <a:solidFill>
              <a:srgbClr val="CBD5E1"/>
            </a:solidFill>
            <a:prstDash val="solid"/>
          </a:ln>
        </p:spPr>
      </p:sp>
      <p:sp>
        <p:nvSpPr>
          <p:cNvPr id="811084732" name=""/>
          <p:cNvSpPr>
            <a:spLocks noGrp="1"/>
          </p:cNvSpPr>
          <p:nvPr/>
        </p:nvSpPr>
        <p:spPr bwMode="auto">
          <a:xfrm>
            <a:off x="9801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Language-model head</a:t>
            </a:r>
            <a:endParaRPr/>
          </a:p>
        </p:txBody>
      </p:sp>
      <p:sp>
        <p:nvSpPr>
          <p:cNvPr id="1770185302" name=""/>
          <p:cNvSpPr>
            <a:spLocks noGrp="1"/>
          </p:cNvSpPr>
          <p:nvPr/>
        </p:nvSpPr>
        <p:spPr bwMode="auto">
          <a:xfrm>
            <a:off x="4610100" y="5762625"/>
            <a:ext cx="2971800" cy="266700"/>
          </a:xfrm>
          <a:prstGeom prst="rect">
            <a:avLst/>
          </a:prstGeom>
          <a:noFill/>
          <a:ln w="0">
            <a:noFill/>
            <a:prstDash val="solid"/>
          </a:ln>
        </p:spPr>
        <p:txBody>
          <a:bodyPr anchor="ctr"/>
          <a:lstStyle/>
          <a:p>
            <a:pPr algn="ctr">
              <a:buNone/>
              <a:defRPr sz="1350" b="1">
                <a:solidFill>
                  <a:srgbClr val="059669"/>
                </a:solidFill>
                <a:latin typeface="Calibri"/>
                <a:ea typeface="Calibri"/>
                <a:cs typeface="Calibri"/>
              </a:defRPr>
            </a:pPr>
            <a:r>
              <a:rPr sz="1350" b="1">
                <a:solidFill>
                  <a:srgbClr val="059669"/>
                </a:solidFill>
                <a:latin typeface="Calibri"/>
                <a:ea typeface="Calibri"/>
                <a:cs typeface="Calibri"/>
              </a:rPr>
              <a:t>Encoder component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3143689"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Transformer roadmap · Decoder</a:t>
            </a:r>
            <a:endParaRPr/>
          </a:p>
        </p:txBody>
      </p:sp>
      <p:sp>
        <p:nvSpPr>
          <p:cNvPr id="1417064918" name="Rectangle 251777344"/>
          <p:cNvSpPr>
            <a:spLocks noGrp="1"/>
          </p:cNvSpPr>
          <p:nvPr/>
        </p:nvSpPr>
        <p:spPr bwMode="auto">
          <a:xfrm>
            <a:off x="609600" y="590549"/>
            <a:ext cx="10287000" cy="590549"/>
          </a:xfrm>
          <a:prstGeom prst="rect">
            <a:avLst/>
          </a:prstGeom>
          <a:noFill/>
          <a:ln w="0">
            <a:noFill/>
            <a:prstDash val="solid"/>
          </a:ln>
        </p:spPr>
        <p:txBody>
          <a:bodyPr anchor="ctr"/>
          <a:lstStyle/>
          <a:p>
            <a:pPr algn="l">
              <a:buNone/>
              <a:defRPr sz="2850" b="1">
                <a:solidFill>
                  <a:srgbClr val="0B0F19"/>
                </a:solidFill>
                <a:latin typeface="Calibri"/>
                <a:ea typeface="Calibri"/>
                <a:cs typeface="Calibri"/>
              </a:defRPr>
            </a:pPr>
            <a:r>
              <a:rPr sz="2850" b="1">
                <a:solidFill>
                  <a:srgbClr val="0B0F19"/>
                </a:solidFill>
                <a:latin typeface="Calibri"/>
                <a:ea typeface="Calibri"/>
                <a:cs typeface="Calibri"/>
              </a:rPr>
              <a:t>Decoder block</a:t>
            </a:r>
            <a:endParaRPr/>
          </a:p>
        </p:txBody>
      </p:sp>
      <p:sp>
        <p:nvSpPr>
          <p:cNvPr id="94349507"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39</a:t>
            </a:r>
            <a:endParaRPr/>
          </a:p>
        </p:txBody>
      </p:sp>
      <p:sp>
        <p:nvSpPr>
          <p:cNvPr id="1880099825" name=""/>
          <p:cNvSpPr>
            <a:spLocks noGrp="1"/>
          </p:cNvSpPr>
          <p:nvPr/>
        </p:nvSpPr>
        <p:spPr bwMode="auto">
          <a:xfrm>
            <a:off x="723900" y="1362075"/>
            <a:ext cx="10287000" cy="323850"/>
          </a:xfrm>
          <a:prstGeom prst="rect">
            <a:avLst/>
          </a:prstGeom>
          <a:noFill/>
          <a:ln w="0">
            <a:noFill/>
            <a:prstDash val="solid"/>
          </a:ln>
        </p:spPr>
        <p:txBody>
          <a:bodyPr anchor="ctr"/>
          <a:lstStyle/>
          <a:p>
            <a:pPr algn="l">
              <a:buNone/>
              <a:defRPr sz="1600" b="0">
                <a:solidFill>
                  <a:srgbClr val="667085"/>
                </a:solidFill>
                <a:latin typeface="Calibri"/>
                <a:ea typeface="Calibri"/>
                <a:cs typeface="Calibri"/>
              </a:defRPr>
            </a:pPr>
            <a:r>
              <a:rPr sz="1600" b="0">
                <a:solidFill>
                  <a:srgbClr val="667085"/>
                </a:solidFill>
                <a:latin typeface="Calibri"/>
                <a:ea typeface="Calibri"/>
                <a:cs typeface="Calibri"/>
              </a:rPr>
              <a:t>Use masked self-attention, cross-attention, and feed-forward layers to generate.</a:t>
            </a:r>
            <a:endParaRPr/>
          </a:p>
        </p:txBody>
      </p:sp>
      <p:sp>
        <p:nvSpPr>
          <p:cNvPr id="1687046558" name=""/>
          <p:cNvSpPr>
            <a:spLocks noGrp="1"/>
          </p:cNvSpPr>
          <p:nvPr/>
        </p:nvSpPr>
        <p:spPr bwMode="auto">
          <a:xfrm>
            <a:off x="1619250" y="2381250"/>
            <a:ext cx="8953500" cy="1428750"/>
          </a:xfrm>
          <a:prstGeom prst="roundRect">
            <a:avLst>
              <a:gd name="adj" fmla="val 8000"/>
            </a:avLst>
          </a:prstGeom>
          <a:solidFill>
            <a:srgbClr val="F8FAFC"/>
          </a:solidFill>
          <a:ln w="9525">
            <a:solidFill>
              <a:srgbClr val="D97706"/>
            </a:solidFill>
            <a:prstDash val="solid"/>
          </a:ln>
        </p:spPr>
      </p:sp>
      <p:sp>
        <p:nvSpPr>
          <p:cNvPr id="1700787282" name=""/>
          <p:cNvSpPr>
            <a:spLocks noGrp="1"/>
          </p:cNvSpPr>
          <p:nvPr/>
        </p:nvSpPr>
        <p:spPr bwMode="auto">
          <a:xfrm>
            <a:off x="1952625" y="2686050"/>
            <a:ext cx="8286750" cy="666750"/>
          </a:xfrm>
          <a:prstGeom prst="rect">
            <a:avLst/>
          </a:prstGeom>
          <a:noFill/>
          <a:ln w="0">
            <a:noFill/>
            <a:prstDash val="solid"/>
          </a:ln>
        </p:spPr>
        <p:txBody>
          <a:bodyPr anchor="ctr"/>
          <a:lstStyle/>
          <a:p>
            <a:pPr algn="ctr">
              <a:buNone/>
              <a:defRPr sz="2350" b="1">
                <a:solidFill>
                  <a:srgbClr val="D97706"/>
                </a:solidFill>
                <a:latin typeface="Calibri"/>
                <a:ea typeface="Calibri"/>
                <a:cs typeface="Calibri"/>
              </a:defRPr>
            </a:pPr>
            <a:r>
              <a:rPr sz="2350" b="1">
                <a:solidFill>
                  <a:srgbClr val="D97706"/>
                </a:solidFill>
                <a:latin typeface="Calibri"/>
                <a:ea typeface="Calibri"/>
                <a:cs typeface="Calibri"/>
              </a:rPr>
              <a:t>past outputs + encoder context</a:t>
            </a:r>
            <a:endParaRPr/>
          </a:p>
        </p:txBody>
      </p:sp>
      <p:sp>
        <p:nvSpPr>
          <p:cNvPr id="1455969293" name=""/>
          <p:cNvSpPr>
            <a:spLocks noGrp="1"/>
          </p:cNvSpPr>
          <p:nvPr/>
        </p:nvSpPr>
        <p:spPr bwMode="auto">
          <a:xfrm>
            <a:off x="5143500" y="4114800"/>
            <a:ext cx="1905000" cy="247650"/>
          </a:xfrm>
          <a:prstGeom prst="rect">
            <a:avLst/>
          </a:prstGeom>
          <a:noFill/>
          <a:ln w="0">
            <a:noFill/>
            <a:prstDash val="solid"/>
          </a:ln>
        </p:spPr>
        <p:txBody>
          <a:bodyPr anchor="ctr"/>
          <a:lstStyle/>
          <a:p>
            <a:pPr algn="ctr">
              <a:buNone/>
              <a:defRPr sz="1300" b="0">
                <a:solidFill>
                  <a:srgbClr val="667085"/>
                </a:solidFill>
                <a:latin typeface="Calibri"/>
                <a:ea typeface="Calibri"/>
                <a:cs typeface="Calibri"/>
              </a:defRPr>
            </a:pPr>
            <a:r>
              <a:rPr sz="1300" b="0">
                <a:solidFill>
                  <a:srgbClr val="667085"/>
                </a:solidFill>
                <a:latin typeface="Calibri"/>
                <a:ea typeface="Calibri"/>
                <a:cs typeface="Calibri"/>
              </a:rPr>
              <a:t>Step 8 of 9</a:t>
            </a:r>
            <a:endParaRPr/>
          </a:p>
        </p:txBody>
      </p:sp>
      <p:sp>
        <p:nvSpPr>
          <p:cNvPr id="648015229" name=""/>
          <p:cNvSpPr>
            <a:spLocks noGrp="1"/>
          </p:cNvSpPr>
          <p:nvPr/>
        </p:nvSpPr>
        <p:spPr bwMode="auto">
          <a:xfrm>
            <a:off x="1219200" y="4857750"/>
            <a:ext cx="876299" cy="438149"/>
          </a:xfrm>
          <a:prstGeom prst="roundRect">
            <a:avLst>
              <a:gd name="adj" fmla="val 26087"/>
            </a:avLst>
          </a:prstGeom>
          <a:solidFill>
            <a:srgbClr val="FFFFFF"/>
          </a:solidFill>
          <a:ln w="9525">
            <a:solidFill>
              <a:srgbClr val="CBD5E1"/>
            </a:solidFill>
            <a:prstDash val="solid"/>
          </a:ln>
        </p:spPr>
      </p:sp>
      <p:sp>
        <p:nvSpPr>
          <p:cNvPr id="1798625460" name=""/>
          <p:cNvSpPr>
            <a:spLocks noGrp="1"/>
          </p:cNvSpPr>
          <p:nvPr/>
        </p:nvSpPr>
        <p:spPr bwMode="auto">
          <a:xfrm>
            <a:off x="1266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Tokenizer</a:t>
            </a:r>
            <a:endParaRPr/>
          </a:p>
        </p:txBody>
      </p:sp>
      <p:sp>
        <p:nvSpPr>
          <p:cNvPr id="85389354" name=""/>
          <p:cNvSpPr>
            <a:spLocks noGrp="1"/>
          </p:cNvSpPr>
          <p:nvPr/>
        </p:nvSpPr>
        <p:spPr bwMode="auto">
          <a:xfrm>
            <a:off x="2095500" y="5076825"/>
            <a:ext cx="190500" cy="0"/>
          </a:xfrm>
          <a:prstGeom prst="line">
            <a:avLst/>
          </a:prstGeom>
          <a:ln w="9525">
            <a:solidFill>
              <a:srgbClr val="CBD5E1"/>
            </a:solidFill>
            <a:prstDash val="solid"/>
          </a:ln>
        </p:spPr>
      </p:sp>
      <p:sp>
        <p:nvSpPr>
          <p:cNvPr id="361100455" name=""/>
          <p:cNvSpPr>
            <a:spLocks noGrp="1"/>
          </p:cNvSpPr>
          <p:nvPr/>
        </p:nvSpPr>
        <p:spPr bwMode="auto">
          <a:xfrm>
            <a:off x="2286000" y="4857750"/>
            <a:ext cx="876299" cy="438149"/>
          </a:xfrm>
          <a:prstGeom prst="roundRect">
            <a:avLst>
              <a:gd name="adj" fmla="val 26087"/>
            </a:avLst>
          </a:prstGeom>
          <a:solidFill>
            <a:srgbClr val="FFFFFF"/>
          </a:solidFill>
          <a:ln w="9525">
            <a:solidFill>
              <a:srgbClr val="CBD5E1"/>
            </a:solidFill>
            <a:prstDash val="solid"/>
          </a:ln>
        </p:spPr>
      </p:sp>
      <p:sp>
        <p:nvSpPr>
          <p:cNvPr id="789123922" name=""/>
          <p:cNvSpPr>
            <a:spLocks noGrp="1"/>
          </p:cNvSpPr>
          <p:nvPr/>
        </p:nvSpPr>
        <p:spPr bwMode="auto">
          <a:xfrm>
            <a:off x="2333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Embedding</a:t>
            </a:r>
            <a:endParaRPr/>
          </a:p>
        </p:txBody>
      </p:sp>
      <p:sp>
        <p:nvSpPr>
          <p:cNvPr id="2015909229" name=""/>
          <p:cNvSpPr>
            <a:spLocks noGrp="1"/>
          </p:cNvSpPr>
          <p:nvPr/>
        </p:nvSpPr>
        <p:spPr bwMode="auto">
          <a:xfrm>
            <a:off x="3162300" y="5076825"/>
            <a:ext cx="190500" cy="0"/>
          </a:xfrm>
          <a:prstGeom prst="line">
            <a:avLst/>
          </a:prstGeom>
          <a:ln w="9525">
            <a:solidFill>
              <a:srgbClr val="CBD5E1"/>
            </a:solidFill>
            <a:prstDash val="solid"/>
          </a:ln>
        </p:spPr>
      </p:sp>
      <p:sp>
        <p:nvSpPr>
          <p:cNvPr id="142575114" name=""/>
          <p:cNvSpPr>
            <a:spLocks noGrp="1"/>
          </p:cNvSpPr>
          <p:nvPr/>
        </p:nvSpPr>
        <p:spPr bwMode="auto">
          <a:xfrm>
            <a:off x="3352800" y="4857750"/>
            <a:ext cx="876299" cy="438149"/>
          </a:xfrm>
          <a:prstGeom prst="roundRect">
            <a:avLst>
              <a:gd name="adj" fmla="val 26087"/>
            </a:avLst>
          </a:prstGeom>
          <a:solidFill>
            <a:srgbClr val="FFFFFF"/>
          </a:solidFill>
          <a:ln w="9525">
            <a:solidFill>
              <a:srgbClr val="CBD5E1"/>
            </a:solidFill>
            <a:prstDash val="solid"/>
          </a:ln>
        </p:spPr>
      </p:sp>
      <p:sp>
        <p:nvSpPr>
          <p:cNvPr id="1004461930" name=""/>
          <p:cNvSpPr>
            <a:spLocks noGrp="1"/>
          </p:cNvSpPr>
          <p:nvPr/>
        </p:nvSpPr>
        <p:spPr bwMode="auto">
          <a:xfrm>
            <a:off x="3400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Positional encoding</a:t>
            </a:r>
            <a:endParaRPr/>
          </a:p>
        </p:txBody>
      </p:sp>
      <p:sp>
        <p:nvSpPr>
          <p:cNvPr id="1465333175" name=""/>
          <p:cNvSpPr>
            <a:spLocks noGrp="1"/>
          </p:cNvSpPr>
          <p:nvPr/>
        </p:nvSpPr>
        <p:spPr bwMode="auto">
          <a:xfrm>
            <a:off x="4229100" y="5076825"/>
            <a:ext cx="190500" cy="0"/>
          </a:xfrm>
          <a:prstGeom prst="line">
            <a:avLst/>
          </a:prstGeom>
          <a:ln w="9525">
            <a:solidFill>
              <a:srgbClr val="CBD5E1"/>
            </a:solidFill>
            <a:prstDash val="solid"/>
          </a:ln>
        </p:spPr>
      </p:sp>
      <p:sp>
        <p:nvSpPr>
          <p:cNvPr id="1389563849" name=""/>
          <p:cNvSpPr>
            <a:spLocks noGrp="1"/>
          </p:cNvSpPr>
          <p:nvPr/>
        </p:nvSpPr>
        <p:spPr bwMode="auto">
          <a:xfrm>
            <a:off x="4419600" y="4857750"/>
            <a:ext cx="876299" cy="438149"/>
          </a:xfrm>
          <a:prstGeom prst="roundRect">
            <a:avLst>
              <a:gd name="adj" fmla="val 26087"/>
            </a:avLst>
          </a:prstGeom>
          <a:solidFill>
            <a:srgbClr val="FFFFFF"/>
          </a:solidFill>
          <a:ln w="9525">
            <a:solidFill>
              <a:srgbClr val="CBD5E1"/>
            </a:solidFill>
            <a:prstDash val="solid"/>
          </a:ln>
        </p:spPr>
      </p:sp>
      <p:sp>
        <p:nvSpPr>
          <p:cNvPr id="2146563266" name=""/>
          <p:cNvSpPr>
            <a:spLocks noGrp="1"/>
          </p:cNvSpPr>
          <p:nvPr/>
        </p:nvSpPr>
        <p:spPr bwMode="auto">
          <a:xfrm>
            <a:off x="4467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Self-attention</a:t>
            </a:r>
            <a:endParaRPr/>
          </a:p>
        </p:txBody>
      </p:sp>
      <p:sp>
        <p:nvSpPr>
          <p:cNvPr id="1742930672" name=""/>
          <p:cNvSpPr>
            <a:spLocks noGrp="1"/>
          </p:cNvSpPr>
          <p:nvPr/>
        </p:nvSpPr>
        <p:spPr bwMode="auto">
          <a:xfrm>
            <a:off x="5295899" y="5076825"/>
            <a:ext cx="190500" cy="0"/>
          </a:xfrm>
          <a:prstGeom prst="line">
            <a:avLst/>
          </a:prstGeom>
          <a:ln w="9525">
            <a:solidFill>
              <a:srgbClr val="CBD5E1"/>
            </a:solidFill>
            <a:prstDash val="solid"/>
          </a:ln>
        </p:spPr>
      </p:sp>
      <p:sp>
        <p:nvSpPr>
          <p:cNvPr id="1443619557" name=""/>
          <p:cNvSpPr>
            <a:spLocks noGrp="1"/>
          </p:cNvSpPr>
          <p:nvPr/>
        </p:nvSpPr>
        <p:spPr bwMode="auto">
          <a:xfrm>
            <a:off x="5486400" y="4857750"/>
            <a:ext cx="876299" cy="438149"/>
          </a:xfrm>
          <a:prstGeom prst="roundRect">
            <a:avLst>
              <a:gd name="adj" fmla="val 26087"/>
            </a:avLst>
          </a:prstGeom>
          <a:solidFill>
            <a:srgbClr val="FFFFFF"/>
          </a:solidFill>
          <a:ln w="9525">
            <a:solidFill>
              <a:srgbClr val="CBD5E1"/>
            </a:solidFill>
            <a:prstDash val="solid"/>
          </a:ln>
        </p:spPr>
      </p:sp>
      <p:sp>
        <p:nvSpPr>
          <p:cNvPr id="1172166203" name=""/>
          <p:cNvSpPr>
            <a:spLocks noGrp="1"/>
          </p:cNvSpPr>
          <p:nvPr/>
        </p:nvSpPr>
        <p:spPr bwMode="auto">
          <a:xfrm>
            <a:off x="55340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Attention head</a:t>
            </a:r>
            <a:endParaRPr/>
          </a:p>
        </p:txBody>
      </p:sp>
      <p:sp>
        <p:nvSpPr>
          <p:cNvPr id="47922109" name=""/>
          <p:cNvSpPr>
            <a:spLocks noGrp="1"/>
          </p:cNvSpPr>
          <p:nvPr/>
        </p:nvSpPr>
        <p:spPr bwMode="auto">
          <a:xfrm>
            <a:off x="6362700" y="5076825"/>
            <a:ext cx="190500" cy="0"/>
          </a:xfrm>
          <a:prstGeom prst="line">
            <a:avLst/>
          </a:prstGeom>
          <a:ln w="9525">
            <a:solidFill>
              <a:srgbClr val="CBD5E1"/>
            </a:solidFill>
            <a:prstDash val="solid"/>
          </a:ln>
        </p:spPr>
      </p:sp>
      <p:sp>
        <p:nvSpPr>
          <p:cNvPr id="1140412521" name=""/>
          <p:cNvSpPr>
            <a:spLocks noGrp="1"/>
          </p:cNvSpPr>
          <p:nvPr/>
        </p:nvSpPr>
        <p:spPr bwMode="auto">
          <a:xfrm>
            <a:off x="6553200" y="4857750"/>
            <a:ext cx="876299" cy="438149"/>
          </a:xfrm>
          <a:prstGeom prst="roundRect">
            <a:avLst>
              <a:gd name="adj" fmla="val 26087"/>
            </a:avLst>
          </a:prstGeom>
          <a:solidFill>
            <a:srgbClr val="FFFFFF"/>
          </a:solidFill>
          <a:ln w="9525">
            <a:solidFill>
              <a:srgbClr val="CBD5E1"/>
            </a:solidFill>
            <a:prstDash val="solid"/>
          </a:ln>
        </p:spPr>
      </p:sp>
      <p:sp>
        <p:nvSpPr>
          <p:cNvPr id="1661576087" name=""/>
          <p:cNvSpPr>
            <a:spLocks noGrp="1"/>
          </p:cNvSpPr>
          <p:nvPr/>
        </p:nvSpPr>
        <p:spPr bwMode="auto">
          <a:xfrm>
            <a:off x="6600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Multi-head attention</a:t>
            </a:r>
            <a:endParaRPr/>
          </a:p>
        </p:txBody>
      </p:sp>
      <p:sp>
        <p:nvSpPr>
          <p:cNvPr id="1991870029" name=""/>
          <p:cNvSpPr>
            <a:spLocks noGrp="1"/>
          </p:cNvSpPr>
          <p:nvPr/>
        </p:nvSpPr>
        <p:spPr bwMode="auto">
          <a:xfrm>
            <a:off x="7429500" y="5076825"/>
            <a:ext cx="190500" cy="0"/>
          </a:xfrm>
          <a:prstGeom prst="line">
            <a:avLst/>
          </a:prstGeom>
          <a:ln w="9525">
            <a:solidFill>
              <a:srgbClr val="CBD5E1"/>
            </a:solidFill>
            <a:prstDash val="solid"/>
          </a:ln>
        </p:spPr>
      </p:sp>
      <p:sp>
        <p:nvSpPr>
          <p:cNvPr id="756683" name=""/>
          <p:cNvSpPr>
            <a:spLocks noGrp="1"/>
          </p:cNvSpPr>
          <p:nvPr/>
        </p:nvSpPr>
        <p:spPr bwMode="auto">
          <a:xfrm>
            <a:off x="7620000" y="4857750"/>
            <a:ext cx="876299" cy="438149"/>
          </a:xfrm>
          <a:prstGeom prst="roundRect">
            <a:avLst>
              <a:gd name="adj" fmla="val 26087"/>
            </a:avLst>
          </a:prstGeom>
          <a:solidFill>
            <a:srgbClr val="FFFFFF"/>
          </a:solidFill>
          <a:ln w="9525">
            <a:solidFill>
              <a:srgbClr val="CBD5E1"/>
            </a:solidFill>
            <a:prstDash val="solid"/>
          </a:ln>
        </p:spPr>
      </p:sp>
      <p:sp>
        <p:nvSpPr>
          <p:cNvPr id="1360266165" name=""/>
          <p:cNvSpPr>
            <a:spLocks noGrp="1"/>
          </p:cNvSpPr>
          <p:nvPr/>
        </p:nvSpPr>
        <p:spPr bwMode="auto">
          <a:xfrm>
            <a:off x="7667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Encoder block</a:t>
            </a:r>
            <a:endParaRPr/>
          </a:p>
        </p:txBody>
      </p:sp>
      <p:sp>
        <p:nvSpPr>
          <p:cNvPr id="1466953927" name=""/>
          <p:cNvSpPr>
            <a:spLocks noGrp="1"/>
          </p:cNvSpPr>
          <p:nvPr/>
        </p:nvSpPr>
        <p:spPr bwMode="auto">
          <a:xfrm>
            <a:off x="8496300" y="5076825"/>
            <a:ext cx="190500" cy="0"/>
          </a:xfrm>
          <a:prstGeom prst="line">
            <a:avLst/>
          </a:prstGeom>
          <a:ln w="9525">
            <a:solidFill>
              <a:srgbClr val="CBD5E1"/>
            </a:solidFill>
            <a:prstDash val="solid"/>
          </a:ln>
        </p:spPr>
      </p:sp>
      <p:sp>
        <p:nvSpPr>
          <p:cNvPr id="188622405" name=""/>
          <p:cNvSpPr>
            <a:spLocks noGrp="1"/>
          </p:cNvSpPr>
          <p:nvPr/>
        </p:nvSpPr>
        <p:spPr bwMode="auto">
          <a:xfrm>
            <a:off x="8686800" y="4857750"/>
            <a:ext cx="876299" cy="438149"/>
          </a:xfrm>
          <a:prstGeom prst="roundRect">
            <a:avLst>
              <a:gd name="adj" fmla="val 26087"/>
            </a:avLst>
          </a:prstGeom>
          <a:solidFill>
            <a:srgbClr val="D97706"/>
          </a:solidFill>
          <a:ln w="9525">
            <a:solidFill>
              <a:srgbClr val="D97706"/>
            </a:solidFill>
            <a:prstDash val="solid"/>
          </a:ln>
        </p:spPr>
      </p:sp>
      <p:sp>
        <p:nvSpPr>
          <p:cNvPr id="358130834" name=""/>
          <p:cNvSpPr>
            <a:spLocks noGrp="1"/>
          </p:cNvSpPr>
          <p:nvPr/>
        </p:nvSpPr>
        <p:spPr bwMode="auto">
          <a:xfrm>
            <a:off x="8734425" y="4924425"/>
            <a:ext cx="781050" cy="285750"/>
          </a:xfrm>
          <a:prstGeom prst="rect">
            <a:avLst/>
          </a:prstGeom>
          <a:noFill/>
          <a:ln w="0">
            <a:noFill/>
            <a:prstDash val="solid"/>
          </a:ln>
        </p:spPr>
        <p:txBody>
          <a:bodyPr anchor="ctr"/>
          <a:lstStyle/>
          <a:p>
            <a:pPr algn="ctr">
              <a:buNone/>
              <a:defRPr sz="1050" b="1">
                <a:solidFill>
                  <a:srgbClr val="FFFFFF"/>
                </a:solidFill>
                <a:latin typeface="Calibri"/>
                <a:ea typeface="Calibri"/>
                <a:cs typeface="Calibri"/>
              </a:defRPr>
            </a:pPr>
            <a:r>
              <a:rPr sz="1050" b="1">
                <a:solidFill>
                  <a:srgbClr val="FFFFFF"/>
                </a:solidFill>
                <a:latin typeface="Calibri"/>
                <a:ea typeface="Calibri"/>
                <a:cs typeface="Calibri"/>
              </a:rPr>
              <a:t>Decoder block</a:t>
            </a:r>
            <a:endParaRPr/>
          </a:p>
        </p:txBody>
      </p:sp>
      <p:sp>
        <p:nvSpPr>
          <p:cNvPr id="1064198226" name=""/>
          <p:cNvSpPr>
            <a:spLocks noGrp="1"/>
          </p:cNvSpPr>
          <p:nvPr/>
        </p:nvSpPr>
        <p:spPr bwMode="auto">
          <a:xfrm>
            <a:off x="9563100" y="5076825"/>
            <a:ext cx="190500" cy="0"/>
          </a:xfrm>
          <a:prstGeom prst="line">
            <a:avLst/>
          </a:prstGeom>
          <a:ln w="9525">
            <a:solidFill>
              <a:srgbClr val="CBD5E1"/>
            </a:solidFill>
            <a:prstDash val="solid"/>
          </a:ln>
        </p:spPr>
      </p:sp>
      <p:sp>
        <p:nvSpPr>
          <p:cNvPr id="1706007459" name=""/>
          <p:cNvSpPr>
            <a:spLocks noGrp="1"/>
          </p:cNvSpPr>
          <p:nvPr/>
        </p:nvSpPr>
        <p:spPr bwMode="auto">
          <a:xfrm>
            <a:off x="9753600" y="4857750"/>
            <a:ext cx="876299" cy="438149"/>
          </a:xfrm>
          <a:prstGeom prst="roundRect">
            <a:avLst>
              <a:gd name="adj" fmla="val 26087"/>
            </a:avLst>
          </a:prstGeom>
          <a:solidFill>
            <a:srgbClr val="FFFFFF"/>
          </a:solidFill>
          <a:ln w="9525">
            <a:solidFill>
              <a:srgbClr val="CBD5E1"/>
            </a:solidFill>
            <a:prstDash val="solid"/>
          </a:ln>
        </p:spPr>
      </p:sp>
      <p:sp>
        <p:nvSpPr>
          <p:cNvPr id="535018739" name=""/>
          <p:cNvSpPr>
            <a:spLocks noGrp="1"/>
          </p:cNvSpPr>
          <p:nvPr/>
        </p:nvSpPr>
        <p:spPr bwMode="auto">
          <a:xfrm>
            <a:off x="9801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Language-model head</a:t>
            </a:r>
            <a:endParaRPr/>
          </a:p>
        </p:txBody>
      </p:sp>
      <p:sp>
        <p:nvSpPr>
          <p:cNvPr id="531362831" name=""/>
          <p:cNvSpPr>
            <a:spLocks noGrp="1"/>
          </p:cNvSpPr>
          <p:nvPr/>
        </p:nvSpPr>
        <p:spPr bwMode="auto">
          <a:xfrm>
            <a:off x="4610100" y="5762625"/>
            <a:ext cx="2971800" cy="266700"/>
          </a:xfrm>
          <a:prstGeom prst="rect">
            <a:avLst/>
          </a:prstGeom>
          <a:noFill/>
          <a:ln w="0">
            <a:noFill/>
            <a:prstDash val="solid"/>
          </a:ln>
        </p:spPr>
        <p:txBody>
          <a:bodyPr anchor="ctr"/>
          <a:lstStyle/>
          <a:p>
            <a:pPr algn="ctr">
              <a:buNone/>
              <a:defRPr sz="1350" b="1">
                <a:solidFill>
                  <a:srgbClr val="D97706"/>
                </a:solidFill>
                <a:latin typeface="Calibri"/>
                <a:ea typeface="Calibri"/>
                <a:cs typeface="Calibri"/>
              </a:defRPr>
            </a:pPr>
            <a:r>
              <a:rPr sz="1350" b="1">
                <a:solidFill>
                  <a:srgbClr val="D97706"/>
                </a:solidFill>
                <a:latin typeface="Calibri"/>
                <a:ea typeface="Calibri"/>
                <a:cs typeface="Calibri"/>
              </a:rPr>
              <a:t>Decoder component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74277080"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latin typeface="Calibri"/>
                <a:ea typeface="Calibri"/>
                <a:cs typeface="Calibri"/>
              </a:defRPr>
            </a:pPr>
            <a:r>
              <a:rPr sz="1200" b="1">
                <a:solidFill>
                  <a:srgbClr val="2563EB"/>
                </a:solidFill>
                <a:latin typeface="Calibri"/>
                <a:ea typeface="Calibri"/>
                <a:cs typeface="Calibri"/>
              </a:rPr>
              <a:t>Transformer roadmap · Output</a:t>
            </a:r>
            <a:endParaRPr/>
          </a:p>
        </p:txBody>
      </p:sp>
      <p:sp>
        <p:nvSpPr>
          <p:cNvPr id="318421370" name="Rectangle 251777344"/>
          <p:cNvSpPr>
            <a:spLocks noGrp="1"/>
          </p:cNvSpPr>
          <p:nvPr/>
        </p:nvSpPr>
        <p:spPr bwMode="auto">
          <a:xfrm>
            <a:off x="609600" y="590549"/>
            <a:ext cx="10287000" cy="590549"/>
          </a:xfrm>
          <a:prstGeom prst="rect">
            <a:avLst/>
          </a:prstGeom>
          <a:noFill/>
          <a:ln w="0">
            <a:noFill/>
            <a:prstDash val="solid"/>
          </a:ln>
        </p:spPr>
        <p:txBody>
          <a:bodyPr anchor="ctr"/>
          <a:lstStyle/>
          <a:p>
            <a:pPr algn="l">
              <a:buNone/>
              <a:defRPr sz="2850" b="1">
                <a:solidFill>
                  <a:srgbClr val="0B0F19"/>
                </a:solidFill>
                <a:latin typeface="Calibri"/>
                <a:ea typeface="Calibri"/>
                <a:cs typeface="Calibri"/>
              </a:defRPr>
            </a:pPr>
            <a:r>
              <a:rPr sz="2850" b="1">
                <a:solidFill>
                  <a:srgbClr val="0B0F19"/>
                </a:solidFill>
                <a:latin typeface="Calibri"/>
                <a:ea typeface="Calibri"/>
                <a:cs typeface="Calibri"/>
              </a:rPr>
              <a:t>Language-model head</a:t>
            </a:r>
            <a:endParaRPr/>
          </a:p>
        </p:txBody>
      </p:sp>
      <p:sp>
        <p:nvSpPr>
          <p:cNvPr id="14874777"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40</a:t>
            </a:r>
            <a:endParaRPr/>
          </a:p>
        </p:txBody>
      </p:sp>
      <p:sp>
        <p:nvSpPr>
          <p:cNvPr id="2053569447" name=""/>
          <p:cNvSpPr>
            <a:spLocks noGrp="1"/>
          </p:cNvSpPr>
          <p:nvPr/>
        </p:nvSpPr>
        <p:spPr bwMode="auto">
          <a:xfrm>
            <a:off x="723900" y="1362075"/>
            <a:ext cx="10287000" cy="323850"/>
          </a:xfrm>
          <a:prstGeom prst="rect">
            <a:avLst/>
          </a:prstGeom>
          <a:noFill/>
          <a:ln w="0">
            <a:noFill/>
            <a:prstDash val="solid"/>
          </a:ln>
        </p:spPr>
        <p:txBody>
          <a:bodyPr anchor="ctr"/>
          <a:lstStyle/>
          <a:p>
            <a:pPr algn="l">
              <a:buNone/>
              <a:defRPr sz="1600" b="0">
                <a:solidFill>
                  <a:srgbClr val="667085"/>
                </a:solidFill>
                <a:latin typeface="Calibri"/>
                <a:ea typeface="Calibri"/>
                <a:cs typeface="Calibri"/>
              </a:defRPr>
            </a:pPr>
            <a:r>
              <a:rPr sz="1600" b="0">
                <a:solidFill>
                  <a:srgbClr val="667085"/>
                </a:solidFill>
                <a:latin typeface="Calibri"/>
                <a:ea typeface="Calibri"/>
                <a:cs typeface="Calibri"/>
              </a:rPr>
              <a:t>Convert the final decoder state into probabilities for the next token.</a:t>
            </a:r>
            <a:endParaRPr/>
          </a:p>
        </p:txBody>
      </p:sp>
      <p:sp>
        <p:nvSpPr>
          <p:cNvPr id="2093550815" name=""/>
          <p:cNvSpPr>
            <a:spLocks noGrp="1"/>
          </p:cNvSpPr>
          <p:nvPr/>
        </p:nvSpPr>
        <p:spPr bwMode="auto">
          <a:xfrm>
            <a:off x="1619250" y="2381250"/>
            <a:ext cx="8953500" cy="1428750"/>
          </a:xfrm>
          <a:prstGeom prst="roundRect">
            <a:avLst>
              <a:gd name="adj" fmla="val 8000"/>
            </a:avLst>
          </a:prstGeom>
          <a:solidFill>
            <a:srgbClr val="F8FAFC"/>
          </a:solidFill>
          <a:ln w="9525">
            <a:solidFill>
              <a:srgbClr val="D97706"/>
            </a:solidFill>
            <a:prstDash val="solid"/>
          </a:ln>
        </p:spPr>
      </p:sp>
      <p:sp>
        <p:nvSpPr>
          <p:cNvPr id="1093967431" name=""/>
          <p:cNvSpPr>
            <a:spLocks noGrp="1"/>
          </p:cNvSpPr>
          <p:nvPr/>
        </p:nvSpPr>
        <p:spPr bwMode="auto">
          <a:xfrm>
            <a:off x="1952625" y="2686050"/>
            <a:ext cx="8286750" cy="666750"/>
          </a:xfrm>
          <a:prstGeom prst="rect">
            <a:avLst/>
          </a:prstGeom>
          <a:noFill/>
          <a:ln w="0">
            <a:noFill/>
            <a:prstDash val="solid"/>
          </a:ln>
        </p:spPr>
        <p:txBody>
          <a:bodyPr anchor="ctr"/>
          <a:lstStyle/>
          <a:p>
            <a:pPr algn="ctr">
              <a:buNone/>
              <a:defRPr sz="2350" b="1">
                <a:solidFill>
                  <a:srgbClr val="D97706"/>
                </a:solidFill>
                <a:latin typeface="Calibri"/>
                <a:ea typeface="Calibri"/>
                <a:cs typeface="Calibri"/>
              </a:defRPr>
            </a:pPr>
            <a:r>
              <a:rPr sz="2350" b="1">
                <a:solidFill>
                  <a:srgbClr val="D97706"/>
                </a:solidFill>
                <a:latin typeface="Calibri"/>
                <a:ea typeface="Calibri"/>
                <a:cs typeface="Calibri"/>
              </a:rPr>
              <a:t>linear layer  →  softmax  →  next token</a:t>
            </a:r>
            <a:endParaRPr/>
          </a:p>
        </p:txBody>
      </p:sp>
      <p:sp>
        <p:nvSpPr>
          <p:cNvPr id="135366074" name=""/>
          <p:cNvSpPr>
            <a:spLocks noGrp="1"/>
          </p:cNvSpPr>
          <p:nvPr/>
        </p:nvSpPr>
        <p:spPr bwMode="auto">
          <a:xfrm>
            <a:off x="5143500" y="4114800"/>
            <a:ext cx="1905000" cy="247650"/>
          </a:xfrm>
          <a:prstGeom prst="rect">
            <a:avLst/>
          </a:prstGeom>
          <a:noFill/>
          <a:ln w="0">
            <a:noFill/>
            <a:prstDash val="solid"/>
          </a:ln>
        </p:spPr>
        <p:txBody>
          <a:bodyPr anchor="ctr"/>
          <a:lstStyle/>
          <a:p>
            <a:pPr algn="ctr">
              <a:buNone/>
              <a:defRPr sz="1300" b="0">
                <a:solidFill>
                  <a:srgbClr val="667085"/>
                </a:solidFill>
                <a:latin typeface="Calibri"/>
                <a:ea typeface="Calibri"/>
                <a:cs typeface="Calibri"/>
              </a:defRPr>
            </a:pPr>
            <a:r>
              <a:rPr sz="1300" b="0">
                <a:solidFill>
                  <a:srgbClr val="667085"/>
                </a:solidFill>
                <a:latin typeface="Calibri"/>
                <a:ea typeface="Calibri"/>
                <a:cs typeface="Calibri"/>
              </a:rPr>
              <a:t>Step 9 of 9</a:t>
            </a:r>
            <a:endParaRPr/>
          </a:p>
        </p:txBody>
      </p:sp>
      <p:sp>
        <p:nvSpPr>
          <p:cNvPr id="1039537941" name=""/>
          <p:cNvSpPr>
            <a:spLocks noGrp="1"/>
          </p:cNvSpPr>
          <p:nvPr/>
        </p:nvSpPr>
        <p:spPr bwMode="auto">
          <a:xfrm>
            <a:off x="1219200" y="4857750"/>
            <a:ext cx="876299" cy="438149"/>
          </a:xfrm>
          <a:prstGeom prst="roundRect">
            <a:avLst>
              <a:gd name="adj" fmla="val 26087"/>
            </a:avLst>
          </a:prstGeom>
          <a:solidFill>
            <a:srgbClr val="FFFFFF"/>
          </a:solidFill>
          <a:ln w="9525">
            <a:solidFill>
              <a:srgbClr val="CBD5E1"/>
            </a:solidFill>
            <a:prstDash val="solid"/>
          </a:ln>
        </p:spPr>
      </p:sp>
      <p:sp>
        <p:nvSpPr>
          <p:cNvPr id="1828131139" name=""/>
          <p:cNvSpPr>
            <a:spLocks noGrp="1"/>
          </p:cNvSpPr>
          <p:nvPr/>
        </p:nvSpPr>
        <p:spPr bwMode="auto">
          <a:xfrm>
            <a:off x="1266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Tokenizer</a:t>
            </a:r>
            <a:endParaRPr/>
          </a:p>
        </p:txBody>
      </p:sp>
      <p:sp>
        <p:nvSpPr>
          <p:cNvPr id="1845023769" name=""/>
          <p:cNvSpPr>
            <a:spLocks noGrp="1"/>
          </p:cNvSpPr>
          <p:nvPr/>
        </p:nvSpPr>
        <p:spPr bwMode="auto">
          <a:xfrm>
            <a:off x="2095500" y="5076825"/>
            <a:ext cx="190500" cy="0"/>
          </a:xfrm>
          <a:prstGeom prst="line">
            <a:avLst/>
          </a:prstGeom>
          <a:ln w="9525">
            <a:solidFill>
              <a:srgbClr val="CBD5E1"/>
            </a:solidFill>
            <a:prstDash val="solid"/>
          </a:ln>
        </p:spPr>
      </p:sp>
      <p:sp>
        <p:nvSpPr>
          <p:cNvPr id="1303166909" name=""/>
          <p:cNvSpPr>
            <a:spLocks noGrp="1"/>
          </p:cNvSpPr>
          <p:nvPr/>
        </p:nvSpPr>
        <p:spPr bwMode="auto">
          <a:xfrm>
            <a:off x="2286000" y="4857750"/>
            <a:ext cx="876299" cy="438149"/>
          </a:xfrm>
          <a:prstGeom prst="roundRect">
            <a:avLst>
              <a:gd name="adj" fmla="val 26087"/>
            </a:avLst>
          </a:prstGeom>
          <a:solidFill>
            <a:srgbClr val="FFFFFF"/>
          </a:solidFill>
          <a:ln w="9525">
            <a:solidFill>
              <a:srgbClr val="CBD5E1"/>
            </a:solidFill>
            <a:prstDash val="solid"/>
          </a:ln>
        </p:spPr>
      </p:sp>
      <p:sp>
        <p:nvSpPr>
          <p:cNvPr id="724551333" name=""/>
          <p:cNvSpPr>
            <a:spLocks noGrp="1"/>
          </p:cNvSpPr>
          <p:nvPr/>
        </p:nvSpPr>
        <p:spPr bwMode="auto">
          <a:xfrm>
            <a:off x="2333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Embedding</a:t>
            </a:r>
            <a:endParaRPr/>
          </a:p>
        </p:txBody>
      </p:sp>
      <p:sp>
        <p:nvSpPr>
          <p:cNvPr id="197604631" name=""/>
          <p:cNvSpPr>
            <a:spLocks noGrp="1"/>
          </p:cNvSpPr>
          <p:nvPr/>
        </p:nvSpPr>
        <p:spPr bwMode="auto">
          <a:xfrm>
            <a:off x="3162300" y="5076825"/>
            <a:ext cx="190500" cy="0"/>
          </a:xfrm>
          <a:prstGeom prst="line">
            <a:avLst/>
          </a:prstGeom>
          <a:ln w="9525">
            <a:solidFill>
              <a:srgbClr val="CBD5E1"/>
            </a:solidFill>
            <a:prstDash val="solid"/>
          </a:ln>
        </p:spPr>
      </p:sp>
      <p:sp>
        <p:nvSpPr>
          <p:cNvPr id="1670026603" name=""/>
          <p:cNvSpPr>
            <a:spLocks noGrp="1"/>
          </p:cNvSpPr>
          <p:nvPr/>
        </p:nvSpPr>
        <p:spPr bwMode="auto">
          <a:xfrm>
            <a:off x="3352800" y="4857750"/>
            <a:ext cx="876299" cy="438149"/>
          </a:xfrm>
          <a:prstGeom prst="roundRect">
            <a:avLst>
              <a:gd name="adj" fmla="val 26087"/>
            </a:avLst>
          </a:prstGeom>
          <a:solidFill>
            <a:srgbClr val="FFFFFF"/>
          </a:solidFill>
          <a:ln w="9525">
            <a:solidFill>
              <a:srgbClr val="CBD5E1"/>
            </a:solidFill>
            <a:prstDash val="solid"/>
          </a:ln>
        </p:spPr>
      </p:sp>
      <p:sp>
        <p:nvSpPr>
          <p:cNvPr id="76571171" name=""/>
          <p:cNvSpPr>
            <a:spLocks noGrp="1"/>
          </p:cNvSpPr>
          <p:nvPr/>
        </p:nvSpPr>
        <p:spPr bwMode="auto">
          <a:xfrm>
            <a:off x="3400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Positional encoding</a:t>
            </a:r>
            <a:endParaRPr/>
          </a:p>
        </p:txBody>
      </p:sp>
      <p:sp>
        <p:nvSpPr>
          <p:cNvPr id="81515369" name=""/>
          <p:cNvSpPr>
            <a:spLocks noGrp="1"/>
          </p:cNvSpPr>
          <p:nvPr/>
        </p:nvSpPr>
        <p:spPr bwMode="auto">
          <a:xfrm>
            <a:off x="4229100" y="5076825"/>
            <a:ext cx="190500" cy="0"/>
          </a:xfrm>
          <a:prstGeom prst="line">
            <a:avLst/>
          </a:prstGeom>
          <a:ln w="9525">
            <a:solidFill>
              <a:srgbClr val="CBD5E1"/>
            </a:solidFill>
            <a:prstDash val="solid"/>
          </a:ln>
        </p:spPr>
      </p:sp>
      <p:sp>
        <p:nvSpPr>
          <p:cNvPr id="1561005204" name=""/>
          <p:cNvSpPr>
            <a:spLocks noGrp="1"/>
          </p:cNvSpPr>
          <p:nvPr/>
        </p:nvSpPr>
        <p:spPr bwMode="auto">
          <a:xfrm>
            <a:off x="4419600" y="4857750"/>
            <a:ext cx="876299" cy="438149"/>
          </a:xfrm>
          <a:prstGeom prst="roundRect">
            <a:avLst>
              <a:gd name="adj" fmla="val 26087"/>
            </a:avLst>
          </a:prstGeom>
          <a:solidFill>
            <a:srgbClr val="FFFFFF"/>
          </a:solidFill>
          <a:ln w="9525">
            <a:solidFill>
              <a:srgbClr val="CBD5E1"/>
            </a:solidFill>
            <a:prstDash val="solid"/>
          </a:ln>
        </p:spPr>
      </p:sp>
      <p:sp>
        <p:nvSpPr>
          <p:cNvPr id="508218616" name=""/>
          <p:cNvSpPr>
            <a:spLocks noGrp="1"/>
          </p:cNvSpPr>
          <p:nvPr/>
        </p:nvSpPr>
        <p:spPr bwMode="auto">
          <a:xfrm>
            <a:off x="44672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Self-attention</a:t>
            </a:r>
            <a:endParaRPr/>
          </a:p>
        </p:txBody>
      </p:sp>
      <p:sp>
        <p:nvSpPr>
          <p:cNvPr id="674230049" name=""/>
          <p:cNvSpPr>
            <a:spLocks noGrp="1"/>
          </p:cNvSpPr>
          <p:nvPr/>
        </p:nvSpPr>
        <p:spPr bwMode="auto">
          <a:xfrm>
            <a:off x="5295899" y="5076825"/>
            <a:ext cx="190500" cy="0"/>
          </a:xfrm>
          <a:prstGeom prst="line">
            <a:avLst/>
          </a:prstGeom>
          <a:ln w="9525">
            <a:solidFill>
              <a:srgbClr val="CBD5E1"/>
            </a:solidFill>
            <a:prstDash val="solid"/>
          </a:ln>
        </p:spPr>
      </p:sp>
      <p:sp>
        <p:nvSpPr>
          <p:cNvPr id="955373585" name=""/>
          <p:cNvSpPr>
            <a:spLocks noGrp="1"/>
          </p:cNvSpPr>
          <p:nvPr/>
        </p:nvSpPr>
        <p:spPr bwMode="auto">
          <a:xfrm>
            <a:off x="5486400" y="4857750"/>
            <a:ext cx="876299" cy="438149"/>
          </a:xfrm>
          <a:prstGeom prst="roundRect">
            <a:avLst>
              <a:gd name="adj" fmla="val 26087"/>
            </a:avLst>
          </a:prstGeom>
          <a:solidFill>
            <a:srgbClr val="FFFFFF"/>
          </a:solidFill>
          <a:ln w="9525">
            <a:solidFill>
              <a:srgbClr val="CBD5E1"/>
            </a:solidFill>
            <a:prstDash val="solid"/>
          </a:ln>
        </p:spPr>
      </p:sp>
      <p:sp>
        <p:nvSpPr>
          <p:cNvPr id="554375256" name=""/>
          <p:cNvSpPr>
            <a:spLocks noGrp="1"/>
          </p:cNvSpPr>
          <p:nvPr/>
        </p:nvSpPr>
        <p:spPr bwMode="auto">
          <a:xfrm>
            <a:off x="55340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Attention head</a:t>
            </a:r>
            <a:endParaRPr/>
          </a:p>
        </p:txBody>
      </p:sp>
      <p:sp>
        <p:nvSpPr>
          <p:cNvPr id="1938108989" name=""/>
          <p:cNvSpPr>
            <a:spLocks noGrp="1"/>
          </p:cNvSpPr>
          <p:nvPr/>
        </p:nvSpPr>
        <p:spPr bwMode="auto">
          <a:xfrm>
            <a:off x="6362700" y="5076825"/>
            <a:ext cx="190500" cy="0"/>
          </a:xfrm>
          <a:prstGeom prst="line">
            <a:avLst/>
          </a:prstGeom>
          <a:ln w="9525">
            <a:solidFill>
              <a:srgbClr val="CBD5E1"/>
            </a:solidFill>
            <a:prstDash val="solid"/>
          </a:ln>
        </p:spPr>
      </p:sp>
      <p:sp>
        <p:nvSpPr>
          <p:cNvPr id="159381264" name=""/>
          <p:cNvSpPr>
            <a:spLocks noGrp="1"/>
          </p:cNvSpPr>
          <p:nvPr/>
        </p:nvSpPr>
        <p:spPr bwMode="auto">
          <a:xfrm>
            <a:off x="6553200" y="4857750"/>
            <a:ext cx="876299" cy="438149"/>
          </a:xfrm>
          <a:prstGeom prst="roundRect">
            <a:avLst>
              <a:gd name="adj" fmla="val 26087"/>
            </a:avLst>
          </a:prstGeom>
          <a:solidFill>
            <a:srgbClr val="FFFFFF"/>
          </a:solidFill>
          <a:ln w="9525">
            <a:solidFill>
              <a:srgbClr val="CBD5E1"/>
            </a:solidFill>
            <a:prstDash val="solid"/>
          </a:ln>
        </p:spPr>
      </p:sp>
      <p:sp>
        <p:nvSpPr>
          <p:cNvPr id="128972316" name=""/>
          <p:cNvSpPr>
            <a:spLocks noGrp="1"/>
          </p:cNvSpPr>
          <p:nvPr/>
        </p:nvSpPr>
        <p:spPr bwMode="auto">
          <a:xfrm>
            <a:off x="66008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Multi-head attention</a:t>
            </a:r>
            <a:endParaRPr/>
          </a:p>
        </p:txBody>
      </p:sp>
      <p:sp>
        <p:nvSpPr>
          <p:cNvPr id="1402802112" name=""/>
          <p:cNvSpPr>
            <a:spLocks noGrp="1"/>
          </p:cNvSpPr>
          <p:nvPr/>
        </p:nvSpPr>
        <p:spPr bwMode="auto">
          <a:xfrm>
            <a:off x="7429500" y="5076825"/>
            <a:ext cx="190500" cy="0"/>
          </a:xfrm>
          <a:prstGeom prst="line">
            <a:avLst/>
          </a:prstGeom>
          <a:ln w="9525">
            <a:solidFill>
              <a:srgbClr val="CBD5E1"/>
            </a:solidFill>
            <a:prstDash val="solid"/>
          </a:ln>
        </p:spPr>
      </p:sp>
      <p:sp>
        <p:nvSpPr>
          <p:cNvPr id="800324751" name=""/>
          <p:cNvSpPr>
            <a:spLocks noGrp="1"/>
          </p:cNvSpPr>
          <p:nvPr/>
        </p:nvSpPr>
        <p:spPr bwMode="auto">
          <a:xfrm>
            <a:off x="7620000" y="4857750"/>
            <a:ext cx="876299" cy="438149"/>
          </a:xfrm>
          <a:prstGeom prst="roundRect">
            <a:avLst>
              <a:gd name="adj" fmla="val 26087"/>
            </a:avLst>
          </a:prstGeom>
          <a:solidFill>
            <a:srgbClr val="FFFFFF"/>
          </a:solidFill>
          <a:ln w="9525">
            <a:solidFill>
              <a:srgbClr val="CBD5E1"/>
            </a:solidFill>
            <a:prstDash val="solid"/>
          </a:ln>
        </p:spPr>
      </p:sp>
      <p:sp>
        <p:nvSpPr>
          <p:cNvPr id="333634538" name=""/>
          <p:cNvSpPr>
            <a:spLocks noGrp="1"/>
          </p:cNvSpPr>
          <p:nvPr/>
        </p:nvSpPr>
        <p:spPr bwMode="auto">
          <a:xfrm>
            <a:off x="76676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Encoder block</a:t>
            </a:r>
            <a:endParaRPr/>
          </a:p>
        </p:txBody>
      </p:sp>
      <p:sp>
        <p:nvSpPr>
          <p:cNvPr id="1541871374" name=""/>
          <p:cNvSpPr>
            <a:spLocks noGrp="1"/>
          </p:cNvSpPr>
          <p:nvPr/>
        </p:nvSpPr>
        <p:spPr bwMode="auto">
          <a:xfrm>
            <a:off x="8496300" y="5076825"/>
            <a:ext cx="190500" cy="0"/>
          </a:xfrm>
          <a:prstGeom prst="line">
            <a:avLst/>
          </a:prstGeom>
          <a:ln w="9525">
            <a:solidFill>
              <a:srgbClr val="CBD5E1"/>
            </a:solidFill>
            <a:prstDash val="solid"/>
          </a:ln>
        </p:spPr>
      </p:sp>
      <p:sp>
        <p:nvSpPr>
          <p:cNvPr id="1829725635" name=""/>
          <p:cNvSpPr>
            <a:spLocks noGrp="1"/>
          </p:cNvSpPr>
          <p:nvPr/>
        </p:nvSpPr>
        <p:spPr bwMode="auto">
          <a:xfrm>
            <a:off x="8686800" y="4857750"/>
            <a:ext cx="876299" cy="438149"/>
          </a:xfrm>
          <a:prstGeom prst="roundRect">
            <a:avLst>
              <a:gd name="adj" fmla="val 26087"/>
            </a:avLst>
          </a:prstGeom>
          <a:solidFill>
            <a:srgbClr val="FFFFFF"/>
          </a:solidFill>
          <a:ln w="9525">
            <a:solidFill>
              <a:srgbClr val="CBD5E1"/>
            </a:solidFill>
            <a:prstDash val="solid"/>
          </a:ln>
        </p:spPr>
      </p:sp>
      <p:sp>
        <p:nvSpPr>
          <p:cNvPr id="908787351" name=""/>
          <p:cNvSpPr>
            <a:spLocks noGrp="1"/>
          </p:cNvSpPr>
          <p:nvPr/>
        </p:nvSpPr>
        <p:spPr bwMode="auto">
          <a:xfrm>
            <a:off x="8734425" y="4924425"/>
            <a:ext cx="781050" cy="285750"/>
          </a:xfrm>
          <a:prstGeom prst="rect">
            <a:avLst/>
          </a:prstGeom>
          <a:noFill/>
          <a:ln w="0">
            <a:noFill/>
            <a:prstDash val="solid"/>
          </a:ln>
        </p:spPr>
        <p:txBody>
          <a:bodyPr anchor="ctr"/>
          <a:lstStyle/>
          <a:p>
            <a:pPr algn="ctr">
              <a:buNone/>
              <a:defRPr sz="900" b="0">
                <a:solidFill>
                  <a:srgbClr val="667085"/>
                </a:solidFill>
                <a:latin typeface="Calibri"/>
                <a:ea typeface="Calibri"/>
                <a:cs typeface="Calibri"/>
              </a:defRPr>
            </a:pPr>
            <a:r>
              <a:rPr sz="900" b="0">
                <a:solidFill>
                  <a:srgbClr val="667085"/>
                </a:solidFill>
                <a:latin typeface="Calibri"/>
                <a:ea typeface="Calibri"/>
                <a:cs typeface="Calibri"/>
              </a:rPr>
              <a:t>Decoder block</a:t>
            </a:r>
            <a:endParaRPr/>
          </a:p>
        </p:txBody>
      </p:sp>
      <p:sp>
        <p:nvSpPr>
          <p:cNvPr id="372489362" name=""/>
          <p:cNvSpPr>
            <a:spLocks noGrp="1"/>
          </p:cNvSpPr>
          <p:nvPr/>
        </p:nvSpPr>
        <p:spPr bwMode="auto">
          <a:xfrm>
            <a:off x="9563100" y="5076825"/>
            <a:ext cx="190500" cy="0"/>
          </a:xfrm>
          <a:prstGeom prst="line">
            <a:avLst/>
          </a:prstGeom>
          <a:ln w="9525">
            <a:solidFill>
              <a:srgbClr val="CBD5E1"/>
            </a:solidFill>
            <a:prstDash val="solid"/>
          </a:ln>
        </p:spPr>
      </p:sp>
      <p:sp>
        <p:nvSpPr>
          <p:cNvPr id="2057956786" name=""/>
          <p:cNvSpPr>
            <a:spLocks noGrp="1"/>
          </p:cNvSpPr>
          <p:nvPr/>
        </p:nvSpPr>
        <p:spPr bwMode="auto">
          <a:xfrm>
            <a:off x="9753600" y="4857750"/>
            <a:ext cx="876299" cy="438149"/>
          </a:xfrm>
          <a:prstGeom prst="roundRect">
            <a:avLst>
              <a:gd name="adj" fmla="val 26087"/>
            </a:avLst>
          </a:prstGeom>
          <a:solidFill>
            <a:srgbClr val="D97706"/>
          </a:solidFill>
          <a:ln w="9525">
            <a:solidFill>
              <a:srgbClr val="D97706"/>
            </a:solidFill>
            <a:prstDash val="solid"/>
          </a:ln>
        </p:spPr>
      </p:sp>
      <p:sp>
        <p:nvSpPr>
          <p:cNvPr id="2028567006" name=""/>
          <p:cNvSpPr>
            <a:spLocks noGrp="1"/>
          </p:cNvSpPr>
          <p:nvPr/>
        </p:nvSpPr>
        <p:spPr bwMode="auto">
          <a:xfrm>
            <a:off x="9801225" y="4924425"/>
            <a:ext cx="781050" cy="285750"/>
          </a:xfrm>
          <a:prstGeom prst="rect">
            <a:avLst/>
          </a:prstGeom>
          <a:noFill/>
          <a:ln w="0">
            <a:noFill/>
            <a:prstDash val="solid"/>
          </a:ln>
        </p:spPr>
        <p:txBody>
          <a:bodyPr anchor="ctr"/>
          <a:lstStyle/>
          <a:p>
            <a:pPr algn="ctr">
              <a:buNone/>
              <a:defRPr sz="1050" b="1">
                <a:solidFill>
                  <a:srgbClr val="FFFFFF"/>
                </a:solidFill>
                <a:latin typeface="Calibri"/>
                <a:ea typeface="Calibri"/>
                <a:cs typeface="Calibri"/>
              </a:defRPr>
            </a:pPr>
            <a:r>
              <a:rPr sz="1050" b="1">
                <a:solidFill>
                  <a:srgbClr val="FFFFFF"/>
                </a:solidFill>
                <a:latin typeface="Calibri"/>
                <a:ea typeface="Calibri"/>
                <a:cs typeface="Calibri"/>
              </a:rPr>
              <a:t>Language-model head</a:t>
            </a:r>
            <a:endParaRPr/>
          </a:p>
        </p:txBody>
      </p:sp>
      <p:sp>
        <p:nvSpPr>
          <p:cNvPr id="1835411307" name=""/>
          <p:cNvSpPr>
            <a:spLocks noGrp="1"/>
          </p:cNvSpPr>
          <p:nvPr/>
        </p:nvSpPr>
        <p:spPr bwMode="auto">
          <a:xfrm>
            <a:off x="4610100" y="5762625"/>
            <a:ext cx="2971800" cy="266700"/>
          </a:xfrm>
          <a:prstGeom prst="rect">
            <a:avLst/>
          </a:prstGeom>
          <a:noFill/>
          <a:ln w="0">
            <a:noFill/>
            <a:prstDash val="solid"/>
          </a:ln>
        </p:spPr>
        <p:txBody>
          <a:bodyPr anchor="ctr"/>
          <a:lstStyle/>
          <a:p>
            <a:pPr algn="ctr">
              <a:buNone/>
              <a:defRPr sz="1350" b="1">
                <a:solidFill>
                  <a:srgbClr val="D97706"/>
                </a:solidFill>
                <a:latin typeface="Calibri"/>
                <a:ea typeface="Calibri"/>
                <a:cs typeface="Calibri"/>
              </a:defRPr>
            </a:pPr>
            <a:r>
              <a:rPr sz="1350" b="1">
                <a:solidFill>
                  <a:srgbClr val="D97706"/>
                </a:solidFill>
                <a:latin typeface="Calibri"/>
                <a:ea typeface="Calibri"/>
                <a:cs typeface="Calibri"/>
              </a:rPr>
              <a:t>Output component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13280064" name="Rectangle 59691255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Embeddings</a:t>
            </a:r>
            <a:endParaRPr/>
          </a:p>
        </p:txBody>
      </p:sp>
      <p:sp>
        <p:nvSpPr>
          <p:cNvPr id="470277448" name="Rectangle 290873250"/>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Words become vectors</a:t>
            </a:r>
            <a:endParaRPr/>
          </a:p>
        </p:txBody>
      </p:sp>
      <p:sp>
        <p:nvSpPr>
          <p:cNvPr id="1475389171" name="Rectangle: Rounded Corners 81270832"/>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348979460" name="Rectangle: Rounded Corners 1587413913"/>
          <p:cNvSpPr>
            <a:spLocks noGrp="1"/>
          </p:cNvSpPr>
          <p:nvPr/>
        </p:nvSpPr>
        <p:spPr bwMode="auto">
          <a:xfrm>
            <a:off x="1619250" y="3048000"/>
            <a:ext cx="904875" cy="552450"/>
          </a:xfrm>
          <a:prstGeom prst="roundRect">
            <a:avLst>
              <a:gd name="adj" fmla="val 20690"/>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The</a:t>
            </a:r>
            <a:endParaRPr/>
          </a:p>
        </p:txBody>
      </p:sp>
      <p:sp>
        <p:nvSpPr>
          <p:cNvPr id="1441856403" name="Rectangle: Rounded Corners 493815563"/>
          <p:cNvSpPr>
            <a:spLocks noGrp="1"/>
          </p:cNvSpPr>
          <p:nvPr/>
        </p:nvSpPr>
        <p:spPr bwMode="auto">
          <a:xfrm>
            <a:off x="2952750" y="3048000"/>
            <a:ext cx="904875" cy="552450"/>
          </a:xfrm>
          <a:prstGeom prst="roundRect">
            <a:avLst>
              <a:gd name="adj" fmla="val 20690"/>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cat</a:t>
            </a:r>
            <a:endParaRPr/>
          </a:p>
        </p:txBody>
      </p:sp>
      <p:sp>
        <p:nvSpPr>
          <p:cNvPr id="258509158" name="Rectangle: Rounded Corners 770580154"/>
          <p:cNvSpPr>
            <a:spLocks noGrp="1"/>
          </p:cNvSpPr>
          <p:nvPr/>
        </p:nvSpPr>
        <p:spPr bwMode="auto">
          <a:xfrm>
            <a:off x="4286250" y="3048000"/>
            <a:ext cx="904875" cy="552450"/>
          </a:xfrm>
          <a:prstGeom prst="roundRect">
            <a:avLst>
              <a:gd name="adj" fmla="val 20690"/>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sat</a:t>
            </a:r>
            <a:endParaRPr/>
          </a:p>
        </p:txBody>
      </p:sp>
      <p:sp>
        <p:nvSpPr>
          <p:cNvPr id="2114766627" name="Arrow: Right 719400496"/>
          <p:cNvSpPr>
            <a:spLocks noGrp="1"/>
          </p:cNvSpPr>
          <p:nvPr/>
        </p:nvSpPr>
        <p:spPr bwMode="auto">
          <a:xfrm>
            <a:off x="5476875" y="3095625"/>
            <a:ext cx="1190625" cy="476250"/>
          </a:xfrm>
          <a:prstGeom prst="rightArrow">
            <a:avLst>
              <a:gd name="adj1" fmla="val 50000"/>
              <a:gd name="adj2" fmla="val 50000"/>
            </a:avLst>
          </a:prstGeom>
          <a:solidFill>
            <a:srgbClr val="E0F2FE"/>
          </a:solidFill>
          <a:ln w="14288">
            <a:solidFill>
              <a:srgbClr val="2563EB"/>
            </a:solidFill>
            <a:prstDash val="solid"/>
          </a:ln>
        </p:spPr>
        <p:txBody>
          <a:bodyPr/>
          <a:lstStyle/>
          <a:p>
            <a:pPr>
              <a:buNone/>
              <a:defRPr/>
            </a:pPr>
            <a:endParaRPr/>
          </a:p>
        </p:txBody>
      </p:sp>
      <p:sp>
        <p:nvSpPr>
          <p:cNvPr id="1389872573" name="Rectangle: Rounded Corners 1479447591"/>
          <p:cNvSpPr>
            <a:spLocks noGrp="1"/>
          </p:cNvSpPr>
          <p:nvPr/>
        </p:nvSpPr>
        <p:spPr bwMode="auto">
          <a:xfrm>
            <a:off x="7429500" y="2500313"/>
            <a:ext cx="333375" cy="1214438"/>
          </a:xfrm>
          <a:prstGeom prst="roundRect">
            <a:avLst>
              <a:gd name="adj" fmla="val 5714"/>
            </a:avLst>
          </a:prstGeom>
          <a:solidFill>
            <a:srgbClr val="2563EB"/>
          </a:solidFill>
          <a:ln w="14288">
            <a:noFill/>
            <a:prstDash val="solid"/>
          </a:ln>
        </p:spPr>
        <p:txBody>
          <a:bodyPr/>
          <a:lstStyle/>
          <a:p>
            <a:pPr>
              <a:buNone/>
              <a:defRPr/>
            </a:pPr>
            <a:endParaRPr/>
          </a:p>
        </p:txBody>
      </p:sp>
      <p:sp>
        <p:nvSpPr>
          <p:cNvPr id="665329634" name="Rectangle: Rounded Corners 2028005840"/>
          <p:cNvSpPr>
            <a:spLocks noGrp="1"/>
          </p:cNvSpPr>
          <p:nvPr/>
        </p:nvSpPr>
        <p:spPr bwMode="auto">
          <a:xfrm>
            <a:off x="7953375" y="3309937"/>
            <a:ext cx="333375" cy="404813"/>
          </a:xfrm>
          <a:prstGeom prst="roundRect">
            <a:avLst>
              <a:gd name="adj" fmla="val 5714"/>
            </a:avLst>
          </a:prstGeom>
          <a:solidFill>
            <a:srgbClr val="38BDF8"/>
          </a:solidFill>
          <a:ln w="14288">
            <a:noFill/>
            <a:prstDash val="solid"/>
          </a:ln>
        </p:spPr>
        <p:txBody>
          <a:bodyPr/>
          <a:lstStyle/>
          <a:p>
            <a:pPr>
              <a:buNone/>
              <a:defRPr/>
            </a:pPr>
            <a:endParaRPr/>
          </a:p>
        </p:txBody>
      </p:sp>
      <p:sp>
        <p:nvSpPr>
          <p:cNvPr id="2124197597" name="Rectangle: Rounded Corners 1882830141"/>
          <p:cNvSpPr>
            <a:spLocks noGrp="1"/>
          </p:cNvSpPr>
          <p:nvPr/>
        </p:nvSpPr>
        <p:spPr bwMode="auto">
          <a:xfrm>
            <a:off x="8477250" y="2257425"/>
            <a:ext cx="333375" cy="1457325"/>
          </a:xfrm>
          <a:prstGeom prst="roundRect">
            <a:avLst>
              <a:gd name="adj" fmla="val 5714"/>
            </a:avLst>
          </a:prstGeom>
          <a:solidFill>
            <a:srgbClr val="2563EB"/>
          </a:solidFill>
          <a:ln w="14288">
            <a:noFill/>
            <a:prstDash val="solid"/>
          </a:ln>
        </p:spPr>
        <p:txBody>
          <a:bodyPr/>
          <a:lstStyle/>
          <a:p>
            <a:pPr>
              <a:buNone/>
              <a:defRPr/>
            </a:pPr>
            <a:endParaRPr/>
          </a:p>
        </p:txBody>
      </p:sp>
      <p:sp>
        <p:nvSpPr>
          <p:cNvPr id="1159066242" name="Rectangle: Rounded Corners 60243026"/>
          <p:cNvSpPr>
            <a:spLocks noGrp="1"/>
          </p:cNvSpPr>
          <p:nvPr/>
        </p:nvSpPr>
        <p:spPr bwMode="auto">
          <a:xfrm>
            <a:off x="9001125" y="3067050"/>
            <a:ext cx="333375" cy="647700"/>
          </a:xfrm>
          <a:prstGeom prst="roundRect">
            <a:avLst>
              <a:gd name="adj" fmla="val 5714"/>
            </a:avLst>
          </a:prstGeom>
          <a:solidFill>
            <a:srgbClr val="38BDF8"/>
          </a:solidFill>
          <a:ln w="14288">
            <a:noFill/>
            <a:prstDash val="solid"/>
          </a:ln>
        </p:spPr>
        <p:txBody>
          <a:bodyPr/>
          <a:lstStyle/>
          <a:p>
            <a:pPr>
              <a:buNone/>
              <a:defRPr/>
            </a:pPr>
            <a:endParaRPr/>
          </a:p>
        </p:txBody>
      </p:sp>
      <p:sp>
        <p:nvSpPr>
          <p:cNvPr id="501477287" name="Rectangle: Rounded Corners 1134928050"/>
          <p:cNvSpPr>
            <a:spLocks noGrp="1"/>
          </p:cNvSpPr>
          <p:nvPr/>
        </p:nvSpPr>
        <p:spPr bwMode="auto">
          <a:xfrm>
            <a:off x="9525000" y="2743200"/>
            <a:ext cx="333375" cy="971550"/>
          </a:xfrm>
          <a:prstGeom prst="roundRect">
            <a:avLst>
              <a:gd name="adj" fmla="val 5714"/>
            </a:avLst>
          </a:prstGeom>
          <a:solidFill>
            <a:srgbClr val="2563EB"/>
          </a:solidFill>
          <a:ln w="14288">
            <a:noFill/>
            <a:prstDash val="solid"/>
          </a:ln>
        </p:spPr>
        <p:txBody>
          <a:bodyPr/>
          <a:lstStyle/>
          <a:p>
            <a:pPr>
              <a:buNone/>
              <a:defRPr/>
            </a:pPr>
            <a:endParaRPr/>
          </a:p>
        </p:txBody>
      </p:sp>
      <p:sp>
        <p:nvSpPr>
          <p:cNvPr id="2118270386" name="Rectangle 1354337603"/>
          <p:cNvSpPr>
            <a:spLocks noGrp="1"/>
          </p:cNvSpPr>
          <p:nvPr/>
        </p:nvSpPr>
        <p:spPr bwMode="auto">
          <a:xfrm>
            <a:off x="7286625" y="4095750"/>
            <a:ext cx="2952750" cy="381000"/>
          </a:xfrm>
          <a:prstGeom prst="rect">
            <a:avLst/>
          </a:prstGeom>
          <a:noFill/>
          <a:ln w="0">
            <a:noFill/>
            <a:prstDash val="solid"/>
          </a:ln>
        </p:spPr>
        <p:txBody>
          <a:bodyPr/>
          <a:lstStyle/>
          <a:p>
            <a:pPr algn="ctr">
              <a:buNone/>
              <a:defRPr sz="2100" b="1">
                <a:solidFill>
                  <a:srgbClr val="0B0F19"/>
                </a:solidFill>
              </a:defRPr>
            </a:pPr>
            <a:r>
              <a:rPr sz="2100" b="1">
                <a:solidFill>
                  <a:srgbClr val="0B0F19"/>
                </a:solidFill>
              </a:rPr>
              <a:t>[0.75, 0.25, ...]</a:t>
            </a:r>
            <a:endParaRPr/>
          </a:p>
        </p:txBody>
      </p:sp>
      <p:sp>
        <p:nvSpPr>
          <p:cNvPr id="1544383449" name="Rectangle 564634627"/>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41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40331058" name="Rectangle 80491349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Embeddings</a:t>
            </a:r>
            <a:endParaRPr/>
          </a:p>
        </p:txBody>
      </p:sp>
      <p:sp>
        <p:nvSpPr>
          <p:cNvPr id="1993333122" name="Rectangle 97757811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Meaning becomes geometry</a:t>
            </a:r>
            <a:endParaRPr/>
          </a:p>
        </p:txBody>
      </p:sp>
      <p:sp>
        <p:nvSpPr>
          <p:cNvPr id="2049048722" name="Rectangle: Rounded Corners 1169649151"/>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2111383478" name="Straight Connector 2011469827"/>
          <p:cNvSpPr>
            <a:spLocks noGrp="1"/>
          </p:cNvSpPr>
          <p:nvPr/>
        </p:nvSpPr>
        <p:spPr bwMode="auto">
          <a:xfrm>
            <a:off x="1857375" y="5095875"/>
            <a:ext cx="8143875" cy="9525"/>
          </a:xfrm>
          <a:prstGeom prst="line">
            <a:avLst/>
          </a:prstGeom>
          <a:noFill/>
          <a:ln w="19050">
            <a:solidFill>
              <a:srgbClr val="CBD5E1"/>
            </a:solidFill>
            <a:prstDash val="solid"/>
          </a:ln>
        </p:spPr>
        <p:txBody>
          <a:bodyPr/>
          <a:lstStyle/>
          <a:p>
            <a:pPr>
              <a:buNone/>
              <a:defRPr/>
            </a:pPr>
            <a:endParaRPr/>
          </a:p>
        </p:txBody>
      </p:sp>
      <p:sp>
        <p:nvSpPr>
          <p:cNvPr id="750587613" name="Straight Connector 181034433"/>
          <p:cNvSpPr>
            <a:spLocks noGrp="1"/>
          </p:cNvSpPr>
          <p:nvPr/>
        </p:nvSpPr>
        <p:spPr bwMode="auto">
          <a:xfrm>
            <a:off x="1857375" y="1952625"/>
            <a:ext cx="9525" cy="3143250"/>
          </a:xfrm>
          <a:prstGeom prst="line">
            <a:avLst/>
          </a:prstGeom>
          <a:noFill/>
          <a:ln w="19050">
            <a:solidFill>
              <a:srgbClr val="CBD5E1"/>
            </a:solidFill>
            <a:prstDash val="solid"/>
          </a:ln>
        </p:spPr>
        <p:txBody>
          <a:bodyPr/>
          <a:lstStyle/>
          <a:p>
            <a:pPr>
              <a:buNone/>
              <a:defRPr/>
            </a:pPr>
            <a:endParaRPr/>
          </a:p>
        </p:txBody>
      </p:sp>
      <p:sp>
        <p:nvSpPr>
          <p:cNvPr id="166420885" name="Oval 1553006746"/>
          <p:cNvSpPr>
            <a:spLocks noGrp="1"/>
          </p:cNvSpPr>
          <p:nvPr/>
        </p:nvSpPr>
        <p:spPr bwMode="auto">
          <a:xfrm>
            <a:off x="3419475" y="2609850"/>
            <a:ext cx="209550" cy="209550"/>
          </a:xfrm>
          <a:prstGeom prst="ellipse">
            <a:avLst/>
          </a:prstGeom>
          <a:solidFill>
            <a:srgbClr val="2563EB"/>
          </a:solidFill>
          <a:ln w="19050">
            <a:solidFill>
              <a:srgbClr val="2563EB"/>
            </a:solidFill>
            <a:prstDash val="solid"/>
          </a:ln>
        </p:spPr>
        <p:txBody>
          <a:bodyPr/>
          <a:lstStyle/>
          <a:p>
            <a:pPr>
              <a:buNone/>
              <a:defRPr/>
            </a:pPr>
            <a:endParaRPr/>
          </a:p>
        </p:txBody>
      </p:sp>
      <p:sp>
        <p:nvSpPr>
          <p:cNvPr id="1723001024" name="Rectangle 1709600281"/>
          <p:cNvSpPr>
            <a:spLocks noGrp="1"/>
          </p:cNvSpPr>
          <p:nvPr/>
        </p:nvSpPr>
        <p:spPr bwMode="auto">
          <a:xfrm>
            <a:off x="3657600" y="2571750"/>
            <a:ext cx="857250" cy="22860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king</a:t>
            </a:r>
            <a:endParaRPr/>
          </a:p>
        </p:txBody>
      </p:sp>
      <p:sp>
        <p:nvSpPr>
          <p:cNvPr id="149717378" name="Oval 21898783"/>
          <p:cNvSpPr>
            <a:spLocks noGrp="1"/>
          </p:cNvSpPr>
          <p:nvPr/>
        </p:nvSpPr>
        <p:spPr bwMode="auto">
          <a:xfrm>
            <a:off x="3895725" y="2276475"/>
            <a:ext cx="209550" cy="209550"/>
          </a:xfrm>
          <a:prstGeom prst="ellipse">
            <a:avLst/>
          </a:prstGeom>
          <a:solidFill>
            <a:srgbClr val="2563EB"/>
          </a:solidFill>
          <a:ln w="19050">
            <a:solidFill>
              <a:srgbClr val="2563EB"/>
            </a:solidFill>
            <a:prstDash val="solid"/>
          </a:ln>
        </p:spPr>
        <p:txBody>
          <a:bodyPr/>
          <a:lstStyle/>
          <a:p>
            <a:pPr>
              <a:buNone/>
              <a:defRPr/>
            </a:pPr>
            <a:endParaRPr/>
          </a:p>
        </p:txBody>
      </p:sp>
      <p:sp>
        <p:nvSpPr>
          <p:cNvPr id="146225844" name="Rectangle 948343370"/>
          <p:cNvSpPr>
            <a:spLocks noGrp="1"/>
          </p:cNvSpPr>
          <p:nvPr/>
        </p:nvSpPr>
        <p:spPr bwMode="auto">
          <a:xfrm>
            <a:off x="4133850" y="2238375"/>
            <a:ext cx="857250" cy="22860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queen</a:t>
            </a:r>
            <a:endParaRPr/>
          </a:p>
        </p:txBody>
      </p:sp>
      <p:sp>
        <p:nvSpPr>
          <p:cNvPr id="750212665" name="Oval 2041526387"/>
          <p:cNvSpPr>
            <a:spLocks noGrp="1"/>
          </p:cNvSpPr>
          <p:nvPr/>
        </p:nvSpPr>
        <p:spPr bwMode="auto">
          <a:xfrm>
            <a:off x="3038475" y="3514725"/>
            <a:ext cx="209550" cy="209550"/>
          </a:xfrm>
          <a:prstGeom prst="ellipse">
            <a:avLst/>
          </a:prstGeom>
          <a:solidFill>
            <a:srgbClr val="2563EB"/>
          </a:solidFill>
          <a:ln w="19050">
            <a:solidFill>
              <a:srgbClr val="2563EB"/>
            </a:solidFill>
            <a:prstDash val="solid"/>
          </a:ln>
        </p:spPr>
        <p:txBody>
          <a:bodyPr/>
          <a:lstStyle/>
          <a:p>
            <a:pPr>
              <a:buNone/>
              <a:defRPr/>
            </a:pPr>
            <a:endParaRPr/>
          </a:p>
        </p:txBody>
      </p:sp>
      <p:sp>
        <p:nvSpPr>
          <p:cNvPr id="1538952532" name="Rectangle 1876813262"/>
          <p:cNvSpPr>
            <a:spLocks noGrp="1"/>
          </p:cNvSpPr>
          <p:nvPr/>
        </p:nvSpPr>
        <p:spPr bwMode="auto">
          <a:xfrm>
            <a:off x="3276600" y="3476625"/>
            <a:ext cx="857250" cy="22860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man</a:t>
            </a:r>
            <a:endParaRPr/>
          </a:p>
        </p:txBody>
      </p:sp>
      <p:sp>
        <p:nvSpPr>
          <p:cNvPr id="1367474889" name="Oval 1942427474"/>
          <p:cNvSpPr>
            <a:spLocks noGrp="1"/>
          </p:cNvSpPr>
          <p:nvPr/>
        </p:nvSpPr>
        <p:spPr bwMode="auto">
          <a:xfrm>
            <a:off x="4038600" y="3371850"/>
            <a:ext cx="209550" cy="209550"/>
          </a:xfrm>
          <a:prstGeom prst="ellipse">
            <a:avLst/>
          </a:prstGeom>
          <a:solidFill>
            <a:srgbClr val="2563EB"/>
          </a:solidFill>
          <a:ln w="19050">
            <a:solidFill>
              <a:srgbClr val="2563EB"/>
            </a:solidFill>
            <a:prstDash val="solid"/>
          </a:ln>
        </p:spPr>
        <p:txBody>
          <a:bodyPr/>
          <a:lstStyle/>
          <a:p>
            <a:pPr>
              <a:buNone/>
              <a:defRPr/>
            </a:pPr>
            <a:endParaRPr/>
          </a:p>
        </p:txBody>
      </p:sp>
      <p:sp>
        <p:nvSpPr>
          <p:cNvPr id="979818800" name="Rectangle 888296365"/>
          <p:cNvSpPr>
            <a:spLocks noGrp="1"/>
          </p:cNvSpPr>
          <p:nvPr/>
        </p:nvSpPr>
        <p:spPr bwMode="auto">
          <a:xfrm>
            <a:off x="4276725" y="3333750"/>
            <a:ext cx="857250" cy="22860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woman</a:t>
            </a:r>
            <a:endParaRPr/>
          </a:p>
        </p:txBody>
      </p:sp>
      <p:sp>
        <p:nvSpPr>
          <p:cNvPr id="1863547768" name="Oval 358440105"/>
          <p:cNvSpPr>
            <a:spLocks noGrp="1"/>
          </p:cNvSpPr>
          <p:nvPr/>
        </p:nvSpPr>
        <p:spPr bwMode="auto">
          <a:xfrm>
            <a:off x="7134225" y="3038475"/>
            <a:ext cx="209550" cy="209550"/>
          </a:xfrm>
          <a:prstGeom prst="ellipse">
            <a:avLst/>
          </a:prstGeom>
          <a:solidFill>
            <a:srgbClr val="2563EB"/>
          </a:solidFill>
          <a:ln w="19050">
            <a:solidFill>
              <a:srgbClr val="2563EB"/>
            </a:solidFill>
            <a:prstDash val="solid"/>
          </a:ln>
        </p:spPr>
        <p:txBody>
          <a:bodyPr/>
          <a:lstStyle/>
          <a:p>
            <a:pPr>
              <a:buNone/>
              <a:defRPr/>
            </a:pPr>
            <a:endParaRPr/>
          </a:p>
        </p:txBody>
      </p:sp>
      <p:sp>
        <p:nvSpPr>
          <p:cNvPr id="2041009708" name="Rectangle 1076600515"/>
          <p:cNvSpPr>
            <a:spLocks noGrp="1"/>
          </p:cNvSpPr>
          <p:nvPr/>
        </p:nvSpPr>
        <p:spPr bwMode="auto">
          <a:xfrm>
            <a:off x="7372350" y="3000375"/>
            <a:ext cx="857250" cy="22860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cat</a:t>
            </a:r>
            <a:endParaRPr/>
          </a:p>
        </p:txBody>
      </p:sp>
      <p:sp>
        <p:nvSpPr>
          <p:cNvPr id="1800272487" name="Oval 1935212152"/>
          <p:cNvSpPr>
            <a:spLocks noGrp="1"/>
          </p:cNvSpPr>
          <p:nvPr/>
        </p:nvSpPr>
        <p:spPr bwMode="auto">
          <a:xfrm>
            <a:off x="7705725" y="2752725"/>
            <a:ext cx="209550" cy="209550"/>
          </a:xfrm>
          <a:prstGeom prst="ellipse">
            <a:avLst/>
          </a:prstGeom>
          <a:solidFill>
            <a:srgbClr val="2563EB"/>
          </a:solidFill>
          <a:ln w="19050">
            <a:solidFill>
              <a:srgbClr val="2563EB"/>
            </a:solidFill>
            <a:prstDash val="solid"/>
          </a:ln>
        </p:spPr>
        <p:txBody>
          <a:bodyPr/>
          <a:lstStyle/>
          <a:p>
            <a:pPr>
              <a:buNone/>
              <a:defRPr/>
            </a:pPr>
            <a:endParaRPr/>
          </a:p>
        </p:txBody>
      </p:sp>
      <p:sp>
        <p:nvSpPr>
          <p:cNvPr id="1613978552" name="Rectangle 40298214"/>
          <p:cNvSpPr>
            <a:spLocks noGrp="1"/>
          </p:cNvSpPr>
          <p:nvPr/>
        </p:nvSpPr>
        <p:spPr bwMode="auto">
          <a:xfrm>
            <a:off x="7943850" y="2714625"/>
            <a:ext cx="857250" cy="22860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dog</a:t>
            </a:r>
            <a:endParaRPr/>
          </a:p>
        </p:txBody>
      </p:sp>
      <p:sp>
        <p:nvSpPr>
          <p:cNvPr id="681713186" name="Oval 1096938976"/>
          <p:cNvSpPr>
            <a:spLocks noGrp="1"/>
          </p:cNvSpPr>
          <p:nvPr/>
        </p:nvSpPr>
        <p:spPr bwMode="auto">
          <a:xfrm>
            <a:off x="8753475" y="4419600"/>
            <a:ext cx="209550" cy="209550"/>
          </a:xfrm>
          <a:prstGeom prst="ellipse">
            <a:avLst/>
          </a:prstGeom>
          <a:solidFill>
            <a:srgbClr val="F97316"/>
          </a:solidFill>
          <a:ln w="19050">
            <a:solidFill>
              <a:srgbClr val="F97316"/>
            </a:solidFill>
            <a:prstDash val="solid"/>
          </a:ln>
        </p:spPr>
        <p:txBody>
          <a:bodyPr/>
          <a:lstStyle/>
          <a:p>
            <a:pPr>
              <a:buNone/>
              <a:defRPr/>
            </a:pPr>
            <a:endParaRPr/>
          </a:p>
        </p:txBody>
      </p:sp>
      <p:sp>
        <p:nvSpPr>
          <p:cNvPr id="523563681" name="Rectangle 251020529"/>
          <p:cNvSpPr>
            <a:spLocks noGrp="1"/>
          </p:cNvSpPr>
          <p:nvPr/>
        </p:nvSpPr>
        <p:spPr bwMode="auto">
          <a:xfrm>
            <a:off x="8991600" y="4381500"/>
            <a:ext cx="857250" cy="22860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car</a:t>
            </a:r>
            <a:endParaRPr/>
          </a:p>
        </p:txBody>
      </p:sp>
      <p:sp>
        <p:nvSpPr>
          <p:cNvPr id="629525082" name="Rectangle 1844580113"/>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42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52382993" name="Rectangle 31649078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Sequences</a:t>
            </a:r>
            <a:endParaRPr/>
          </a:p>
        </p:txBody>
      </p:sp>
      <p:sp>
        <p:nvSpPr>
          <p:cNvPr id="879830560" name="Rectangle 1088829960"/>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Order changes the meaning</a:t>
            </a:r>
            <a:endParaRPr/>
          </a:p>
        </p:txBody>
      </p:sp>
      <p:sp>
        <p:nvSpPr>
          <p:cNvPr id="104355042" name="Rectangle: Rounded Corners 1185614033"/>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340651704" name="Rectangle: Rounded Corners 1637263549"/>
          <p:cNvSpPr>
            <a:spLocks noGrp="1"/>
          </p:cNvSpPr>
          <p:nvPr/>
        </p:nvSpPr>
        <p:spPr bwMode="auto">
          <a:xfrm>
            <a:off x="2381250" y="2667000"/>
            <a:ext cx="1428750" cy="590549"/>
          </a:xfrm>
          <a:prstGeom prst="roundRect">
            <a:avLst>
              <a:gd name="adj" fmla="val 19355"/>
            </a:avLst>
          </a:prstGeom>
          <a:solidFill>
            <a:srgbClr val="E0F2FE"/>
          </a:solidFill>
          <a:ln w="14288">
            <a:solidFill>
              <a:srgbClr val="2563EB"/>
            </a:solidFill>
            <a:prstDash val="solid"/>
          </a:ln>
        </p:spPr>
        <p:txBody>
          <a:bodyPr/>
          <a:lstStyle/>
          <a:p>
            <a:pPr algn="ctr">
              <a:buNone/>
              <a:defRPr sz="1650" b="1">
                <a:solidFill>
                  <a:srgbClr val="0B0F19"/>
                </a:solidFill>
              </a:defRPr>
            </a:pPr>
            <a:r>
              <a:rPr sz="1650" b="1">
                <a:solidFill>
                  <a:srgbClr val="0B0F19"/>
                </a:solidFill>
              </a:rPr>
              <a:t>dog</a:t>
            </a:r>
            <a:endParaRPr/>
          </a:p>
        </p:txBody>
      </p:sp>
      <p:sp>
        <p:nvSpPr>
          <p:cNvPr id="782965250" name="Arrow: Right 483904790"/>
          <p:cNvSpPr>
            <a:spLocks noGrp="1"/>
          </p:cNvSpPr>
          <p:nvPr/>
        </p:nvSpPr>
        <p:spPr bwMode="auto">
          <a:xfrm>
            <a:off x="4095750" y="2762250"/>
            <a:ext cx="2000250" cy="400050"/>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chased</a:t>
            </a:r>
            <a:endParaRPr/>
          </a:p>
        </p:txBody>
      </p:sp>
      <p:sp>
        <p:nvSpPr>
          <p:cNvPr id="392170975" name="Rectangle: Rounded Corners 112366508"/>
          <p:cNvSpPr>
            <a:spLocks noGrp="1"/>
          </p:cNvSpPr>
          <p:nvPr/>
        </p:nvSpPr>
        <p:spPr bwMode="auto">
          <a:xfrm>
            <a:off x="6477000" y="2667000"/>
            <a:ext cx="1428750" cy="590549"/>
          </a:xfrm>
          <a:prstGeom prst="roundRect">
            <a:avLst>
              <a:gd name="adj" fmla="val 19355"/>
            </a:avLst>
          </a:prstGeom>
          <a:solidFill>
            <a:srgbClr val="DCFCE7"/>
          </a:solidFill>
          <a:ln w="14288">
            <a:solidFill>
              <a:srgbClr val="10B981"/>
            </a:solidFill>
            <a:prstDash val="solid"/>
          </a:ln>
        </p:spPr>
        <p:txBody>
          <a:bodyPr/>
          <a:lstStyle/>
          <a:p>
            <a:pPr algn="ctr">
              <a:buNone/>
              <a:defRPr sz="1650" b="1">
                <a:solidFill>
                  <a:srgbClr val="0B0F19"/>
                </a:solidFill>
              </a:defRPr>
            </a:pPr>
            <a:r>
              <a:rPr sz="1650" b="1">
                <a:solidFill>
                  <a:srgbClr val="0B0F19"/>
                </a:solidFill>
              </a:rPr>
              <a:t>cat</a:t>
            </a:r>
            <a:endParaRPr/>
          </a:p>
        </p:txBody>
      </p:sp>
      <p:sp>
        <p:nvSpPr>
          <p:cNvPr id="1759558562" name="Rectangle: Rounded Corners 1684869887"/>
          <p:cNvSpPr>
            <a:spLocks noGrp="1"/>
          </p:cNvSpPr>
          <p:nvPr/>
        </p:nvSpPr>
        <p:spPr bwMode="auto">
          <a:xfrm>
            <a:off x="2381250" y="4095750"/>
            <a:ext cx="1428750" cy="590549"/>
          </a:xfrm>
          <a:prstGeom prst="roundRect">
            <a:avLst>
              <a:gd name="adj" fmla="val 19355"/>
            </a:avLst>
          </a:prstGeom>
          <a:solidFill>
            <a:srgbClr val="E0F2FE"/>
          </a:solidFill>
          <a:ln w="14288">
            <a:solidFill>
              <a:srgbClr val="2563EB"/>
            </a:solidFill>
            <a:prstDash val="solid"/>
          </a:ln>
        </p:spPr>
        <p:txBody>
          <a:bodyPr/>
          <a:lstStyle/>
          <a:p>
            <a:pPr algn="ctr">
              <a:buNone/>
              <a:defRPr sz="1650" b="1">
                <a:solidFill>
                  <a:srgbClr val="0B0F19"/>
                </a:solidFill>
              </a:defRPr>
            </a:pPr>
            <a:r>
              <a:rPr sz="1650" b="1">
                <a:solidFill>
                  <a:srgbClr val="0B0F19"/>
                </a:solidFill>
              </a:rPr>
              <a:t>cat</a:t>
            </a:r>
            <a:endParaRPr/>
          </a:p>
        </p:txBody>
      </p:sp>
      <p:sp>
        <p:nvSpPr>
          <p:cNvPr id="176986139" name="Arrow: Right 582027638"/>
          <p:cNvSpPr>
            <a:spLocks noGrp="1"/>
          </p:cNvSpPr>
          <p:nvPr/>
        </p:nvSpPr>
        <p:spPr bwMode="auto">
          <a:xfrm>
            <a:off x="4095750" y="4191000"/>
            <a:ext cx="2000250" cy="400050"/>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chased</a:t>
            </a:r>
            <a:endParaRPr/>
          </a:p>
        </p:txBody>
      </p:sp>
      <p:sp>
        <p:nvSpPr>
          <p:cNvPr id="589719277" name="Rectangle: Rounded Corners 415203980"/>
          <p:cNvSpPr>
            <a:spLocks noGrp="1"/>
          </p:cNvSpPr>
          <p:nvPr/>
        </p:nvSpPr>
        <p:spPr bwMode="auto">
          <a:xfrm>
            <a:off x="6477000" y="4095750"/>
            <a:ext cx="1428750" cy="590549"/>
          </a:xfrm>
          <a:prstGeom prst="roundRect">
            <a:avLst>
              <a:gd name="adj" fmla="val 19355"/>
            </a:avLst>
          </a:prstGeom>
          <a:solidFill>
            <a:srgbClr val="DCFCE7"/>
          </a:solidFill>
          <a:ln w="14288">
            <a:solidFill>
              <a:srgbClr val="10B981"/>
            </a:solidFill>
            <a:prstDash val="solid"/>
          </a:ln>
        </p:spPr>
        <p:txBody>
          <a:bodyPr/>
          <a:lstStyle/>
          <a:p>
            <a:pPr algn="ctr">
              <a:buNone/>
              <a:defRPr sz="1650" b="1">
                <a:solidFill>
                  <a:srgbClr val="0B0F19"/>
                </a:solidFill>
              </a:defRPr>
            </a:pPr>
            <a:r>
              <a:rPr sz="1650" b="1">
                <a:solidFill>
                  <a:srgbClr val="0B0F19"/>
                </a:solidFill>
              </a:rPr>
              <a:t>dog</a:t>
            </a:r>
            <a:endParaRPr/>
          </a:p>
        </p:txBody>
      </p:sp>
      <p:sp>
        <p:nvSpPr>
          <p:cNvPr id="1333287498" name="Rectangle 1659565154"/>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43</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356261434" name="Rectangle 2031595678"/>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Mechanism</a:t>
            </a:r>
            <a:endParaRPr/>
          </a:p>
        </p:txBody>
      </p:sp>
      <p:sp>
        <p:nvSpPr>
          <p:cNvPr id="41185427" name="Rectangle 195803454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Query, key, value</a:t>
            </a:r>
            <a:endParaRPr/>
          </a:p>
        </p:txBody>
      </p:sp>
      <p:sp>
        <p:nvSpPr>
          <p:cNvPr id="1911589164" name="Rectangle: Rounded Corners 856291304"/>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688210222" name="Oval 915562435"/>
          <p:cNvSpPr>
            <a:spLocks noGrp="1"/>
          </p:cNvSpPr>
          <p:nvPr/>
        </p:nvSpPr>
        <p:spPr bwMode="auto">
          <a:xfrm>
            <a:off x="1905000" y="2762250"/>
            <a:ext cx="1333500" cy="1333500"/>
          </a:xfrm>
          <a:prstGeom prst="ellipse">
            <a:avLst/>
          </a:prstGeom>
          <a:solidFill>
            <a:srgbClr val="E0F2FE"/>
          </a:solidFill>
          <a:ln w="19050">
            <a:solidFill>
              <a:srgbClr val="2563EB"/>
            </a:solidFill>
            <a:prstDash val="solid"/>
          </a:ln>
        </p:spPr>
        <p:txBody>
          <a:bodyPr/>
          <a:lstStyle/>
          <a:p>
            <a:pPr algn="ctr">
              <a:buNone/>
              <a:defRPr sz="3000" b="1">
                <a:solidFill>
                  <a:srgbClr val="0B0F19"/>
                </a:solidFill>
              </a:defRPr>
            </a:pPr>
            <a:r>
              <a:rPr sz="3000" b="1">
                <a:solidFill>
                  <a:srgbClr val="0B0F19"/>
                </a:solidFill>
              </a:rPr>
              <a:t>Q</a:t>
            </a:r>
            <a:endParaRPr/>
          </a:p>
        </p:txBody>
      </p:sp>
      <p:sp>
        <p:nvSpPr>
          <p:cNvPr id="1234301259" name="Oval 2063706273"/>
          <p:cNvSpPr>
            <a:spLocks noGrp="1"/>
          </p:cNvSpPr>
          <p:nvPr/>
        </p:nvSpPr>
        <p:spPr bwMode="auto">
          <a:xfrm>
            <a:off x="5429250" y="1857375"/>
            <a:ext cx="1333500" cy="1333500"/>
          </a:xfrm>
          <a:prstGeom prst="ellipse">
            <a:avLst/>
          </a:prstGeom>
          <a:solidFill>
            <a:srgbClr val="FEF3C7"/>
          </a:solidFill>
          <a:ln w="19050">
            <a:solidFill>
              <a:srgbClr val="F97316"/>
            </a:solidFill>
            <a:prstDash val="solid"/>
          </a:ln>
        </p:spPr>
        <p:txBody>
          <a:bodyPr/>
          <a:lstStyle/>
          <a:p>
            <a:pPr algn="ctr">
              <a:buNone/>
              <a:defRPr sz="3000" b="1">
                <a:solidFill>
                  <a:srgbClr val="0B0F19"/>
                </a:solidFill>
              </a:defRPr>
            </a:pPr>
            <a:r>
              <a:rPr sz="3000" b="1">
                <a:solidFill>
                  <a:srgbClr val="0B0F19"/>
                </a:solidFill>
              </a:rPr>
              <a:t>K</a:t>
            </a:r>
            <a:endParaRPr/>
          </a:p>
        </p:txBody>
      </p:sp>
      <p:sp>
        <p:nvSpPr>
          <p:cNvPr id="1841603447" name="Oval 1843251255"/>
          <p:cNvSpPr>
            <a:spLocks noGrp="1"/>
          </p:cNvSpPr>
          <p:nvPr/>
        </p:nvSpPr>
        <p:spPr bwMode="auto">
          <a:xfrm>
            <a:off x="5429250" y="3667125"/>
            <a:ext cx="1333500" cy="1333500"/>
          </a:xfrm>
          <a:prstGeom prst="ellipse">
            <a:avLst/>
          </a:prstGeom>
          <a:solidFill>
            <a:srgbClr val="DCFCE7"/>
          </a:solidFill>
          <a:ln w="19050">
            <a:solidFill>
              <a:srgbClr val="10B981"/>
            </a:solidFill>
            <a:prstDash val="solid"/>
          </a:ln>
        </p:spPr>
        <p:txBody>
          <a:bodyPr/>
          <a:lstStyle/>
          <a:p>
            <a:pPr algn="ctr">
              <a:buNone/>
              <a:defRPr sz="3000" b="1">
                <a:solidFill>
                  <a:srgbClr val="0B0F19"/>
                </a:solidFill>
              </a:defRPr>
            </a:pPr>
            <a:r>
              <a:rPr sz="3000" b="1">
                <a:solidFill>
                  <a:srgbClr val="0B0F19"/>
                </a:solidFill>
              </a:rPr>
              <a:t>V</a:t>
            </a:r>
            <a:endParaRPr/>
          </a:p>
        </p:txBody>
      </p:sp>
      <p:sp>
        <p:nvSpPr>
          <p:cNvPr id="1047664764" name="Arrow: Right 1047507270"/>
          <p:cNvSpPr>
            <a:spLocks noGrp="1"/>
          </p:cNvSpPr>
          <p:nvPr/>
        </p:nvSpPr>
        <p:spPr bwMode="auto">
          <a:xfrm>
            <a:off x="3381375" y="3181350"/>
            <a:ext cx="1762125" cy="457200"/>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350" b="1">
                <a:solidFill>
                  <a:srgbClr val="0B0F19"/>
                </a:solidFill>
              </a:defRPr>
            </a:pPr>
            <a:r>
              <a:rPr sz="1350" b="1">
                <a:solidFill>
                  <a:srgbClr val="0B0F19"/>
                </a:solidFill>
              </a:rPr>
              <a:t>match</a:t>
            </a:r>
            <a:endParaRPr/>
          </a:p>
        </p:txBody>
      </p:sp>
      <p:sp>
        <p:nvSpPr>
          <p:cNvPr id="1768680378" name="Arrow: Right 416431706"/>
          <p:cNvSpPr>
            <a:spLocks noGrp="1"/>
          </p:cNvSpPr>
          <p:nvPr/>
        </p:nvSpPr>
        <p:spPr bwMode="auto">
          <a:xfrm>
            <a:off x="6858000" y="4143375"/>
            <a:ext cx="1714500" cy="457200"/>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350" b="1">
                <a:solidFill>
                  <a:srgbClr val="0B0F19"/>
                </a:solidFill>
              </a:defRPr>
            </a:pPr>
            <a:r>
              <a:rPr sz="1350" b="1">
                <a:solidFill>
                  <a:srgbClr val="0B0F19"/>
                </a:solidFill>
              </a:rPr>
              <a:t>carry</a:t>
            </a:r>
            <a:endParaRPr/>
          </a:p>
        </p:txBody>
      </p:sp>
      <p:sp>
        <p:nvSpPr>
          <p:cNvPr id="670641574" name="Rectangle: Rounded Corners 685887359"/>
          <p:cNvSpPr>
            <a:spLocks noGrp="1"/>
          </p:cNvSpPr>
          <p:nvPr/>
        </p:nvSpPr>
        <p:spPr bwMode="auto">
          <a:xfrm>
            <a:off x="8810625" y="3857625"/>
            <a:ext cx="1524000" cy="762000"/>
          </a:xfrm>
          <a:prstGeom prst="roundRect">
            <a:avLst>
              <a:gd name="adj" fmla="val 15000"/>
            </a:avLst>
          </a:prstGeom>
          <a:solidFill>
            <a:srgbClr val="FFFFFF"/>
          </a:solidFill>
          <a:ln w="14288">
            <a:solidFill>
              <a:srgbClr val="CBD5E1"/>
            </a:solidFill>
            <a:prstDash val="solid"/>
          </a:ln>
        </p:spPr>
        <p:txBody>
          <a:bodyPr/>
          <a:lstStyle/>
          <a:p>
            <a:pPr algn="ctr">
              <a:buNone/>
              <a:defRPr sz="1950" b="1">
                <a:solidFill>
                  <a:srgbClr val="0B0F19"/>
                </a:solidFill>
              </a:defRPr>
            </a:pPr>
            <a:r>
              <a:rPr sz="1950" b="1">
                <a:solidFill>
                  <a:srgbClr val="0B0F19"/>
                </a:solidFill>
              </a:rPr>
              <a:t>context</a:t>
            </a:r>
            <a:endParaRPr/>
          </a:p>
        </p:txBody>
      </p:sp>
      <p:sp>
        <p:nvSpPr>
          <p:cNvPr id="159018355" name="Rectangle 1087270730"/>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44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849284546" name="Rectangle 274056230"/>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Mechanism</a:t>
            </a:r>
            <a:endParaRPr/>
          </a:p>
        </p:txBody>
      </p:sp>
      <p:sp>
        <p:nvSpPr>
          <p:cNvPr id="1468212351" name="Rectangle 2069842662"/>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Dot product turns Q and K into scores</a:t>
            </a:r>
            <a:endParaRPr/>
          </a:p>
        </p:txBody>
      </p:sp>
      <p:sp>
        <p:nvSpPr>
          <p:cNvPr id="1942693462" name="Rectangle: Rounded Corners 101208029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358356643" name="Rectangle: Rounded Corners 268010825"/>
          <p:cNvSpPr>
            <a:spLocks noGrp="1"/>
          </p:cNvSpPr>
          <p:nvPr/>
        </p:nvSpPr>
        <p:spPr bwMode="auto">
          <a:xfrm>
            <a:off x="2095500" y="3000375"/>
            <a:ext cx="1047750" cy="857250"/>
          </a:xfrm>
          <a:prstGeom prst="roundRect">
            <a:avLst>
              <a:gd name="adj" fmla="val 13333"/>
            </a:avLst>
          </a:prstGeom>
          <a:solidFill>
            <a:srgbClr val="E0F2FE"/>
          </a:solidFill>
          <a:ln w="14288">
            <a:solidFill>
              <a:srgbClr val="2563EB"/>
            </a:solidFill>
            <a:prstDash val="solid"/>
          </a:ln>
        </p:spPr>
        <p:txBody>
          <a:bodyPr/>
          <a:lstStyle/>
          <a:p>
            <a:pPr algn="ctr">
              <a:buNone/>
              <a:defRPr sz="3000" b="1">
                <a:solidFill>
                  <a:srgbClr val="0B0F19"/>
                </a:solidFill>
              </a:defRPr>
            </a:pPr>
            <a:r>
              <a:rPr sz="3000" b="1">
                <a:solidFill>
                  <a:srgbClr val="0B0F19"/>
                </a:solidFill>
              </a:rPr>
              <a:t>Q</a:t>
            </a:r>
            <a:endParaRPr/>
          </a:p>
        </p:txBody>
      </p:sp>
      <p:sp>
        <p:nvSpPr>
          <p:cNvPr id="178786398" name="Rectangle 859411994"/>
          <p:cNvSpPr>
            <a:spLocks noGrp="1"/>
          </p:cNvSpPr>
          <p:nvPr/>
        </p:nvSpPr>
        <p:spPr bwMode="auto">
          <a:xfrm>
            <a:off x="3619500" y="3219449"/>
            <a:ext cx="762000" cy="361950"/>
          </a:xfrm>
          <a:prstGeom prst="rect">
            <a:avLst/>
          </a:prstGeom>
          <a:noFill/>
          <a:ln w="0">
            <a:noFill/>
            <a:prstDash val="solid"/>
          </a:ln>
        </p:spPr>
        <p:txBody>
          <a:bodyPr/>
          <a:lstStyle/>
          <a:p>
            <a:pPr algn="ctr">
              <a:buNone/>
              <a:defRPr sz="2850" b="1">
                <a:solidFill>
                  <a:srgbClr val="0B0F19"/>
                </a:solidFill>
              </a:defRPr>
            </a:pPr>
            <a:r>
              <a:rPr sz="2850" b="1">
                <a:solidFill>
                  <a:srgbClr val="0B0F19"/>
                </a:solidFill>
              </a:rPr>
              <a:t>·</a:t>
            </a:r>
            <a:endParaRPr/>
          </a:p>
        </p:txBody>
      </p:sp>
      <p:sp>
        <p:nvSpPr>
          <p:cNvPr id="2123044707" name="Rectangle: Rounded Corners 462313761"/>
          <p:cNvSpPr>
            <a:spLocks noGrp="1"/>
          </p:cNvSpPr>
          <p:nvPr/>
        </p:nvSpPr>
        <p:spPr bwMode="auto">
          <a:xfrm>
            <a:off x="4762500" y="3000375"/>
            <a:ext cx="1047750" cy="857250"/>
          </a:xfrm>
          <a:prstGeom prst="roundRect">
            <a:avLst>
              <a:gd name="adj" fmla="val 13333"/>
            </a:avLst>
          </a:prstGeom>
          <a:solidFill>
            <a:srgbClr val="FEF3C7"/>
          </a:solidFill>
          <a:ln w="14288">
            <a:solidFill>
              <a:srgbClr val="F97316"/>
            </a:solidFill>
            <a:prstDash val="solid"/>
          </a:ln>
        </p:spPr>
        <p:txBody>
          <a:bodyPr/>
          <a:lstStyle/>
          <a:p>
            <a:pPr algn="ctr">
              <a:buNone/>
              <a:defRPr sz="3000" b="1">
                <a:solidFill>
                  <a:srgbClr val="0B0F19"/>
                </a:solidFill>
              </a:defRPr>
            </a:pPr>
            <a:r>
              <a:rPr sz="3000" b="1">
                <a:solidFill>
                  <a:srgbClr val="0B0F19"/>
                </a:solidFill>
              </a:rPr>
              <a:t>K</a:t>
            </a:r>
            <a:endParaRPr/>
          </a:p>
        </p:txBody>
      </p:sp>
      <p:sp>
        <p:nvSpPr>
          <p:cNvPr id="974186918" name="Rectangle 256178726"/>
          <p:cNvSpPr>
            <a:spLocks noGrp="1"/>
          </p:cNvSpPr>
          <p:nvPr/>
        </p:nvSpPr>
        <p:spPr bwMode="auto">
          <a:xfrm>
            <a:off x="6191250" y="3219449"/>
            <a:ext cx="762000" cy="361950"/>
          </a:xfrm>
          <a:prstGeom prst="rect">
            <a:avLst/>
          </a:prstGeom>
          <a:noFill/>
          <a:ln w="0">
            <a:noFill/>
            <a:prstDash val="solid"/>
          </a:ln>
        </p:spPr>
        <p:txBody>
          <a:bodyPr/>
          <a:lstStyle/>
          <a:p>
            <a:pPr algn="ctr">
              <a:buNone/>
              <a:defRPr sz="2850" b="1">
                <a:solidFill>
                  <a:srgbClr val="0B0F19"/>
                </a:solidFill>
              </a:defRPr>
            </a:pPr>
            <a:r>
              <a:rPr sz="2850" b="1">
                <a:solidFill>
                  <a:srgbClr val="0B0F19"/>
                </a:solidFill>
              </a:rPr>
              <a:t>=</a:t>
            </a:r>
            <a:endParaRPr/>
          </a:p>
        </p:txBody>
      </p:sp>
      <p:sp>
        <p:nvSpPr>
          <p:cNvPr id="318994197" name="Rectangle: Rounded Corners 570514558"/>
          <p:cNvSpPr>
            <a:spLocks noGrp="1"/>
          </p:cNvSpPr>
          <p:nvPr/>
        </p:nvSpPr>
        <p:spPr bwMode="auto">
          <a:xfrm>
            <a:off x="7334250" y="3714750"/>
            <a:ext cx="285750" cy="381000"/>
          </a:xfrm>
          <a:prstGeom prst="roundRect">
            <a:avLst>
              <a:gd name="adj" fmla="val 6667"/>
            </a:avLst>
          </a:prstGeom>
          <a:solidFill>
            <a:srgbClr val="2563EB"/>
          </a:solidFill>
          <a:ln w="14288">
            <a:solidFill>
              <a:srgbClr val="2563EB"/>
            </a:solidFill>
            <a:prstDash val="solid"/>
          </a:ln>
        </p:spPr>
        <p:txBody>
          <a:bodyPr/>
          <a:lstStyle/>
          <a:p>
            <a:pPr>
              <a:buNone/>
              <a:defRPr/>
            </a:pPr>
            <a:endParaRPr/>
          </a:p>
        </p:txBody>
      </p:sp>
      <p:sp>
        <p:nvSpPr>
          <p:cNvPr id="1116672874" name="Rectangle: Rounded Corners 1825339525"/>
          <p:cNvSpPr>
            <a:spLocks noGrp="1"/>
          </p:cNvSpPr>
          <p:nvPr/>
        </p:nvSpPr>
        <p:spPr bwMode="auto">
          <a:xfrm>
            <a:off x="7791450" y="3381375"/>
            <a:ext cx="285750" cy="714375"/>
          </a:xfrm>
          <a:prstGeom prst="roundRect">
            <a:avLst>
              <a:gd name="adj" fmla="val 6667"/>
            </a:avLst>
          </a:prstGeom>
          <a:solidFill>
            <a:srgbClr val="2563EB"/>
          </a:solidFill>
          <a:ln w="14288">
            <a:solidFill>
              <a:srgbClr val="2563EB"/>
            </a:solidFill>
            <a:prstDash val="solid"/>
          </a:ln>
        </p:spPr>
        <p:txBody>
          <a:bodyPr/>
          <a:lstStyle/>
          <a:p>
            <a:pPr>
              <a:buNone/>
              <a:defRPr/>
            </a:pPr>
            <a:endParaRPr/>
          </a:p>
        </p:txBody>
      </p:sp>
      <p:sp>
        <p:nvSpPr>
          <p:cNvPr id="2108656823" name="Rectangle: Rounded Corners 1330424870"/>
          <p:cNvSpPr>
            <a:spLocks noGrp="1"/>
          </p:cNvSpPr>
          <p:nvPr/>
        </p:nvSpPr>
        <p:spPr bwMode="auto">
          <a:xfrm>
            <a:off x="8248650" y="3857625"/>
            <a:ext cx="285750" cy="238125"/>
          </a:xfrm>
          <a:prstGeom prst="roundRect">
            <a:avLst>
              <a:gd name="adj" fmla="val 8000"/>
            </a:avLst>
          </a:prstGeom>
          <a:solidFill>
            <a:srgbClr val="2563EB"/>
          </a:solidFill>
          <a:ln w="14288">
            <a:solidFill>
              <a:srgbClr val="2563EB"/>
            </a:solidFill>
            <a:prstDash val="solid"/>
          </a:ln>
        </p:spPr>
        <p:txBody>
          <a:bodyPr/>
          <a:lstStyle/>
          <a:p>
            <a:pPr>
              <a:buNone/>
              <a:defRPr/>
            </a:pPr>
            <a:endParaRPr/>
          </a:p>
        </p:txBody>
      </p:sp>
      <p:sp>
        <p:nvSpPr>
          <p:cNvPr id="12595042" name="Rectangle: Rounded Corners 1894137061"/>
          <p:cNvSpPr>
            <a:spLocks noGrp="1"/>
          </p:cNvSpPr>
          <p:nvPr/>
        </p:nvSpPr>
        <p:spPr bwMode="auto">
          <a:xfrm>
            <a:off x="8705850" y="3190875"/>
            <a:ext cx="285750" cy="904875"/>
          </a:xfrm>
          <a:prstGeom prst="roundRect">
            <a:avLst>
              <a:gd name="adj" fmla="val 6667"/>
            </a:avLst>
          </a:prstGeom>
          <a:solidFill>
            <a:srgbClr val="2563EB"/>
          </a:solidFill>
          <a:ln w="14288">
            <a:solidFill>
              <a:srgbClr val="2563EB"/>
            </a:solidFill>
            <a:prstDash val="solid"/>
          </a:ln>
        </p:spPr>
        <p:txBody>
          <a:bodyPr/>
          <a:lstStyle/>
          <a:p>
            <a:pPr>
              <a:buNone/>
              <a:defRPr/>
            </a:pPr>
            <a:endParaRPr/>
          </a:p>
        </p:txBody>
      </p:sp>
      <p:sp>
        <p:nvSpPr>
          <p:cNvPr id="177026017" name="Rectangle: Rounded Corners 402898928"/>
          <p:cNvSpPr>
            <a:spLocks noGrp="1"/>
          </p:cNvSpPr>
          <p:nvPr/>
        </p:nvSpPr>
        <p:spPr bwMode="auto">
          <a:xfrm>
            <a:off x="9163050" y="3571875"/>
            <a:ext cx="285750" cy="523875"/>
          </a:xfrm>
          <a:prstGeom prst="roundRect">
            <a:avLst>
              <a:gd name="adj" fmla="val 6667"/>
            </a:avLst>
          </a:prstGeom>
          <a:solidFill>
            <a:srgbClr val="2563EB"/>
          </a:solidFill>
          <a:ln w="14288">
            <a:solidFill>
              <a:srgbClr val="2563EB"/>
            </a:solidFill>
            <a:prstDash val="solid"/>
          </a:ln>
        </p:spPr>
        <p:txBody>
          <a:bodyPr/>
          <a:lstStyle/>
          <a:p>
            <a:pPr>
              <a:buNone/>
              <a:defRPr/>
            </a:pPr>
            <a:endParaRPr/>
          </a:p>
        </p:txBody>
      </p:sp>
      <p:sp>
        <p:nvSpPr>
          <p:cNvPr id="1860011582" name="Rectangle 1777770755"/>
          <p:cNvSpPr>
            <a:spLocks noGrp="1"/>
          </p:cNvSpPr>
          <p:nvPr/>
        </p:nvSpPr>
        <p:spPr bwMode="auto">
          <a:xfrm>
            <a:off x="7048500" y="4333875"/>
            <a:ext cx="2762250" cy="342900"/>
          </a:xfrm>
          <a:prstGeom prst="rect">
            <a:avLst/>
          </a:prstGeom>
          <a:noFill/>
          <a:ln w="0">
            <a:noFill/>
            <a:prstDash val="solid"/>
          </a:ln>
        </p:spPr>
        <p:txBody>
          <a:bodyPr/>
          <a:lstStyle/>
          <a:p>
            <a:pPr algn="ctr">
              <a:buNone/>
              <a:defRPr sz="2100" b="1">
                <a:solidFill>
                  <a:srgbClr val="0B0F19"/>
                </a:solidFill>
              </a:defRPr>
            </a:pPr>
            <a:r>
              <a:rPr sz="2100" b="1">
                <a:solidFill>
                  <a:srgbClr val="0B0F19"/>
                </a:solidFill>
              </a:rPr>
              <a:t>one score per key</a:t>
            </a:r>
            <a:endParaRPr/>
          </a:p>
        </p:txBody>
      </p:sp>
      <p:sp>
        <p:nvSpPr>
          <p:cNvPr id="833980112" name="Rectangle 664374673"/>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45</a:t>
            </a:r>
            <a:endParaRPr/>
          </a:p>
        </p:txBody>
      </p:sp>
      <p:sp>
        <p:nvSpPr>
          <p:cNvPr id="1248667456" name="qk-score-formula"/>
          <p:cNvSpPr>
            <a:spLocks noGrp="1"/>
          </p:cNvSpPr>
          <p:nvPr/>
        </p:nvSpPr>
        <p:spPr bwMode="auto">
          <a:xfrm>
            <a:off x="2095500" y="1695450"/>
            <a:ext cx="7429500" cy="495300"/>
          </a:xfrm>
          <a:prstGeom prst="rect">
            <a:avLst/>
          </a:prstGeom>
          <a:noFill/>
          <a:ln w="0">
            <a:noFill/>
            <a:prstDash val="solid"/>
          </a:ln>
        </p:spPr>
        <p:txBody>
          <a:bodyPr anchor="ctr"/>
          <a:lstStyle/>
          <a:p>
            <a:pPr algn="ctr">
              <a:buNone/>
              <a:defRPr sz="2400" b="1">
                <a:solidFill>
                  <a:srgbClr val="2563EB"/>
                </a:solidFill>
              </a:defRPr>
            </a:pPr>
            <a:r>
              <a:rPr sz="2400" b="1">
                <a:solidFill>
                  <a:srgbClr val="2563EB"/>
                </a:solidFill>
              </a:rPr>
              <a:t>score = QKᵀ</a:t>
            </a:r>
            <a:endParaRPr/>
          </a:p>
        </p:txBody>
      </p:sp>
      <p:sp>
        <p:nvSpPr>
          <p:cNvPr id="675758271" name="dot-product-explanation"/>
          <p:cNvSpPr>
            <a:spLocks noGrp="1"/>
          </p:cNvSpPr>
          <p:nvPr/>
        </p:nvSpPr>
        <p:spPr bwMode="auto">
          <a:xfrm>
            <a:off x="1619250" y="4857750"/>
            <a:ext cx="8953500" cy="742950"/>
          </a:xfrm>
          <a:prstGeom prst="rect">
            <a:avLst/>
          </a:prstGeom>
          <a:noFill/>
          <a:ln w="0">
            <a:noFill/>
            <a:prstDash val="solid"/>
          </a:ln>
        </p:spPr>
        <p:txBody>
          <a:bodyPr anchor="ctr"/>
          <a:lstStyle/>
          <a:p>
            <a:pPr algn="ctr">
              <a:buNone/>
              <a:defRPr sz="1600" b="0">
                <a:solidFill>
                  <a:srgbClr val="667085"/>
                </a:solidFill>
              </a:defRPr>
            </a:pPr>
            <a:r>
              <a:rPr sz="1600" b="0">
                <a:solidFill>
                  <a:srgbClr val="667085"/>
                </a:solidFill>
              </a:rPr>
              <a:t>Dot product: multiply matching dimensions, then add them.</a:t>
            </a:r>
            <a:endParaRPr/>
          </a:p>
          <a:p>
            <a:pPr algn="ctr">
              <a:buNone/>
              <a:defRPr sz="1600" b="0">
                <a:solidFill>
                  <a:srgbClr val="667085"/>
                </a:solidFill>
              </a:defRPr>
            </a:pPr>
            <a:r>
              <a:rPr sz="1600" b="0">
                <a:solidFill>
                  <a:srgbClr val="667085"/>
                </a:solidFill>
              </a:rPr>
              <a:t>&lt;BOS&gt; query · each encoder key → one score for each source token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18022265" name="Rectangle 170133869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Mechanism</a:t>
            </a:r>
            <a:endParaRPr/>
          </a:p>
        </p:txBody>
      </p:sp>
      <p:sp>
        <p:nvSpPr>
          <p:cNvPr id="851208290" name="Rectangle 1786653114"/>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Scale scores, then Softmax makes weights</a:t>
            </a:r>
            <a:endParaRPr/>
          </a:p>
        </p:txBody>
      </p:sp>
      <p:sp>
        <p:nvSpPr>
          <p:cNvPr id="1530030953" name="Rectangle: Rounded Corners 46470581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2094035178" name="Rectangle: Rounded Corners 1141548239"/>
          <p:cNvSpPr>
            <a:spLocks noGrp="1"/>
          </p:cNvSpPr>
          <p:nvPr/>
        </p:nvSpPr>
        <p:spPr bwMode="auto">
          <a:xfrm>
            <a:off x="2476500" y="3476625"/>
            <a:ext cx="285750" cy="333375"/>
          </a:xfrm>
          <a:prstGeom prst="roundRect">
            <a:avLst>
              <a:gd name="adj" fmla="val 6667"/>
            </a:avLst>
          </a:prstGeom>
          <a:solidFill>
            <a:srgbClr val="F97316"/>
          </a:solidFill>
          <a:ln w="14288">
            <a:solidFill>
              <a:srgbClr val="F97316"/>
            </a:solidFill>
            <a:prstDash val="solid"/>
          </a:ln>
        </p:spPr>
        <p:txBody>
          <a:bodyPr/>
          <a:lstStyle/>
          <a:p>
            <a:pPr>
              <a:buNone/>
              <a:defRPr/>
            </a:pPr>
            <a:endParaRPr/>
          </a:p>
        </p:txBody>
      </p:sp>
      <p:sp>
        <p:nvSpPr>
          <p:cNvPr id="539454026" name="Rectangle: Rounded Corners 498832919"/>
          <p:cNvSpPr>
            <a:spLocks noGrp="1"/>
          </p:cNvSpPr>
          <p:nvPr/>
        </p:nvSpPr>
        <p:spPr bwMode="auto">
          <a:xfrm>
            <a:off x="2933699" y="3048000"/>
            <a:ext cx="285750" cy="762000"/>
          </a:xfrm>
          <a:prstGeom prst="roundRect">
            <a:avLst>
              <a:gd name="adj" fmla="val 6667"/>
            </a:avLst>
          </a:prstGeom>
          <a:solidFill>
            <a:srgbClr val="F97316"/>
          </a:solidFill>
          <a:ln w="14288">
            <a:solidFill>
              <a:srgbClr val="F97316"/>
            </a:solidFill>
            <a:prstDash val="solid"/>
          </a:ln>
        </p:spPr>
        <p:txBody>
          <a:bodyPr/>
          <a:lstStyle/>
          <a:p>
            <a:pPr>
              <a:buNone/>
              <a:defRPr/>
            </a:pPr>
            <a:endParaRPr/>
          </a:p>
        </p:txBody>
      </p:sp>
      <p:sp>
        <p:nvSpPr>
          <p:cNvPr id="331476262" name="Rectangle: Rounded Corners 1769908897"/>
          <p:cNvSpPr>
            <a:spLocks noGrp="1"/>
          </p:cNvSpPr>
          <p:nvPr/>
        </p:nvSpPr>
        <p:spPr bwMode="auto">
          <a:xfrm>
            <a:off x="3390900" y="3619500"/>
            <a:ext cx="285750" cy="190500"/>
          </a:xfrm>
          <a:prstGeom prst="roundRect">
            <a:avLst>
              <a:gd name="adj" fmla="val 10000"/>
            </a:avLst>
          </a:prstGeom>
          <a:solidFill>
            <a:srgbClr val="F97316"/>
          </a:solidFill>
          <a:ln w="14288">
            <a:solidFill>
              <a:srgbClr val="F97316"/>
            </a:solidFill>
            <a:prstDash val="solid"/>
          </a:ln>
        </p:spPr>
        <p:txBody>
          <a:bodyPr/>
          <a:lstStyle/>
          <a:p>
            <a:pPr>
              <a:buNone/>
              <a:defRPr/>
            </a:pPr>
            <a:endParaRPr/>
          </a:p>
        </p:txBody>
      </p:sp>
      <p:sp>
        <p:nvSpPr>
          <p:cNvPr id="947536332" name="Rectangle: Rounded Corners 1914348486"/>
          <p:cNvSpPr>
            <a:spLocks noGrp="1"/>
          </p:cNvSpPr>
          <p:nvPr/>
        </p:nvSpPr>
        <p:spPr bwMode="auto">
          <a:xfrm>
            <a:off x="3848100" y="2905125"/>
            <a:ext cx="285750" cy="904875"/>
          </a:xfrm>
          <a:prstGeom prst="roundRect">
            <a:avLst>
              <a:gd name="adj" fmla="val 6667"/>
            </a:avLst>
          </a:prstGeom>
          <a:solidFill>
            <a:srgbClr val="F97316"/>
          </a:solidFill>
          <a:ln w="14288">
            <a:solidFill>
              <a:srgbClr val="F97316"/>
            </a:solidFill>
            <a:prstDash val="solid"/>
          </a:ln>
        </p:spPr>
        <p:txBody>
          <a:bodyPr/>
          <a:lstStyle/>
          <a:p>
            <a:pPr>
              <a:buNone/>
              <a:defRPr/>
            </a:pPr>
            <a:endParaRPr/>
          </a:p>
        </p:txBody>
      </p:sp>
      <p:sp>
        <p:nvSpPr>
          <p:cNvPr id="235384966" name="Rectangle: Rounded Corners 1678518739"/>
          <p:cNvSpPr>
            <a:spLocks noGrp="1"/>
          </p:cNvSpPr>
          <p:nvPr/>
        </p:nvSpPr>
        <p:spPr bwMode="auto">
          <a:xfrm>
            <a:off x="4305300" y="3381375"/>
            <a:ext cx="285750" cy="428625"/>
          </a:xfrm>
          <a:prstGeom prst="roundRect">
            <a:avLst>
              <a:gd name="adj" fmla="val 6667"/>
            </a:avLst>
          </a:prstGeom>
          <a:solidFill>
            <a:srgbClr val="F97316"/>
          </a:solidFill>
          <a:ln w="14288">
            <a:solidFill>
              <a:srgbClr val="F97316"/>
            </a:solidFill>
            <a:prstDash val="solid"/>
          </a:ln>
        </p:spPr>
        <p:txBody>
          <a:bodyPr/>
          <a:lstStyle/>
          <a:p>
            <a:pPr>
              <a:buNone/>
              <a:defRPr/>
            </a:pPr>
            <a:endParaRPr/>
          </a:p>
        </p:txBody>
      </p:sp>
      <p:sp>
        <p:nvSpPr>
          <p:cNvPr id="1693169021" name="Arrow: Right 2119966246"/>
          <p:cNvSpPr>
            <a:spLocks noGrp="1"/>
          </p:cNvSpPr>
          <p:nvPr/>
        </p:nvSpPr>
        <p:spPr bwMode="auto">
          <a:xfrm>
            <a:off x="5095875" y="3143250"/>
            <a:ext cx="1619250" cy="523875"/>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300" b="1">
                <a:solidFill>
                  <a:srgbClr val="0B0F19"/>
                </a:solidFill>
              </a:defRPr>
            </a:pPr>
            <a:r>
              <a:rPr sz="1300" b="1">
                <a:solidFill>
                  <a:srgbClr val="0B0F19"/>
                </a:solidFill>
              </a:rPr>
              <a:t>scale + softmax</a:t>
            </a:r>
            <a:endParaRPr/>
          </a:p>
        </p:txBody>
      </p:sp>
      <p:sp>
        <p:nvSpPr>
          <p:cNvPr id="57271173" name="Rectangle: Rounded Corners 211572738"/>
          <p:cNvSpPr>
            <a:spLocks noGrp="1"/>
          </p:cNvSpPr>
          <p:nvPr/>
        </p:nvSpPr>
        <p:spPr bwMode="auto">
          <a:xfrm>
            <a:off x="7620000" y="3571875"/>
            <a:ext cx="285750" cy="238125"/>
          </a:xfrm>
          <a:prstGeom prst="roundRect">
            <a:avLst>
              <a:gd name="adj" fmla="val 8000"/>
            </a:avLst>
          </a:prstGeom>
          <a:solidFill>
            <a:srgbClr val="10B981"/>
          </a:solidFill>
          <a:ln w="14288">
            <a:solidFill>
              <a:srgbClr val="10B981"/>
            </a:solidFill>
            <a:prstDash val="solid"/>
          </a:ln>
        </p:spPr>
        <p:txBody>
          <a:bodyPr/>
          <a:lstStyle/>
          <a:p>
            <a:pPr>
              <a:buNone/>
              <a:defRPr/>
            </a:pPr>
            <a:endParaRPr/>
          </a:p>
        </p:txBody>
      </p:sp>
      <p:sp>
        <p:nvSpPr>
          <p:cNvPr id="1449520707" name="Rectangle: Rounded Corners 1030269239"/>
          <p:cNvSpPr>
            <a:spLocks noGrp="1"/>
          </p:cNvSpPr>
          <p:nvPr/>
        </p:nvSpPr>
        <p:spPr bwMode="auto">
          <a:xfrm>
            <a:off x="8077200" y="3143250"/>
            <a:ext cx="285750" cy="666750"/>
          </a:xfrm>
          <a:prstGeom prst="roundRect">
            <a:avLst>
              <a:gd name="adj" fmla="val 6667"/>
            </a:avLst>
          </a:prstGeom>
          <a:solidFill>
            <a:srgbClr val="10B981"/>
          </a:solidFill>
          <a:ln w="14288">
            <a:solidFill>
              <a:srgbClr val="10B981"/>
            </a:solidFill>
            <a:prstDash val="solid"/>
          </a:ln>
        </p:spPr>
        <p:txBody>
          <a:bodyPr/>
          <a:lstStyle/>
          <a:p>
            <a:pPr>
              <a:buNone/>
              <a:defRPr/>
            </a:pPr>
            <a:endParaRPr/>
          </a:p>
        </p:txBody>
      </p:sp>
      <p:sp>
        <p:nvSpPr>
          <p:cNvPr id="169358115" name="Rectangle: Rounded Corners 642494706"/>
          <p:cNvSpPr>
            <a:spLocks noGrp="1"/>
          </p:cNvSpPr>
          <p:nvPr/>
        </p:nvSpPr>
        <p:spPr bwMode="auto">
          <a:xfrm>
            <a:off x="8534400" y="3667125"/>
            <a:ext cx="285750" cy="142875"/>
          </a:xfrm>
          <a:prstGeom prst="roundRect">
            <a:avLst>
              <a:gd name="adj" fmla="val 13333"/>
            </a:avLst>
          </a:prstGeom>
          <a:solidFill>
            <a:srgbClr val="10B981"/>
          </a:solidFill>
          <a:ln w="14288">
            <a:solidFill>
              <a:srgbClr val="10B981"/>
            </a:solidFill>
            <a:prstDash val="solid"/>
          </a:ln>
        </p:spPr>
        <p:txBody>
          <a:bodyPr/>
          <a:lstStyle/>
          <a:p>
            <a:pPr>
              <a:buNone/>
              <a:defRPr/>
            </a:pPr>
            <a:endParaRPr/>
          </a:p>
        </p:txBody>
      </p:sp>
      <p:sp>
        <p:nvSpPr>
          <p:cNvPr id="1065626736" name="Rectangle: Rounded Corners 1203968868"/>
          <p:cNvSpPr>
            <a:spLocks noGrp="1"/>
          </p:cNvSpPr>
          <p:nvPr/>
        </p:nvSpPr>
        <p:spPr bwMode="auto">
          <a:xfrm>
            <a:off x="8991600" y="2952750"/>
            <a:ext cx="285750" cy="857250"/>
          </a:xfrm>
          <a:prstGeom prst="roundRect">
            <a:avLst>
              <a:gd name="adj" fmla="val 6667"/>
            </a:avLst>
          </a:prstGeom>
          <a:solidFill>
            <a:srgbClr val="10B981"/>
          </a:solidFill>
          <a:ln w="14288">
            <a:solidFill>
              <a:srgbClr val="10B981"/>
            </a:solidFill>
            <a:prstDash val="solid"/>
          </a:ln>
        </p:spPr>
        <p:txBody>
          <a:bodyPr/>
          <a:lstStyle/>
          <a:p>
            <a:pPr>
              <a:buNone/>
              <a:defRPr/>
            </a:pPr>
            <a:endParaRPr/>
          </a:p>
        </p:txBody>
      </p:sp>
      <p:sp>
        <p:nvSpPr>
          <p:cNvPr id="392087947" name="Rectangle: Rounded Corners 666818066"/>
          <p:cNvSpPr>
            <a:spLocks noGrp="1"/>
          </p:cNvSpPr>
          <p:nvPr/>
        </p:nvSpPr>
        <p:spPr bwMode="auto">
          <a:xfrm>
            <a:off x="9448799" y="3429000"/>
            <a:ext cx="285750" cy="381000"/>
          </a:xfrm>
          <a:prstGeom prst="roundRect">
            <a:avLst>
              <a:gd name="adj" fmla="val 6667"/>
            </a:avLst>
          </a:prstGeom>
          <a:solidFill>
            <a:srgbClr val="10B981"/>
          </a:solidFill>
          <a:ln w="14288">
            <a:solidFill>
              <a:srgbClr val="10B981"/>
            </a:solidFill>
            <a:prstDash val="solid"/>
          </a:ln>
        </p:spPr>
        <p:txBody>
          <a:bodyPr/>
          <a:lstStyle/>
          <a:p>
            <a:pPr>
              <a:buNone/>
              <a:defRPr/>
            </a:pPr>
            <a:endParaRPr/>
          </a:p>
        </p:txBody>
      </p:sp>
      <p:sp>
        <p:nvSpPr>
          <p:cNvPr id="775036424" name="Rectangle 1940968764"/>
          <p:cNvSpPr>
            <a:spLocks noGrp="1"/>
          </p:cNvSpPr>
          <p:nvPr/>
        </p:nvSpPr>
        <p:spPr bwMode="auto">
          <a:xfrm>
            <a:off x="1952625" y="4381500"/>
            <a:ext cx="2857500" cy="323850"/>
          </a:xfrm>
          <a:prstGeom prst="rect">
            <a:avLst/>
          </a:prstGeom>
          <a:noFill/>
          <a:ln w="0">
            <a:noFill/>
            <a:prstDash val="solid"/>
          </a:ln>
        </p:spPr>
        <p:txBody>
          <a:bodyPr/>
          <a:lstStyle/>
          <a:p>
            <a:pPr algn="ctr">
              <a:buNone/>
              <a:defRPr sz="1900" b="1">
                <a:solidFill>
                  <a:srgbClr val="0B0F19"/>
                </a:solidFill>
              </a:defRPr>
            </a:pPr>
            <a:r>
              <a:rPr sz="1900" b="1">
                <a:solidFill>
                  <a:srgbClr val="0B0F19"/>
                </a:solidFill>
              </a:rPr>
              <a:t>QKᵀ / √dₖ</a:t>
            </a:r>
            <a:endParaRPr/>
          </a:p>
        </p:txBody>
      </p:sp>
      <p:sp>
        <p:nvSpPr>
          <p:cNvPr id="1230833799" name="Rectangle 1848061419"/>
          <p:cNvSpPr>
            <a:spLocks noGrp="1"/>
          </p:cNvSpPr>
          <p:nvPr/>
        </p:nvSpPr>
        <p:spPr bwMode="auto">
          <a:xfrm>
            <a:off x="6953250" y="4381500"/>
            <a:ext cx="3333750" cy="323850"/>
          </a:xfrm>
          <a:prstGeom prst="rect">
            <a:avLst/>
          </a:prstGeom>
          <a:noFill/>
          <a:ln w="0">
            <a:noFill/>
            <a:prstDash val="solid"/>
          </a:ln>
        </p:spPr>
        <p:txBody>
          <a:bodyPr/>
          <a:lstStyle/>
          <a:p>
            <a:pPr algn="ctr">
              <a:buNone/>
              <a:defRPr sz="1900" b="1">
                <a:solidFill>
                  <a:srgbClr val="0B0F19"/>
                </a:solidFill>
              </a:defRPr>
            </a:pPr>
            <a:r>
              <a:rPr sz="1900" b="1">
                <a:solidFill>
                  <a:srgbClr val="0B0F19"/>
                </a:solidFill>
              </a:rPr>
              <a:t>attention weights (sum = 1)</a:t>
            </a:r>
            <a:endParaRPr/>
          </a:p>
        </p:txBody>
      </p:sp>
      <p:sp>
        <p:nvSpPr>
          <p:cNvPr id="1620159831" name="Rectangle 2016234214"/>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46</a:t>
            </a:r>
            <a:endParaRPr/>
          </a:p>
        </p:txBody>
      </p:sp>
      <p:sp>
        <p:nvSpPr>
          <p:cNvPr id="452551082" name="scaled-dot-product-attention-formula"/>
          <p:cNvSpPr>
            <a:spLocks noGrp="1"/>
          </p:cNvSpPr>
          <p:nvPr/>
        </p:nvSpPr>
        <p:spPr bwMode="auto">
          <a:xfrm>
            <a:off x="1428750" y="1695450"/>
            <a:ext cx="9334500" cy="495300"/>
          </a:xfrm>
          <a:prstGeom prst="rect">
            <a:avLst/>
          </a:prstGeom>
          <a:noFill/>
          <a:ln w="0">
            <a:noFill/>
            <a:prstDash val="solid"/>
          </a:ln>
        </p:spPr>
        <p:txBody>
          <a:bodyPr anchor="ctr"/>
          <a:lstStyle/>
          <a:p>
            <a:pPr algn="ctr">
              <a:buNone/>
              <a:defRPr sz="2250" b="1">
                <a:solidFill>
                  <a:srgbClr val="2563EB"/>
                </a:solidFill>
              </a:defRPr>
            </a:pPr>
            <a:r>
              <a:rPr sz="2250" b="1">
                <a:solidFill>
                  <a:srgbClr val="2563EB"/>
                </a:solidFill>
              </a:rPr>
              <a:t>Attention(Q, K, V) = Softmax(QKᵀ / √dₖ)V</a:t>
            </a:r>
            <a:endParaRPr/>
          </a:p>
        </p:txBody>
      </p:sp>
      <p:sp>
        <p:nvSpPr>
          <p:cNvPr id="646326717" name="scaling-explanation"/>
          <p:cNvSpPr>
            <a:spLocks noGrp="1"/>
          </p:cNvSpPr>
          <p:nvPr/>
        </p:nvSpPr>
        <p:spPr bwMode="auto">
          <a:xfrm>
            <a:off x="2000250" y="4953000"/>
            <a:ext cx="8191500" cy="457200"/>
          </a:xfrm>
          <a:prstGeom prst="rect">
            <a:avLst/>
          </a:prstGeom>
          <a:noFill/>
          <a:ln w="0">
            <a:noFill/>
            <a:prstDash val="solid"/>
          </a:ln>
        </p:spPr>
        <p:txBody>
          <a:bodyPr anchor="ctr"/>
          <a:lstStyle/>
          <a:p>
            <a:pPr algn="ctr">
              <a:buNone/>
              <a:defRPr sz="1500" b="0">
                <a:solidFill>
                  <a:srgbClr val="667085"/>
                </a:solidFill>
              </a:defRPr>
            </a:pPr>
            <a:r>
              <a:rPr sz="1500" b="0">
                <a:solidFill>
                  <a:srgbClr val="667085"/>
                </a:solidFill>
              </a:rPr>
              <a:t>Dividing by √dₖ keeps large vectors from making the scores too extreme.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36258081" name="Rectangle 667720717"/>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Mechanism</a:t>
            </a:r>
            <a:endParaRPr/>
          </a:p>
        </p:txBody>
      </p:sp>
      <p:sp>
        <p:nvSpPr>
          <p:cNvPr id="2146655139" name="Rectangle 1521779778"/>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Values are mixed into context</a:t>
            </a:r>
            <a:endParaRPr/>
          </a:p>
        </p:txBody>
      </p:sp>
      <p:sp>
        <p:nvSpPr>
          <p:cNvPr id="680365842" name="Rectangle: Rounded Corners 83280789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961220043" name="Rectangle: Rounded Corners 1099418884"/>
          <p:cNvSpPr>
            <a:spLocks noGrp="1"/>
          </p:cNvSpPr>
          <p:nvPr/>
        </p:nvSpPr>
        <p:spPr bwMode="auto">
          <a:xfrm>
            <a:off x="1714500" y="3000375"/>
            <a:ext cx="857250" cy="762000"/>
          </a:xfrm>
          <a:prstGeom prst="roundRect">
            <a:avLst>
              <a:gd name="adj" fmla="val 15000"/>
            </a:avLst>
          </a:prstGeom>
          <a:solidFill>
            <a:srgbClr val="DCFCE7"/>
          </a:solidFill>
          <a:ln w="14288">
            <a:solidFill>
              <a:srgbClr val="10B981"/>
            </a:solidFill>
            <a:prstDash val="solid"/>
          </a:ln>
        </p:spPr>
        <p:txBody>
          <a:bodyPr/>
          <a:lstStyle/>
          <a:p>
            <a:pPr algn="ctr">
              <a:buNone/>
              <a:defRPr sz="2100" b="1">
                <a:solidFill>
                  <a:srgbClr val="0B0F19"/>
                </a:solidFill>
              </a:defRPr>
            </a:pPr>
            <a:r>
              <a:rPr sz="2100" b="1">
                <a:solidFill>
                  <a:srgbClr val="0B0F19"/>
                </a:solidFill>
              </a:rPr>
              <a:t>V1</a:t>
            </a:r>
            <a:endParaRPr/>
          </a:p>
        </p:txBody>
      </p:sp>
      <p:sp>
        <p:nvSpPr>
          <p:cNvPr id="587197119" name="Rectangle 605842497"/>
          <p:cNvSpPr>
            <a:spLocks noGrp="1"/>
          </p:cNvSpPr>
          <p:nvPr/>
        </p:nvSpPr>
        <p:spPr bwMode="auto">
          <a:xfrm>
            <a:off x="1714500" y="3905250"/>
            <a:ext cx="857250" cy="285750"/>
          </a:xfrm>
          <a:prstGeom prst="rect">
            <a:avLst/>
          </a:prstGeom>
          <a:noFill/>
          <a:ln w="0">
            <a:noFill/>
            <a:prstDash val="solid"/>
          </a:ln>
        </p:spPr>
        <p:txBody>
          <a:bodyPr/>
          <a:lstStyle/>
          <a:p>
            <a:pPr algn="ctr">
              <a:buNone/>
              <a:defRPr sz="1650" b="1">
                <a:solidFill>
                  <a:srgbClr val="2563EB"/>
                </a:solidFill>
              </a:defRPr>
            </a:pPr>
            <a:r>
              <a:rPr sz="1650" b="1">
                <a:solidFill>
                  <a:srgbClr val="2563EB"/>
                </a:solidFill>
              </a:rPr>
              <a:t>0.15</a:t>
            </a:r>
            <a:endParaRPr/>
          </a:p>
        </p:txBody>
      </p:sp>
      <p:sp>
        <p:nvSpPr>
          <p:cNvPr id="295545763" name="Rectangle: Rounded Corners 1810780251"/>
          <p:cNvSpPr>
            <a:spLocks noGrp="1"/>
          </p:cNvSpPr>
          <p:nvPr/>
        </p:nvSpPr>
        <p:spPr bwMode="auto">
          <a:xfrm>
            <a:off x="3190875" y="3000375"/>
            <a:ext cx="857250" cy="762000"/>
          </a:xfrm>
          <a:prstGeom prst="roundRect">
            <a:avLst>
              <a:gd name="adj" fmla="val 15000"/>
            </a:avLst>
          </a:prstGeom>
          <a:solidFill>
            <a:srgbClr val="DCFCE7"/>
          </a:solidFill>
          <a:ln w="14288">
            <a:solidFill>
              <a:srgbClr val="10B981"/>
            </a:solidFill>
            <a:prstDash val="solid"/>
          </a:ln>
        </p:spPr>
        <p:txBody>
          <a:bodyPr/>
          <a:lstStyle/>
          <a:p>
            <a:pPr algn="ctr">
              <a:buNone/>
              <a:defRPr sz="2100" b="1">
                <a:solidFill>
                  <a:srgbClr val="0B0F19"/>
                </a:solidFill>
              </a:defRPr>
            </a:pPr>
            <a:r>
              <a:rPr sz="2100" b="1">
                <a:solidFill>
                  <a:srgbClr val="0B0F19"/>
                </a:solidFill>
              </a:rPr>
              <a:t>V2</a:t>
            </a:r>
            <a:endParaRPr/>
          </a:p>
        </p:txBody>
      </p:sp>
      <p:sp>
        <p:nvSpPr>
          <p:cNvPr id="628009790" name="Rectangle 1903860279"/>
          <p:cNvSpPr>
            <a:spLocks noGrp="1"/>
          </p:cNvSpPr>
          <p:nvPr/>
        </p:nvSpPr>
        <p:spPr bwMode="auto">
          <a:xfrm>
            <a:off x="3190875" y="3905250"/>
            <a:ext cx="857250" cy="285750"/>
          </a:xfrm>
          <a:prstGeom prst="rect">
            <a:avLst/>
          </a:prstGeom>
          <a:noFill/>
          <a:ln w="0">
            <a:noFill/>
            <a:prstDash val="solid"/>
          </a:ln>
        </p:spPr>
        <p:txBody>
          <a:bodyPr/>
          <a:lstStyle/>
          <a:p>
            <a:pPr algn="ctr">
              <a:buNone/>
              <a:defRPr sz="1650" b="1">
                <a:solidFill>
                  <a:srgbClr val="2563EB"/>
                </a:solidFill>
              </a:defRPr>
            </a:pPr>
            <a:r>
              <a:rPr sz="1650" b="1">
                <a:solidFill>
                  <a:srgbClr val="2563EB"/>
                </a:solidFill>
              </a:rPr>
              <a:t>0.55</a:t>
            </a:r>
            <a:endParaRPr/>
          </a:p>
        </p:txBody>
      </p:sp>
      <p:sp>
        <p:nvSpPr>
          <p:cNvPr id="47855553" name="Rectangle: Rounded Corners 453837605"/>
          <p:cNvSpPr>
            <a:spLocks noGrp="1"/>
          </p:cNvSpPr>
          <p:nvPr/>
        </p:nvSpPr>
        <p:spPr bwMode="auto">
          <a:xfrm>
            <a:off x="4667250" y="3000375"/>
            <a:ext cx="857250" cy="762000"/>
          </a:xfrm>
          <a:prstGeom prst="roundRect">
            <a:avLst>
              <a:gd name="adj" fmla="val 15000"/>
            </a:avLst>
          </a:prstGeom>
          <a:solidFill>
            <a:srgbClr val="DCFCE7"/>
          </a:solidFill>
          <a:ln w="14288">
            <a:solidFill>
              <a:srgbClr val="10B981"/>
            </a:solidFill>
            <a:prstDash val="solid"/>
          </a:ln>
        </p:spPr>
        <p:txBody>
          <a:bodyPr/>
          <a:lstStyle/>
          <a:p>
            <a:pPr algn="ctr">
              <a:buNone/>
              <a:defRPr sz="2100" b="1">
                <a:solidFill>
                  <a:srgbClr val="0B0F19"/>
                </a:solidFill>
              </a:defRPr>
            </a:pPr>
            <a:r>
              <a:rPr sz="2100" b="1">
                <a:solidFill>
                  <a:srgbClr val="0B0F19"/>
                </a:solidFill>
              </a:rPr>
              <a:t>V3</a:t>
            </a:r>
            <a:endParaRPr/>
          </a:p>
        </p:txBody>
      </p:sp>
      <p:sp>
        <p:nvSpPr>
          <p:cNvPr id="454191941" name="Rectangle 1961512127"/>
          <p:cNvSpPr>
            <a:spLocks noGrp="1"/>
          </p:cNvSpPr>
          <p:nvPr/>
        </p:nvSpPr>
        <p:spPr bwMode="auto">
          <a:xfrm>
            <a:off x="4667250" y="3905250"/>
            <a:ext cx="857250" cy="285750"/>
          </a:xfrm>
          <a:prstGeom prst="rect">
            <a:avLst/>
          </a:prstGeom>
          <a:noFill/>
          <a:ln w="0">
            <a:noFill/>
            <a:prstDash val="solid"/>
          </a:ln>
        </p:spPr>
        <p:txBody>
          <a:bodyPr/>
          <a:lstStyle/>
          <a:p>
            <a:pPr algn="ctr">
              <a:buNone/>
              <a:defRPr sz="1650" b="1">
                <a:solidFill>
                  <a:srgbClr val="2563EB"/>
                </a:solidFill>
              </a:defRPr>
            </a:pPr>
            <a:r>
              <a:rPr sz="1650" b="1">
                <a:solidFill>
                  <a:srgbClr val="2563EB"/>
                </a:solidFill>
              </a:rPr>
              <a:t>0.1</a:t>
            </a:r>
            <a:endParaRPr/>
          </a:p>
        </p:txBody>
      </p:sp>
      <p:sp>
        <p:nvSpPr>
          <p:cNvPr id="372864717" name="Rectangle: Rounded Corners 866508350"/>
          <p:cNvSpPr>
            <a:spLocks noGrp="1"/>
          </p:cNvSpPr>
          <p:nvPr/>
        </p:nvSpPr>
        <p:spPr bwMode="auto">
          <a:xfrm>
            <a:off x="6143625" y="3000375"/>
            <a:ext cx="857250" cy="762000"/>
          </a:xfrm>
          <a:prstGeom prst="roundRect">
            <a:avLst>
              <a:gd name="adj" fmla="val 15000"/>
            </a:avLst>
          </a:prstGeom>
          <a:solidFill>
            <a:srgbClr val="DCFCE7"/>
          </a:solidFill>
          <a:ln w="14288">
            <a:solidFill>
              <a:srgbClr val="10B981"/>
            </a:solidFill>
            <a:prstDash val="solid"/>
          </a:ln>
        </p:spPr>
        <p:txBody>
          <a:bodyPr/>
          <a:lstStyle/>
          <a:p>
            <a:pPr algn="ctr">
              <a:buNone/>
              <a:defRPr sz="2100" b="1">
                <a:solidFill>
                  <a:srgbClr val="0B0F19"/>
                </a:solidFill>
              </a:defRPr>
            </a:pPr>
            <a:r>
              <a:rPr sz="2100" b="1">
                <a:solidFill>
                  <a:srgbClr val="0B0F19"/>
                </a:solidFill>
              </a:rPr>
              <a:t>V4</a:t>
            </a:r>
            <a:endParaRPr/>
          </a:p>
        </p:txBody>
      </p:sp>
      <p:sp>
        <p:nvSpPr>
          <p:cNvPr id="1860143133" name="Rectangle 1031075147"/>
          <p:cNvSpPr>
            <a:spLocks noGrp="1"/>
          </p:cNvSpPr>
          <p:nvPr/>
        </p:nvSpPr>
        <p:spPr bwMode="auto">
          <a:xfrm>
            <a:off x="6143625" y="3905250"/>
            <a:ext cx="857250" cy="285750"/>
          </a:xfrm>
          <a:prstGeom prst="rect">
            <a:avLst/>
          </a:prstGeom>
          <a:noFill/>
          <a:ln w="0">
            <a:noFill/>
            <a:prstDash val="solid"/>
          </a:ln>
        </p:spPr>
        <p:txBody>
          <a:bodyPr/>
          <a:lstStyle/>
          <a:p>
            <a:pPr algn="ctr">
              <a:buNone/>
              <a:defRPr sz="1650" b="1">
                <a:solidFill>
                  <a:srgbClr val="2563EB"/>
                </a:solidFill>
              </a:defRPr>
            </a:pPr>
            <a:r>
              <a:rPr sz="1650" b="1">
                <a:solidFill>
                  <a:srgbClr val="2563EB"/>
                </a:solidFill>
              </a:rPr>
              <a:t>0.2</a:t>
            </a:r>
            <a:endParaRPr/>
          </a:p>
        </p:txBody>
      </p:sp>
      <p:sp>
        <p:nvSpPr>
          <p:cNvPr id="1169357408" name="Arrow: Right 691035972"/>
          <p:cNvSpPr>
            <a:spLocks noGrp="1"/>
          </p:cNvSpPr>
          <p:nvPr/>
        </p:nvSpPr>
        <p:spPr bwMode="auto">
          <a:xfrm>
            <a:off x="7524750" y="3190875"/>
            <a:ext cx="1143000" cy="428625"/>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350" b="1">
                <a:solidFill>
                  <a:srgbClr val="0B0F19"/>
                </a:solidFill>
              </a:defRPr>
            </a:pPr>
            <a:r>
              <a:rPr sz="1350" b="1">
                <a:solidFill>
                  <a:srgbClr val="0B0F19"/>
                </a:solidFill>
              </a:rPr>
              <a:t>sum</a:t>
            </a:r>
            <a:endParaRPr/>
          </a:p>
        </p:txBody>
      </p:sp>
      <p:sp>
        <p:nvSpPr>
          <p:cNvPr id="1126679376" name="Rectangle: Rounded Corners 997542731"/>
          <p:cNvSpPr>
            <a:spLocks noGrp="1"/>
          </p:cNvSpPr>
          <p:nvPr/>
        </p:nvSpPr>
        <p:spPr bwMode="auto">
          <a:xfrm>
            <a:off x="8953500" y="2857500"/>
            <a:ext cx="1619250" cy="1047750"/>
          </a:xfrm>
          <a:prstGeom prst="roundRect">
            <a:avLst>
              <a:gd name="adj" fmla="val 10909"/>
            </a:avLst>
          </a:prstGeom>
          <a:solidFill>
            <a:srgbClr val="E0F2FE"/>
          </a:solidFill>
          <a:ln w="14288">
            <a:solidFill>
              <a:srgbClr val="2563EB"/>
            </a:solidFill>
            <a:prstDash val="solid"/>
          </a:ln>
        </p:spPr>
        <p:txBody>
          <a:bodyPr/>
          <a:lstStyle/>
          <a:p>
            <a:pPr algn="ctr">
              <a:buNone/>
              <a:defRPr sz="1800" b="1">
                <a:solidFill>
                  <a:srgbClr val="0B0F19"/>
                </a:solidFill>
              </a:defRPr>
            </a:pPr>
            <a:r>
              <a:rPr sz="1800" b="1">
                <a:solidFill>
                  <a:srgbClr val="0B0F19"/>
                </a:solidFill>
              </a:rPr>
              <a:t>context vector</a:t>
            </a:r>
            <a:endParaRPr/>
          </a:p>
        </p:txBody>
      </p:sp>
      <p:sp>
        <p:nvSpPr>
          <p:cNvPr id="1339802226" name="Rectangle 156200328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47</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07268148" name="Rectangle 83646168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Self-attention</a:t>
            </a:r>
            <a:endParaRPr/>
          </a:p>
        </p:txBody>
      </p:sp>
      <p:sp>
        <p:nvSpPr>
          <p:cNvPr id="176642863" name="Rectangle 1767099124"/>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Self-attention updates every token</a:t>
            </a:r>
            <a:endParaRPr/>
          </a:p>
        </p:txBody>
      </p:sp>
      <p:sp>
        <p:nvSpPr>
          <p:cNvPr id="532001827" name="Rectangle: Rounded Corners 658275056"/>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956355929" name="Oval 1632534857"/>
          <p:cNvSpPr>
            <a:spLocks noGrp="1"/>
          </p:cNvSpPr>
          <p:nvPr/>
        </p:nvSpPr>
        <p:spPr bwMode="auto">
          <a:xfrm>
            <a:off x="2028825" y="2552700"/>
            <a:ext cx="609600" cy="60960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1</a:t>
            </a:r>
            <a:endParaRPr/>
          </a:p>
        </p:txBody>
      </p:sp>
      <p:sp>
        <p:nvSpPr>
          <p:cNvPr id="862641616" name="Oval 1413970628"/>
          <p:cNvSpPr>
            <a:spLocks noGrp="1"/>
          </p:cNvSpPr>
          <p:nvPr/>
        </p:nvSpPr>
        <p:spPr bwMode="auto">
          <a:xfrm>
            <a:off x="3457575" y="2552700"/>
            <a:ext cx="609600" cy="60960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2</a:t>
            </a:r>
            <a:endParaRPr/>
          </a:p>
        </p:txBody>
      </p:sp>
      <p:sp>
        <p:nvSpPr>
          <p:cNvPr id="1668527797" name="Oval 1148745044"/>
          <p:cNvSpPr>
            <a:spLocks noGrp="1"/>
          </p:cNvSpPr>
          <p:nvPr/>
        </p:nvSpPr>
        <p:spPr bwMode="auto">
          <a:xfrm>
            <a:off x="4886325" y="2552700"/>
            <a:ext cx="609600" cy="60960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3</a:t>
            </a:r>
            <a:endParaRPr/>
          </a:p>
        </p:txBody>
      </p:sp>
      <p:sp>
        <p:nvSpPr>
          <p:cNvPr id="351351079" name="Oval 1579502936"/>
          <p:cNvSpPr>
            <a:spLocks noGrp="1"/>
          </p:cNvSpPr>
          <p:nvPr/>
        </p:nvSpPr>
        <p:spPr bwMode="auto">
          <a:xfrm>
            <a:off x="6315075" y="2552700"/>
            <a:ext cx="609600" cy="60960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4</a:t>
            </a:r>
            <a:endParaRPr/>
          </a:p>
        </p:txBody>
      </p:sp>
      <p:sp>
        <p:nvSpPr>
          <p:cNvPr id="390170330" name="Oval 638914901"/>
          <p:cNvSpPr>
            <a:spLocks noGrp="1"/>
          </p:cNvSpPr>
          <p:nvPr/>
        </p:nvSpPr>
        <p:spPr bwMode="auto">
          <a:xfrm>
            <a:off x="7743825" y="2552700"/>
            <a:ext cx="609600" cy="60960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5</a:t>
            </a:r>
            <a:endParaRPr/>
          </a:p>
        </p:txBody>
      </p:sp>
      <p:sp>
        <p:nvSpPr>
          <p:cNvPr id="1729527414" name="Oval 1524084679"/>
          <p:cNvSpPr>
            <a:spLocks noGrp="1"/>
          </p:cNvSpPr>
          <p:nvPr/>
        </p:nvSpPr>
        <p:spPr bwMode="auto">
          <a:xfrm>
            <a:off x="9172575" y="2552700"/>
            <a:ext cx="609600" cy="60960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6</a:t>
            </a:r>
            <a:endParaRPr/>
          </a:p>
        </p:txBody>
      </p:sp>
      <p:sp>
        <p:nvSpPr>
          <p:cNvPr id="1542897859" name="Oval 1617060268"/>
          <p:cNvSpPr>
            <a:spLocks noGrp="1"/>
          </p:cNvSpPr>
          <p:nvPr/>
        </p:nvSpPr>
        <p:spPr bwMode="auto">
          <a:xfrm>
            <a:off x="2028825" y="4267200"/>
            <a:ext cx="609600" cy="60960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1'</a:t>
            </a:r>
            <a:endParaRPr/>
          </a:p>
        </p:txBody>
      </p:sp>
      <p:sp>
        <p:nvSpPr>
          <p:cNvPr id="2044595286" name="Oval 1577893088"/>
          <p:cNvSpPr>
            <a:spLocks noGrp="1"/>
          </p:cNvSpPr>
          <p:nvPr/>
        </p:nvSpPr>
        <p:spPr bwMode="auto">
          <a:xfrm>
            <a:off x="3457575" y="4267200"/>
            <a:ext cx="609600" cy="60960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2'</a:t>
            </a:r>
            <a:endParaRPr/>
          </a:p>
        </p:txBody>
      </p:sp>
      <p:sp>
        <p:nvSpPr>
          <p:cNvPr id="1482115876" name="Oval 1071333543"/>
          <p:cNvSpPr>
            <a:spLocks noGrp="1"/>
          </p:cNvSpPr>
          <p:nvPr/>
        </p:nvSpPr>
        <p:spPr bwMode="auto">
          <a:xfrm>
            <a:off x="4886325" y="4267200"/>
            <a:ext cx="609600" cy="60960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3'</a:t>
            </a:r>
            <a:endParaRPr/>
          </a:p>
        </p:txBody>
      </p:sp>
      <p:sp>
        <p:nvSpPr>
          <p:cNvPr id="1194072215" name="Oval 399974577"/>
          <p:cNvSpPr>
            <a:spLocks noGrp="1"/>
          </p:cNvSpPr>
          <p:nvPr/>
        </p:nvSpPr>
        <p:spPr bwMode="auto">
          <a:xfrm>
            <a:off x="6315075" y="4267200"/>
            <a:ext cx="609600" cy="60960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4'</a:t>
            </a:r>
            <a:endParaRPr/>
          </a:p>
        </p:txBody>
      </p:sp>
      <p:sp>
        <p:nvSpPr>
          <p:cNvPr id="1405453633" name="Oval 1223483228"/>
          <p:cNvSpPr>
            <a:spLocks noGrp="1"/>
          </p:cNvSpPr>
          <p:nvPr/>
        </p:nvSpPr>
        <p:spPr bwMode="auto">
          <a:xfrm>
            <a:off x="7743825" y="4267200"/>
            <a:ext cx="609600" cy="60960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5'</a:t>
            </a:r>
            <a:endParaRPr/>
          </a:p>
        </p:txBody>
      </p:sp>
      <p:sp>
        <p:nvSpPr>
          <p:cNvPr id="1869625009" name="Oval 494721319"/>
          <p:cNvSpPr>
            <a:spLocks noGrp="1"/>
          </p:cNvSpPr>
          <p:nvPr/>
        </p:nvSpPr>
        <p:spPr bwMode="auto">
          <a:xfrm>
            <a:off x="9172575" y="4267200"/>
            <a:ext cx="609600" cy="60960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6'</a:t>
            </a:r>
            <a:endParaRPr/>
          </a:p>
        </p:txBody>
      </p:sp>
      <p:sp>
        <p:nvSpPr>
          <p:cNvPr id="590078316" name="Straight Connector 484203624"/>
          <p:cNvSpPr>
            <a:spLocks noGrp="1"/>
          </p:cNvSpPr>
          <p:nvPr/>
        </p:nvSpPr>
        <p:spPr bwMode="auto">
          <a:xfrm>
            <a:off x="2333625" y="3190875"/>
            <a:ext cx="9525" cy="1047750"/>
          </a:xfrm>
          <a:prstGeom prst="line">
            <a:avLst/>
          </a:prstGeom>
          <a:noFill/>
          <a:ln w="19050">
            <a:solidFill>
              <a:srgbClr val="CBD5E1"/>
            </a:solidFill>
            <a:prstDash val="solid"/>
          </a:ln>
        </p:spPr>
        <p:txBody>
          <a:bodyPr/>
          <a:lstStyle/>
          <a:p>
            <a:pPr>
              <a:buNone/>
              <a:defRPr/>
            </a:pPr>
            <a:endParaRPr/>
          </a:p>
        </p:txBody>
      </p:sp>
      <p:sp>
        <p:nvSpPr>
          <p:cNvPr id="1969444235" name="Straight Connector 390803704"/>
          <p:cNvSpPr>
            <a:spLocks noGrp="1"/>
          </p:cNvSpPr>
          <p:nvPr/>
        </p:nvSpPr>
        <p:spPr bwMode="auto">
          <a:xfrm>
            <a:off x="3762375" y="3190875"/>
            <a:ext cx="9525" cy="1047750"/>
          </a:xfrm>
          <a:prstGeom prst="line">
            <a:avLst/>
          </a:prstGeom>
          <a:noFill/>
          <a:ln w="19050">
            <a:solidFill>
              <a:srgbClr val="CBD5E1"/>
            </a:solidFill>
            <a:prstDash val="solid"/>
          </a:ln>
        </p:spPr>
        <p:txBody>
          <a:bodyPr/>
          <a:lstStyle/>
          <a:p>
            <a:pPr>
              <a:buNone/>
              <a:defRPr/>
            </a:pPr>
            <a:endParaRPr/>
          </a:p>
        </p:txBody>
      </p:sp>
      <p:sp>
        <p:nvSpPr>
          <p:cNvPr id="236868156" name="Straight Connector 1483356268"/>
          <p:cNvSpPr>
            <a:spLocks noGrp="1"/>
          </p:cNvSpPr>
          <p:nvPr/>
        </p:nvSpPr>
        <p:spPr bwMode="auto">
          <a:xfrm>
            <a:off x="5191125" y="3190875"/>
            <a:ext cx="9525" cy="1047750"/>
          </a:xfrm>
          <a:prstGeom prst="line">
            <a:avLst/>
          </a:prstGeom>
          <a:noFill/>
          <a:ln w="19050">
            <a:solidFill>
              <a:srgbClr val="CBD5E1"/>
            </a:solidFill>
            <a:prstDash val="solid"/>
          </a:ln>
        </p:spPr>
        <p:txBody>
          <a:bodyPr/>
          <a:lstStyle/>
          <a:p>
            <a:pPr>
              <a:buNone/>
              <a:defRPr/>
            </a:pPr>
            <a:endParaRPr/>
          </a:p>
        </p:txBody>
      </p:sp>
      <p:sp>
        <p:nvSpPr>
          <p:cNvPr id="47996304" name="Straight Connector 491113418"/>
          <p:cNvSpPr>
            <a:spLocks noGrp="1"/>
          </p:cNvSpPr>
          <p:nvPr/>
        </p:nvSpPr>
        <p:spPr bwMode="auto">
          <a:xfrm>
            <a:off x="6619875" y="3190875"/>
            <a:ext cx="9525" cy="1047750"/>
          </a:xfrm>
          <a:prstGeom prst="line">
            <a:avLst/>
          </a:prstGeom>
          <a:noFill/>
          <a:ln w="19050">
            <a:solidFill>
              <a:srgbClr val="CBD5E1"/>
            </a:solidFill>
            <a:prstDash val="solid"/>
          </a:ln>
        </p:spPr>
        <p:txBody>
          <a:bodyPr/>
          <a:lstStyle/>
          <a:p>
            <a:pPr>
              <a:buNone/>
              <a:defRPr/>
            </a:pPr>
            <a:endParaRPr/>
          </a:p>
        </p:txBody>
      </p:sp>
      <p:sp>
        <p:nvSpPr>
          <p:cNvPr id="763021837" name="Straight Connector 1895177637"/>
          <p:cNvSpPr>
            <a:spLocks noGrp="1"/>
          </p:cNvSpPr>
          <p:nvPr/>
        </p:nvSpPr>
        <p:spPr bwMode="auto">
          <a:xfrm>
            <a:off x="8048625" y="3190875"/>
            <a:ext cx="9525" cy="1047750"/>
          </a:xfrm>
          <a:prstGeom prst="line">
            <a:avLst/>
          </a:prstGeom>
          <a:noFill/>
          <a:ln w="19050">
            <a:solidFill>
              <a:srgbClr val="CBD5E1"/>
            </a:solidFill>
            <a:prstDash val="solid"/>
          </a:ln>
        </p:spPr>
        <p:txBody>
          <a:bodyPr/>
          <a:lstStyle/>
          <a:p>
            <a:pPr>
              <a:buNone/>
              <a:defRPr/>
            </a:pPr>
            <a:endParaRPr/>
          </a:p>
        </p:txBody>
      </p:sp>
      <p:sp>
        <p:nvSpPr>
          <p:cNvPr id="1754047882" name="Straight Connector 1498279708"/>
          <p:cNvSpPr>
            <a:spLocks noGrp="1"/>
          </p:cNvSpPr>
          <p:nvPr/>
        </p:nvSpPr>
        <p:spPr bwMode="auto">
          <a:xfrm>
            <a:off x="9477375" y="3190875"/>
            <a:ext cx="9525" cy="1047750"/>
          </a:xfrm>
          <a:prstGeom prst="line">
            <a:avLst/>
          </a:prstGeom>
          <a:noFill/>
          <a:ln w="19050">
            <a:solidFill>
              <a:srgbClr val="CBD5E1"/>
            </a:solidFill>
            <a:prstDash val="solid"/>
          </a:ln>
        </p:spPr>
        <p:txBody>
          <a:bodyPr/>
          <a:lstStyle/>
          <a:p>
            <a:pPr>
              <a:buNone/>
              <a:defRPr/>
            </a:pPr>
            <a:endParaRPr/>
          </a:p>
        </p:txBody>
      </p:sp>
      <p:sp>
        <p:nvSpPr>
          <p:cNvPr id="896210978" name="Straight Connector 139583842"/>
          <p:cNvSpPr>
            <a:spLocks noGrp="1"/>
          </p:cNvSpPr>
          <p:nvPr/>
        </p:nvSpPr>
        <p:spPr bwMode="auto">
          <a:xfrm>
            <a:off x="2333625" y="2857500"/>
            <a:ext cx="9525" cy="1714500"/>
          </a:xfrm>
          <a:prstGeom prst="line">
            <a:avLst/>
          </a:prstGeom>
          <a:noFill/>
          <a:ln w="9525">
            <a:solidFill>
              <a:srgbClr val="CBD5E1">
                <a:alpha val="35000"/>
              </a:srgbClr>
            </a:solidFill>
            <a:prstDash val="solid"/>
          </a:ln>
        </p:spPr>
        <p:txBody>
          <a:bodyPr/>
          <a:lstStyle/>
          <a:p>
            <a:pPr>
              <a:buNone/>
              <a:defRPr/>
            </a:pPr>
            <a:endParaRPr/>
          </a:p>
        </p:txBody>
      </p:sp>
      <p:sp>
        <p:nvSpPr>
          <p:cNvPr id="1706130259" name="Straight Connector 810730709"/>
          <p:cNvSpPr>
            <a:spLocks noGrp="1"/>
          </p:cNvSpPr>
          <p:nvPr/>
        </p:nvSpPr>
        <p:spPr bwMode="auto">
          <a:xfrm>
            <a:off x="2333625" y="2857500"/>
            <a:ext cx="2857500" cy="1714500"/>
          </a:xfrm>
          <a:prstGeom prst="line">
            <a:avLst/>
          </a:prstGeom>
          <a:noFill/>
          <a:ln w="9525">
            <a:solidFill>
              <a:srgbClr val="CBD5E1">
                <a:alpha val="35000"/>
              </a:srgbClr>
            </a:solidFill>
            <a:prstDash val="solid"/>
          </a:ln>
        </p:spPr>
        <p:txBody>
          <a:bodyPr/>
          <a:lstStyle/>
          <a:p>
            <a:pPr>
              <a:buNone/>
              <a:defRPr/>
            </a:pPr>
            <a:endParaRPr/>
          </a:p>
        </p:txBody>
      </p:sp>
      <p:sp>
        <p:nvSpPr>
          <p:cNvPr id="337256675" name="Straight Connector 521066155"/>
          <p:cNvSpPr>
            <a:spLocks noGrp="1"/>
          </p:cNvSpPr>
          <p:nvPr/>
        </p:nvSpPr>
        <p:spPr bwMode="auto">
          <a:xfrm>
            <a:off x="2333625" y="2857500"/>
            <a:ext cx="5715000" cy="1714500"/>
          </a:xfrm>
          <a:prstGeom prst="line">
            <a:avLst/>
          </a:prstGeom>
          <a:noFill/>
          <a:ln w="9525">
            <a:solidFill>
              <a:srgbClr val="CBD5E1">
                <a:alpha val="35000"/>
              </a:srgbClr>
            </a:solidFill>
            <a:prstDash val="solid"/>
          </a:ln>
        </p:spPr>
        <p:txBody>
          <a:bodyPr/>
          <a:lstStyle/>
          <a:p>
            <a:pPr>
              <a:buNone/>
              <a:defRPr/>
            </a:pPr>
            <a:endParaRPr/>
          </a:p>
        </p:txBody>
      </p:sp>
      <p:sp>
        <p:nvSpPr>
          <p:cNvPr id="1766969175" name="Straight Connector 316407275"/>
          <p:cNvSpPr>
            <a:spLocks noGrp="1"/>
          </p:cNvSpPr>
          <p:nvPr/>
        </p:nvSpPr>
        <p:spPr bwMode="auto">
          <a:xfrm>
            <a:off x="2333625" y="2857500"/>
            <a:ext cx="1428750" cy="1714500"/>
          </a:xfrm>
          <a:prstGeom prst="line">
            <a:avLst/>
          </a:prstGeom>
          <a:noFill/>
          <a:ln w="9525">
            <a:solidFill>
              <a:srgbClr val="CBD5E1">
                <a:alpha val="35000"/>
              </a:srgbClr>
            </a:solidFill>
            <a:prstDash val="solid"/>
          </a:ln>
        </p:spPr>
        <p:txBody>
          <a:bodyPr/>
          <a:lstStyle/>
          <a:p>
            <a:pPr>
              <a:buNone/>
              <a:defRPr/>
            </a:pPr>
            <a:endParaRPr/>
          </a:p>
        </p:txBody>
      </p:sp>
      <p:sp>
        <p:nvSpPr>
          <p:cNvPr id="886248667" name="Straight Connector 218150276"/>
          <p:cNvSpPr>
            <a:spLocks noGrp="1"/>
          </p:cNvSpPr>
          <p:nvPr/>
        </p:nvSpPr>
        <p:spPr bwMode="auto">
          <a:xfrm>
            <a:off x="3762375" y="2857500"/>
            <a:ext cx="1428750" cy="1714500"/>
          </a:xfrm>
          <a:prstGeom prst="line">
            <a:avLst/>
          </a:prstGeom>
          <a:noFill/>
          <a:ln w="9525">
            <a:solidFill>
              <a:srgbClr val="CBD5E1">
                <a:alpha val="35000"/>
              </a:srgbClr>
            </a:solidFill>
            <a:prstDash val="solid"/>
          </a:ln>
        </p:spPr>
        <p:txBody>
          <a:bodyPr/>
          <a:lstStyle/>
          <a:p>
            <a:pPr>
              <a:buNone/>
              <a:defRPr/>
            </a:pPr>
            <a:endParaRPr/>
          </a:p>
        </p:txBody>
      </p:sp>
      <p:sp>
        <p:nvSpPr>
          <p:cNvPr id="2130383036" name="Straight Connector 499927860"/>
          <p:cNvSpPr>
            <a:spLocks noGrp="1"/>
          </p:cNvSpPr>
          <p:nvPr/>
        </p:nvSpPr>
        <p:spPr bwMode="auto">
          <a:xfrm>
            <a:off x="3762375" y="2857500"/>
            <a:ext cx="4286250" cy="1714500"/>
          </a:xfrm>
          <a:prstGeom prst="line">
            <a:avLst/>
          </a:prstGeom>
          <a:noFill/>
          <a:ln w="9525">
            <a:solidFill>
              <a:srgbClr val="CBD5E1">
                <a:alpha val="35000"/>
              </a:srgbClr>
            </a:solidFill>
            <a:prstDash val="solid"/>
          </a:ln>
        </p:spPr>
        <p:txBody>
          <a:bodyPr/>
          <a:lstStyle/>
          <a:p>
            <a:pPr>
              <a:buNone/>
              <a:defRPr/>
            </a:pPr>
            <a:endParaRPr/>
          </a:p>
        </p:txBody>
      </p:sp>
      <p:sp>
        <p:nvSpPr>
          <p:cNvPr id="1039691313" name="Straight Connector 1350622295"/>
          <p:cNvSpPr>
            <a:spLocks noGrp="1"/>
          </p:cNvSpPr>
          <p:nvPr/>
        </p:nvSpPr>
        <p:spPr bwMode="auto">
          <a:xfrm>
            <a:off x="2333625" y="2857500"/>
            <a:ext cx="2857500" cy="1714500"/>
          </a:xfrm>
          <a:prstGeom prst="line">
            <a:avLst/>
          </a:prstGeom>
          <a:noFill/>
          <a:ln w="9525">
            <a:solidFill>
              <a:srgbClr val="CBD5E1">
                <a:alpha val="35000"/>
              </a:srgbClr>
            </a:solidFill>
            <a:prstDash val="solid"/>
          </a:ln>
        </p:spPr>
        <p:txBody>
          <a:bodyPr/>
          <a:lstStyle/>
          <a:p>
            <a:pPr>
              <a:buNone/>
              <a:defRPr/>
            </a:pPr>
            <a:endParaRPr/>
          </a:p>
        </p:txBody>
      </p:sp>
      <p:sp>
        <p:nvSpPr>
          <p:cNvPr id="791410490" name="Straight Connector 45691064"/>
          <p:cNvSpPr>
            <a:spLocks noGrp="1"/>
          </p:cNvSpPr>
          <p:nvPr/>
        </p:nvSpPr>
        <p:spPr bwMode="auto">
          <a:xfrm>
            <a:off x="5191125" y="2857500"/>
            <a:ext cx="9525" cy="1714500"/>
          </a:xfrm>
          <a:prstGeom prst="line">
            <a:avLst/>
          </a:prstGeom>
          <a:noFill/>
          <a:ln w="9525">
            <a:solidFill>
              <a:srgbClr val="CBD5E1">
                <a:alpha val="35000"/>
              </a:srgbClr>
            </a:solidFill>
            <a:prstDash val="solid"/>
          </a:ln>
        </p:spPr>
        <p:txBody>
          <a:bodyPr/>
          <a:lstStyle/>
          <a:p>
            <a:pPr>
              <a:buNone/>
              <a:defRPr/>
            </a:pPr>
            <a:endParaRPr/>
          </a:p>
        </p:txBody>
      </p:sp>
      <p:sp>
        <p:nvSpPr>
          <p:cNvPr id="595745700" name="Straight Connector 1145050028"/>
          <p:cNvSpPr>
            <a:spLocks noGrp="1"/>
          </p:cNvSpPr>
          <p:nvPr/>
        </p:nvSpPr>
        <p:spPr bwMode="auto">
          <a:xfrm>
            <a:off x="5191125" y="2857500"/>
            <a:ext cx="2857500" cy="1714500"/>
          </a:xfrm>
          <a:prstGeom prst="line">
            <a:avLst/>
          </a:prstGeom>
          <a:noFill/>
          <a:ln w="9525">
            <a:solidFill>
              <a:srgbClr val="CBD5E1">
                <a:alpha val="35000"/>
              </a:srgbClr>
            </a:solidFill>
            <a:prstDash val="solid"/>
          </a:ln>
        </p:spPr>
        <p:txBody>
          <a:bodyPr/>
          <a:lstStyle/>
          <a:p>
            <a:pPr>
              <a:buNone/>
              <a:defRPr/>
            </a:pPr>
            <a:endParaRPr/>
          </a:p>
        </p:txBody>
      </p:sp>
      <p:sp>
        <p:nvSpPr>
          <p:cNvPr id="293523838" name="Straight Connector 969983034"/>
          <p:cNvSpPr>
            <a:spLocks noGrp="1"/>
          </p:cNvSpPr>
          <p:nvPr/>
        </p:nvSpPr>
        <p:spPr bwMode="auto">
          <a:xfrm>
            <a:off x="2333625" y="2857500"/>
            <a:ext cx="4286250" cy="1714500"/>
          </a:xfrm>
          <a:prstGeom prst="line">
            <a:avLst/>
          </a:prstGeom>
          <a:noFill/>
          <a:ln w="9525">
            <a:solidFill>
              <a:srgbClr val="CBD5E1">
                <a:alpha val="35000"/>
              </a:srgbClr>
            </a:solidFill>
            <a:prstDash val="solid"/>
          </a:ln>
        </p:spPr>
        <p:txBody>
          <a:bodyPr/>
          <a:lstStyle/>
          <a:p>
            <a:pPr>
              <a:buNone/>
              <a:defRPr/>
            </a:pPr>
            <a:endParaRPr/>
          </a:p>
        </p:txBody>
      </p:sp>
      <p:sp>
        <p:nvSpPr>
          <p:cNvPr id="1763063013" name="Straight Connector 452016390"/>
          <p:cNvSpPr>
            <a:spLocks noGrp="1"/>
          </p:cNvSpPr>
          <p:nvPr/>
        </p:nvSpPr>
        <p:spPr bwMode="auto">
          <a:xfrm>
            <a:off x="5191125" y="2857500"/>
            <a:ext cx="1428750" cy="1714500"/>
          </a:xfrm>
          <a:prstGeom prst="line">
            <a:avLst/>
          </a:prstGeom>
          <a:noFill/>
          <a:ln w="9525">
            <a:solidFill>
              <a:srgbClr val="CBD5E1">
                <a:alpha val="35000"/>
              </a:srgbClr>
            </a:solidFill>
            <a:prstDash val="solid"/>
          </a:ln>
        </p:spPr>
        <p:txBody>
          <a:bodyPr/>
          <a:lstStyle/>
          <a:p>
            <a:pPr>
              <a:buNone/>
              <a:defRPr/>
            </a:pPr>
            <a:endParaRPr/>
          </a:p>
        </p:txBody>
      </p:sp>
      <p:sp>
        <p:nvSpPr>
          <p:cNvPr id="1953651822" name="Straight Connector 1200418004"/>
          <p:cNvSpPr>
            <a:spLocks noGrp="1"/>
          </p:cNvSpPr>
          <p:nvPr/>
        </p:nvSpPr>
        <p:spPr bwMode="auto">
          <a:xfrm>
            <a:off x="6619875" y="2857500"/>
            <a:ext cx="1428750" cy="1714500"/>
          </a:xfrm>
          <a:prstGeom prst="line">
            <a:avLst/>
          </a:prstGeom>
          <a:noFill/>
          <a:ln w="9525">
            <a:solidFill>
              <a:srgbClr val="CBD5E1">
                <a:alpha val="35000"/>
              </a:srgbClr>
            </a:solidFill>
            <a:prstDash val="solid"/>
          </a:ln>
        </p:spPr>
        <p:txBody>
          <a:bodyPr/>
          <a:lstStyle/>
          <a:p>
            <a:pPr>
              <a:buNone/>
              <a:defRPr/>
            </a:pPr>
            <a:endParaRPr/>
          </a:p>
        </p:txBody>
      </p:sp>
      <p:sp>
        <p:nvSpPr>
          <p:cNvPr id="1315670947" name="Straight Connector 1516866411"/>
          <p:cNvSpPr>
            <a:spLocks noGrp="1"/>
          </p:cNvSpPr>
          <p:nvPr/>
        </p:nvSpPr>
        <p:spPr bwMode="auto">
          <a:xfrm>
            <a:off x="2333625" y="2857500"/>
            <a:ext cx="5715000" cy="1714500"/>
          </a:xfrm>
          <a:prstGeom prst="line">
            <a:avLst/>
          </a:prstGeom>
          <a:noFill/>
          <a:ln w="9525">
            <a:solidFill>
              <a:srgbClr val="CBD5E1">
                <a:alpha val="35000"/>
              </a:srgbClr>
            </a:solidFill>
            <a:prstDash val="solid"/>
          </a:ln>
        </p:spPr>
        <p:txBody>
          <a:bodyPr/>
          <a:lstStyle/>
          <a:p>
            <a:pPr>
              <a:buNone/>
              <a:defRPr/>
            </a:pPr>
            <a:endParaRPr/>
          </a:p>
        </p:txBody>
      </p:sp>
      <p:sp>
        <p:nvSpPr>
          <p:cNvPr id="1185295461" name="Straight Connector 251999135"/>
          <p:cNvSpPr>
            <a:spLocks noGrp="1"/>
          </p:cNvSpPr>
          <p:nvPr/>
        </p:nvSpPr>
        <p:spPr bwMode="auto">
          <a:xfrm>
            <a:off x="5191125" y="2857500"/>
            <a:ext cx="2857500" cy="1714500"/>
          </a:xfrm>
          <a:prstGeom prst="line">
            <a:avLst/>
          </a:prstGeom>
          <a:noFill/>
          <a:ln w="9525">
            <a:solidFill>
              <a:srgbClr val="CBD5E1">
                <a:alpha val="35000"/>
              </a:srgbClr>
            </a:solidFill>
            <a:prstDash val="solid"/>
          </a:ln>
        </p:spPr>
        <p:txBody>
          <a:bodyPr/>
          <a:lstStyle/>
          <a:p>
            <a:pPr>
              <a:buNone/>
              <a:defRPr/>
            </a:pPr>
            <a:endParaRPr/>
          </a:p>
        </p:txBody>
      </p:sp>
      <p:sp>
        <p:nvSpPr>
          <p:cNvPr id="1556300230" name="Straight Connector 86571184"/>
          <p:cNvSpPr>
            <a:spLocks noGrp="1"/>
          </p:cNvSpPr>
          <p:nvPr/>
        </p:nvSpPr>
        <p:spPr bwMode="auto">
          <a:xfrm>
            <a:off x="8048625" y="2857500"/>
            <a:ext cx="9525" cy="1714500"/>
          </a:xfrm>
          <a:prstGeom prst="line">
            <a:avLst/>
          </a:prstGeom>
          <a:noFill/>
          <a:ln w="9525">
            <a:solidFill>
              <a:srgbClr val="CBD5E1">
                <a:alpha val="35000"/>
              </a:srgbClr>
            </a:solidFill>
            <a:prstDash val="solid"/>
          </a:ln>
        </p:spPr>
        <p:txBody>
          <a:bodyPr/>
          <a:lstStyle/>
          <a:p>
            <a:pPr>
              <a:buNone/>
              <a:defRPr/>
            </a:pPr>
            <a:endParaRPr/>
          </a:p>
        </p:txBody>
      </p:sp>
      <p:sp>
        <p:nvSpPr>
          <p:cNvPr id="439495683" name="Straight Connector 602661193"/>
          <p:cNvSpPr>
            <a:spLocks noGrp="1"/>
          </p:cNvSpPr>
          <p:nvPr/>
        </p:nvSpPr>
        <p:spPr bwMode="auto">
          <a:xfrm>
            <a:off x="2333625" y="2857500"/>
            <a:ext cx="7143750" cy="1714500"/>
          </a:xfrm>
          <a:prstGeom prst="line">
            <a:avLst/>
          </a:prstGeom>
          <a:noFill/>
          <a:ln w="9525">
            <a:solidFill>
              <a:srgbClr val="CBD5E1">
                <a:alpha val="35000"/>
              </a:srgbClr>
            </a:solidFill>
            <a:prstDash val="solid"/>
          </a:ln>
        </p:spPr>
        <p:txBody>
          <a:bodyPr/>
          <a:lstStyle/>
          <a:p>
            <a:pPr>
              <a:buNone/>
              <a:defRPr/>
            </a:pPr>
            <a:endParaRPr/>
          </a:p>
        </p:txBody>
      </p:sp>
      <p:sp>
        <p:nvSpPr>
          <p:cNvPr id="1499003115" name="Straight Connector 2078817605"/>
          <p:cNvSpPr>
            <a:spLocks noGrp="1"/>
          </p:cNvSpPr>
          <p:nvPr/>
        </p:nvSpPr>
        <p:spPr bwMode="auto">
          <a:xfrm>
            <a:off x="5191125" y="2857500"/>
            <a:ext cx="4286250" cy="1714500"/>
          </a:xfrm>
          <a:prstGeom prst="line">
            <a:avLst/>
          </a:prstGeom>
          <a:noFill/>
          <a:ln w="9525">
            <a:solidFill>
              <a:srgbClr val="CBD5E1">
                <a:alpha val="35000"/>
              </a:srgbClr>
            </a:solidFill>
            <a:prstDash val="solid"/>
          </a:ln>
        </p:spPr>
        <p:txBody>
          <a:bodyPr/>
          <a:lstStyle/>
          <a:p>
            <a:pPr>
              <a:buNone/>
              <a:defRPr/>
            </a:pPr>
            <a:endParaRPr/>
          </a:p>
        </p:txBody>
      </p:sp>
      <p:sp>
        <p:nvSpPr>
          <p:cNvPr id="918017503" name="Straight Connector 37467791"/>
          <p:cNvSpPr>
            <a:spLocks noGrp="1"/>
          </p:cNvSpPr>
          <p:nvPr/>
        </p:nvSpPr>
        <p:spPr bwMode="auto">
          <a:xfrm>
            <a:off x="8048625" y="2857500"/>
            <a:ext cx="1428750" cy="1714500"/>
          </a:xfrm>
          <a:prstGeom prst="line">
            <a:avLst/>
          </a:prstGeom>
          <a:noFill/>
          <a:ln w="9525">
            <a:solidFill>
              <a:srgbClr val="CBD5E1">
                <a:alpha val="35000"/>
              </a:srgbClr>
            </a:solidFill>
            <a:prstDash val="solid"/>
          </a:ln>
        </p:spPr>
        <p:txBody>
          <a:bodyPr/>
          <a:lstStyle/>
          <a:p>
            <a:pPr>
              <a:buNone/>
              <a:defRPr/>
            </a:pPr>
            <a:endParaRPr/>
          </a:p>
        </p:txBody>
      </p:sp>
      <p:sp>
        <p:nvSpPr>
          <p:cNvPr id="828598743" name="Rectangle 11817249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48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684002391" name="Rectangle 1367258729"/>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Multi-head</a:t>
            </a:r>
            <a:endParaRPr/>
          </a:p>
        </p:txBody>
      </p:sp>
      <p:sp>
        <p:nvSpPr>
          <p:cNvPr id="1933669579" name="Rectangle 1284678877"/>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Many heads learn different links</a:t>
            </a:r>
            <a:endParaRPr/>
          </a:p>
        </p:txBody>
      </p:sp>
      <p:sp>
        <p:nvSpPr>
          <p:cNvPr id="689012328" name="Rectangle: Rounded Corners 80086410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523384928" name="Oval 233773315"/>
          <p:cNvSpPr>
            <a:spLocks noGrp="1"/>
          </p:cNvSpPr>
          <p:nvPr/>
        </p:nvSpPr>
        <p:spPr bwMode="auto">
          <a:xfrm>
            <a:off x="1619250" y="2381250"/>
            <a:ext cx="1524000" cy="1524000"/>
          </a:xfrm>
          <a:prstGeom prst="ellipse">
            <a:avLst/>
          </a:prstGeom>
          <a:solidFill>
            <a:srgbClr val="2563EB">
              <a:alpha val="12000"/>
            </a:srgbClr>
          </a:solidFill>
          <a:ln w="28575">
            <a:solidFill>
              <a:srgbClr val="2563EB"/>
            </a:solidFill>
            <a:prstDash val="solid"/>
          </a:ln>
        </p:spPr>
        <p:txBody>
          <a:bodyPr/>
          <a:lstStyle/>
          <a:p>
            <a:pPr>
              <a:buNone/>
              <a:defRPr/>
            </a:pPr>
            <a:endParaRPr/>
          </a:p>
        </p:txBody>
      </p:sp>
      <p:sp>
        <p:nvSpPr>
          <p:cNvPr id="1520220799" name="Straight Connector 1564947674"/>
          <p:cNvSpPr>
            <a:spLocks noGrp="1"/>
          </p:cNvSpPr>
          <p:nvPr/>
        </p:nvSpPr>
        <p:spPr bwMode="auto">
          <a:xfrm>
            <a:off x="1952625" y="3143250"/>
            <a:ext cx="857250" cy="9525"/>
          </a:xfrm>
          <a:prstGeom prst="line">
            <a:avLst/>
          </a:prstGeom>
          <a:noFill/>
          <a:ln w="38100">
            <a:solidFill>
              <a:srgbClr val="2563EB"/>
            </a:solidFill>
            <a:prstDash val="solid"/>
          </a:ln>
        </p:spPr>
        <p:txBody>
          <a:bodyPr/>
          <a:lstStyle/>
          <a:p>
            <a:pPr>
              <a:buNone/>
              <a:defRPr/>
            </a:pPr>
            <a:endParaRPr/>
          </a:p>
        </p:txBody>
      </p:sp>
      <p:sp>
        <p:nvSpPr>
          <p:cNvPr id="1995211852" name="Straight Connector 995560161"/>
          <p:cNvSpPr>
            <a:spLocks noGrp="1"/>
          </p:cNvSpPr>
          <p:nvPr/>
        </p:nvSpPr>
        <p:spPr bwMode="auto">
          <a:xfrm>
            <a:off x="2381250" y="2714625"/>
            <a:ext cx="9525" cy="857250"/>
          </a:xfrm>
          <a:prstGeom prst="line">
            <a:avLst/>
          </a:prstGeom>
          <a:noFill/>
          <a:ln w="38100">
            <a:solidFill>
              <a:srgbClr val="2563EB"/>
            </a:solidFill>
            <a:prstDash val="solid"/>
          </a:ln>
        </p:spPr>
        <p:txBody>
          <a:bodyPr/>
          <a:lstStyle/>
          <a:p>
            <a:pPr>
              <a:buNone/>
              <a:defRPr/>
            </a:pPr>
            <a:endParaRPr/>
          </a:p>
        </p:txBody>
      </p:sp>
      <p:sp>
        <p:nvSpPr>
          <p:cNvPr id="346094772" name="Rectangle 1698038425"/>
          <p:cNvSpPr>
            <a:spLocks noGrp="1"/>
          </p:cNvSpPr>
          <p:nvPr/>
        </p:nvSpPr>
        <p:spPr bwMode="auto">
          <a:xfrm>
            <a:off x="1666875" y="4191000"/>
            <a:ext cx="1428750" cy="285750"/>
          </a:xfrm>
          <a:prstGeom prst="rect">
            <a:avLst/>
          </a:prstGeom>
          <a:noFill/>
          <a:ln w="0">
            <a:noFill/>
            <a:prstDash val="solid"/>
          </a:ln>
        </p:spPr>
        <p:txBody>
          <a:bodyPr/>
          <a:lstStyle/>
          <a:p>
            <a:pPr algn="ctr">
              <a:buNone/>
              <a:defRPr sz="1650" b="1">
                <a:solidFill>
                  <a:srgbClr val="0B0F19"/>
                </a:solidFill>
              </a:defRPr>
            </a:pPr>
            <a:r>
              <a:rPr sz="1650" b="1">
                <a:solidFill>
                  <a:srgbClr val="0B0F19"/>
                </a:solidFill>
              </a:rPr>
              <a:t>syntax</a:t>
            </a:r>
            <a:endParaRPr/>
          </a:p>
        </p:txBody>
      </p:sp>
      <p:sp>
        <p:nvSpPr>
          <p:cNvPr id="100148330" name="Oval 79558485"/>
          <p:cNvSpPr>
            <a:spLocks noGrp="1"/>
          </p:cNvSpPr>
          <p:nvPr/>
        </p:nvSpPr>
        <p:spPr bwMode="auto">
          <a:xfrm>
            <a:off x="4143375" y="2381250"/>
            <a:ext cx="1524000" cy="1524000"/>
          </a:xfrm>
          <a:prstGeom prst="ellipse">
            <a:avLst/>
          </a:prstGeom>
          <a:solidFill>
            <a:srgbClr val="10B981">
              <a:alpha val="12000"/>
            </a:srgbClr>
          </a:solidFill>
          <a:ln w="28575">
            <a:solidFill>
              <a:srgbClr val="10B981"/>
            </a:solidFill>
            <a:prstDash val="solid"/>
          </a:ln>
        </p:spPr>
        <p:txBody>
          <a:bodyPr/>
          <a:lstStyle/>
          <a:p>
            <a:pPr>
              <a:buNone/>
              <a:defRPr/>
            </a:pPr>
            <a:endParaRPr/>
          </a:p>
        </p:txBody>
      </p:sp>
      <p:sp>
        <p:nvSpPr>
          <p:cNvPr id="756410193" name="Straight Connector 1609830998"/>
          <p:cNvSpPr>
            <a:spLocks noGrp="1"/>
          </p:cNvSpPr>
          <p:nvPr/>
        </p:nvSpPr>
        <p:spPr bwMode="auto">
          <a:xfrm>
            <a:off x="4476750" y="3143250"/>
            <a:ext cx="857250" cy="9525"/>
          </a:xfrm>
          <a:prstGeom prst="line">
            <a:avLst/>
          </a:prstGeom>
          <a:noFill/>
          <a:ln w="38100">
            <a:solidFill>
              <a:srgbClr val="10B981"/>
            </a:solidFill>
            <a:prstDash val="solid"/>
          </a:ln>
        </p:spPr>
        <p:txBody>
          <a:bodyPr/>
          <a:lstStyle/>
          <a:p>
            <a:pPr>
              <a:buNone/>
              <a:defRPr/>
            </a:pPr>
            <a:endParaRPr/>
          </a:p>
        </p:txBody>
      </p:sp>
      <p:sp>
        <p:nvSpPr>
          <p:cNvPr id="260127972" name="Straight Connector 1713490366"/>
          <p:cNvSpPr>
            <a:spLocks noGrp="1"/>
          </p:cNvSpPr>
          <p:nvPr/>
        </p:nvSpPr>
        <p:spPr bwMode="auto">
          <a:xfrm>
            <a:off x="4905375" y="2714625"/>
            <a:ext cx="9525" cy="857250"/>
          </a:xfrm>
          <a:prstGeom prst="line">
            <a:avLst/>
          </a:prstGeom>
          <a:noFill/>
          <a:ln w="38100">
            <a:solidFill>
              <a:srgbClr val="10B981"/>
            </a:solidFill>
            <a:prstDash val="solid"/>
          </a:ln>
        </p:spPr>
        <p:txBody>
          <a:bodyPr/>
          <a:lstStyle/>
          <a:p>
            <a:pPr>
              <a:buNone/>
              <a:defRPr/>
            </a:pPr>
            <a:endParaRPr/>
          </a:p>
        </p:txBody>
      </p:sp>
      <p:sp>
        <p:nvSpPr>
          <p:cNvPr id="1094826964" name="Rectangle 1540777176"/>
          <p:cNvSpPr>
            <a:spLocks noGrp="1"/>
          </p:cNvSpPr>
          <p:nvPr/>
        </p:nvSpPr>
        <p:spPr bwMode="auto">
          <a:xfrm>
            <a:off x="4191000" y="4191000"/>
            <a:ext cx="1428750" cy="285750"/>
          </a:xfrm>
          <a:prstGeom prst="rect">
            <a:avLst/>
          </a:prstGeom>
          <a:noFill/>
          <a:ln w="0">
            <a:noFill/>
            <a:prstDash val="solid"/>
          </a:ln>
        </p:spPr>
        <p:txBody>
          <a:bodyPr/>
          <a:lstStyle/>
          <a:p>
            <a:pPr algn="ctr">
              <a:buNone/>
              <a:defRPr sz="1650" b="1">
                <a:solidFill>
                  <a:srgbClr val="0B0F19"/>
                </a:solidFill>
              </a:defRPr>
            </a:pPr>
            <a:r>
              <a:rPr sz="1650" b="1">
                <a:solidFill>
                  <a:srgbClr val="0B0F19"/>
                </a:solidFill>
              </a:rPr>
              <a:t>reference</a:t>
            </a:r>
            <a:endParaRPr/>
          </a:p>
        </p:txBody>
      </p:sp>
      <p:sp>
        <p:nvSpPr>
          <p:cNvPr id="841050428" name="Oval 1805008483"/>
          <p:cNvSpPr>
            <a:spLocks noGrp="1"/>
          </p:cNvSpPr>
          <p:nvPr/>
        </p:nvSpPr>
        <p:spPr bwMode="auto">
          <a:xfrm>
            <a:off x="6667500" y="2381250"/>
            <a:ext cx="1524000" cy="1524000"/>
          </a:xfrm>
          <a:prstGeom prst="ellipse">
            <a:avLst/>
          </a:prstGeom>
          <a:solidFill>
            <a:srgbClr val="F97316">
              <a:alpha val="12000"/>
            </a:srgbClr>
          </a:solidFill>
          <a:ln w="28575">
            <a:solidFill>
              <a:srgbClr val="F97316"/>
            </a:solidFill>
            <a:prstDash val="solid"/>
          </a:ln>
        </p:spPr>
        <p:txBody>
          <a:bodyPr/>
          <a:lstStyle/>
          <a:p>
            <a:pPr>
              <a:buNone/>
              <a:defRPr/>
            </a:pPr>
            <a:endParaRPr/>
          </a:p>
        </p:txBody>
      </p:sp>
      <p:sp>
        <p:nvSpPr>
          <p:cNvPr id="2054161375" name="Straight Connector 1911549704"/>
          <p:cNvSpPr>
            <a:spLocks noGrp="1"/>
          </p:cNvSpPr>
          <p:nvPr/>
        </p:nvSpPr>
        <p:spPr bwMode="auto">
          <a:xfrm>
            <a:off x="7000875" y="3143250"/>
            <a:ext cx="857250" cy="9525"/>
          </a:xfrm>
          <a:prstGeom prst="line">
            <a:avLst/>
          </a:prstGeom>
          <a:noFill/>
          <a:ln w="38100">
            <a:solidFill>
              <a:srgbClr val="F97316"/>
            </a:solidFill>
            <a:prstDash val="solid"/>
          </a:ln>
        </p:spPr>
        <p:txBody>
          <a:bodyPr/>
          <a:lstStyle/>
          <a:p>
            <a:pPr>
              <a:buNone/>
              <a:defRPr/>
            </a:pPr>
            <a:endParaRPr/>
          </a:p>
        </p:txBody>
      </p:sp>
      <p:sp>
        <p:nvSpPr>
          <p:cNvPr id="816517580" name="Straight Connector 1791936671"/>
          <p:cNvSpPr>
            <a:spLocks noGrp="1"/>
          </p:cNvSpPr>
          <p:nvPr/>
        </p:nvSpPr>
        <p:spPr bwMode="auto">
          <a:xfrm>
            <a:off x="7429500" y="2714625"/>
            <a:ext cx="9525" cy="857250"/>
          </a:xfrm>
          <a:prstGeom prst="line">
            <a:avLst/>
          </a:prstGeom>
          <a:noFill/>
          <a:ln w="38100">
            <a:solidFill>
              <a:srgbClr val="F97316"/>
            </a:solidFill>
            <a:prstDash val="solid"/>
          </a:ln>
        </p:spPr>
        <p:txBody>
          <a:bodyPr/>
          <a:lstStyle/>
          <a:p>
            <a:pPr>
              <a:buNone/>
              <a:defRPr/>
            </a:pPr>
            <a:endParaRPr/>
          </a:p>
        </p:txBody>
      </p:sp>
      <p:sp>
        <p:nvSpPr>
          <p:cNvPr id="2111563641" name="Rectangle 109414286"/>
          <p:cNvSpPr>
            <a:spLocks noGrp="1"/>
          </p:cNvSpPr>
          <p:nvPr/>
        </p:nvSpPr>
        <p:spPr bwMode="auto">
          <a:xfrm>
            <a:off x="6715125" y="4191000"/>
            <a:ext cx="1428750" cy="285750"/>
          </a:xfrm>
          <a:prstGeom prst="rect">
            <a:avLst/>
          </a:prstGeom>
          <a:noFill/>
          <a:ln w="0">
            <a:noFill/>
            <a:prstDash val="solid"/>
          </a:ln>
        </p:spPr>
        <p:txBody>
          <a:bodyPr/>
          <a:lstStyle/>
          <a:p>
            <a:pPr algn="ctr">
              <a:buNone/>
              <a:defRPr sz="1650" b="1">
                <a:solidFill>
                  <a:srgbClr val="0B0F19"/>
                </a:solidFill>
              </a:defRPr>
            </a:pPr>
            <a:r>
              <a:rPr sz="1650" b="1">
                <a:solidFill>
                  <a:srgbClr val="0B0F19"/>
                </a:solidFill>
              </a:rPr>
              <a:t>topic</a:t>
            </a:r>
            <a:endParaRPr/>
          </a:p>
        </p:txBody>
      </p:sp>
      <p:sp>
        <p:nvSpPr>
          <p:cNvPr id="1865288944" name="Oval 446622830"/>
          <p:cNvSpPr>
            <a:spLocks noGrp="1"/>
          </p:cNvSpPr>
          <p:nvPr/>
        </p:nvSpPr>
        <p:spPr bwMode="auto">
          <a:xfrm>
            <a:off x="9191625" y="2381250"/>
            <a:ext cx="1524000" cy="1524000"/>
          </a:xfrm>
          <a:prstGeom prst="ellipse">
            <a:avLst/>
          </a:prstGeom>
          <a:solidFill>
            <a:srgbClr val="7C3AED">
              <a:alpha val="12000"/>
            </a:srgbClr>
          </a:solidFill>
          <a:ln w="28575">
            <a:solidFill>
              <a:srgbClr val="7C3AED"/>
            </a:solidFill>
            <a:prstDash val="solid"/>
          </a:ln>
        </p:spPr>
        <p:txBody>
          <a:bodyPr/>
          <a:lstStyle/>
          <a:p>
            <a:pPr>
              <a:buNone/>
              <a:defRPr/>
            </a:pPr>
            <a:endParaRPr/>
          </a:p>
        </p:txBody>
      </p:sp>
      <p:sp>
        <p:nvSpPr>
          <p:cNvPr id="1359078856" name="Straight Connector 858706386"/>
          <p:cNvSpPr>
            <a:spLocks noGrp="1"/>
          </p:cNvSpPr>
          <p:nvPr/>
        </p:nvSpPr>
        <p:spPr bwMode="auto">
          <a:xfrm>
            <a:off x="9525000" y="3143250"/>
            <a:ext cx="857250" cy="9525"/>
          </a:xfrm>
          <a:prstGeom prst="line">
            <a:avLst/>
          </a:prstGeom>
          <a:noFill/>
          <a:ln w="38100">
            <a:solidFill>
              <a:srgbClr val="7C3AED"/>
            </a:solidFill>
            <a:prstDash val="solid"/>
          </a:ln>
        </p:spPr>
        <p:txBody>
          <a:bodyPr/>
          <a:lstStyle/>
          <a:p>
            <a:pPr>
              <a:buNone/>
              <a:defRPr/>
            </a:pPr>
            <a:endParaRPr/>
          </a:p>
        </p:txBody>
      </p:sp>
      <p:sp>
        <p:nvSpPr>
          <p:cNvPr id="367157921" name="Straight Connector 1428863682"/>
          <p:cNvSpPr>
            <a:spLocks noGrp="1"/>
          </p:cNvSpPr>
          <p:nvPr/>
        </p:nvSpPr>
        <p:spPr bwMode="auto">
          <a:xfrm>
            <a:off x="9953625" y="2714625"/>
            <a:ext cx="9525" cy="857250"/>
          </a:xfrm>
          <a:prstGeom prst="line">
            <a:avLst/>
          </a:prstGeom>
          <a:noFill/>
          <a:ln w="38100">
            <a:solidFill>
              <a:srgbClr val="7C3AED"/>
            </a:solidFill>
            <a:prstDash val="solid"/>
          </a:ln>
        </p:spPr>
        <p:txBody>
          <a:bodyPr/>
          <a:lstStyle/>
          <a:p>
            <a:pPr>
              <a:buNone/>
              <a:defRPr/>
            </a:pPr>
            <a:endParaRPr/>
          </a:p>
        </p:txBody>
      </p:sp>
      <p:sp>
        <p:nvSpPr>
          <p:cNvPr id="1054683622" name="Rectangle 1133392472"/>
          <p:cNvSpPr>
            <a:spLocks noGrp="1"/>
          </p:cNvSpPr>
          <p:nvPr/>
        </p:nvSpPr>
        <p:spPr bwMode="auto">
          <a:xfrm>
            <a:off x="9239250" y="4191000"/>
            <a:ext cx="1428750" cy="285750"/>
          </a:xfrm>
          <a:prstGeom prst="rect">
            <a:avLst/>
          </a:prstGeom>
          <a:noFill/>
          <a:ln w="0">
            <a:noFill/>
            <a:prstDash val="solid"/>
          </a:ln>
        </p:spPr>
        <p:txBody>
          <a:bodyPr/>
          <a:lstStyle/>
          <a:p>
            <a:pPr algn="ctr">
              <a:buNone/>
              <a:defRPr sz="1650" b="1">
                <a:solidFill>
                  <a:srgbClr val="0B0F19"/>
                </a:solidFill>
              </a:defRPr>
            </a:pPr>
            <a:r>
              <a:rPr sz="1650" b="1">
                <a:solidFill>
                  <a:srgbClr val="0B0F19"/>
                </a:solidFill>
              </a:rPr>
              <a:t>position</a:t>
            </a:r>
            <a:endParaRPr/>
          </a:p>
        </p:txBody>
      </p:sp>
      <p:sp>
        <p:nvSpPr>
          <p:cNvPr id="961174085" name="Rectangle 43845656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49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27474568" name="Rectangle 1411052237"/>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Order</a:t>
            </a:r>
            <a:endParaRPr/>
          </a:p>
        </p:txBody>
      </p:sp>
      <p:sp>
        <p:nvSpPr>
          <p:cNvPr id="618285096" name="Rectangle 106512870"/>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Position is added to meaning</a:t>
            </a:r>
            <a:endParaRPr/>
          </a:p>
        </p:txBody>
      </p:sp>
      <p:sp>
        <p:nvSpPr>
          <p:cNvPr id="132627498" name="Rectangle: Rounded Corners 87118212"/>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713854934" name="Rectangle: Rounded Corners 437710827"/>
          <p:cNvSpPr>
            <a:spLocks noGrp="1"/>
          </p:cNvSpPr>
          <p:nvPr/>
        </p:nvSpPr>
        <p:spPr bwMode="auto">
          <a:xfrm>
            <a:off x="2381250" y="2952750"/>
            <a:ext cx="2000250" cy="857250"/>
          </a:xfrm>
          <a:prstGeom prst="roundRect">
            <a:avLst>
              <a:gd name="adj" fmla="val 13333"/>
            </a:avLst>
          </a:prstGeom>
          <a:solidFill>
            <a:srgbClr val="E0F2FE"/>
          </a:solidFill>
          <a:ln w="14288">
            <a:solidFill>
              <a:srgbClr val="2563EB"/>
            </a:solidFill>
            <a:prstDash val="solid"/>
          </a:ln>
        </p:spPr>
        <p:txBody>
          <a:bodyPr/>
          <a:lstStyle/>
          <a:p>
            <a:pPr algn="ctr">
              <a:buNone/>
              <a:defRPr sz="1650" b="1">
                <a:solidFill>
                  <a:srgbClr val="0B0F19"/>
                </a:solidFill>
              </a:defRPr>
            </a:pPr>
            <a:r>
              <a:rPr sz="1650" b="1">
                <a:solidFill>
                  <a:srgbClr val="0B0F19"/>
                </a:solidFill>
              </a:rPr>
              <a:t>token vector</a:t>
            </a:r>
            <a:endParaRPr/>
          </a:p>
        </p:txBody>
      </p:sp>
      <p:sp>
        <p:nvSpPr>
          <p:cNvPr id="280192413" name="Rectangle 1111010882"/>
          <p:cNvSpPr>
            <a:spLocks noGrp="1"/>
          </p:cNvSpPr>
          <p:nvPr/>
        </p:nvSpPr>
        <p:spPr bwMode="auto">
          <a:xfrm>
            <a:off x="4810125" y="3143250"/>
            <a:ext cx="381000" cy="381000"/>
          </a:xfrm>
          <a:prstGeom prst="rect">
            <a:avLst/>
          </a:prstGeom>
          <a:noFill/>
          <a:ln w="0">
            <a:noFill/>
            <a:prstDash val="solid"/>
          </a:ln>
        </p:spPr>
        <p:txBody>
          <a:bodyPr/>
          <a:lstStyle/>
          <a:p>
            <a:pPr algn="ctr">
              <a:buNone/>
              <a:defRPr sz="3150" b="1">
                <a:solidFill>
                  <a:srgbClr val="0B0F19"/>
                </a:solidFill>
              </a:defRPr>
            </a:pPr>
            <a:r>
              <a:rPr sz="3150" b="1">
                <a:solidFill>
                  <a:srgbClr val="0B0F19"/>
                </a:solidFill>
              </a:rPr>
              <a:t>+</a:t>
            </a:r>
            <a:endParaRPr/>
          </a:p>
        </p:txBody>
      </p:sp>
      <p:sp>
        <p:nvSpPr>
          <p:cNvPr id="25306753" name="Rectangle: Rounded Corners 1831606846"/>
          <p:cNvSpPr>
            <a:spLocks noGrp="1"/>
          </p:cNvSpPr>
          <p:nvPr/>
        </p:nvSpPr>
        <p:spPr bwMode="auto">
          <a:xfrm>
            <a:off x="5572125" y="2952750"/>
            <a:ext cx="2190750" cy="857250"/>
          </a:xfrm>
          <a:prstGeom prst="roundRect">
            <a:avLst>
              <a:gd name="adj" fmla="val 13333"/>
            </a:avLst>
          </a:prstGeom>
          <a:solidFill>
            <a:srgbClr val="FEF3C7"/>
          </a:solidFill>
          <a:ln w="14288">
            <a:solidFill>
              <a:srgbClr val="F97316"/>
            </a:solidFill>
            <a:prstDash val="solid"/>
          </a:ln>
        </p:spPr>
        <p:txBody>
          <a:bodyPr/>
          <a:lstStyle/>
          <a:p>
            <a:pPr algn="ctr">
              <a:buNone/>
              <a:defRPr sz="1650" b="1">
                <a:solidFill>
                  <a:srgbClr val="0B0F19"/>
                </a:solidFill>
              </a:defRPr>
            </a:pPr>
            <a:r>
              <a:rPr sz="1650" b="1">
                <a:solidFill>
                  <a:srgbClr val="0B0F19"/>
                </a:solidFill>
              </a:rPr>
              <a:t>position vector</a:t>
            </a:r>
            <a:endParaRPr/>
          </a:p>
        </p:txBody>
      </p:sp>
      <p:sp>
        <p:nvSpPr>
          <p:cNvPr id="1799208204" name="Rectangle 1646324530"/>
          <p:cNvSpPr>
            <a:spLocks noGrp="1"/>
          </p:cNvSpPr>
          <p:nvPr/>
        </p:nvSpPr>
        <p:spPr bwMode="auto">
          <a:xfrm>
            <a:off x="8096250" y="3143250"/>
            <a:ext cx="381000" cy="381000"/>
          </a:xfrm>
          <a:prstGeom prst="rect">
            <a:avLst/>
          </a:prstGeom>
          <a:noFill/>
          <a:ln w="0">
            <a:noFill/>
            <a:prstDash val="solid"/>
          </a:ln>
        </p:spPr>
        <p:txBody>
          <a:bodyPr/>
          <a:lstStyle/>
          <a:p>
            <a:pPr algn="ctr">
              <a:buNone/>
              <a:defRPr sz="3150" b="1">
                <a:solidFill>
                  <a:srgbClr val="0B0F19"/>
                </a:solidFill>
              </a:defRPr>
            </a:pPr>
            <a:r>
              <a:rPr sz="3150" b="1">
                <a:solidFill>
                  <a:srgbClr val="0B0F19"/>
                </a:solidFill>
              </a:rPr>
              <a:t>=</a:t>
            </a:r>
            <a:endParaRPr/>
          </a:p>
        </p:txBody>
      </p:sp>
      <p:sp>
        <p:nvSpPr>
          <p:cNvPr id="1431586535" name="Rectangle: Rounded Corners 1489327302"/>
          <p:cNvSpPr>
            <a:spLocks noGrp="1"/>
          </p:cNvSpPr>
          <p:nvPr/>
        </p:nvSpPr>
        <p:spPr bwMode="auto">
          <a:xfrm>
            <a:off x="8810625" y="2952750"/>
            <a:ext cx="2190750" cy="857250"/>
          </a:xfrm>
          <a:prstGeom prst="roundRect">
            <a:avLst>
              <a:gd name="adj" fmla="val 13333"/>
            </a:avLst>
          </a:prstGeom>
          <a:solidFill>
            <a:srgbClr val="DCFCE7"/>
          </a:solidFill>
          <a:ln w="14288">
            <a:solidFill>
              <a:srgbClr val="10B981"/>
            </a:solidFill>
            <a:prstDash val="solid"/>
          </a:ln>
        </p:spPr>
        <p:txBody>
          <a:bodyPr/>
          <a:lstStyle/>
          <a:p>
            <a:pPr algn="ctr">
              <a:buNone/>
              <a:defRPr sz="1650" b="1">
                <a:solidFill>
                  <a:srgbClr val="0B0F19"/>
                </a:solidFill>
              </a:defRPr>
            </a:pPr>
            <a:r>
              <a:rPr sz="1650" b="1">
                <a:solidFill>
                  <a:srgbClr val="0B0F19"/>
                </a:solidFill>
              </a:rPr>
              <a:t>ordered meaning</a:t>
            </a:r>
            <a:endParaRPr/>
          </a:p>
        </p:txBody>
      </p:sp>
      <p:sp>
        <p:nvSpPr>
          <p:cNvPr id="1109925486" name="Rectangle 122937465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50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783912470" name="Rectangle 1844228020"/>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Block</a:t>
            </a:r>
            <a:endParaRPr/>
          </a:p>
        </p:txBody>
      </p:sp>
      <p:sp>
        <p:nvSpPr>
          <p:cNvPr id="1232153196" name="Rectangle 619868867"/>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A Transformer block mixes and computes</a:t>
            </a:r>
            <a:endParaRPr/>
          </a:p>
        </p:txBody>
      </p:sp>
      <p:sp>
        <p:nvSpPr>
          <p:cNvPr id="367724609" name="Rectangle: Rounded Corners 1987948612"/>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642596650" name="Rectangle: Rounded Corners 1704183002"/>
          <p:cNvSpPr>
            <a:spLocks noGrp="1"/>
          </p:cNvSpPr>
          <p:nvPr/>
        </p:nvSpPr>
        <p:spPr bwMode="auto">
          <a:xfrm>
            <a:off x="2000250" y="4619625"/>
            <a:ext cx="1619250" cy="514350"/>
          </a:xfrm>
          <a:prstGeom prst="roundRect">
            <a:avLst>
              <a:gd name="adj" fmla="val 22222"/>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input</a:t>
            </a:r>
            <a:endParaRPr/>
          </a:p>
        </p:txBody>
      </p:sp>
      <p:sp>
        <p:nvSpPr>
          <p:cNvPr id="1111030774" name="Rectangle: Rounded Corners 2064136095"/>
          <p:cNvSpPr>
            <a:spLocks noGrp="1"/>
          </p:cNvSpPr>
          <p:nvPr/>
        </p:nvSpPr>
        <p:spPr bwMode="auto">
          <a:xfrm>
            <a:off x="4238625" y="3857625"/>
            <a:ext cx="2476500" cy="762000"/>
          </a:xfrm>
          <a:prstGeom prst="roundRect">
            <a:avLst>
              <a:gd name="adj" fmla="val 15000"/>
            </a:avLst>
          </a:prstGeom>
          <a:solidFill>
            <a:srgbClr val="E0F2FE"/>
          </a:solidFill>
          <a:ln w="14288">
            <a:solidFill>
              <a:srgbClr val="2563EB"/>
            </a:solidFill>
            <a:prstDash val="solid"/>
          </a:ln>
        </p:spPr>
        <p:txBody>
          <a:bodyPr/>
          <a:lstStyle/>
          <a:p>
            <a:pPr algn="ctr">
              <a:buNone/>
              <a:defRPr sz="1950" b="1">
                <a:solidFill>
                  <a:srgbClr val="0B0F19"/>
                </a:solidFill>
              </a:defRPr>
            </a:pPr>
            <a:r>
              <a:rPr sz="1950" b="1">
                <a:solidFill>
                  <a:srgbClr val="0B0F19"/>
                </a:solidFill>
              </a:rPr>
              <a:t>self-attention</a:t>
            </a:r>
            <a:endParaRPr/>
          </a:p>
        </p:txBody>
      </p:sp>
      <p:sp>
        <p:nvSpPr>
          <p:cNvPr id="1128937983" name="Rectangle: Rounded Corners 1859104578"/>
          <p:cNvSpPr>
            <a:spLocks noGrp="1"/>
          </p:cNvSpPr>
          <p:nvPr/>
        </p:nvSpPr>
        <p:spPr bwMode="auto">
          <a:xfrm>
            <a:off x="7381875" y="2714625"/>
            <a:ext cx="2476500" cy="762000"/>
          </a:xfrm>
          <a:prstGeom prst="roundRect">
            <a:avLst>
              <a:gd name="adj" fmla="val 15000"/>
            </a:avLst>
          </a:prstGeom>
          <a:solidFill>
            <a:srgbClr val="DCFCE7"/>
          </a:solidFill>
          <a:ln w="14288">
            <a:solidFill>
              <a:srgbClr val="10B981"/>
            </a:solidFill>
            <a:prstDash val="solid"/>
          </a:ln>
        </p:spPr>
        <p:txBody>
          <a:bodyPr/>
          <a:lstStyle/>
          <a:p>
            <a:pPr algn="ctr">
              <a:buNone/>
              <a:defRPr sz="1950" b="1">
                <a:solidFill>
                  <a:srgbClr val="0B0F19"/>
                </a:solidFill>
              </a:defRPr>
            </a:pPr>
            <a:r>
              <a:rPr sz="1950" b="1">
                <a:solidFill>
                  <a:srgbClr val="0B0F19"/>
                </a:solidFill>
              </a:rPr>
              <a:t>feed-forward</a:t>
            </a:r>
            <a:endParaRPr/>
          </a:p>
        </p:txBody>
      </p:sp>
      <p:sp>
        <p:nvSpPr>
          <p:cNvPr id="1189923939" name="Rectangle: Rounded Corners 1016569497"/>
          <p:cNvSpPr>
            <a:spLocks noGrp="1"/>
          </p:cNvSpPr>
          <p:nvPr/>
        </p:nvSpPr>
        <p:spPr bwMode="auto">
          <a:xfrm>
            <a:off x="8715375" y="1809750"/>
            <a:ext cx="1619250" cy="514350"/>
          </a:xfrm>
          <a:prstGeom prst="roundRect">
            <a:avLst>
              <a:gd name="adj" fmla="val 22222"/>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output</a:t>
            </a:r>
            <a:endParaRPr/>
          </a:p>
        </p:txBody>
      </p:sp>
      <p:sp>
        <p:nvSpPr>
          <p:cNvPr id="605265515" name="Straight Connector 94601081"/>
          <p:cNvSpPr>
            <a:spLocks noGrp="1"/>
          </p:cNvSpPr>
          <p:nvPr/>
        </p:nvSpPr>
        <p:spPr bwMode="auto">
          <a:xfrm>
            <a:off x="3619500" y="4238625"/>
            <a:ext cx="619125" cy="638175"/>
          </a:xfrm>
          <a:prstGeom prst="line">
            <a:avLst/>
          </a:prstGeom>
          <a:noFill/>
          <a:ln w="28575">
            <a:solidFill>
              <a:srgbClr val="CBD5E1"/>
            </a:solidFill>
            <a:prstDash val="solid"/>
          </a:ln>
        </p:spPr>
        <p:txBody>
          <a:bodyPr/>
          <a:lstStyle/>
          <a:p>
            <a:pPr>
              <a:buNone/>
              <a:defRPr/>
            </a:pPr>
            <a:endParaRPr/>
          </a:p>
        </p:txBody>
      </p:sp>
      <p:sp>
        <p:nvSpPr>
          <p:cNvPr id="1706062099" name="Straight Connector 1000744926"/>
          <p:cNvSpPr>
            <a:spLocks noGrp="1"/>
          </p:cNvSpPr>
          <p:nvPr/>
        </p:nvSpPr>
        <p:spPr bwMode="auto">
          <a:xfrm>
            <a:off x="6715125" y="3095625"/>
            <a:ext cx="666750" cy="1143000"/>
          </a:xfrm>
          <a:prstGeom prst="line">
            <a:avLst/>
          </a:prstGeom>
          <a:noFill/>
          <a:ln w="28575">
            <a:solidFill>
              <a:srgbClr val="CBD5E1"/>
            </a:solidFill>
            <a:prstDash val="solid"/>
          </a:ln>
        </p:spPr>
        <p:txBody>
          <a:bodyPr/>
          <a:lstStyle/>
          <a:p>
            <a:pPr>
              <a:buNone/>
              <a:defRPr/>
            </a:pPr>
            <a:endParaRPr/>
          </a:p>
        </p:txBody>
      </p:sp>
      <p:sp>
        <p:nvSpPr>
          <p:cNvPr id="1683565522" name="Straight Connector 781772780"/>
          <p:cNvSpPr>
            <a:spLocks noGrp="1"/>
          </p:cNvSpPr>
          <p:nvPr/>
        </p:nvSpPr>
        <p:spPr bwMode="auto">
          <a:xfrm>
            <a:off x="9525000" y="2333625"/>
            <a:ext cx="333375" cy="762000"/>
          </a:xfrm>
          <a:prstGeom prst="line">
            <a:avLst/>
          </a:prstGeom>
          <a:noFill/>
          <a:ln w="28575">
            <a:solidFill>
              <a:srgbClr val="CBD5E1"/>
            </a:solidFill>
            <a:prstDash val="solid"/>
          </a:ln>
        </p:spPr>
        <p:txBody>
          <a:bodyPr/>
          <a:lstStyle/>
          <a:p>
            <a:pPr>
              <a:buNone/>
              <a:defRPr/>
            </a:pPr>
            <a:endParaRPr/>
          </a:p>
        </p:txBody>
      </p:sp>
      <p:sp>
        <p:nvSpPr>
          <p:cNvPr id="106562733" name="Rectangle 1007733503"/>
          <p:cNvSpPr>
            <a:spLocks noGrp="1"/>
          </p:cNvSpPr>
          <p:nvPr/>
        </p:nvSpPr>
        <p:spPr bwMode="auto">
          <a:xfrm>
            <a:off x="3714750" y="5286375"/>
            <a:ext cx="4953000" cy="323850"/>
          </a:xfrm>
          <a:prstGeom prst="rect">
            <a:avLst/>
          </a:prstGeom>
          <a:noFill/>
          <a:ln w="0">
            <a:noFill/>
            <a:prstDash val="solid"/>
          </a:ln>
        </p:spPr>
        <p:txBody>
          <a:bodyPr/>
          <a:lstStyle/>
          <a:p>
            <a:pPr algn="ctr">
              <a:buNone/>
              <a:defRPr sz="1900" b="1">
                <a:solidFill>
                  <a:srgbClr val="667085"/>
                </a:solidFill>
              </a:defRPr>
            </a:pPr>
            <a:r>
              <a:rPr sz="1900" b="1">
                <a:solidFill>
                  <a:srgbClr val="667085"/>
                </a:solidFill>
              </a:rPr>
              <a:t>residual + norm around each step</a:t>
            </a:r>
            <a:endParaRPr/>
          </a:p>
        </p:txBody>
      </p:sp>
      <p:sp>
        <p:nvSpPr>
          <p:cNvPr id="1210162215" name="Rectangle 1520419495"/>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51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95108416" name="Rectangle 1860349465"/>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Encoder</a:t>
            </a:r>
            <a:endParaRPr/>
          </a:p>
        </p:txBody>
      </p:sp>
      <p:sp>
        <p:nvSpPr>
          <p:cNvPr id="2009752339" name="Rectangle 1379853287"/>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The encoder reads the whole input</a:t>
            </a:r>
            <a:endParaRPr/>
          </a:p>
        </p:txBody>
      </p:sp>
      <p:sp>
        <p:nvSpPr>
          <p:cNvPr id="179370258" name="Rectangle: Rounded Corners 1919655130"/>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588740476" name="Rectangle: Rounded Corners 1257118693"/>
          <p:cNvSpPr>
            <a:spLocks noGrp="1"/>
          </p:cNvSpPr>
          <p:nvPr/>
        </p:nvSpPr>
        <p:spPr bwMode="auto">
          <a:xfrm>
            <a:off x="1333500" y="4953000"/>
            <a:ext cx="914400" cy="476250"/>
          </a:xfrm>
          <a:prstGeom prst="roundRect">
            <a:avLst>
              <a:gd name="adj" fmla="val 24000"/>
            </a:avLst>
          </a:prstGeom>
          <a:solidFill>
            <a:srgbClr val="FFFFFF"/>
          </a:solidFill>
          <a:ln w="14288">
            <a:solidFill>
              <a:srgbClr val="CBD5E1"/>
            </a:solidFill>
            <a:prstDash val="solid"/>
          </a:ln>
        </p:spPr>
        <p:txBody>
          <a:bodyPr/>
          <a:lstStyle/>
          <a:p>
            <a:pPr algn="ctr">
              <a:buNone/>
              <a:defRPr sz="1350" b="1">
                <a:solidFill>
                  <a:srgbClr val="0B0F19"/>
                </a:solidFill>
              </a:defRPr>
            </a:pPr>
            <a:r>
              <a:rPr sz="1350" b="1">
                <a:solidFill>
                  <a:srgbClr val="0B0F19"/>
                </a:solidFill>
              </a:rPr>
              <a:t>I</a:t>
            </a:r>
            <a:endParaRPr/>
          </a:p>
        </p:txBody>
      </p:sp>
      <p:sp>
        <p:nvSpPr>
          <p:cNvPr id="1223121144" name="Rectangle: Rounded Corners 139886069"/>
          <p:cNvSpPr>
            <a:spLocks noGrp="1"/>
          </p:cNvSpPr>
          <p:nvPr/>
        </p:nvSpPr>
        <p:spPr bwMode="auto">
          <a:xfrm>
            <a:off x="2628900" y="4953000"/>
            <a:ext cx="914400" cy="476250"/>
          </a:xfrm>
          <a:prstGeom prst="roundRect">
            <a:avLst>
              <a:gd name="adj" fmla="val 24000"/>
            </a:avLst>
          </a:prstGeom>
          <a:solidFill>
            <a:srgbClr val="FFFFFF"/>
          </a:solidFill>
          <a:ln w="14288">
            <a:solidFill>
              <a:srgbClr val="CBD5E1"/>
            </a:solidFill>
            <a:prstDash val="solid"/>
          </a:ln>
        </p:spPr>
        <p:txBody>
          <a:bodyPr/>
          <a:lstStyle/>
          <a:p>
            <a:pPr algn="ctr">
              <a:buNone/>
              <a:defRPr sz="1350" b="1">
                <a:solidFill>
                  <a:srgbClr val="0B0F19"/>
                </a:solidFill>
              </a:defRPr>
            </a:pPr>
            <a:r>
              <a:rPr sz="1350" b="1">
                <a:solidFill>
                  <a:srgbClr val="0B0F19"/>
                </a:solidFill>
              </a:rPr>
              <a:t>love</a:t>
            </a:r>
            <a:endParaRPr/>
          </a:p>
        </p:txBody>
      </p:sp>
      <p:sp>
        <p:nvSpPr>
          <p:cNvPr id="929388400" name="Rectangle: Rounded Corners 1995249494"/>
          <p:cNvSpPr>
            <a:spLocks noGrp="1"/>
          </p:cNvSpPr>
          <p:nvPr/>
        </p:nvSpPr>
        <p:spPr bwMode="auto">
          <a:xfrm>
            <a:off x="3924300" y="4953000"/>
            <a:ext cx="914400" cy="476250"/>
          </a:xfrm>
          <a:prstGeom prst="roundRect">
            <a:avLst>
              <a:gd name="adj" fmla="val 24000"/>
            </a:avLst>
          </a:prstGeom>
          <a:solidFill>
            <a:srgbClr val="FFFFFF"/>
          </a:solidFill>
          <a:ln w="14288">
            <a:solidFill>
              <a:srgbClr val="CBD5E1"/>
            </a:solidFill>
            <a:prstDash val="solid"/>
          </a:ln>
        </p:spPr>
        <p:txBody>
          <a:bodyPr/>
          <a:lstStyle/>
          <a:p>
            <a:pPr algn="ctr">
              <a:buNone/>
              <a:defRPr sz="1350" b="1">
                <a:solidFill>
                  <a:srgbClr val="0B0F19"/>
                </a:solidFill>
              </a:defRPr>
            </a:pPr>
            <a:r>
              <a:rPr sz="1350" b="1">
                <a:solidFill>
                  <a:srgbClr val="0B0F19"/>
                </a:solidFill>
              </a:rPr>
              <a:t>machine</a:t>
            </a:r>
            <a:endParaRPr/>
          </a:p>
        </p:txBody>
      </p:sp>
      <p:sp>
        <p:nvSpPr>
          <p:cNvPr id="817323117" name="Rectangle: Rounded Corners 486029296"/>
          <p:cNvSpPr>
            <a:spLocks noGrp="1"/>
          </p:cNvSpPr>
          <p:nvPr/>
        </p:nvSpPr>
        <p:spPr bwMode="auto">
          <a:xfrm>
            <a:off x="5219700" y="4953000"/>
            <a:ext cx="1219200" cy="476250"/>
          </a:xfrm>
          <a:prstGeom prst="roundRect">
            <a:avLst>
              <a:gd name="adj" fmla="val 24000"/>
            </a:avLst>
          </a:prstGeom>
          <a:solidFill>
            <a:srgbClr val="FFFFFF"/>
          </a:solidFill>
          <a:ln w="14288">
            <a:solidFill>
              <a:srgbClr val="CBD5E1"/>
            </a:solidFill>
            <a:prstDash val="solid"/>
          </a:ln>
        </p:spPr>
        <p:txBody>
          <a:bodyPr/>
          <a:lstStyle/>
          <a:p>
            <a:pPr algn="ctr">
              <a:buNone/>
              <a:defRPr sz="1300" b="1">
                <a:solidFill>
                  <a:srgbClr val="0B0F19"/>
                </a:solidFill>
              </a:defRPr>
            </a:pPr>
            <a:r>
              <a:rPr sz="1300" b="1">
                <a:solidFill>
                  <a:srgbClr val="0B0F19"/>
                </a:solidFill>
              </a:rPr>
              <a:t>learning</a:t>
            </a:r>
            <a:endParaRPr/>
          </a:p>
        </p:txBody>
      </p:sp>
      <p:sp>
        <p:nvSpPr>
          <p:cNvPr id="348878203" name="Rectangle: Rounded Corners 2009773558"/>
          <p:cNvSpPr>
            <a:spLocks noGrp="1"/>
          </p:cNvSpPr>
          <p:nvPr/>
        </p:nvSpPr>
        <p:spPr bwMode="auto">
          <a:xfrm>
            <a:off x="6477000" y="3905250"/>
            <a:ext cx="2476500" cy="666750"/>
          </a:xfrm>
          <a:prstGeom prst="roundRect">
            <a:avLst>
              <a:gd name="adj" fmla="val 17143"/>
            </a:avLst>
          </a:prstGeom>
          <a:solidFill>
            <a:srgbClr val="FFFFFF"/>
          </a:solidFill>
          <a:ln w="14288">
            <a:solidFill>
              <a:srgbClr val="2563EB"/>
            </a:solidFill>
            <a:prstDash val="solid"/>
          </a:ln>
        </p:spPr>
        <p:txBody>
          <a:bodyPr/>
          <a:lstStyle/>
          <a:p>
            <a:pPr algn="ctr">
              <a:buNone/>
              <a:defRPr sz="1800" b="1">
                <a:solidFill>
                  <a:srgbClr val="0B0F19"/>
                </a:solidFill>
              </a:defRPr>
            </a:pPr>
            <a:r>
              <a:rPr sz="1800" b="1">
                <a:solidFill>
                  <a:srgbClr val="0B0F19"/>
                </a:solidFill>
              </a:rPr>
              <a:t>encoder 1</a:t>
            </a:r>
            <a:endParaRPr/>
          </a:p>
        </p:txBody>
      </p:sp>
      <p:sp>
        <p:nvSpPr>
          <p:cNvPr id="1112532787" name="Rectangle: Rounded Corners 607891528"/>
          <p:cNvSpPr>
            <a:spLocks noGrp="1"/>
          </p:cNvSpPr>
          <p:nvPr/>
        </p:nvSpPr>
        <p:spPr bwMode="auto">
          <a:xfrm>
            <a:off x="6477000" y="3143250"/>
            <a:ext cx="2476500" cy="666750"/>
          </a:xfrm>
          <a:prstGeom prst="roundRect">
            <a:avLst>
              <a:gd name="adj" fmla="val 17143"/>
            </a:avLst>
          </a:prstGeom>
          <a:solidFill>
            <a:srgbClr val="E0F2FE"/>
          </a:solidFill>
          <a:ln w="14288">
            <a:solidFill>
              <a:srgbClr val="2563EB"/>
            </a:solidFill>
            <a:prstDash val="solid"/>
          </a:ln>
        </p:spPr>
        <p:txBody>
          <a:bodyPr/>
          <a:lstStyle/>
          <a:p>
            <a:pPr algn="ctr">
              <a:buNone/>
              <a:defRPr sz="1800" b="1">
                <a:solidFill>
                  <a:srgbClr val="0B0F19"/>
                </a:solidFill>
              </a:defRPr>
            </a:pPr>
            <a:r>
              <a:rPr sz="1800" b="1">
                <a:solidFill>
                  <a:srgbClr val="0B0F19"/>
                </a:solidFill>
              </a:rPr>
              <a:t>encoder 2</a:t>
            </a:r>
            <a:endParaRPr/>
          </a:p>
        </p:txBody>
      </p:sp>
      <p:sp>
        <p:nvSpPr>
          <p:cNvPr id="2000822497" name="Rectangle: Rounded Corners 1953501824"/>
          <p:cNvSpPr>
            <a:spLocks noGrp="1"/>
          </p:cNvSpPr>
          <p:nvPr/>
        </p:nvSpPr>
        <p:spPr bwMode="auto">
          <a:xfrm>
            <a:off x="6477000" y="2381250"/>
            <a:ext cx="2476500" cy="666750"/>
          </a:xfrm>
          <a:prstGeom prst="roundRect">
            <a:avLst>
              <a:gd name="adj" fmla="val 17143"/>
            </a:avLst>
          </a:prstGeom>
          <a:solidFill>
            <a:srgbClr val="FFFFFF"/>
          </a:solidFill>
          <a:ln w="14288">
            <a:solidFill>
              <a:srgbClr val="2563EB"/>
            </a:solidFill>
            <a:prstDash val="solid"/>
          </a:ln>
        </p:spPr>
        <p:txBody>
          <a:bodyPr/>
          <a:lstStyle/>
          <a:p>
            <a:pPr algn="ctr">
              <a:buNone/>
              <a:defRPr sz="1800" b="1">
                <a:solidFill>
                  <a:srgbClr val="0B0F19"/>
                </a:solidFill>
              </a:defRPr>
            </a:pPr>
            <a:r>
              <a:rPr sz="1800" b="1">
                <a:solidFill>
                  <a:srgbClr val="0B0F19"/>
                </a:solidFill>
              </a:rPr>
              <a:t>encoder 3</a:t>
            </a:r>
            <a:endParaRPr/>
          </a:p>
        </p:txBody>
      </p:sp>
      <p:sp>
        <p:nvSpPr>
          <p:cNvPr id="1475378377" name="Arrow: Right 237891345"/>
          <p:cNvSpPr>
            <a:spLocks noGrp="1"/>
          </p:cNvSpPr>
          <p:nvPr/>
        </p:nvSpPr>
        <p:spPr bwMode="auto">
          <a:xfrm>
            <a:off x="5381625" y="4381500"/>
            <a:ext cx="904875" cy="361950"/>
          </a:xfrm>
          <a:prstGeom prst="rightArrow">
            <a:avLst>
              <a:gd name="adj1" fmla="val 50000"/>
              <a:gd name="adj2" fmla="val 50000"/>
            </a:avLst>
          </a:prstGeom>
          <a:solidFill>
            <a:srgbClr val="E0F2FE"/>
          </a:solidFill>
          <a:ln w="14288">
            <a:solidFill>
              <a:srgbClr val="2563EB"/>
            </a:solidFill>
            <a:prstDash val="solid"/>
          </a:ln>
        </p:spPr>
        <p:txBody>
          <a:bodyPr/>
          <a:lstStyle/>
          <a:p>
            <a:pPr>
              <a:buNone/>
              <a:defRPr/>
            </a:pPr>
            <a:endParaRPr/>
          </a:p>
        </p:txBody>
      </p:sp>
      <p:sp>
        <p:nvSpPr>
          <p:cNvPr id="2141530991" name="Rectangle 567787381"/>
          <p:cNvSpPr>
            <a:spLocks noGrp="1"/>
          </p:cNvSpPr>
          <p:nvPr/>
        </p:nvSpPr>
        <p:spPr bwMode="auto">
          <a:xfrm>
            <a:off x="5905500" y="1619250"/>
            <a:ext cx="3905250" cy="361950"/>
          </a:xfrm>
          <a:prstGeom prst="rect">
            <a:avLst/>
          </a:prstGeom>
          <a:noFill/>
          <a:ln w="0">
            <a:noFill/>
            <a:prstDash val="solid"/>
          </a:ln>
        </p:spPr>
        <p:txBody>
          <a:bodyPr/>
          <a:lstStyle/>
          <a:p>
            <a:pPr algn="ctr">
              <a:buNone/>
              <a:defRPr sz="2100" b="1">
                <a:solidFill>
                  <a:srgbClr val="2563EB"/>
                </a:solidFill>
              </a:defRPr>
            </a:pPr>
            <a:r>
              <a:rPr sz="2100" b="1">
                <a:solidFill>
                  <a:srgbClr val="2563EB"/>
                </a:solidFill>
              </a:rPr>
              <a:t>contextual representations</a:t>
            </a:r>
            <a:endParaRPr/>
          </a:p>
        </p:txBody>
      </p:sp>
      <p:sp>
        <p:nvSpPr>
          <p:cNvPr id="2053330199" name="Rectangle 1811573039"/>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52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75529728" name="Rectangle 698847192"/>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Decoder</a:t>
            </a:r>
            <a:endParaRPr/>
          </a:p>
        </p:txBody>
      </p:sp>
      <p:sp>
        <p:nvSpPr>
          <p:cNvPr id="1251627584" name="Rectangle 892173066"/>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The decoder hides the future</a:t>
            </a:r>
            <a:endParaRPr/>
          </a:p>
        </p:txBody>
      </p:sp>
      <p:sp>
        <p:nvSpPr>
          <p:cNvPr id="402399487" name="Rectangle: Rounded Corners 634225882"/>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719081728" name="Rectangle: Rounded Corners 2010502302"/>
          <p:cNvSpPr>
            <a:spLocks noGrp="1"/>
          </p:cNvSpPr>
          <p:nvPr/>
        </p:nvSpPr>
        <p:spPr bwMode="auto">
          <a:xfrm>
            <a:off x="3429000" y="228600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1299215029" name="Rectangle: Rounded Corners 1366762973"/>
          <p:cNvSpPr>
            <a:spLocks noGrp="1"/>
          </p:cNvSpPr>
          <p:nvPr/>
        </p:nvSpPr>
        <p:spPr bwMode="auto">
          <a:xfrm>
            <a:off x="3867150" y="2286000"/>
            <a:ext cx="400050" cy="400050"/>
          </a:xfrm>
          <a:prstGeom prst="roundRect">
            <a:avLst>
              <a:gd name="adj" fmla="val 4762"/>
            </a:avLst>
          </a:prstGeom>
          <a:solidFill>
            <a:srgbClr val="FEE2E2"/>
          </a:solidFill>
          <a:ln w="14288">
            <a:solidFill>
              <a:srgbClr val="FFFFFF"/>
            </a:solidFill>
            <a:prstDash val="solid"/>
          </a:ln>
        </p:spPr>
        <p:txBody>
          <a:bodyPr/>
          <a:lstStyle/>
          <a:p>
            <a:pPr>
              <a:buNone/>
              <a:defRPr/>
            </a:pPr>
            <a:endParaRPr/>
          </a:p>
        </p:txBody>
      </p:sp>
      <p:sp>
        <p:nvSpPr>
          <p:cNvPr id="1237809175" name="Rectangle: Rounded Corners 1460632181"/>
          <p:cNvSpPr>
            <a:spLocks noGrp="1"/>
          </p:cNvSpPr>
          <p:nvPr/>
        </p:nvSpPr>
        <p:spPr bwMode="auto">
          <a:xfrm>
            <a:off x="4305300" y="2286000"/>
            <a:ext cx="400050" cy="400050"/>
          </a:xfrm>
          <a:prstGeom prst="roundRect">
            <a:avLst>
              <a:gd name="adj" fmla="val 4762"/>
            </a:avLst>
          </a:prstGeom>
          <a:solidFill>
            <a:srgbClr val="FEE2E2"/>
          </a:solidFill>
          <a:ln w="14288">
            <a:solidFill>
              <a:srgbClr val="FFFFFF"/>
            </a:solidFill>
            <a:prstDash val="solid"/>
          </a:ln>
        </p:spPr>
        <p:txBody>
          <a:bodyPr/>
          <a:lstStyle/>
          <a:p>
            <a:pPr>
              <a:buNone/>
              <a:defRPr/>
            </a:pPr>
            <a:endParaRPr/>
          </a:p>
        </p:txBody>
      </p:sp>
      <p:sp>
        <p:nvSpPr>
          <p:cNvPr id="1910958332" name="Rectangle: Rounded Corners 1175856486"/>
          <p:cNvSpPr>
            <a:spLocks noGrp="1"/>
          </p:cNvSpPr>
          <p:nvPr/>
        </p:nvSpPr>
        <p:spPr bwMode="auto">
          <a:xfrm>
            <a:off x="4743450" y="2286000"/>
            <a:ext cx="400050" cy="400050"/>
          </a:xfrm>
          <a:prstGeom prst="roundRect">
            <a:avLst>
              <a:gd name="adj" fmla="val 4762"/>
            </a:avLst>
          </a:prstGeom>
          <a:solidFill>
            <a:srgbClr val="FEE2E2"/>
          </a:solidFill>
          <a:ln w="14288">
            <a:solidFill>
              <a:srgbClr val="FFFFFF"/>
            </a:solidFill>
            <a:prstDash val="solid"/>
          </a:ln>
        </p:spPr>
        <p:txBody>
          <a:bodyPr/>
          <a:lstStyle/>
          <a:p>
            <a:pPr>
              <a:buNone/>
              <a:defRPr/>
            </a:pPr>
            <a:endParaRPr/>
          </a:p>
        </p:txBody>
      </p:sp>
      <p:sp>
        <p:nvSpPr>
          <p:cNvPr id="325499231" name="Rectangle: Rounded Corners 2061757066"/>
          <p:cNvSpPr>
            <a:spLocks noGrp="1"/>
          </p:cNvSpPr>
          <p:nvPr/>
        </p:nvSpPr>
        <p:spPr bwMode="auto">
          <a:xfrm>
            <a:off x="5181600" y="2286000"/>
            <a:ext cx="400050" cy="400050"/>
          </a:xfrm>
          <a:prstGeom prst="roundRect">
            <a:avLst>
              <a:gd name="adj" fmla="val 4762"/>
            </a:avLst>
          </a:prstGeom>
          <a:solidFill>
            <a:srgbClr val="FEE2E2"/>
          </a:solidFill>
          <a:ln w="14288">
            <a:solidFill>
              <a:srgbClr val="FFFFFF"/>
            </a:solidFill>
            <a:prstDash val="solid"/>
          </a:ln>
        </p:spPr>
        <p:txBody>
          <a:bodyPr/>
          <a:lstStyle/>
          <a:p>
            <a:pPr>
              <a:buNone/>
              <a:defRPr/>
            </a:pPr>
            <a:endParaRPr/>
          </a:p>
        </p:txBody>
      </p:sp>
      <p:sp>
        <p:nvSpPr>
          <p:cNvPr id="1897042323" name="Rectangle: Rounded Corners 1169118889"/>
          <p:cNvSpPr>
            <a:spLocks noGrp="1"/>
          </p:cNvSpPr>
          <p:nvPr/>
        </p:nvSpPr>
        <p:spPr bwMode="auto">
          <a:xfrm>
            <a:off x="5619750" y="2286000"/>
            <a:ext cx="400050" cy="400050"/>
          </a:xfrm>
          <a:prstGeom prst="roundRect">
            <a:avLst>
              <a:gd name="adj" fmla="val 4762"/>
            </a:avLst>
          </a:prstGeom>
          <a:solidFill>
            <a:srgbClr val="FEE2E2"/>
          </a:solidFill>
          <a:ln w="14288">
            <a:solidFill>
              <a:srgbClr val="FFFFFF"/>
            </a:solidFill>
            <a:prstDash val="solid"/>
          </a:ln>
        </p:spPr>
        <p:txBody>
          <a:bodyPr/>
          <a:lstStyle/>
          <a:p>
            <a:pPr>
              <a:buNone/>
              <a:defRPr/>
            </a:pPr>
            <a:endParaRPr/>
          </a:p>
        </p:txBody>
      </p:sp>
      <p:sp>
        <p:nvSpPr>
          <p:cNvPr id="2073768546" name="Rectangle: Rounded Corners 238188300"/>
          <p:cNvSpPr>
            <a:spLocks noGrp="1"/>
          </p:cNvSpPr>
          <p:nvPr/>
        </p:nvSpPr>
        <p:spPr bwMode="auto">
          <a:xfrm>
            <a:off x="3429000" y="272415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676363540" name="Rectangle: Rounded Corners 2049301056"/>
          <p:cNvSpPr>
            <a:spLocks noGrp="1"/>
          </p:cNvSpPr>
          <p:nvPr/>
        </p:nvSpPr>
        <p:spPr bwMode="auto">
          <a:xfrm>
            <a:off x="3867150" y="272415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581710364" name="Rectangle: Rounded Corners 1282082344"/>
          <p:cNvSpPr>
            <a:spLocks noGrp="1"/>
          </p:cNvSpPr>
          <p:nvPr/>
        </p:nvSpPr>
        <p:spPr bwMode="auto">
          <a:xfrm>
            <a:off x="4305300" y="2724150"/>
            <a:ext cx="400050" cy="400050"/>
          </a:xfrm>
          <a:prstGeom prst="roundRect">
            <a:avLst>
              <a:gd name="adj" fmla="val 4762"/>
            </a:avLst>
          </a:prstGeom>
          <a:solidFill>
            <a:srgbClr val="FEE2E2"/>
          </a:solidFill>
          <a:ln w="14288">
            <a:solidFill>
              <a:srgbClr val="FFFFFF"/>
            </a:solidFill>
            <a:prstDash val="solid"/>
          </a:ln>
        </p:spPr>
        <p:txBody>
          <a:bodyPr/>
          <a:lstStyle/>
          <a:p>
            <a:pPr>
              <a:buNone/>
              <a:defRPr/>
            </a:pPr>
            <a:endParaRPr/>
          </a:p>
        </p:txBody>
      </p:sp>
      <p:sp>
        <p:nvSpPr>
          <p:cNvPr id="1406927985" name="Rectangle: Rounded Corners 1172922271"/>
          <p:cNvSpPr>
            <a:spLocks noGrp="1"/>
          </p:cNvSpPr>
          <p:nvPr/>
        </p:nvSpPr>
        <p:spPr bwMode="auto">
          <a:xfrm>
            <a:off x="4743450" y="2724150"/>
            <a:ext cx="400050" cy="400050"/>
          </a:xfrm>
          <a:prstGeom prst="roundRect">
            <a:avLst>
              <a:gd name="adj" fmla="val 4762"/>
            </a:avLst>
          </a:prstGeom>
          <a:solidFill>
            <a:srgbClr val="FEE2E2"/>
          </a:solidFill>
          <a:ln w="14288">
            <a:solidFill>
              <a:srgbClr val="FFFFFF"/>
            </a:solidFill>
            <a:prstDash val="solid"/>
          </a:ln>
        </p:spPr>
        <p:txBody>
          <a:bodyPr/>
          <a:lstStyle/>
          <a:p>
            <a:pPr>
              <a:buNone/>
              <a:defRPr/>
            </a:pPr>
            <a:endParaRPr/>
          </a:p>
        </p:txBody>
      </p:sp>
      <p:sp>
        <p:nvSpPr>
          <p:cNvPr id="963370631" name="Rectangle: Rounded Corners 603029256"/>
          <p:cNvSpPr>
            <a:spLocks noGrp="1"/>
          </p:cNvSpPr>
          <p:nvPr/>
        </p:nvSpPr>
        <p:spPr bwMode="auto">
          <a:xfrm>
            <a:off x="5181600" y="2724150"/>
            <a:ext cx="400050" cy="400050"/>
          </a:xfrm>
          <a:prstGeom prst="roundRect">
            <a:avLst>
              <a:gd name="adj" fmla="val 4762"/>
            </a:avLst>
          </a:prstGeom>
          <a:solidFill>
            <a:srgbClr val="FEE2E2"/>
          </a:solidFill>
          <a:ln w="14288">
            <a:solidFill>
              <a:srgbClr val="FFFFFF"/>
            </a:solidFill>
            <a:prstDash val="solid"/>
          </a:ln>
        </p:spPr>
        <p:txBody>
          <a:bodyPr/>
          <a:lstStyle/>
          <a:p>
            <a:pPr>
              <a:buNone/>
              <a:defRPr/>
            </a:pPr>
            <a:endParaRPr/>
          </a:p>
        </p:txBody>
      </p:sp>
      <p:sp>
        <p:nvSpPr>
          <p:cNvPr id="933416918" name="Rectangle: Rounded Corners 1879817439"/>
          <p:cNvSpPr>
            <a:spLocks noGrp="1"/>
          </p:cNvSpPr>
          <p:nvPr/>
        </p:nvSpPr>
        <p:spPr bwMode="auto">
          <a:xfrm>
            <a:off x="5619750" y="2724150"/>
            <a:ext cx="400050" cy="400050"/>
          </a:xfrm>
          <a:prstGeom prst="roundRect">
            <a:avLst>
              <a:gd name="adj" fmla="val 4762"/>
            </a:avLst>
          </a:prstGeom>
          <a:solidFill>
            <a:srgbClr val="FEE2E2"/>
          </a:solidFill>
          <a:ln w="14288">
            <a:solidFill>
              <a:srgbClr val="FFFFFF"/>
            </a:solidFill>
            <a:prstDash val="solid"/>
          </a:ln>
        </p:spPr>
        <p:txBody>
          <a:bodyPr/>
          <a:lstStyle/>
          <a:p>
            <a:pPr>
              <a:buNone/>
              <a:defRPr/>
            </a:pPr>
            <a:endParaRPr/>
          </a:p>
        </p:txBody>
      </p:sp>
      <p:sp>
        <p:nvSpPr>
          <p:cNvPr id="1889022095" name="Rectangle: Rounded Corners 875542064"/>
          <p:cNvSpPr>
            <a:spLocks noGrp="1"/>
          </p:cNvSpPr>
          <p:nvPr/>
        </p:nvSpPr>
        <p:spPr bwMode="auto">
          <a:xfrm>
            <a:off x="3429000" y="316230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163256919" name="Rectangle: Rounded Corners 51908471"/>
          <p:cNvSpPr>
            <a:spLocks noGrp="1"/>
          </p:cNvSpPr>
          <p:nvPr/>
        </p:nvSpPr>
        <p:spPr bwMode="auto">
          <a:xfrm>
            <a:off x="3867150" y="316230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1053380704" name="Rectangle: Rounded Corners 1689509712"/>
          <p:cNvSpPr>
            <a:spLocks noGrp="1"/>
          </p:cNvSpPr>
          <p:nvPr/>
        </p:nvSpPr>
        <p:spPr bwMode="auto">
          <a:xfrm>
            <a:off x="4305300" y="316230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1419890481" name="Rectangle: Rounded Corners 791720529"/>
          <p:cNvSpPr>
            <a:spLocks noGrp="1"/>
          </p:cNvSpPr>
          <p:nvPr/>
        </p:nvSpPr>
        <p:spPr bwMode="auto">
          <a:xfrm>
            <a:off x="4743450" y="3162300"/>
            <a:ext cx="400050" cy="400050"/>
          </a:xfrm>
          <a:prstGeom prst="roundRect">
            <a:avLst>
              <a:gd name="adj" fmla="val 4762"/>
            </a:avLst>
          </a:prstGeom>
          <a:solidFill>
            <a:srgbClr val="FEE2E2"/>
          </a:solidFill>
          <a:ln w="14288">
            <a:solidFill>
              <a:srgbClr val="FFFFFF"/>
            </a:solidFill>
            <a:prstDash val="solid"/>
          </a:ln>
        </p:spPr>
        <p:txBody>
          <a:bodyPr/>
          <a:lstStyle/>
          <a:p>
            <a:pPr>
              <a:buNone/>
              <a:defRPr/>
            </a:pPr>
            <a:endParaRPr/>
          </a:p>
        </p:txBody>
      </p:sp>
      <p:sp>
        <p:nvSpPr>
          <p:cNvPr id="1161143030" name="Rectangle: Rounded Corners 105367441"/>
          <p:cNvSpPr>
            <a:spLocks noGrp="1"/>
          </p:cNvSpPr>
          <p:nvPr/>
        </p:nvSpPr>
        <p:spPr bwMode="auto">
          <a:xfrm>
            <a:off x="5181600" y="3162300"/>
            <a:ext cx="400050" cy="400050"/>
          </a:xfrm>
          <a:prstGeom prst="roundRect">
            <a:avLst>
              <a:gd name="adj" fmla="val 4762"/>
            </a:avLst>
          </a:prstGeom>
          <a:solidFill>
            <a:srgbClr val="FEE2E2"/>
          </a:solidFill>
          <a:ln w="14288">
            <a:solidFill>
              <a:srgbClr val="FFFFFF"/>
            </a:solidFill>
            <a:prstDash val="solid"/>
          </a:ln>
        </p:spPr>
        <p:txBody>
          <a:bodyPr/>
          <a:lstStyle/>
          <a:p>
            <a:pPr>
              <a:buNone/>
              <a:defRPr/>
            </a:pPr>
            <a:endParaRPr/>
          </a:p>
        </p:txBody>
      </p:sp>
      <p:sp>
        <p:nvSpPr>
          <p:cNvPr id="715591415" name="Rectangle: Rounded Corners 1563215529"/>
          <p:cNvSpPr>
            <a:spLocks noGrp="1"/>
          </p:cNvSpPr>
          <p:nvPr/>
        </p:nvSpPr>
        <p:spPr bwMode="auto">
          <a:xfrm>
            <a:off x="5619750" y="3162300"/>
            <a:ext cx="400050" cy="400050"/>
          </a:xfrm>
          <a:prstGeom prst="roundRect">
            <a:avLst>
              <a:gd name="adj" fmla="val 4762"/>
            </a:avLst>
          </a:prstGeom>
          <a:solidFill>
            <a:srgbClr val="FEE2E2"/>
          </a:solidFill>
          <a:ln w="14288">
            <a:solidFill>
              <a:srgbClr val="FFFFFF"/>
            </a:solidFill>
            <a:prstDash val="solid"/>
          </a:ln>
        </p:spPr>
        <p:txBody>
          <a:bodyPr/>
          <a:lstStyle/>
          <a:p>
            <a:pPr>
              <a:buNone/>
              <a:defRPr/>
            </a:pPr>
            <a:endParaRPr/>
          </a:p>
        </p:txBody>
      </p:sp>
      <p:sp>
        <p:nvSpPr>
          <p:cNvPr id="1172656270" name="Rectangle: Rounded Corners 315081294"/>
          <p:cNvSpPr>
            <a:spLocks noGrp="1"/>
          </p:cNvSpPr>
          <p:nvPr/>
        </p:nvSpPr>
        <p:spPr bwMode="auto">
          <a:xfrm>
            <a:off x="3429000" y="360045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1610865438" name="Rectangle: Rounded Corners 248452190"/>
          <p:cNvSpPr>
            <a:spLocks noGrp="1"/>
          </p:cNvSpPr>
          <p:nvPr/>
        </p:nvSpPr>
        <p:spPr bwMode="auto">
          <a:xfrm>
            <a:off x="3867150" y="360045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254468403" name="Rectangle: Rounded Corners 1671279799"/>
          <p:cNvSpPr>
            <a:spLocks noGrp="1"/>
          </p:cNvSpPr>
          <p:nvPr/>
        </p:nvSpPr>
        <p:spPr bwMode="auto">
          <a:xfrm>
            <a:off x="4305300" y="360045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1456345322" name="Rectangle: Rounded Corners 1239843558"/>
          <p:cNvSpPr>
            <a:spLocks noGrp="1"/>
          </p:cNvSpPr>
          <p:nvPr/>
        </p:nvSpPr>
        <p:spPr bwMode="auto">
          <a:xfrm>
            <a:off x="4743450" y="360045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915641298" name="Rectangle: Rounded Corners 1474960510"/>
          <p:cNvSpPr>
            <a:spLocks noGrp="1"/>
          </p:cNvSpPr>
          <p:nvPr/>
        </p:nvSpPr>
        <p:spPr bwMode="auto">
          <a:xfrm>
            <a:off x="5181600" y="3600450"/>
            <a:ext cx="400050" cy="400050"/>
          </a:xfrm>
          <a:prstGeom prst="roundRect">
            <a:avLst>
              <a:gd name="adj" fmla="val 4762"/>
            </a:avLst>
          </a:prstGeom>
          <a:solidFill>
            <a:srgbClr val="FEE2E2"/>
          </a:solidFill>
          <a:ln w="14288">
            <a:solidFill>
              <a:srgbClr val="FFFFFF"/>
            </a:solidFill>
            <a:prstDash val="solid"/>
          </a:ln>
        </p:spPr>
        <p:txBody>
          <a:bodyPr/>
          <a:lstStyle/>
          <a:p>
            <a:pPr>
              <a:buNone/>
              <a:defRPr/>
            </a:pPr>
            <a:endParaRPr/>
          </a:p>
        </p:txBody>
      </p:sp>
      <p:sp>
        <p:nvSpPr>
          <p:cNvPr id="1651111891" name="Rectangle: Rounded Corners 1705162463"/>
          <p:cNvSpPr>
            <a:spLocks noGrp="1"/>
          </p:cNvSpPr>
          <p:nvPr/>
        </p:nvSpPr>
        <p:spPr bwMode="auto">
          <a:xfrm>
            <a:off x="5619750" y="3600450"/>
            <a:ext cx="400050" cy="400050"/>
          </a:xfrm>
          <a:prstGeom prst="roundRect">
            <a:avLst>
              <a:gd name="adj" fmla="val 4762"/>
            </a:avLst>
          </a:prstGeom>
          <a:solidFill>
            <a:srgbClr val="FEE2E2"/>
          </a:solidFill>
          <a:ln w="14288">
            <a:solidFill>
              <a:srgbClr val="FFFFFF"/>
            </a:solidFill>
            <a:prstDash val="solid"/>
          </a:ln>
        </p:spPr>
        <p:txBody>
          <a:bodyPr/>
          <a:lstStyle/>
          <a:p>
            <a:pPr>
              <a:buNone/>
              <a:defRPr/>
            </a:pPr>
            <a:endParaRPr/>
          </a:p>
        </p:txBody>
      </p:sp>
      <p:sp>
        <p:nvSpPr>
          <p:cNvPr id="1498208827" name="Rectangle: Rounded Corners 7576924"/>
          <p:cNvSpPr>
            <a:spLocks noGrp="1"/>
          </p:cNvSpPr>
          <p:nvPr/>
        </p:nvSpPr>
        <p:spPr bwMode="auto">
          <a:xfrm>
            <a:off x="3429000" y="403860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2016675364" name="Rectangle: Rounded Corners 426996610"/>
          <p:cNvSpPr>
            <a:spLocks noGrp="1"/>
          </p:cNvSpPr>
          <p:nvPr/>
        </p:nvSpPr>
        <p:spPr bwMode="auto">
          <a:xfrm>
            <a:off x="3867150" y="403860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1875608754" name="Rectangle: Rounded Corners 4937970"/>
          <p:cNvSpPr>
            <a:spLocks noGrp="1"/>
          </p:cNvSpPr>
          <p:nvPr/>
        </p:nvSpPr>
        <p:spPr bwMode="auto">
          <a:xfrm>
            <a:off x="4305300" y="403860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1651852" name="Rectangle: Rounded Corners 318411884"/>
          <p:cNvSpPr>
            <a:spLocks noGrp="1"/>
          </p:cNvSpPr>
          <p:nvPr/>
        </p:nvSpPr>
        <p:spPr bwMode="auto">
          <a:xfrm>
            <a:off x="4743450" y="403860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1124438546" name="Rectangle: Rounded Corners 615608590"/>
          <p:cNvSpPr>
            <a:spLocks noGrp="1"/>
          </p:cNvSpPr>
          <p:nvPr/>
        </p:nvSpPr>
        <p:spPr bwMode="auto">
          <a:xfrm>
            <a:off x="5181600" y="403860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580131754" name="Rectangle: Rounded Corners 1731456271"/>
          <p:cNvSpPr>
            <a:spLocks noGrp="1"/>
          </p:cNvSpPr>
          <p:nvPr/>
        </p:nvSpPr>
        <p:spPr bwMode="auto">
          <a:xfrm>
            <a:off x="5619750" y="4038600"/>
            <a:ext cx="400050" cy="400050"/>
          </a:xfrm>
          <a:prstGeom prst="roundRect">
            <a:avLst>
              <a:gd name="adj" fmla="val 4762"/>
            </a:avLst>
          </a:prstGeom>
          <a:solidFill>
            <a:srgbClr val="FEE2E2"/>
          </a:solidFill>
          <a:ln w="14288">
            <a:solidFill>
              <a:srgbClr val="FFFFFF"/>
            </a:solidFill>
            <a:prstDash val="solid"/>
          </a:ln>
        </p:spPr>
        <p:txBody>
          <a:bodyPr/>
          <a:lstStyle/>
          <a:p>
            <a:pPr>
              <a:buNone/>
              <a:defRPr/>
            </a:pPr>
            <a:endParaRPr/>
          </a:p>
        </p:txBody>
      </p:sp>
      <p:sp>
        <p:nvSpPr>
          <p:cNvPr id="284522003" name="Rectangle: Rounded Corners 484935539"/>
          <p:cNvSpPr>
            <a:spLocks noGrp="1"/>
          </p:cNvSpPr>
          <p:nvPr/>
        </p:nvSpPr>
        <p:spPr bwMode="auto">
          <a:xfrm>
            <a:off x="3429000" y="447675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910982339" name="Rectangle: Rounded Corners 1134420310"/>
          <p:cNvSpPr>
            <a:spLocks noGrp="1"/>
          </p:cNvSpPr>
          <p:nvPr/>
        </p:nvSpPr>
        <p:spPr bwMode="auto">
          <a:xfrm>
            <a:off x="3867150" y="447675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1829730396" name="Rectangle: Rounded Corners 1355285829"/>
          <p:cNvSpPr>
            <a:spLocks noGrp="1"/>
          </p:cNvSpPr>
          <p:nvPr/>
        </p:nvSpPr>
        <p:spPr bwMode="auto">
          <a:xfrm>
            <a:off x="4305300" y="447675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335391290" name="Rectangle: Rounded Corners 1945716100"/>
          <p:cNvSpPr>
            <a:spLocks noGrp="1"/>
          </p:cNvSpPr>
          <p:nvPr/>
        </p:nvSpPr>
        <p:spPr bwMode="auto">
          <a:xfrm>
            <a:off x="4743450" y="447675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2125175795" name="Rectangle: Rounded Corners 903673204"/>
          <p:cNvSpPr>
            <a:spLocks noGrp="1"/>
          </p:cNvSpPr>
          <p:nvPr/>
        </p:nvSpPr>
        <p:spPr bwMode="auto">
          <a:xfrm>
            <a:off x="5181600" y="447675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356031559" name="Rectangle: Rounded Corners 41920753"/>
          <p:cNvSpPr>
            <a:spLocks noGrp="1"/>
          </p:cNvSpPr>
          <p:nvPr/>
        </p:nvSpPr>
        <p:spPr bwMode="auto">
          <a:xfrm>
            <a:off x="5619750" y="4476750"/>
            <a:ext cx="400050" cy="400050"/>
          </a:xfrm>
          <a:prstGeom prst="roundRect">
            <a:avLst>
              <a:gd name="adj" fmla="val 4762"/>
            </a:avLst>
          </a:prstGeom>
          <a:solidFill>
            <a:srgbClr val="E0F2FE"/>
          </a:solidFill>
          <a:ln w="14288">
            <a:solidFill>
              <a:srgbClr val="FFFFFF"/>
            </a:solidFill>
            <a:prstDash val="solid"/>
          </a:ln>
        </p:spPr>
        <p:txBody>
          <a:bodyPr/>
          <a:lstStyle/>
          <a:p>
            <a:pPr>
              <a:buNone/>
              <a:defRPr/>
            </a:pPr>
            <a:endParaRPr/>
          </a:p>
        </p:txBody>
      </p:sp>
      <p:sp>
        <p:nvSpPr>
          <p:cNvPr id="604787944" name="Rectangle 1090731607"/>
          <p:cNvSpPr>
            <a:spLocks noGrp="1"/>
          </p:cNvSpPr>
          <p:nvPr/>
        </p:nvSpPr>
        <p:spPr bwMode="auto">
          <a:xfrm>
            <a:off x="2381250" y="4762500"/>
            <a:ext cx="1524000" cy="285750"/>
          </a:xfrm>
          <a:prstGeom prst="rect">
            <a:avLst/>
          </a:prstGeom>
          <a:noFill/>
          <a:ln w="0">
            <a:noFill/>
            <a:prstDash val="solid"/>
          </a:ln>
        </p:spPr>
        <p:txBody>
          <a:bodyPr/>
          <a:lstStyle/>
          <a:p>
            <a:pPr algn="ctr">
              <a:buNone/>
              <a:defRPr sz="1800" b="1">
                <a:solidFill>
                  <a:srgbClr val="2563EB"/>
                </a:solidFill>
              </a:defRPr>
            </a:pPr>
            <a:r>
              <a:rPr sz="1800" b="1">
                <a:solidFill>
                  <a:srgbClr val="2563EB"/>
                </a:solidFill>
              </a:rPr>
              <a:t>visible</a:t>
            </a:r>
            <a:endParaRPr/>
          </a:p>
        </p:txBody>
      </p:sp>
      <p:sp>
        <p:nvSpPr>
          <p:cNvPr id="1416511425" name="Rectangle 1864567656"/>
          <p:cNvSpPr>
            <a:spLocks noGrp="1"/>
          </p:cNvSpPr>
          <p:nvPr/>
        </p:nvSpPr>
        <p:spPr bwMode="auto">
          <a:xfrm>
            <a:off x="7429500" y="4762500"/>
            <a:ext cx="1524000" cy="285750"/>
          </a:xfrm>
          <a:prstGeom prst="rect">
            <a:avLst/>
          </a:prstGeom>
          <a:noFill/>
          <a:ln w="0">
            <a:noFill/>
            <a:prstDash val="solid"/>
          </a:ln>
        </p:spPr>
        <p:txBody>
          <a:bodyPr/>
          <a:lstStyle/>
          <a:p>
            <a:pPr algn="ctr">
              <a:buNone/>
              <a:defRPr sz="1800" b="1">
                <a:solidFill>
                  <a:srgbClr val="EF4444"/>
                </a:solidFill>
              </a:defRPr>
            </a:pPr>
            <a:r>
              <a:rPr sz="1800" b="1">
                <a:solidFill>
                  <a:srgbClr val="EF4444"/>
                </a:solidFill>
              </a:rPr>
              <a:t>masked</a:t>
            </a:r>
            <a:endParaRPr/>
          </a:p>
        </p:txBody>
      </p:sp>
      <p:sp>
        <p:nvSpPr>
          <p:cNvPr id="2106452259" name="Rectangle 353583897"/>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53</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38466918" name="Rectangle 352308475"/>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2017</a:t>
            </a:r>
            <a:endParaRPr/>
          </a:p>
        </p:txBody>
      </p:sp>
      <p:sp>
        <p:nvSpPr>
          <p:cNvPr id="717008153" name="Rectangle 890164865"/>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Attention replaced recurrence</a:t>
            </a:r>
            <a:endParaRPr/>
          </a:p>
        </p:txBody>
      </p:sp>
      <p:sp>
        <p:nvSpPr>
          <p:cNvPr id="792073284" name="Rectangle: Rounded Corners 1302761572"/>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943428800" name="Rectangle: Rounded Corners 2031370086"/>
          <p:cNvSpPr>
            <a:spLocks noGrp="1"/>
          </p:cNvSpPr>
          <p:nvPr/>
        </p:nvSpPr>
        <p:spPr bwMode="auto">
          <a:xfrm>
            <a:off x="1714500" y="2857500"/>
            <a:ext cx="2762250" cy="1238250"/>
          </a:xfrm>
          <a:prstGeom prst="roundRect">
            <a:avLst>
              <a:gd name="adj" fmla="val 9231"/>
            </a:avLst>
          </a:prstGeom>
          <a:solidFill>
            <a:srgbClr val="FFFFFF"/>
          </a:solidFill>
          <a:ln w="14288">
            <a:solidFill>
              <a:srgbClr val="CBD5E1"/>
            </a:solidFill>
            <a:prstDash val="solid"/>
          </a:ln>
        </p:spPr>
        <p:txBody>
          <a:bodyPr/>
          <a:lstStyle/>
          <a:p>
            <a:pPr algn="ctr">
              <a:buNone/>
              <a:defRPr sz="2250" b="1">
                <a:solidFill>
                  <a:srgbClr val="0B0F19"/>
                </a:solidFill>
              </a:defRPr>
            </a:pPr>
            <a:r>
              <a:rPr sz="2250" b="1">
                <a:solidFill>
                  <a:srgbClr val="0B0F19"/>
                </a:solidFill>
              </a:rPr>
              <a:t>RNN</a:t>
            </a:r>
            <a:endParaRPr/>
          </a:p>
          <a:p>
            <a:pPr algn="ctr">
              <a:buNone/>
              <a:defRPr sz="2250" b="1">
                <a:solidFill>
                  <a:srgbClr val="0B0F19"/>
                </a:solidFill>
              </a:defRPr>
            </a:pPr>
            <a:r>
              <a:rPr sz="2250" b="1">
                <a:solidFill>
                  <a:srgbClr val="0B0F19"/>
                </a:solidFill>
              </a:rPr>
              <a:t>step by step</a:t>
            </a:r>
            <a:endParaRPr/>
          </a:p>
        </p:txBody>
      </p:sp>
      <p:sp>
        <p:nvSpPr>
          <p:cNvPr id="1278266331" name="Rectangle 1726456331"/>
          <p:cNvSpPr>
            <a:spLocks noGrp="1"/>
          </p:cNvSpPr>
          <p:nvPr/>
        </p:nvSpPr>
        <p:spPr bwMode="auto">
          <a:xfrm>
            <a:off x="5572125" y="3238500"/>
            <a:ext cx="666750" cy="428625"/>
          </a:xfrm>
          <a:prstGeom prst="rect">
            <a:avLst/>
          </a:prstGeom>
          <a:noFill/>
          <a:ln w="0">
            <a:noFill/>
            <a:prstDash val="solid"/>
          </a:ln>
        </p:spPr>
        <p:txBody>
          <a:bodyPr/>
          <a:lstStyle/>
          <a:p>
            <a:pPr algn="ctr">
              <a:buNone/>
              <a:defRPr sz="3300" b="1">
                <a:solidFill>
                  <a:srgbClr val="2563EB"/>
                </a:solidFill>
              </a:defRPr>
            </a:pPr>
            <a:r>
              <a:rPr sz="3300" b="1">
                <a:solidFill>
                  <a:srgbClr val="2563EB"/>
                </a:solidFill>
              </a:rPr>
              <a:t>-&gt;</a:t>
            </a:r>
            <a:endParaRPr/>
          </a:p>
        </p:txBody>
      </p:sp>
      <p:sp>
        <p:nvSpPr>
          <p:cNvPr id="1937474749" name="Rectangle: Rounded Corners 412394112"/>
          <p:cNvSpPr>
            <a:spLocks noGrp="1"/>
          </p:cNvSpPr>
          <p:nvPr/>
        </p:nvSpPr>
        <p:spPr bwMode="auto">
          <a:xfrm>
            <a:off x="7334250" y="2857500"/>
            <a:ext cx="3143250" cy="1238250"/>
          </a:xfrm>
          <a:prstGeom prst="roundRect">
            <a:avLst>
              <a:gd name="adj" fmla="val 9231"/>
            </a:avLst>
          </a:prstGeom>
          <a:solidFill>
            <a:srgbClr val="E0F2FE"/>
          </a:solidFill>
          <a:ln w="14288">
            <a:solidFill>
              <a:srgbClr val="2563EB"/>
            </a:solidFill>
            <a:prstDash val="solid"/>
          </a:ln>
        </p:spPr>
        <p:txBody>
          <a:bodyPr/>
          <a:lstStyle/>
          <a:p>
            <a:pPr algn="ctr">
              <a:buNone/>
              <a:defRPr sz="2250" b="1">
                <a:solidFill>
                  <a:srgbClr val="0B0F19"/>
                </a:solidFill>
              </a:defRPr>
            </a:pPr>
            <a:r>
              <a:rPr sz="2250" b="1">
                <a:solidFill>
                  <a:srgbClr val="0B0F19"/>
                </a:solidFill>
              </a:rPr>
              <a:t>Transformer</a:t>
            </a:r>
            <a:endParaRPr/>
          </a:p>
          <a:p>
            <a:pPr algn="ctr">
              <a:buNone/>
              <a:defRPr sz="2250" b="1">
                <a:solidFill>
                  <a:srgbClr val="0B0F19"/>
                </a:solidFill>
              </a:defRPr>
            </a:pPr>
            <a:r>
              <a:rPr sz="2250" b="1">
                <a:solidFill>
                  <a:srgbClr val="0B0F19"/>
                </a:solidFill>
              </a:rPr>
              <a:t>direct comparison</a:t>
            </a:r>
            <a:endParaRPr/>
          </a:p>
        </p:txBody>
      </p:sp>
      <p:sp>
        <p:nvSpPr>
          <p:cNvPr id="1053139932" name="Rectangle 225213445"/>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54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696708275"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GPT architecture</a:t>
            </a:r>
            <a:endParaRPr/>
          </a:p>
        </p:txBody>
      </p:sp>
      <p:sp>
        <p:nvSpPr>
          <p:cNvPr id="801362156" name="Rectangle 251777344"/>
          <p:cNvSpPr>
            <a:spLocks noGrp="1"/>
          </p:cNvSpPr>
          <p:nvPr/>
        </p:nvSpPr>
        <p:spPr bwMode="auto">
          <a:xfrm>
            <a:off x="609600" y="590549"/>
            <a:ext cx="10287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GPT repeats a decoder-only Transformer block</a:t>
            </a:r>
            <a:endParaRPr/>
          </a:p>
        </p:txBody>
      </p:sp>
      <p:sp>
        <p:nvSpPr>
          <p:cNvPr id="1439565881" name="Rectangle: Rounded Corners 1456392341"/>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buNone/>
              <a:defRPr/>
            </a:pPr>
            <a:endParaRPr/>
          </a:p>
        </p:txBody>
      </p:sp>
      <p:sp>
        <p:nvSpPr>
          <p:cNvPr id="153168925" name="Rectangle: Rounded Corners 1987074982"/>
          <p:cNvSpPr>
            <a:spLocks noGrp="1"/>
          </p:cNvSpPr>
          <p:nvPr/>
        </p:nvSpPr>
        <p:spPr bwMode="auto">
          <a:xfrm>
            <a:off x="7867649" y="2000250"/>
            <a:ext cx="3200400" cy="3086100"/>
          </a:xfrm>
          <a:prstGeom prst="roundRect">
            <a:avLst>
              <a:gd name="adj" fmla="val 3704"/>
            </a:avLst>
          </a:prstGeom>
          <a:solidFill>
            <a:srgbClr val="FFFFFF"/>
          </a:solidFill>
          <a:ln w="14288">
            <a:solidFill>
              <a:srgbClr val="E2E8F0"/>
            </a:solidFill>
            <a:prstDash val="solid"/>
          </a:ln>
        </p:spPr>
        <p:txBody>
          <a:bodyPr/>
          <a:lstStyle/>
          <a:p>
            <a:pPr>
              <a:buNone/>
              <a:defRPr/>
            </a:pPr>
            <a:endParaRPr/>
          </a:p>
        </p:txBody>
      </p:sp>
      <p:sp>
        <p:nvSpPr>
          <p:cNvPr id="1290633448" name="Rectangle 1286956634"/>
          <p:cNvSpPr>
            <a:spLocks noGrp="1"/>
          </p:cNvSpPr>
          <p:nvPr/>
        </p:nvSpPr>
        <p:spPr bwMode="auto">
          <a:xfrm>
            <a:off x="8096250" y="2305050"/>
            <a:ext cx="2714625" cy="323850"/>
          </a:xfrm>
          <a:prstGeom prst="rect">
            <a:avLst/>
          </a:prstGeom>
          <a:noFill/>
          <a:ln w="0">
            <a:noFill/>
            <a:prstDash val="solid"/>
          </a:ln>
        </p:spPr>
        <p:txBody>
          <a:bodyPr/>
          <a:lstStyle/>
          <a:p>
            <a:pPr algn="l">
              <a:buNone/>
              <a:defRPr sz="1950" b="1">
                <a:solidFill>
                  <a:srgbClr val="2563EB"/>
                </a:solidFill>
              </a:defRPr>
            </a:pPr>
            <a:r>
              <a:rPr sz="1950" b="1">
                <a:solidFill>
                  <a:srgbClr val="2563EB"/>
                </a:solidFill>
              </a:rPr>
              <a:t>Decoder-only stack</a:t>
            </a:r>
            <a:endParaRPr/>
          </a:p>
        </p:txBody>
      </p:sp>
      <p:sp>
        <p:nvSpPr>
          <p:cNvPr id="530364046" name="Rectangle 399762638"/>
          <p:cNvSpPr>
            <a:spLocks noGrp="1"/>
          </p:cNvSpPr>
          <p:nvPr/>
        </p:nvSpPr>
        <p:spPr bwMode="auto">
          <a:xfrm>
            <a:off x="8096250" y="2705100"/>
            <a:ext cx="2857500" cy="1123950"/>
          </a:xfrm>
          <a:prstGeom prst="rect">
            <a:avLst/>
          </a:prstGeom>
          <a:noFill/>
          <a:ln w="0">
            <a:noFill/>
            <a:prstDash val="solid"/>
          </a:ln>
        </p:spPr>
        <p:txBody>
          <a:bodyPr anchor="t"/>
          <a:lstStyle/>
          <a:p>
            <a:pPr algn="l">
              <a:buNone/>
              <a:defRPr sz="1500" b="0">
                <a:solidFill>
                  <a:srgbClr val="667085"/>
                </a:solidFill>
              </a:defRPr>
            </a:pPr>
            <a:r>
              <a:rPr sz="1500" b="0">
                <a:solidFill>
                  <a:srgbClr val="667085"/>
                </a:solidFill>
              </a:rPr>
              <a:t>masked self-attention</a:t>
            </a:r>
            <a:endParaRPr/>
          </a:p>
          <a:p>
            <a:pPr algn="l">
              <a:buNone/>
              <a:defRPr sz="1500" b="0">
                <a:solidFill>
                  <a:srgbClr val="667085"/>
                </a:solidFill>
              </a:defRPr>
            </a:pPr>
            <a:r>
              <a:rPr sz="1500" b="0">
                <a:solidFill>
                  <a:srgbClr val="667085"/>
                </a:solidFill>
              </a:rPr>
              <a:t>feed-forward network</a:t>
            </a:r>
            <a:endParaRPr/>
          </a:p>
          <a:p>
            <a:pPr algn="l">
              <a:buNone/>
              <a:defRPr sz="1500" b="0">
                <a:solidFill>
                  <a:srgbClr val="667085"/>
                </a:solidFill>
              </a:defRPr>
            </a:pPr>
            <a:r>
              <a:rPr sz="1500" b="0">
                <a:solidFill>
                  <a:srgbClr val="667085"/>
                </a:solidFill>
              </a:rPr>
              <a:t>residual + LayerNorm</a:t>
            </a:r>
            <a:endParaRPr/>
          </a:p>
        </p:txBody>
      </p:sp>
      <p:sp>
        <p:nvSpPr>
          <p:cNvPr id="1403486689" name="Rectangle 1233632033"/>
          <p:cNvSpPr>
            <a:spLocks noGrp="1"/>
          </p:cNvSpPr>
          <p:nvPr/>
        </p:nvSpPr>
        <p:spPr bwMode="auto">
          <a:xfrm>
            <a:off x="8096250" y="4095750"/>
            <a:ext cx="2714625" cy="323850"/>
          </a:xfrm>
          <a:prstGeom prst="rect">
            <a:avLst/>
          </a:prstGeom>
          <a:noFill/>
          <a:ln w="0">
            <a:noFill/>
            <a:prstDash val="solid"/>
          </a:ln>
        </p:spPr>
        <p:txBody>
          <a:bodyPr/>
          <a:lstStyle/>
          <a:p>
            <a:pPr algn="l">
              <a:buNone/>
              <a:defRPr sz="1950" b="1">
                <a:solidFill>
                  <a:srgbClr val="2563EB"/>
                </a:solidFill>
              </a:defRPr>
            </a:pPr>
            <a:r>
              <a:rPr sz="1950" b="1">
                <a:solidFill>
                  <a:srgbClr val="2563EB"/>
                </a:solidFill>
              </a:rPr>
              <a:t>Next-token output</a:t>
            </a:r>
            <a:endParaRPr/>
          </a:p>
        </p:txBody>
      </p:sp>
      <p:sp>
        <p:nvSpPr>
          <p:cNvPr id="1169922781" name="Rectangle 987778106"/>
          <p:cNvSpPr>
            <a:spLocks noGrp="1"/>
          </p:cNvSpPr>
          <p:nvPr/>
        </p:nvSpPr>
        <p:spPr bwMode="auto">
          <a:xfrm>
            <a:off x="8096250" y="4495800"/>
            <a:ext cx="2857500" cy="685800"/>
          </a:xfrm>
          <a:prstGeom prst="rect">
            <a:avLst/>
          </a:prstGeom>
          <a:noFill/>
          <a:ln w="0">
            <a:noFill/>
            <a:prstDash val="solid"/>
          </a:ln>
        </p:spPr>
        <p:txBody>
          <a:bodyPr anchor="t"/>
          <a:lstStyle/>
          <a:p>
            <a:pPr algn="l">
              <a:buNone/>
              <a:defRPr sz="1450" b="0">
                <a:solidFill>
                  <a:srgbClr val="667085"/>
                </a:solidFill>
              </a:defRPr>
            </a:pPr>
            <a:r>
              <a:rPr sz="1450" b="0">
                <a:solidFill>
                  <a:srgbClr val="667085"/>
                </a:solidFill>
              </a:rPr>
              <a:t>Linear + Softmax turns the final state into a token distribution.</a:t>
            </a:r>
            <a:endParaRPr/>
          </a:p>
        </p:txBody>
      </p:sp>
      <p:sp>
        <p:nvSpPr>
          <p:cNvPr id="1959273528"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55</a:t>
            </a:r>
            <a:endParaRPr/>
          </a:p>
        </p:txBody>
      </p:sp>
      <p:pic>
        <p:nvPicPr>
          <p:cNvPr id="683194790" name="Picture 1987074993"/>
          <p:cNvPicPr>
            <a:picLocks noChangeAspect="1"/>
          </p:cNvPicPr>
          <p:nvPr/>
        </p:nvPicPr>
        <p:blipFill rotWithShape="1">
          <a:blip r:embed="rId3"/>
          <a:stretch/>
        </p:blipFill>
        <p:spPr bwMode="auto">
          <a:xfrm>
            <a:off x="2417331" y="1524000"/>
            <a:ext cx="3737838" cy="44958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32285605" name="Rectangle 1548456798"/>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GPT</a:t>
            </a:r>
            <a:endParaRPr/>
          </a:p>
        </p:txBody>
      </p:sp>
      <p:sp>
        <p:nvSpPr>
          <p:cNvPr id="938319495" name="Rectangle 1277068294"/>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GPT keeps the decoder idea</a:t>
            </a:r>
            <a:endParaRPr/>
          </a:p>
        </p:txBody>
      </p:sp>
      <p:sp>
        <p:nvSpPr>
          <p:cNvPr id="190831966" name="Rectangle: Rounded Corners 70067784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2117396703" name="Rectangle: Rounded Corners 614717420"/>
          <p:cNvSpPr>
            <a:spLocks noGrp="1"/>
          </p:cNvSpPr>
          <p:nvPr/>
        </p:nvSpPr>
        <p:spPr bwMode="auto">
          <a:xfrm>
            <a:off x="4333875" y="4762500"/>
            <a:ext cx="2952750" cy="552450"/>
          </a:xfrm>
          <a:prstGeom prst="roundRect">
            <a:avLst>
              <a:gd name="adj" fmla="val 20690"/>
            </a:avLst>
          </a:prstGeom>
          <a:solidFill>
            <a:srgbClr val="E0F2FE"/>
          </a:solidFill>
          <a:ln w="14288">
            <a:solidFill>
              <a:srgbClr val="2563EB"/>
            </a:solidFill>
            <a:prstDash val="solid"/>
          </a:ln>
        </p:spPr>
        <p:txBody>
          <a:bodyPr/>
          <a:lstStyle/>
          <a:p>
            <a:pPr algn="ctr">
              <a:buNone/>
              <a:defRPr sz="1750" b="1">
                <a:solidFill>
                  <a:srgbClr val="0B0F19"/>
                </a:solidFill>
              </a:defRPr>
            </a:pPr>
            <a:r>
              <a:rPr sz="1750" b="1">
                <a:solidFill>
                  <a:srgbClr val="0B0F19"/>
                </a:solidFill>
              </a:rPr>
              <a:t>decoder block 4</a:t>
            </a:r>
            <a:endParaRPr/>
          </a:p>
        </p:txBody>
      </p:sp>
      <p:sp>
        <p:nvSpPr>
          <p:cNvPr id="1711574951" name="Rectangle: Rounded Corners 1854427874"/>
          <p:cNvSpPr>
            <a:spLocks noGrp="1"/>
          </p:cNvSpPr>
          <p:nvPr/>
        </p:nvSpPr>
        <p:spPr bwMode="auto">
          <a:xfrm>
            <a:off x="4333875" y="3857625"/>
            <a:ext cx="2952750" cy="552450"/>
          </a:xfrm>
          <a:prstGeom prst="roundRect">
            <a:avLst>
              <a:gd name="adj" fmla="val 20690"/>
            </a:avLst>
          </a:prstGeom>
          <a:solidFill>
            <a:srgbClr val="FFFFFF"/>
          </a:solidFill>
          <a:ln w="14288">
            <a:solidFill>
              <a:srgbClr val="2563EB"/>
            </a:solidFill>
            <a:prstDash val="solid"/>
          </a:ln>
        </p:spPr>
        <p:txBody>
          <a:bodyPr/>
          <a:lstStyle/>
          <a:p>
            <a:pPr algn="ctr">
              <a:buNone/>
              <a:defRPr sz="1750" b="1">
                <a:solidFill>
                  <a:srgbClr val="0B0F19"/>
                </a:solidFill>
              </a:defRPr>
            </a:pPr>
            <a:r>
              <a:rPr sz="1750" b="1">
                <a:solidFill>
                  <a:srgbClr val="0B0F19"/>
                </a:solidFill>
              </a:rPr>
              <a:t>decoder block 3</a:t>
            </a:r>
            <a:endParaRPr/>
          </a:p>
        </p:txBody>
      </p:sp>
      <p:sp>
        <p:nvSpPr>
          <p:cNvPr id="429749186" name="Rectangle: Rounded Corners 1506494527"/>
          <p:cNvSpPr>
            <a:spLocks noGrp="1"/>
          </p:cNvSpPr>
          <p:nvPr/>
        </p:nvSpPr>
        <p:spPr bwMode="auto">
          <a:xfrm>
            <a:off x="4333875" y="2952750"/>
            <a:ext cx="2952750" cy="552450"/>
          </a:xfrm>
          <a:prstGeom prst="roundRect">
            <a:avLst>
              <a:gd name="adj" fmla="val 20690"/>
            </a:avLst>
          </a:prstGeom>
          <a:solidFill>
            <a:srgbClr val="E0F2FE"/>
          </a:solidFill>
          <a:ln w="14288">
            <a:solidFill>
              <a:srgbClr val="2563EB"/>
            </a:solidFill>
            <a:prstDash val="solid"/>
          </a:ln>
        </p:spPr>
        <p:txBody>
          <a:bodyPr/>
          <a:lstStyle/>
          <a:p>
            <a:pPr algn="ctr">
              <a:buNone/>
              <a:defRPr sz="1750" b="1">
                <a:solidFill>
                  <a:srgbClr val="0B0F19"/>
                </a:solidFill>
              </a:defRPr>
            </a:pPr>
            <a:r>
              <a:rPr sz="1750" b="1">
                <a:solidFill>
                  <a:srgbClr val="0B0F19"/>
                </a:solidFill>
              </a:rPr>
              <a:t>decoder block 2</a:t>
            </a:r>
            <a:endParaRPr/>
          </a:p>
        </p:txBody>
      </p:sp>
      <p:sp>
        <p:nvSpPr>
          <p:cNvPr id="1828738923" name="Rectangle: Rounded Corners 310583424"/>
          <p:cNvSpPr>
            <a:spLocks noGrp="1"/>
          </p:cNvSpPr>
          <p:nvPr/>
        </p:nvSpPr>
        <p:spPr bwMode="auto">
          <a:xfrm>
            <a:off x="4333875" y="2047875"/>
            <a:ext cx="2952750" cy="552450"/>
          </a:xfrm>
          <a:prstGeom prst="roundRect">
            <a:avLst>
              <a:gd name="adj" fmla="val 20690"/>
            </a:avLst>
          </a:prstGeom>
          <a:solidFill>
            <a:srgbClr val="FFFFFF"/>
          </a:solidFill>
          <a:ln w="14288">
            <a:solidFill>
              <a:srgbClr val="2563EB"/>
            </a:solidFill>
            <a:prstDash val="solid"/>
          </a:ln>
        </p:spPr>
        <p:txBody>
          <a:bodyPr/>
          <a:lstStyle/>
          <a:p>
            <a:pPr algn="ctr">
              <a:buNone/>
              <a:defRPr sz="1750" b="1">
                <a:solidFill>
                  <a:srgbClr val="0B0F19"/>
                </a:solidFill>
              </a:defRPr>
            </a:pPr>
            <a:r>
              <a:rPr sz="1750" b="1">
                <a:solidFill>
                  <a:srgbClr val="0B0F19"/>
                </a:solidFill>
              </a:rPr>
              <a:t>decoder block 1</a:t>
            </a:r>
            <a:endParaRPr/>
          </a:p>
        </p:txBody>
      </p:sp>
      <p:sp>
        <p:nvSpPr>
          <p:cNvPr id="1014354429" name="Rectangle: Rounded Corners 701546865"/>
          <p:cNvSpPr>
            <a:spLocks noGrp="1"/>
          </p:cNvSpPr>
          <p:nvPr/>
        </p:nvSpPr>
        <p:spPr bwMode="auto">
          <a:xfrm>
            <a:off x="1619250" y="4762500"/>
            <a:ext cx="1905000" cy="590549"/>
          </a:xfrm>
          <a:prstGeom prst="roundRect">
            <a:avLst>
              <a:gd name="adj" fmla="val 1935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prompt tokens</a:t>
            </a:r>
            <a:endParaRPr/>
          </a:p>
        </p:txBody>
      </p:sp>
      <p:sp>
        <p:nvSpPr>
          <p:cNvPr id="565050757" name="Arrow: Right 622048333"/>
          <p:cNvSpPr>
            <a:spLocks noGrp="1"/>
          </p:cNvSpPr>
          <p:nvPr/>
        </p:nvSpPr>
        <p:spPr bwMode="auto">
          <a:xfrm>
            <a:off x="3667125" y="4829175"/>
            <a:ext cx="619125" cy="428625"/>
          </a:xfrm>
          <a:prstGeom prst="rightArrow">
            <a:avLst>
              <a:gd name="adj1" fmla="val 50000"/>
              <a:gd name="adj2" fmla="val 50000"/>
            </a:avLst>
          </a:prstGeom>
          <a:solidFill>
            <a:srgbClr val="E0F2FE"/>
          </a:solidFill>
          <a:ln w="14288">
            <a:solidFill>
              <a:srgbClr val="2563EB"/>
            </a:solidFill>
            <a:prstDash val="solid"/>
          </a:ln>
        </p:spPr>
        <p:txBody>
          <a:bodyPr/>
          <a:lstStyle/>
          <a:p>
            <a:pPr>
              <a:buNone/>
              <a:defRPr/>
            </a:pPr>
            <a:endParaRPr/>
          </a:p>
        </p:txBody>
      </p:sp>
      <p:sp>
        <p:nvSpPr>
          <p:cNvPr id="1918979580" name="Arrow: Right 476163819"/>
          <p:cNvSpPr>
            <a:spLocks noGrp="1"/>
          </p:cNvSpPr>
          <p:nvPr/>
        </p:nvSpPr>
        <p:spPr bwMode="auto">
          <a:xfrm>
            <a:off x="7334250" y="2143125"/>
            <a:ext cx="1381125" cy="428625"/>
          </a:xfrm>
          <a:prstGeom prst="rightArrow">
            <a:avLst>
              <a:gd name="adj1" fmla="val 50000"/>
              <a:gd name="adj2" fmla="val 50000"/>
            </a:avLst>
          </a:prstGeom>
          <a:solidFill>
            <a:srgbClr val="E0F2FE"/>
          </a:solidFill>
          <a:ln w="14288">
            <a:solidFill>
              <a:srgbClr val="2563EB"/>
            </a:solidFill>
            <a:prstDash val="solid"/>
          </a:ln>
        </p:spPr>
        <p:txBody>
          <a:bodyPr/>
          <a:lstStyle/>
          <a:p>
            <a:pPr>
              <a:buNone/>
              <a:defRPr/>
            </a:pPr>
            <a:endParaRPr/>
          </a:p>
        </p:txBody>
      </p:sp>
      <p:sp>
        <p:nvSpPr>
          <p:cNvPr id="1966603052" name="Rectangle: Rounded Corners 1396234520"/>
          <p:cNvSpPr>
            <a:spLocks noGrp="1"/>
          </p:cNvSpPr>
          <p:nvPr/>
        </p:nvSpPr>
        <p:spPr bwMode="auto">
          <a:xfrm>
            <a:off x="8953500" y="2047875"/>
            <a:ext cx="1714500" cy="590549"/>
          </a:xfrm>
          <a:prstGeom prst="roundRect">
            <a:avLst>
              <a:gd name="adj" fmla="val 19355"/>
            </a:avLst>
          </a:prstGeom>
          <a:solidFill>
            <a:srgbClr val="DCFCE7"/>
          </a:solidFill>
          <a:ln w="14288">
            <a:solidFill>
              <a:srgbClr val="10B981"/>
            </a:solidFill>
            <a:prstDash val="solid"/>
          </a:ln>
        </p:spPr>
        <p:txBody>
          <a:bodyPr/>
          <a:lstStyle/>
          <a:p>
            <a:pPr algn="ctr">
              <a:buNone/>
              <a:defRPr sz="1900" b="1">
                <a:solidFill>
                  <a:srgbClr val="0B0F19"/>
                </a:solidFill>
              </a:defRPr>
            </a:pPr>
            <a:r>
              <a:rPr sz="1900" b="1">
                <a:solidFill>
                  <a:srgbClr val="0B0F19"/>
                </a:solidFill>
              </a:rPr>
              <a:t>next token</a:t>
            </a:r>
            <a:endParaRPr/>
          </a:p>
        </p:txBody>
      </p:sp>
      <p:sp>
        <p:nvSpPr>
          <p:cNvPr id="2131727460" name="Rectangle 1921889684"/>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56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973250984" name="Rectangle 771382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Objective</a:t>
            </a:r>
            <a:endParaRPr/>
          </a:p>
        </p:txBody>
      </p:sp>
      <p:sp>
        <p:nvSpPr>
          <p:cNvPr id="1905774694" name="Rectangle 1381388514"/>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Training target: the next token</a:t>
            </a:r>
            <a:endParaRPr/>
          </a:p>
        </p:txBody>
      </p:sp>
      <p:sp>
        <p:nvSpPr>
          <p:cNvPr id="797461043" name="Rectangle: Rounded Corners 661849784"/>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972059354" name="Rectangle: Rounded Corners 1954931325"/>
          <p:cNvSpPr>
            <a:spLocks noGrp="1"/>
          </p:cNvSpPr>
          <p:nvPr/>
        </p:nvSpPr>
        <p:spPr bwMode="auto">
          <a:xfrm>
            <a:off x="1428750" y="3143250"/>
            <a:ext cx="1190625" cy="590549"/>
          </a:xfrm>
          <a:prstGeom prst="roundRect">
            <a:avLst>
              <a:gd name="adj" fmla="val 1935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The</a:t>
            </a:r>
            <a:endParaRPr/>
          </a:p>
        </p:txBody>
      </p:sp>
      <p:sp>
        <p:nvSpPr>
          <p:cNvPr id="891129250" name="Rectangle: Rounded Corners 1479007971"/>
          <p:cNvSpPr>
            <a:spLocks noGrp="1"/>
          </p:cNvSpPr>
          <p:nvPr/>
        </p:nvSpPr>
        <p:spPr bwMode="auto">
          <a:xfrm>
            <a:off x="2952750" y="3143250"/>
            <a:ext cx="1190625" cy="590549"/>
          </a:xfrm>
          <a:prstGeom prst="roundRect">
            <a:avLst>
              <a:gd name="adj" fmla="val 1935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capital</a:t>
            </a:r>
            <a:endParaRPr/>
          </a:p>
        </p:txBody>
      </p:sp>
      <p:sp>
        <p:nvSpPr>
          <p:cNvPr id="796720629" name="Rectangle: Rounded Corners 337911440"/>
          <p:cNvSpPr>
            <a:spLocks noGrp="1"/>
          </p:cNvSpPr>
          <p:nvPr/>
        </p:nvSpPr>
        <p:spPr bwMode="auto">
          <a:xfrm>
            <a:off x="4476750" y="3143250"/>
            <a:ext cx="1190625" cy="590549"/>
          </a:xfrm>
          <a:prstGeom prst="roundRect">
            <a:avLst>
              <a:gd name="adj" fmla="val 1935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of</a:t>
            </a:r>
            <a:endParaRPr/>
          </a:p>
        </p:txBody>
      </p:sp>
      <p:sp>
        <p:nvSpPr>
          <p:cNvPr id="2073755589" name="Rectangle: Rounded Corners 812565267"/>
          <p:cNvSpPr>
            <a:spLocks noGrp="1"/>
          </p:cNvSpPr>
          <p:nvPr/>
        </p:nvSpPr>
        <p:spPr bwMode="auto">
          <a:xfrm>
            <a:off x="6000750" y="3143250"/>
            <a:ext cx="1190625" cy="590549"/>
          </a:xfrm>
          <a:prstGeom prst="roundRect">
            <a:avLst>
              <a:gd name="adj" fmla="val 1935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France</a:t>
            </a:r>
            <a:endParaRPr/>
          </a:p>
        </p:txBody>
      </p:sp>
      <p:sp>
        <p:nvSpPr>
          <p:cNvPr id="1073437868" name="Rectangle: Rounded Corners 210839016"/>
          <p:cNvSpPr>
            <a:spLocks noGrp="1"/>
          </p:cNvSpPr>
          <p:nvPr/>
        </p:nvSpPr>
        <p:spPr bwMode="auto">
          <a:xfrm>
            <a:off x="7524750" y="3143250"/>
            <a:ext cx="1190625" cy="590549"/>
          </a:xfrm>
          <a:prstGeom prst="roundRect">
            <a:avLst>
              <a:gd name="adj" fmla="val 1935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is</a:t>
            </a:r>
            <a:endParaRPr/>
          </a:p>
        </p:txBody>
      </p:sp>
      <p:sp>
        <p:nvSpPr>
          <p:cNvPr id="1643357207" name="Arrow: Right 923890290"/>
          <p:cNvSpPr>
            <a:spLocks noGrp="1"/>
          </p:cNvSpPr>
          <p:nvPr/>
        </p:nvSpPr>
        <p:spPr bwMode="auto">
          <a:xfrm>
            <a:off x="8953500" y="3219449"/>
            <a:ext cx="904875" cy="428625"/>
          </a:xfrm>
          <a:prstGeom prst="rightArrow">
            <a:avLst>
              <a:gd name="adj1" fmla="val 50000"/>
              <a:gd name="adj2" fmla="val 50000"/>
            </a:avLst>
          </a:prstGeom>
          <a:solidFill>
            <a:srgbClr val="E0F2FE"/>
          </a:solidFill>
          <a:ln w="14288">
            <a:solidFill>
              <a:srgbClr val="2563EB"/>
            </a:solidFill>
            <a:prstDash val="solid"/>
          </a:ln>
        </p:spPr>
        <p:txBody>
          <a:bodyPr/>
          <a:lstStyle/>
          <a:p>
            <a:pPr>
              <a:buNone/>
              <a:defRPr/>
            </a:pPr>
            <a:endParaRPr/>
          </a:p>
        </p:txBody>
      </p:sp>
      <p:sp>
        <p:nvSpPr>
          <p:cNvPr id="616042699" name="Rectangle: Rounded Corners 549922296"/>
          <p:cNvSpPr>
            <a:spLocks noGrp="1"/>
          </p:cNvSpPr>
          <p:nvPr/>
        </p:nvSpPr>
        <p:spPr bwMode="auto">
          <a:xfrm>
            <a:off x="10096500" y="3143250"/>
            <a:ext cx="1190625" cy="590549"/>
          </a:xfrm>
          <a:prstGeom prst="roundRect">
            <a:avLst>
              <a:gd name="adj" fmla="val 19355"/>
            </a:avLst>
          </a:prstGeom>
          <a:solidFill>
            <a:srgbClr val="DCFCE7"/>
          </a:solidFill>
          <a:ln w="14288">
            <a:solidFill>
              <a:srgbClr val="10B981"/>
            </a:solidFill>
            <a:prstDash val="solid"/>
          </a:ln>
        </p:spPr>
        <p:txBody>
          <a:bodyPr/>
          <a:lstStyle/>
          <a:p>
            <a:pPr algn="ctr">
              <a:buNone/>
              <a:defRPr sz="1800" b="1">
                <a:solidFill>
                  <a:srgbClr val="0B0F19"/>
                </a:solidFill>
              </a:defRPr>
            </a:pPr>
            <a:r>
              <a:rPr sz="1800" b="1">
                <a:solidFill>
                  <a:srgbClr val="0B0F19"/>
                </a:solidFill>
              </a:rPr>
              <a:t>Paris</a:t>
            </a:r>
            <a:endParaRPr/>
          </a:p>
        </p:txBody>
      </p:sp>
      <p:sp>
        <p:nvSpPr>
          <p:cNvPr id="1045265390" name="Rectangle 313069816"/>
          <p:cNvSpPr>
            <a:spLocks noGrp="1"/>
          </p:cNvSpPr>
          <p:nvPr/>
        </p:nvSpPr>
        <p:spPr bwMode="auto">
          <a:xfrm>
            <a:off x="9667875" y="4191000"/>
            <a:ext cx="2000250" cy="323850"/>
          </a:xfrm>
          <a:prstGeom prst="rect">
            <a:avLst/>
          </a:prstGeom>
          <a:noFill/>
          <a:ln w="0">
            <a:noFill/>
            <a:prstDash val="solid"/>
          </a:ln>
        </p:spPr>
        <p:txBody>
          <a:bodyPr/>
          <a:lstStyle/>
          <a:p>
            <a:pPr algn="ctr">
              <a:buNone/>
              <a:defRPr sz="1950" b="1">
                <a:solidFill>
                  <a:srgbClr val="10B981"/>
                </a:solidFill>
              </a:defRPr>
            </a:pPr>
            <a:r>
              <a:rPr sz="1950" b="1">
                <a:solidFill>
                  <a:srgbClr val="10B981"/>
                </a:solidFill>
              </a:rPr>
              <a:t>predict this</a:t>
            </a:r>
            <a:endParaRPr/>
          </a:p>
        </p:txBody>
      </p:sp>
      <p:sp>
        <p:nvSpPr>
          <p:cNvPr id="1896355744" name="Rectangle 181180573"/>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57</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19594194" name="Rectangle 106407163"/>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Scale</a:t>
            </a:r>
            <a:endParaRPr/>
          </a:p>
        </p:txBody>
      </p:sp>
      <p:sp>
        <p:nvSpPr>
          <p:cNvPr id="2134861638" name="Rectangle 440135367"/>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Pretraining compresses patterns into weights</a:t>
            </a:r>
            <a:endParaRPr/>
          </a:p>
        </p:txBody>
      </p:sp>
      <p:sp>
        <p:nvSpPr>
          <p:cNvPr id="223073201" name="Rectangle: Rounded Corners 98913824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76439502" name="Rectangle: Rounded Corners 1616044445"/>
          <p:cNvSpPr>
            <a:spLocks noGrp="1"/>
          </p:cNvSpPr>
          <p:nvPr/>
        </p:nvSpPr>
        <p:spPr bwMode="auto">
          <a:xfrm>
            <a:off x="1428750" y="2952750"/>
            <a:ext cx="1476375" cy="857250"/>
          </a:xfrm>
          <a:prstGeom prst="roundRect">
            <a:avLst>
              <a:gd name="adj" fmla="val 13333"/>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text</a:t>
            </a:r>
            <a:endParaRPr/>
          </a:p>
        </p:txBody>
      </p:sp>
      <p:sp>
        <p:nvSpPr>
          <p:cNvPr id="325226249" name="Arrow: Right 594282241"/>
          <p:cNvSpPr>
            <a:spLocks noGrp="1"/>
          </p:cNvSpPr>
          <p:nvPr/>
        </p:nvSpPr>
        <p:spPr bwMode="auto">
          <a:xfrm>
            <a:off x="3143250" y="3181350"/>
            <a:ext cx="1047750" cy="428625"/>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350" b="1">
                <a:solidFill>
                  <a:srgbClr val="0B0F19"/>
                </a:solidFill>
              </a:defRPr>
            </a:pPr>
            <a:r>
              <a:rPr sz="1350" b="1">
                <a:solidFill>
                  <a:srgbClr val="0B0F19"/>
                </a:solidFill>
              </a:rPr>
              <a:t>tokens</a:t>
            </a:r>
            <a:endParaRPr/>
          </a:p>
        </p:txBody>
      </p:sp>
      <p:sp>
        <p:nvSpPr>
          <p:cNvPr id="925547133" name="Rectangle: Rounded Corners 733975538"/>
          <p:cNvSpPr>
            <a:spLocks noGrp="1"/>
          </p:cNvSpPr>
          <p:nvPr/>
        </p:nvSpPr>
        <p:spPr bwMode="auto">
          <a:xfrm>
            <a:off x="4476750" y="2952750"/>
            <a:ext cx="1619250" cy="857250"/>
          </a:xfrm>
          <a:prstGeom prst="roundRect">
            <a:avLst>
              <a:gd name="adj" fmla="val 13333"/>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batches</a:t>
            </a:r>
            <a:endParaRPr/>
          </a:p>
        </p:txBody>
      </p:sp>
      <p:sp>
        <p:nvSpPr>
          <p:cNvPr id="1498727970" name="Arrow: Right 826463740"/>
          <p:cNvSpPr>
            <a:spLocks noGrp="1"/>
          </p:cNvSpPr>
          <p:nvPr/>
        </p:nvSpPr>
        <p:spPr bwMode="auto">
          <a:xfrm>
            <a:off x="6334125" y="3181350"/>
            <a:ext cx="1047750" cy="428625"/>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350" b="1">
                <a:solidFill>
                  <a:srgbClr val="0B0F19"/>
                </a:solidFill>
              </a:defRPr>
            </a:pPr>
            <a:r>
              <a:rPr sz="1350" b="1">
                <a:solidFill>
                  <a:srgbClr val="0B0F19"/>
                </a:solidFill>
              </a:rPr>
              <a:t>train</a:t>
            </a:r>
            <a:endParaRPr/>
          </a:p>
        </p:txBody>
      </p:sp>
      <p:sp>
        <p:nvSpPr>
          <p:cNvPr id="809872419" name="Rectangle: Rounded Corners 1611946980"/>
          <p:cNvSpPr>
            <a:spLocks noGrp="1"/>
          </p:cNvSpPr>
          <p:nvPr/>
        </p:nvSpPr>
        <p:spPr bwMode="auto">
          <a:xfrm>
            <a:off x="7667625" y="2809875"/>
            <a:ext cx="2000250" cy="1143000"/>
          </a:xfrm>
          <a:prstGeom prst="roundRect">
            <a:avLst>
              <a:gd name="adj" fmla="val 10000"/>
            </a:avLst>
          </a:prstGeom>
          <a:solidFill>
            <a:srgbClr val="E0F2FE"/>
          </a:solidFill>
          <a:ln w="14288">
            <a:solidFill>
              <a:srgbClr val="2563EB"/>
            </a:solidFill>
            <a:prstDash val="solid"/>
          </a:ln>
        </p:spPr>
        <p:txBody>
          <a:bodyPr/>
          <a:lstStyle/>
          <a:p>
            <a:pPr algn="ctr">
              <a:buNone/>
              <a:defRPr sz="2250" b="1">
                <a:solidFill>
                  <a:srgbClr val="0B0F19"/>
                </a:solidFill>
              </a:defRPr>
            </a:pPr>
            <a:r>
              <a:rPr sz="2250" b="1">
                <a:solidFill>
                  <a:srgbClr val="0B0F19"/>
                </a:solidFill>
              </a:rPr>
              <a:t>Transformer</a:t>
            </a:r>
            <a:endParaRPr/>
          </a:p>
        </p:txBody>
      </p:sp>
      <p:sp>
        <p:nvSpPr>
          <p:cNvPr id="1751602212" name="Arrow: Right 1141760594"/>
          <p:cNvSpPr>
            <a:spLocks noGrp="1"/>
          </p:cNvSpPr>
          <p:nvPr/>
        </p:nvSpPr>
        <p:spPr bwMode="auto">
          <a:xfrm>
            <a:off x="9858375" y="3181350"/>
            <a:ext cx="857250" cy="428625"/>
          </a:xfrm>
          <a:prstGeom prst="rightArrow">
            <a:avLst>
              <a:gd name="adj1" fmla="val 50000"/>
              <a:gd name="adj2" fmla="val 50000"/>
            </a:avLst>
          </a:prstGeom>
          <a:solidFill>
            <a:srgbClr val="E0F2FE"/>
          </a:solidFill>
          <a:ln w="14288">
            <a:solidFill>
              <a:srgbClr val="2563EB"/>
            </a:solidFill>
            <a:prstDash val="solid"/>
          </a:ln>
        </p:spPr>
        <p:txBody>
          <a:bodyPr/>
          <a:lstStyle/>
          <a:p>
            <a:pPr>
              <a:buNone/>
              <a:defRPr/>
            </a:pPr>
            <a:endParaRPr/>
          </a:p>
        </p:txBody>
      </p:sp>
      <p:sp>
        <p:nvSpPr>
          <p:cNvPr id="1400085855" name="Oval 546463300"/>
          <p:cNvSpPr>
            <a:spLocks noGrp="1"/>
          </p:cNvSpPr>
          <p:nvPr/>
        </p:nvSpPr>
        <p:spPr bwMode="auto">
          <a:xfrm>
            <a:off x="10487025" y="2886075"/>
            <a:ext cx="1028700" cy="1028700"/>
          </a:xfrm>
          <a:prstGeom prst="ellipse">
            <a:avLst/>
          </a:prstGeom>
          <a:solidFill>
            <a:srgbClr val="DCFCE7"/>
          </a:solidFill>
          <a:ln w="19050">
            <a:solidFill>
              <a:srgbClr val="10B981"/>
            </a:solidFill>
            <a:prstDash val="solid"/>
          </a:ln>
        </p:spPr>
        <p:txBody>
          <a:bodyPr/>
          <a:lstStyle/>
          <a:p>
            <a:pPr algn="ctr">
              <a:buNone/>
              <a:defRPr sz="1500" b="1">
                <a:solidFill>
                  <a:srgbClr val="0B0F19"/>
                </a:solidFill>
              </a:defRPr>
            </a:pPr>
            <a:r>
              <a:rPr sz="1500" b="1">
                <a:solidFill>
                  <a:srgbClr val="0B0F19"/>
                </a:solidFill>
              </a:rPr>
              <a:t>weights</a:t>
            </a:r>
            <a:endParaRPr/>
          </a:p>
        </p:txBody>
      </p:sp>
      <p:sp>
        <p:nvSpPr>
          <p:cNvPr id="981627458" name="Rectangle 1547793054"/>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58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785108690" name="Rectangle 106407163"/>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Loading</a:t>
            </a:r>
            <a:endParaRPr/>
          </a:p>
        </p:txBody>
      </p:sp>
      <p:sp>
        <p:nvSpPr>
          <p:cNvPr id="241290572" name="Rectangle 440135367"/>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An LLM needs three matching parts</a:t>
            </a:r>
            <a:endParaRPr/>
          </a:p>
        </p:txBody>
      </p:sp>
      <p:sp>
        <p:nvSpPr>
          <p:cNvPr id="666392967" name="Rectangle: Rounded Corners 98913824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227680155" name="Rectangle 1547793054"/>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59</a:t>
            </a:r>
            <a:endParaRPr/>
          </a:p>
        </p:txBody>
      </p:sp>
      <p:sp>
        <p:nvSpPr>
          <p:cNvPr id="783298281" name="model-group-label"/>
          <p:cNvSpPr>
            <a:spLocks noGrp="1"/>
          </p:cNvSpPr>
          <p:nvPr/>
        </p:nvSpPr>
        <p:spPr bwMode="auto">
          <a:xfrm>
            <a:off x="1390650" y="1714500"/>
            <a:ext cx="5753100" cy="323850"/>
          </a:xfrm>
          <a:prstGeom prst="rect">
            <a:avLst/>
          </a:prstGeom>
          <a:noFill/>
          <a:ln w="0">
            <a:noFill/>
            <a:prstDash val="solid"/>
          </a:ln>
        </p:spPr>
        <p:txBody>
          <a:bodyPr anchor="ctr"/>
          <a:lstStyle/>
          <a:p>
            <a:pPr algn="ctr">
              <a:buNone/>
              <a:defRPr sz="1350" b="1">
                <a:solidFill>
                  <a:srgbClr val="2563EB"/>
                </a:solidFill>
              </a:defRPr>
            </a:pPr>
            <a:r>
              <a:rPr sz="1350" b="1">
                <a:solidFill>
                  <a:srgbClr val="2563EB"/>
                </a:solidFill>
              </a:rPr>
              <a:t>model</a:t>
            </a:r>
            <a:endParaRPr/>
          </a:p>
        </p:txBody>
      </p:sp>
      <p:sp>
        <p:nvSpPr>
          <p:cNvPr id="1202931828" name="config-component"/>
          <p:cNvSpPr>
            <a:spLocks noGrp="1"/>
          </p:cNvSpPr>
          <p:nvPr/>
        </p:nvSpPr>
        <p:spPr bwMode="auto">
          <a:xfrm>
            <a:off x="1028700" y="2305050"/>
            <a:ext cx="2857500" cy="2190750"/>
          </a:xfrm>
          <a:prstGeom prst="roundRect">
            <a:avLst>
              <a:gd name="adj" fmla="val 5217"/>
            </a:avLst>
          </a:prstGeom>
          <a:solidFill>
            <a:srgbClr val="E0F2FE"/>
          </a:solidFill>
          <a:ln w="19050">
            <a:solidFill>
              <a:srgbClr val="2563EB"/>
            </a:solidFill>
            <a:prstDash val="solid"/>
          </a:ln>
        </p:spPr>
        <p:txBody>
          <a:bodyPr/>
          <a:lstStyle/>
          <a:p>
            <a:pPr>
              <a:buNone/>
              <a:defRPr/>
            </a:pPr>
            <a:endParaRPr/>
          </a:p>
        </p:txBody>
      </p:sp>
      <p:sp>
        <p:nvSpPr>
          <p:cNvPr id="690407923" name="config-label"/>
          <p:cNvSpPr>
            <a:spLocks noGrp="1"/>
          </p:cNvSpPr>
          <p:nvPr/>
        </p:nvSpPr>
        <p:spPr bwMode="auto">
          <a:xfrm>
            <a:off x="1257300" y="2495550"/>
            <a:ext cx="2400300" cy="266700"/>
          </a:xfrm>
          <a:prstGeom prst="rect">
            <a:avLst/>
          </a:prstGeom>
          <a:noFill/>
          <a:ln w="0">
            <a:noFill/>
            <a:prstDash val="solid"/>
          </a:ln>
        </p:spPr>
        <p:txBody>
          <a:bodyPr anchor="ctr"/>
          <a:lstStyle/>
          <a:p>
            <a:pPr algn="ctr">
              <a:buNone/>
              <a:defRPr sz="1150" b="1">
                <a:solidFill>
                  <a:srgbClr val="2563EB"/>
                </a:solidFill>
              </a:defRPr>
            </a:pPr>
            <a:r>
              <a:rPr sz="1150" b="1">
                <a:solidFill>
                  <a:srgbClr val="2563EB"/>
                </a:solidFill>
              </a:rPr>
              <a:t>CONFIG</a:t>
            </a:r>
            <a:endParaRPr/>
          </a:p>
        </p:txBody>
      </p:sp>
      <p:sp>
        <p:nvSpPr>
          <p:cNvPr id="283191526" name="config-title"/>
          <p:cNvSpPr>
            <a:spLocks noGrp="1"/>
          </p:cNvSpPr>
          <p:nvPr/>
        </p:nvSpPr>
        <p:spPr bwMode="auto">
          <a:xfrm>
            <a:off x="1238250" y="2914650"/>
            <a:ext cx="2438400" cy="552450"/>
          </a:xfrm>
          <a:prstGeom prst="rect">
            <a:avLst/>
          </a:prstGeom>
          <a:noFill/>
          <a:ln w="0">
            <a:noFill/>
            <a:prstDash val="solid"/>
          </a:ln>
        </p:spPr>
        <p:txBody>
          <a:bodyPr anchor="ctr"/>
          <a:lstStyle/>
          <a:p>
            <a:pPr algn="ctr">
              <a:buNone/>
              <a:defRPr sz="2050" b="1">
                <a:solidFill>
                  <a:srgbClr val="0B0F19"/>
                </a:solidFill>
              </a:defRPr>
            </a:pPr>
            <a:r>
              <a:rPr sz="2050" b="1">
                <a:solidFill>
                  <a:srgbClr val="0B0F19"/>
                </a:solidFill>
              </a:rPr>
              <a:t>Architecture</a:t>
            </a:r>
            <a:endParaRPr/>
          </a:p>
        </p:txBody>
      </p:sp>
      <p:sp>
        <p:nvSpPr>
          <p:cNvPr id="1725746691" name="config-detail"/>
          <p:cNvSpPr>
            <a:spLocks noGrp="1"/>
          </p:cNvSpPr>
          <p:nvPr/>
        </p:nvSpPr>
        <p:spPr bwMode="auto">
          <a:xfrm>
            <a:off x="1295400" y="3600450"/>
            <a:ext cx="2324100" cy="647700"/>
          </a:xfrm>
          <a:prstGeom prst="rect">
            <a:avLst/>
          </a:prstGeom>
          <a:noFill/>
          <a:ln w="0">
            <a:noFill/>
            <a:prstDash val="solid"/>
          </a:ln>
        </p:spPr>
        <p:txBody>
          <a:bodyPr anchor="ctr"/>
          <a:lstStyle/>
          <a:p>
            <a:pPr algn="ctr">
              <a:buNone/>
              <a:defRPr sz="1350" b="0">
                <a:solidFill>
                  <a:srgbClr val="667085"/>
                </a:solidFill>
              </a:defRPr>
            </a:pPr>
            <a:r>
              <a:rPr sz="1350" b="0">
                <a:solidFill>
                  <a:srgbClr val="667085"/>
                </a:solidFill>
              </a:rPr>
              <a:t>layers · hidden size</a:t>
            </a:r>
            <a:endParaRPr/>
          </a:p>
          <a:p>
            <a:pPr algn="ctr">
              <a:buNone/>
              <a:defRPr sz="1350" b="0">
                <a:solidFill>
                  <a:srgbClr val="667085"/>
                </a:solidFill>
              </a:defRPr>
            </a:pPr>
            <a:r>
              <a:rPr sz="1350" b="0">
                <a:solidFill>
                  <a:srgbClr val="667085"/>
                </a:solidFill>
              </a:rPr>
              <a:t>attention heads</a:t>
            </a:r>
            <a:endParaRPr/>
          </a:p>
        </p:txBody>
      </p:sp>
      <p:sp>
        <p:nvSpPr>
          <p:cNvPr id="208501237" name="model-plus"/>
          <p:cNvSpPr>
            <a:spLocks noGrp="1"/>
          </p:cNvSpPr>
          <p:nvPr/>
        </p:nvSpPr>
        <p:spPr bwMode="auto">
          <a:xfrm>
            <a:off x="3943350" y="3048000"/>
            <a:ext cx="457200" cy="514350"/>
          </a:xfrm>
          <a:prstGeom prst="rect">
            <a:avLst/>
          </a:prstGeom>
          <a:noFill/>
          <a:ln w="0">
            <a:noFill/>
            <a:prstDash val="solid"/>
          </a:ln>
        </p:spPr>
        <p:txBody>
          <a:bodyPr anchor="ctr"/>
          <a:lstStyle/>
          <a:p>
            <a:pPr algn="ctr">
              <a:buNone/>
              <a:defRPr sz="2550" b="1">
                <a:solidFill>
                  <a:srgbClr val="667085"/>
                </a:solidFill>
              </a:defRPr>
            </a:pPr>
            <a:r>
              <a:rPr sz="2550" b="1">
                <a:solidFill>
                  <a:srgbClr val="667085"/>
                </a:solidFill>
              </a:rPr>
              <a:t>+</a:t>
            </a:r>
            <a:endParaRPr/>
          </a:p>
        </p:txBody>
      </p:sp>
      <p:sp>
        <p:nvSpPr>
          <p:cNvPr id="1380274165" name="checkpoint-component"/>
          <p:cNvSpPr>
            <a:spLocks noGrp="1"/>
          </p:cNvSpPr>
          <p:nvPr/>
        </p:nvSpPr>
        <p:spPr bwMode="auto">
          <a:xfrm>
            <a:off x="4457700" y="2305050"/>
            <a:ext cx="2857500" cy="2190750"/>
          </a:xfrm>
          <a:prstGeom prst="roundRect">
            <a:avLst>
              <a:gd name="adj" fmla="val 5217"/>
            </a:avLst>
          </a:prstGeom>
          <a:solidFill>
            <a:srgbClr val="DCFCE7"/>
          </a:solidFill>
          <a:ln w="19050">
            <a:solidFill>
              <a:srgbClr val="10B981"/>
            </a:solidFill>
            <a:prstDash val="solid"/>
          </a:ln>
        </p:spPr>
        <p:txBody>
          <a:bodyPr/>
          <a:lstStyle/>
          <a:p>
            <a:pPr>
              <a:buNone/>
              <a:defRPr/>
            </a:pPr>
            <a:endParaRPr/>
          </a:p>
        </p:txBody>
      </p:sp>
      <p:sp>
        <p:nvSpPr>
          <p:cNvPr id="622703379" name="checkpoint-label"/>
          <p:cNvSpPr>
            <a:spLocks noGrp="1"/>
          </p:cNvSpPr>
          <p:nvPr/>
        </p:nvSpPr>
        <p:spPr bwMode="auto">
          <a:xfrm>
            <a:off x="4686300" y="2495550"/>
            <a:ext cx="2400300" cy="266700"/>
          </a:xfrm>
          <a:prstGeom prst="rect">
            <a:avLst/>
          </a:prstGeom>
          <a:noFill/>
          <a:ln w="0">
            <a:noFill/>
            <a:prstDash val="solid"/>
          </a:ln>
        </p:spPr>
        <p:txBody>
          <a:bodyPr anchor="ctr"/>
          <a:lstStyle/>
          <a:p>
            <a:pPr algn="ctr">
              <a:buNone/>
              <a:defRPr sz="1150" b="1">
                <a:solidFill>
                  <a:srgbClr val="10B981"/>
                </a:solidFill>
              </a:defRPr>
            </a:pPr>
            <a:r>
              <a:rPr sz="1150" b="1">
                <a:solidFill>
                  <a:srgbClr val="10B981"/>
                </a:solidFill>
              </a:rPr>
              <a:t>CHECKPOINT</a:t>
            </a:r>
            <a:endParaRPr/>
          </a:p>
        </p:txBody>
      </p:sp>
      <p:sp>
        <p:nvSpPr>
          <p:cNvPr id="879015752" name="checkpoint-title"/>
          <p:cNvSpPr>
            <a:spLocks noGrp="1"/>
          </p:cNvSpPr>
          <p:nvPr/>
        </p:nvSpPr>
        <p:spPr bwMode="auto">
          <a:xfrm>
            <a:off x="4667250" y="2914650"/>
            <a:ext cx="2438400" cy="552450"/>
          </a:xfrm>
          <a:prstGeom prst="rect">
            <a:avLst/>
          </a:prstGeom>
          <a:noFill/>
          <a:ln w="0">
            <a:noFill/>
            <a:prstDash val="solid"/>
          </a:ln>
        </p:spPr>
        <p:txBody>
          <a:bodyPr anchor="ctr"/>
          <a:lstStyle/>
          <a:p>
            <a:pPr algn="ctr">
              <a:buNone/>
              <a:defRPr sz="2050" b="1">
                <a:solidFill>
                  <a:srgbClr val="0B0F19"/>
                </a:solidFill>
              </a:defRPr>
            </a:pPr>
            <a:r>
              <a:rPr sz="2050" b="1">
                <a:solidFill>
                  <a:srgbClr val="0B0F19"/>
                </a:solidFill>
              </a:rPr>
              <a:t>Trained weights</a:t>
            </a:r>
            <a:endParaRPr/>
          </a:p>
        </p:txBody>
      </p:sp>
      <p:sp>
        <p:nvSpPr>
          <p:cNvPr id="249635621" name="checkpoint-detail"/>
          <p:cNvSpPr>
            <a:spLocks noGrp="1"/>
          </p:cNvSpPr>
          <p:nvPr/>
        </p:nvSpPr>
        <p:spPr bwMode="auto">
          <a:xfrm>
            <a:off x="4724399" y="3600450"/>
            <a:ext cx="2324100" cy="647700"/>
          </a:xfrm>
          <a:prstGeom prst="rect">
            <a:avLst/>
          </a:prstGeom>
          <a:noFill/>
          <a:ln w="0">
            <a:noFill/>
            <a:prstDash val="solid"/>
          </a:ln>
        </p:spPr>
        <p:txBody>
          <a:bodyPr anchor="ctr"/>
          <a:lstStyle/>
          <a:p>
            <a:pPr algn="ctr">
              <a:buNone/>
              <a:defRPr sz="1350" b="0">
                <a:solidFill>
                  <a:srgbClr val="667085"/>
                </a:solidFill>
              </a:defRPr>
            </a:pPr>
            <a:r>
              <a:rPr sz="1350" b="0">
                <a:solidFill>
                  <a:srgbClr val="667085"/>
                </a:solidFill>
              </a:rPr>
              <a:t>learned parameters</a:t>
            </a:r>
            <a:endParaRPr/>
          </a:p>
          <a:p>
            <a:pPr algn="ctr">
              <a:buNone/>
              <a:defRPr sz="1350" b="0">
                <a:solidFill>
                  <a:srgbClr val="667085"/>
                </a:solidFill>
              </a:defRPr>
            </a:pPr>
            <a:r>
              <a:rPr sz="1350" b="0">
                <a:solidFill>
                  <a:srgbClr val="667085"/>
                </a:solidFill>
              </a:rPr>
              <a:t>that store patterns</a:t>
            </a:r>
            <a:endParaRPr/>
          </a:p>
        </p:txBody>
      </p:sp>
      <p:sp>
        <p:nvSpPr>
          <p:cNvPr id="1686164464" name="tokenizer-plus"/>
          <p:cNvSpPr>
            <a:spLocks noGrp="1"/>
          </p:cNvSpPr>
          <p:nvPr/>
        </p:nvSpPr>
        <p:spPr bwMode="auto">
          <a:xfrm>
            <a:off x="7372350" y="3048000"/>
            <a:ext cx="457200" cy="514350"/>
          </a:xfrm>
          <a:prstGeom prst="rect">
            <a:avLst/>
          </a:prstGeom>
          <a:noFill/>
          <a:ln w="0">
            <a:noFill/>
            <a:prstDash val="solid"/>
          </a:ln>
        </p:spPr>
        <p:txBody>
          <a:bodyPr anchor="ctr"/>
          <a:lstStyle/>
          <a:p>
            <a:pPr algn="ctr">
              <a:buNone/>
              <a:defRPr sz="2550" b="1">
                <a:solidFill>
                  <a:srgbClr val="667085"/>
                </a:solidFill>
              </a:defRPr>
            </a:pPr>
            <a:r>
              <a:rPr sz="2550" b="1">
                <a:solidFill>
                  <a:srgbClr val="667085"/>
                </a:solidFill>
              </a:rPr>
              <a:t>+</a:t>
            </a:r>
            <a:endParaRPr/>
          </a:p>
        </p:txBody>
      </p:sp>
      <p:sp>
        <p:nvSpPr>
          <p:cNvPr id="484703909" name="text ↔ ids-component"/>
          <p:cNvSpPr>
            <a:spLocks noGrp="1"/>
          </p:cNvSpPr>
          <p:nvPr/>
        </p:nvSpPr>
        <p:spPr bwMode="auto">
          <a:xfrm>
            <a:off x="7886700" y="2305050"/>
            <a:ext cx="2857500" cy="2190750"/>
          </a:xfrm>
          <a:prstGeom prst="roundRect">
            <a:avLst>
              <a:gd name="adj" fmla="val 5217"/>
            </a:avLst>
          </a:prstGeom>
          <a:solidFill>
            <a:srgbClr val="FEF3C7"/>
          </a:solidFill>
          <a:ln w="19050">
            <a:solidFill>
              <a:srgbClr val="F97316"/>
            </a:solidFill>
            <a:prstDash val="solid"/>
          </a:ln>
        </p:spPr>
        <p:txBody>
          <a:bodyPr/>
          <a:lstStyle/>
          <a:p>
            <a:pPr>
              <a:buNone/>
              <a:defRPr/>
            </a:pPr>
            <a:endParaRPr/>
          </a:p>
        </p:txBody>
      </p:sp>
      <p:sp>
        <p:nvSpPr>
          <p:cNvPr id="1270429097" name="text ↔ ids-label"/>
          <p:cNvSpPr>
            <a:spLocks noGrp="1"/>
          </p:cNvSpPr>
          <p:nvPr/>
        </p:nvSpPr>
        <p:spPr bwMode="auto">
          <a:xfrm>
            <a:off x="8115300" y="2495550"/>
            <a:ext cx="2400300" cy="266700"/>
          </a:xfrm>
          <a:prstGeom prst="rect">
            <a:avLst/>
          </a:prstGeom>
          <a:noFill/>
          <a:ln w="0">
            <a:noFill/>
            <a:prstDash val="solid"/>
          </a:ln>
        </p:spPr>
        <p:txBody>
          <a:bodyPr anchor="ctr"/>
          <a:lstStyle/>
          <a:p>
            <a:pPr algn="ctr">
              <a:buNone/>
              <a:defRPr sz="1150" b="1">
                <a:solidFill>
                  <a:srgbClr val="F97316"/>
                </a:solidFill>
              </a:defRPr>
            </a:pPr>
            <a:r>
              <a:rPr sz="1150" b="1">
                <a:solidFill>
                  <a:srgbClr val="F97316"/>
                </a:solidFill>
              </a:rPr>
              <a:t>TEXT ↔ IDS</a:t>
            </a:r>
            <a:endParaRPr/>
          </a:p>
        </p:txBody>
      </p:sp>
      <p:sp>
        <p:nvSpPr>
          <p:cNvPr id="992373443" name="text ↔ ids-title"/>
          <p:cNvSpPr>
            <a:spLocks noGrp="1"/>
          </p:cNvSpPr>
          <p:nvPr/>
        </p:nvSpPr>
        <p:spPr bwMode="auto">
          <a:xfrm>
            <a:off x="8096250" y="2914650"/>
            <a:ext cx="2438400" cy="552450"/>
          </a:xfrm>
          <a:prstGeom prst="rect">
            <a:avLst/>
          </a:prstGeom>
          <a:noFill/>
          <a:ln w="0">
            <a:noFill/>
            <a:prstDash val="solid"/>
          </a:ln>
        </p:spPr>
        <p:txBody>
          <a:bodyPr anchor="ctr"/>
          <a:lstStyle/>
          <a:p>
            <a:pPr algn="ctr">
              <a:buNone/>
              <a:defRPr sz="2050" b="1">
                <a:solidFill>
                  <a:srgbClr val="0B0F19"/>
                </a:solidFill>
              </a:defRPr>
            </a:pPr>
            <a:r>
              <a:rPr sz="2050" b="1">
                <a:solidFill>
                  <a:srgbClr val="0B0F19"/>
                </a:solidFill>
              </a:rPr>
              <a:t>Tokenizer</a:t>
            </a:r>
            <a:endParaRPr/>
          </a:p>
        </p:txBody>
      </p:sp>
      <p:sp>
        <p:nvSpPr>
          <p:cNvPr id="374193375" name="text ↔ ids-detail"/>
          <p:cNvSpPr>
            <a:spLocks noGrp="1"/>
          </p:cNvSpPr>
          <p:nvPr/>
        </p:nvSpPr>
        <p:spPr bwMode="auto">
          <a:xfrm>
            <a:off x="8153399" y="3600450"/>
            <a:ext cx="2324100" cy="647700"/>
          </a:xfrm>
          <a:prstGeom prst="rect">
            <a:avLst/>
          </a:prstGeom>
          <a:noFill/>
          <a:ln w="0">
            <a:noFill/>
            <a:prstDash val="solid"/>
          </a:ln>
        </p:spPr>
        <p:txBody>
          <a:bodyPr anchor="ctr"/>
          <a:lstStyle/>
          <a:p>
            <a:pPr algn="ctr">
              <a:buNone/>
              <a:defRPr sz="1350" b="0">
                <a:solidFill>
                  <a:srgbClr val="667085"/>
                </a:solidFill>
              </a:defRPr>
            </a:pPr>
            <a:r>
              <a:rPr sz="1350" b="0">
                <a:solidFill>
                  <a:srgbClr val="667085"/>
                </a:solidFill>
              </a:rPr>
              <a:t>vocabulary · split rules</a:t>
            </a:r>
            <a:endParaRPr/>
          </a:p>
          <a:p>
            <a:pPr algn="ctr">
              <a:buNone/>
              <a:defRPr sz="1350" b="0">
                <a:solidFill>
                  <a:srgbClr val="667085"/>
                </a:solidFill>
              </a:defRPr>
            </a:pPr>
            <a:r>
              <a:rPr sz="1350" b="0">
                <a:solidFill>
                  <a:srgbClr val="667085"/>
                </a:solidFill>
              </a:rPr>
              <a:t>special tokens</a:t>
            </a:r>
            <a:endParaRPr/>
          </a:p>
        </p:txBody>
      </p:sp>
      <p:sp>
        <p:nvSpPr>
          <p:cNvPr id="1904212494" name="matching-takeaway"/>
          <p:cNvSpPr>
            <a:spLocks noGrp="1"/>
          </p:cNvSpPr>
          <p:nvPr/>
        </p:nvSpPr>
        <p:spPr bwMode="auto">
          <a:xfrm>
            <a:off x="1657350" y="5048250"/>
            <a:ext cx="8877300" cy="419100"/>
          </a:xfrm>
          <a:prstGeom prst="rect">
            <a:avLst/>
          </a:prstGeom>
          <a:noFill/>
          <a:ln w="0">
            <a:noFill/>
            <a:prstDash val="solid"/>
          </a:ln>
        </p:spPr>
        <p:txBody>
          <a:bodyPr anchor="ctr"/>
          <a:lstStyle/>
          <a:p>
            <a:pPr algn="ctr">
              <a:buNone/>
              <a:defRPr sz="1750" b="1">
                <a:solidFill>
                  <a:srgbClr val="0B0F19"/>
                </a:solidFill>
              </a:defRPr>
            </a:pPr>
            <a:r>
              <a:rPr sz="1750" b="1">
                <a:solidFill>
                  <a:srgbClr val="0B0F19"/>
                </a:solidFill>
              </a:rPr>
              <a:t>The tokenizer must match the checkpoint — otherwise token IDs mean something else.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26335466" name="Rectangle 965507380"/>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Generation</a:t>
            </a:r>
            <a:endParaRPr/>
          </a:p>
        </p:txBody>
      </p:sp>
      <p:sp>
        <p:nvSpPr>
          <p:cNvPr id="806952454" name="Rectangle 139921793"/>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Inference repeats the same move</a:t>
            </a:r>
            <a:endParaRPr/>
          </a:p>
        </p:txBody>
      </p:sp>
      <p:sp>
        <p:nvSpPr>
          <p:cNvPr id="1678890620" name="Rectangle: Rounded Corners 1511732123"/>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48637869" name="Rectangle: Rounded Corners 2034787168"/>
          <p:cNvSpPr>
            <a:spLocks noGrp="1"/>
          </p:cNvSpPr>
          <p:nvPr/>
        </p:nvSpPr>
        <p:spPr bwMode="auto">
          <a:xfrm>
            <a:off x="1905000" y="3143250"/>
            <a:ext cx="1524000" cy="666750"/>
          </a:xfrm>
          <a:prstGeom prst="roundRect">
            <a:avLst>
              <a:gd name="adj" fmla="val 17143"/>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prompt</a:t>
            </a:r>
            <a:endParaRPr/>
          </a:p>
        </p:txBody>
      </p:sp>
      <p:sp>
        <p:nvSpPr>
          <p:cNvPr id="2003622535" name="Arrow: Right 1804858146"/>
          <p:cNvSpPr>
            <a:spLocks noGrp="1"/>
          </p:cNvSpPr>
          <p:nvPr/>
        </p:nvSpPr>
        <p:spPr bwMode="auto">
          <a:xfrm>
            <a:off x="3667125" y="3276600"/>
            <a:ext cx="1190625" cy="428625"/>
          </a:xfrm>
          <a:prstGeom prst="rightArrow">
            <a:avLst>
              <a:gd name="adj1" fmla="val 50000"/>
              <a:gd name="adj2" fmla="val 50000"/>
            </a:avLst>
          </a:prstGeom>
          <a:solidFill>
            <a:srgbClr val="E0F2FE"/>
          </a:solidFill>
          <a:ln w="14288">
            <a:solidFill>
              <a:srgbClr val="2563EB"/>
            </a:solidFill>
            <a:prstDash val="solid"/>
          </a:ln>
        </p:spPr>
        <p:txBody>
          <a:bodyPr/>
          <a:lstStyle/>
          <a:p>
            <a:pPr>
              <a:buNone/>
              <a:defRPr/>
            </a:pPr>
            <a:endParaRPr/>
          </a:p>
        </p:txBody>
      </p:sp>
      <p:sp>
        <p:nvSpPr>
          <p:cNvPr id="1563006981" name="Rectangle: Rounded Corners 2119234794"/>
          <p:cNvSpPr>
            <a:spLocks noGrp="1"/>
          </p:cNvSpPr>
          <p:nvPr/>
        </p:nvSpPr>
        <p:spPr bwMode="auto">
          <a:xfrm>
            <a:off x="5143500" y="2857500"/>
            <a:ext cx="1905000" cy="1238250"/>
          </a:xfrm>
          <a:prstGeom prst="roundRect">
            <a:avLst>
              <a:gd name="adj" fmla="val 9231"/>
            </a:avLst>
          </a:prstGeom>
          <a:solidFill>
            <a:srgbClr val="E0F2FE"/>
          </a:solidFill>
          <a:ln w="14288">
            <a:solidFill>
              <a:srgbClr val="2563EB"/>
            </a:solidFill>
            <a:prstDash val="solid"/>
          </a:ln>
        </p:spPr>
        <p:txBody>
          <a:bodyPr/>
          <a:lstStyle/>
          <a:p>
            <a:pPr algn="ctr">
              <a:buNone/>
              <a:defRPr sz="2400" b="1">
                <a:solidFill>
                  <a:srgbClr val="0B0F19"/>
                </a:solidFill>
              </a:defRPr>
            </a:pPr>
            <a:r>
              <a:rPr sz="2400" b="1">
                <a:solidFill>
                  <a:srgbClr val="0B0F19"/>
                </a:solidFill>
              </a:rPr>
              <a:t>model</a:t>
            </a:r>
            <a:endParaRPr/>
          </a:p>
        </p:txBody>
      </p:sp>
      <p:sp>
        <p:nvSpPr>
          <p:cNvPr id="1325329354" name="Arrow: Right 1610655777"/>
          <p:cNvSpPr>
            <a:spLocks noGrp="1"/>
          </p:cNvSpPr>
          <p:nvPr/>
        </p:nvSpPr>
        <p:spPr bwMode="auto">
          <a:xfrm>
            <a:off x="7286625" y="3276600"/>
            <a:ext cx="1190625" cy="428625"/>
          </a:xfrm>
          <a:prstGeom prst="rightArrow">
            <a:avLst>
              <a:gd name="adj1" fmla="val 50000"/>
              <a:gd name="adj2" fmla="val 50000"/>
            </a:avLst>
          </a:prstGeom>
          <a:solidFill>
            <a:srgbClr val="E0F2FE"/>
          </a:solidFill>
          <a:ln w="14288">
            <a:solidFill>
              <a:srgbClr val="2563EB"/>
            </a:solidFill>
            <a:prstDash val="solid"/>
          </a:ln>
        </p:spPr>
        <p:txBody>
          <a:bodyPr/>
          <a:lstStyle/>
          <a:p>
            <a:pPr>
              <a:buNone/>
              <a:defRPr/>
            </a:pPr>
            <a:endParaRPr/>
          </a:p>
        </p:txBody>
      </p:sp>
      <p:sp>
        <p:nvSpPr>
          <p:cNvPr id="1344134501" name="Rectangle: Rounded Corners 67679862"/>
          <p:cNvSpPr>
            <a:spLocks noGrp="1"/>
          </p:cNvSpPr>
          <p:nvPr/>
        </p:nvSpPr>
        <p:spPr bwMode="auto">
          <a:xfrm>
            <a:off x="8763000" y="3143250"/>
            <a:ext cx="1619250" cy="666750"/>
          </a:xfrm>
          <a:prstGeom prst="roundRect">
            <a:avLst>
              <a:gd name="adj" fmla="val 17143"/>
            </a:avLst>
          </a:prstGeom>
          <a:solidFill>
            <a:srgbClr val="DCFCE7"/>
          </a:solidFill>
          <a:ln w="14288">
            <a:solidFill>
              <a:srgbClr val="10B981"/>
            </a:solidFill>
            <a:prstDash val="solid"/>
          </a:ln>
        </p:spPr>
        <p:txBody>
          <a:bodyPr/>
          <a:lstStyle/>
          <a:p>
            <a:pPr algn="ctr">
              <a:buNone/>
              <a:defRPr sz="1650" b="1">
                <a:solidFill>
                  <a:srgbClr val="0B0F19"/>
                </a:solidFill>
              </a:defRPr>
            </a:pPr>
            <a:r>
              <a:rPr sz="1650" b="1">
                <a:solidFill>
                  <a:srgbClr val="0B0F19"/>
                </a:solidFill>
              </a:rPr>
              <a:t>new token</a:t>
            </a:r>
            <a:endParaRPr/>
          </a:p>
        </p:txBody>
      </p:sp>
      <p:sp>
        <p:nvSpPr>
          <p:cNvPr id="1183629182" name="Straight Connector 1129615995"/>
          <p:cNvSpPr>
            <a:spLocks noGrp="1"/>
          </p:cNvSpPr>
          <p:nvPr/>
        </p:nvSpPr>
        <p:spPr bwMode="auto">
          <a:xfrm>
            <a:off x="2714625" y="3857625"/>
            <a:ext cx="6858000" cy="904875"/>
          </a:xfrm>
          <a:prstGeom prst="line">
            <a:avLst/>
          </a:prstGeom>
          <a:noFill/>
          <a:ln w="38100">
            <a:solidFill>
              <a:srgbClr val="10B981"/>
            </a:solidFill>
            <a:prstDash val="solid"/>
          </a:ln>
        </p:spPr>
        <p:txBody>
          <a:bodyPr/>
          <a:lstStyle/>
          <a:p>
            <a:pPr>
              <a:buNone/>
              <a:defRPr/>
            </a:pPr>
            <a:endParaRPr/>
          </a:p>
        </p:txBody>
      </p:sp>
      <p:sp>
        <p:nvSpPr>
          <p:cNvPr id="163596356" name="Rectangle 701260999"/>
          <p:cNvSpPr>
            <a:spLocks noGrp="1"/>
          </p:cNvSpPr>
          <p:nvPr/>
        </p:nvSpPr>
        <p:spPr bwMode="auto">
          <a:xfrm>
            <a:off x="4619625" y="4953000"/>
            <a:ext cx="2857500" cy="333375"/>
          </a:xfrm>
          <a:prstGeom prst="rect">
            <a:avLst/>
          </a:prstGeom>
          <a:noFill/>
          <a:ln w="0">
            <a:noFill/>
            <a:prstDash val="solid"/>
          </a:ln>
        </p:spPr>
        <p:txBody>
          <a:bodyPr/>
          <a:lstStyle/>
          <a:p>
            <a:pPr algn="ctr">
              <a:buNone/>
              <a:defRPr sz="2050" b="1">
                <a:solidFill>
                  <a:srgbClr val="10B981"/>
                </a:solidFill>
              </a:defRPr>
            </a:pPr>
            <a:r>
              <a:rPr sz="2050" b="1">
                <a:solidFill>
                  <a:srgbClr val="10B981"/>
                </a:solidFill>
              </a:rPr>
              <a:t>append and repeat</a:t>
            </a:r>
            <a:endParaRPr/>
          </a:p>
        </p:txBody>
      </p:sp>
      <p:sp>
        <p:nvSpPr>
          <p:cNvPr id="609087870" name="Rectangle 567537238"/>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60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7969232" name="Rectangle 1814109763"/>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Decoding</a:t>
            </a:r>
            <a:endParaRPr/>
          </a:p>
        </p:txBody>
      </p:sp>
      <p:sp>
        <p:nvSpPr>
          <p:cNvPr id="1707743783" name="Rectangle 2024296005"/>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Sampling changes the voice</a:t>
            </a:r>
            <a:endParaRPr/>
          </a:p>
        </p:txBody>
      </p:sp>
      <p:sp>
        <p:nvSpPr>
          <p:cNvPr id="619487593" name="Rectangle: Rounded Corners 520397166"/>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695436240" name="Rectangle 1861104430"/>
          <p:cNvSpPr>
            <a:spLocks noGrp="1"/>
          </p:cNvSpPr>
          <p:nvPr/>
        </p:nvSpPr>
        <p:spPr bwMode="auto">
          <a:xfrm>
            <a:off x="2190750" y="2190750"/>
            <a:ext cx="2381250" cy="304800"/>
          </a:xfrm>
          <a:prstGeom prst="rect">
            <a:avLst/>
          </a:prstGeom>
          <a:noFill/>
          <a:ln w="0">
            <a:noFill/>
            <a:prstDash val="solid"/>
          </a:ln>
        </p:spPr>
        <p:txBody>
          <a:bodyPr/>
          <a:lstStyle/>
          <a:p>
            <a:pPr algn="ctr">
              <a:buNone/>
              <a:defRPr sz="1900" b="1">
                <a:solidFill>
                  <a:srgbClr val="0B0F19"/>
                </a:solidFill>
              </a:defRPr>
            </a:pPr>
            <a:r>
              <a:rPr sz="1900" b="1">
                <a:solidFill>
                  <a:srgbClr val="0B0F19"/>
                </a:solidFill>
              </a:rPr>
              <a:t>low temperature</a:t>
            </a:r>
            <a:endParaRPr/>
          </a:p>
        </p:txBody>
      </p:sp>
      <p:sp>
        <p:nvSpPr>
          <p:cNvPr id="1959321535" name="Rectangle: Rounded Corners 1392389716"/>
          <p:cNvSpPr>
            <a:spLocks noGrp="1"/>
          </p:cNvSpPr>
          <p:nvPr/>
        </p:nvSpPr>
        <p:spPr bwMode="auto">
          <a:xfrm>
            <a:off x="2571750" y="3524250"/>
            <a:ext cx="285750" cy="904875"/>
          </a:xfrm>
          <a:prstGeom prst="roundRect">
            <a:avLst>
              <a:gd name="adj" fmla="val 6667"/>
            </a:avLst>
          </a:prstGeom>
          <a:solidFill>
            <a:srgbClr val="2563EB"/>
          </a:solidFill>
          <a:ln w="14288">
            <a:solidFill>
              <a:srgbClr val="2563EB"/>
            </a:solidFill>
            <a:prstDash val="solid"/>
          </a:ln>
        </p:spPr>
        <p:txBody>
          <a:bodyPr/>
          <a:lstStyle/>
          <a:p>
            <a:pPr>
              <a:buNone/>
              <a:defRPr/>
            </a:pPr>
            <a:endParaRPr/>
          </a:p>
        </p:txBody>
      </p:sp>
      <p:sp>
        <p:nvSpPr>
          <p:cNvPr id="687070376" name="Rectangle: Rounded Corners 304746229"/>
          <p:cNvSpPr>
            <a:spLocks noGrp="1"/>
          </p:cNvSpPr>
          <p:nvPr/>
        </p:nvSpPr>
        <p:spPr bwMode="auto">
          <a:xfrm>
            <a:off x="3028950" y="4191000"/>
            <a:ext cx="285750" cy="238125"/>
          </a:xfrm>
          <a:prstGeom prst="roundRect">
            <a:avLst>
              <a:gd name="adj" fmla="val 8000"/>
            </a:avLst>
          </a:prstGeom>
          <a:solidFill>
            <a:srgbClr val="2563EB"/>
          </a:solidFill>
          <a:ln w="14288">
            <a:solidFill>
              <a:srgbClr val="2563EB"/>
            </a:solidFill>
            <a:prstDash val="solid"/>
          </a:ln>
        </p:spPr>
        <p:txBody>
          <a:bodyPr/>
          <a:lstStyle/>
          <a:p>
            <a:pPr>
              <a:buNone/>
              <a:defRPr/>
            </a:pPr>
            <a:endParaRPr/>
          </a:p>
        </p:txBody>
      </p:sp>
      <p:sp>
        <p:nvSpPr>
          <p:cNvPr id="1278003212" name="Rectangle: Rounded Corners 1222174650"/>
          <p:cNvSpPr>
            <a:spLocks noGrp="1"/>
          </p:cNvSpPr>
          <p:nvPr/>
        </p:nvSpPr>
        <p:spPr bwMode="auto">
          <a:xfrm>
            <a:off x="3486150" y="4333875"/>
            <a:ext cx="285750" cy="95250"/>
          </a:xfrm>
          <a:prstGeom prst="roundRect">
            <a:avLst>
              <a:gd name="adj" fmla="val 20000"/>
            </a:avLst>
          </a:prstGeom>
          <a:solidFill>
            <a:srgbClr val="2563EB"/>
          </a:solidFill>
          <a:ln w="14288">
            <a:solidFill>
              <a:srgbClr val="2563EB"/>
            </a:solidFill>
            <a:prstDash val="solid"/>
          </a:ln>
        </p:spPr>
        <p:txBody>
          <a:bodyPr/>
          <a:lstStyle/>
          <a:p>
            <a:pPr>
              <a:buNone/>
              <a:defRPr/>
            </a:pPr>
            <a:endParaRPr/>
          </a:p>
        </p:txBody>
      </p:sp>
      <p:sp>
        <p:nvSpPr>
          <p:cNvPr id="1442581128" name="Rectangle: Rounded Corners 221083532"/>
          <p:cNvSpPr>
            <a:spLocks noGrp="1"/>
          </p:cNvSpPr>
          <p:nvPr/>
        </p:nvSpPr>
        <p:spPr bwMode="auto">
          <a:xfrm>
            <a:off x="3943350" y="4352925"/>
            <a:ext cx="285750" cy="76200"/>
          </a:xfrm>
          <a:prstGeom prst="roundRect">
            <a:avLst>
              <a:gd name="adj" fmla="val 25000"/>
            </a:avLst>
          </a:prstGeom>
          <a:solidFill>
            <a:srgbClr val="2563EB"/>
          </a:solidFill>
          <a:ln w="14288">
            <a:solidFill>
              <a:srgbClr val="2563EB"/>
            </a:solidFill>
            <a:prstDash val="solid"/>
          </a:ln>
        </p:spPr>
        <p:txBody>
          <a:bodyPr/>
          <a:lstStyle/>
          <a:p>
            <a:pPr>
              <a:buNone/>
              <a:defRPr/>
            </a:pPr>
            <a:endParaRPr/>
          </a:p>
        </p:txBody>
      </p:sp>
      <p:sp>
        <p:nvSpPr>
          <p:cNvPr id="1936745484" name="Rectangle: Rounded Corners 1871169587"/>
          <p:cNvSpPr>
            <a:spLocks noGrp="1"/>
          </p:cNvSpPr>
          <p:nvPr/>
        </p:nvSpPr>
        <p:spPr bwMode="auto">
          <a:xfrm>
            <a:off x="4400550" y="4381500"/>
            <a:ext cx="285750" cy="47625"/>
          </a:xfrm>
          <a:prstGeom prst="roundRect">
            <a:avLst>
              <a:gd name="adj" fmla="val 40000"/>
            </a:avLst>
          </a:prstGeom>
          <a:solidFill>
            <a:srgbClr val="2563EB"/>
          </a:solidFill>
          <a:ln w="14288">
            <a:solidFill>
              <a:srgbClr val="2563EB"/>
            </a:solidFill>
            <a:prstDash val="solid"/>
          </a:ln>
        </p:spPr>
        <p:txBody>
          <a:bodyPr/>
          <a:lstStyle/>
          <a:p>
            <a:pPr>
              <a:buNone/>
              <a:defRPr/>
            </a:pPr>
            <a:endParaRPr/>
          </a:p>
        </p:txBody>
      </p:sp>
      <p:sp>
        <p:nvSpPr>
          <p:cNvPr id="379224103" name="Rectangle 1899079274"/>
          <p:cNvSpPr>
            <a:spLocks noGrp="1"/>
          </p:cNvSpPr>
          <p:nvPr/>
        </p:nvSpPr>
        <p:spPr bwMode="auto">
          <a:xfrm>
            <a:off x="7239000" y="2190750"/>
            <a:ext cx="2571750" cy="304800"/>
          </a:xfrm>
          <a:prstGeom prst="rect">
            <a:avLst/>
          </a:prstGeom>
          <a:noFill/>
          <a:ln w="0">
            <a:noFill/>
            <a:prstDash val="solid"/>
          </a:ln>
        </p:spPr>
        <p:txBody>
          <a:bodyPr/>
          <a:lstStyle/>
          <a:p>
            <a:pPr algn="ctr">
              <a:buNone/>
              <a:defRPr sz="1900" b="1">
                <a:solidFill>
                  <a:srgbClr val="0B0F19"/>
                </a:solidFill>
              </a:defRPr>
            </a:pPr>
            <a:r>
              <a:rPr sz="1900" b="1">
                <a:solidFill>
                  <a:srgbClr val="0B0F19"/>
                </a:solidFill>
              </a:rPr>
              <a:t>high temperature</a:t>
            </a:r>
            <a:endParaRPr/>
          </a:p>
        </p:txBody>
      </p:sp>
      <p:sp>
        <p:nvSpPr>
          <p:cNvPr id="1314045077" name="Rectangle: Rounded Corners 557756631"/>
          <p:cNvSpPr>
            <a:spLocks noGrp="1"/>
          </p:cNvSpPr>
          <p:nvPr/>
        </p:nvSpPr>
        <p:spPr bwMode="auto">
          <a:xfrm>
            <a:off x="7620000" y="3905250"/>
            <a:ext cx="285750" cy="523875"/>
          </a:xfrm>
          <a:prstGeom prst="roundRect">
            <a:avLst>
              <a:gd name="adj" fmla="val 6667"/>
            </a:avLst>
          </a:prstGeom>
          <a:solidFill>
            <a:srgbClr val="F97316"/>
          </a:solidFill>
          <a:ln w="14288">
            <a:solidFill>
              <a:srgbClr val="F97316"/>
            </a:solidFill>
            <a:prstDash val="solid"/>
          </a:ln>
        </p:spPr>
        <p:txBody>
          <a:bodyPr/>
          <a:lstStyle/>
          <a:p>
            <a:pPr>
              <a:buNone/>
              <a:defRPr/>
            </a:pPr>
            <a:endParaRPr/>
          </a:p>
        </p:txBody>
      </p:sp>
      <p:sp>
        <p:nvSpPr>
          <p:cNvPr id="1791414626" name="Rectangle: Rounded Corners 421477788"/>
          <p:cNvSpPr>
            <a:spLocks noGrp="1"/>
          </p:cNvSpPr>
          <p:nvPr/>
        </p:nvSpPr>
        <p:spPr bwMode="auto">
          <a:xfrm>
            <a:off x="8077200" y="3971925"/>
            <a:ext cx="285750" cy="457200"/>
          </a:xfrm>
          <a:prstGeom prst="roundRect">
            <a:avLst>
              <a:gd name="adj" fmla="val 6667"/>
            </a:avLst>
          </a:prstGeom>
          <a:solidFill>
            <a:srgbClr val="F97316"/>
          </a:solidFill>
          <a:ln w="14288">
            <a:solidFill>
              <a:srgbClr val="F97316"/>
            </a:solidFill>
            <a:prstDash val="solid"/>
          </a:ln>
        </p:spPr>
        <p:txBody>
          <a:bodyPr/>
          <a:lstStyle/>
          <a:p>
            <a:pPr>
              <a:buNone/>
              <a:defRPr/>
            </a:pPr>
            <a:endParaRPr/>
          </a:p>
        </p:txBody>
      </p:sp>
      <p:sp>
        <p:nvSpPr>
          <p:cNvPr id="1152034748" name="Rectangle: Rounded Corners 358930618"/>
          <p:cNvSpPr>
            <a:spLocks noGrp="1"/>
          </p:cNvSpPr>
          <p:nvPr/>
        </p:nvSpPr>
        <p:spPr bwMode="auto">
          <a:xfrm>
            <a:off x="8534400" y="4019550"/>
            <a:ext cx="285750" cy="409575"/>
          </a:xfrm>
          <a:prstGeom prst="roundRect">
            <a:avLst>
              <a:gd name="adj" fmla="val 6667"/>
            </a:avLst>
          </a:prstGeom>
          <a:solidFill>
            <a:srgbClr val="F97316"/>
          </a:solidFill>
          <a:ln w="14288">
            <a:solidFill>
              <a:srgbClr val="F97316"/>
            </a:solidFill>
            <a:prstDash val="solid"/>
          </a:ln>
        </p:spPr>
        <p:txBody>
          <a:bodyPr/>
          <a:lstStyle/>
          <a:p>
            <a:pPr>
              <a:buNone/>
              <a:defRPr/>
            </a:pPr>
            <a:endParaRPr/>
          </a:p>
        </p:txBody>
      </p:sp>
      <p:sp>
        <p:nvSpPr>
          <p:cNvPr id="1913377152" name="Rectangle: Rounded Corners 92675593"/>
          <p:cNvSpPr>
            <a:spLocks noGrp="1"/>
          </p:cNvSpPr>
          <p:nvPr/>
        </p:nvSpPr>
        <p:spPr bwMode="auto">
          <a:xfrm>
            <a:off x="8991600" y="4095750"/>
            <a:ext cx="285750" cy="333375"/>
          </a:xfrm>
          <a:prstGeom prst="roundRect">
            <a:avLst>
              <a:gd name="adj" fmla="val 6667"/>
            </a:avLst>
          </a:prstGeom>
          <a:solidFill>
            <a:srgbClr val="F97316"/>
          </a:solidFill>
          <a:ln w="14288">
            <a:solidFill>
              <a:srgbClr val="F97316"/>
            </a:solidFill>
            <a:prstDash val="solid"/>
          </a:ln>
        </p:spPr>
        <p:txBody>
          <a:bodyPr/>
          <a:lstStyle/>
          <a:p>
            <a:pPr>
              <a:buNone/>
              <a:defRPr/>
            </a:pPr>
            <a:endParaRPr/>
          </a:p>
        </p:txBody>
      </p:sp>
      <p:sp>
        <p:nvSpPr>
          <p:cNvPr id="420242042" name="Rectangle: Rounded Corners 1199041677"/>
          <p:cNvSpPr>
            <a:spLocks noGrp="1"/>
          </p:cNvSpPr>
          <p:nvPr/>
        </p:nvSpPr>
        <p:spPr bwMode="auto">
          <a:xfrm>
            <a:off x="9448799" y="4143375"/>
            <a:ext cx="285750" cy="285750"/>
          </a:xfrm>
          <a:prstGeom prst="roundRect">
            <a:avLst>
              <a:gd name="adj" fmla="val 6667"/>
            </a:avLst>
          </a:prstGeom>
          <a:solidFill>
            <a:srgbClr val="F97316"/>
          </a:solidFill>
          <a:ln w="14288">
            <a:solidFill>
              <a:srgbClr val="F97316"/>
            </a:solidFill>
            <a:prstDash val="solid"/>
          </a:ln>
        </p:spPr>
        <p:txBody>
          <a:bodyPr/>
          <a:lstStyle/>
          <a:p>
            <a:pPr>
              <a:buNone/>
              <a:defRPr/>
            </a:pPr>
            <a:endParaRPr/>
          </a:p>
        </p:txBody>
      </p:sp>
      <p:sp>
        <p:nvSpPr>
          <p:cNvPr id="1769281947" name="Rectangle 35073005"/>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61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18062534" name="Rectangle 642368024"/>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Decoding</a:t>
            </a:r>
            <a:endParaRPr/>
          </a:p>
        </p:txBody>
      </p:sp>
      <p:sp>
        <p:nvSpPr>
          <p:cNvPr id="46679237" name="Rectangle 1340580572"/>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Generation has adjustable controls</a:t>
            </a:r>
            <a:endParaRPr/>
          </a:p>
        </p:txBody>
      </p:sp>
      <p:sp>
        <p:nvSpPr>
          <p:cNvPr id="803909458" name="Rectangle: Rounded Corners 1167098246"/>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buNone/>
              <a:defRPr/>
            </a:pPr>
            <a:endParaRPr/>
          </a:p>
        </p:txBody>
      </p:sp>
      <p:sp>
        <p:nvSpPr>
          <p:cNvPr id="1590005589" name="Rectangle: Rounded Corners 391850247"/>
          <p:cNvSpPr>
            <a:spLocks noGrp="1"/>
          </p:cNvSpPr>
          <p:nvPr/>
        </p:nvSpPr>
        <p:spPr bwMode="auto">
          <a:xfrm>
            <a:off x="1028700" y="1943100"/>
            <a:ext cx="4762500" cy="2667000"/>
          </a:xfrm>
          <a:prstGeom prst="roundRect">
            <a:avLst>
              <a:gd name="adj" fmla="val 4286"/>
            </a:avLst>
          </a:prstGeom>
          <a:solidFill>
            <a:srgbClr val="FFFFFF"/>
          </a:solidFill>
          <a:ln w="14288">
            <a:solidFill>
              <a:srgbClr val="E2E8F0"/>
            </a:solidFill>
            <a:prstDash val="solid"/>
          </a:ln>
        </p:spPr>
        <p:txBody>
          <a:bodyPr/>
          <a:lstStyle/>
          <a:p>
            <a:pPr>
              <a:buNone/>
              <a:defRPr/>
            </a:pPr>
            <a:endParaRPr/>
          </a:p>
        </p:txBody>
      </p:sp>
      <p:sp>
        <p:nvSpPr>
          <p:cNvPr id="257232323" name="Rectangle 558602476"/>
          <p:cNvSpPr>
            <a:spLocks noGrp="1"/>
          </p:cNvSpPr>
          <p:nvPr/>
        </p:nvSpPr>
        <p:spPr bwMode="auto">
          <a:xfrm>
            <a:off x="1352550" y="2209800"/>
            <a:ext cx="2000250" cy="304800"/>
          </a:xfrm>
          <a:prstGeom prst="rect">
            <a:avLst/>
          </a:prstGeom>
          <a:noFill/>
          <a:ln w="0">
            <a:noFill/>
            <a:prstDash val="solid"/>
          </a:ln>
        </p:spPr>
        <p:txBody>
          <a:bodyPr/>
          <a:lstStyle/>
          <a:p>
            <a:pPr algn="l">
              <a:buNone/>
              <a:defRPr sz="2050" b="1">
                <a:solidFill>
                  <a:srgbClr val="F97316"/>
                </a:solidFill>
              </a:defRPr>
            </a:pPr>
            <a:r>
              <a:rPr sz="2050" b="1">
                <a:solidFill>
                  <a:srgbClr val="F97316"/>
                </a:solidFill>
              </a:rPr>
              <a:t>temperature</a:t>
            </a:r>
            <a:endParaRPr/>
          </a:p>
        </p:txBody>
      </p:sp>
      <p:sp>
        <p:nvSpPr>
          <p:cNvPr id="1526679024" name="Rectangle 908481340"/>
          <p:cNvSpPr>
            <a:spLocks noGrp="1"/>
          </p:cNvSpPr>
          <p:nvPr/>
        </p:nvSpPr>
        <p:spPr bwMode="auto">
          <a:xfrm>
            <a:off x="1428750" y="4000500"/>
            <a:ext cx="1524000" cy="247650"/>
          </a:xfrm>
          <a:prstGeom prst="rect">
            <a:avLst/>
          </a:prstGeom>
          <a:noFill/>
          <a:ln w="0">
            <a:noFill/>
            <a:prstDash val="solid"/>
          </a:ln>
        </p:spPr>
        <p:txBody>
          <a:bodyPr/>
          <a:lstStyle/>
          <a:p>
            <a:pPr algn="ctr">
              <a:buNone/>
              <a:defRPr sz="1350" b="1">
                <a:solidFill>
                  <a:srgbClr val="2563EB"/>
                </a:solidFill>
              </a:defRPr>
            </a:pPr>
            <a:r>
              <a:rPr sz="1350" b="1">
                <a:solidFill>
                  <a:srgbClr val="2563EB"/>
                </a:solidFill>
              </a:rPr>
              <a:t>low = focused</a:t>
            </a:r>
            <a:endParaRPr/>
          </a:p>
        </p:txBody>
      </p:sp>
      <p:sp>
        <p:nvSpPr>
          <p:cNvPr id="1484655780" name="Rectangle 803342785"/>
          <p:cNvSpPr>
            <a:spLocks noGrp="1"/>
          </p:cNvSpPr>
          <p:nvPr/>
        </p:nvSpPr>
        <p:spPr bwMode="auto">
          <a:xfrm>
            <a:off x="3790949" y="4000500"/>
            <a:ext cx="1524000" cy="247650"/>
          </a:xfrm>
          <a:prstGeom prst="rect">
            <a:avLst/>
          </a:prstGeom>
          <a:noFill/>
          <a:ln w="0">
            <a:noFill/>
            <a:prstDash val="solid"/>
          </a:ln>
        </p:spPr>
        <p:txBody>
          <a:bodyPr/>
          <a:lstStyle/>
          <a:p>
            <a:pPr algn="ctr">
              <a:buNone/>
              <a:defRPr sz="1350" b="1">
                <a:solidFill>
                  <a:srgbClr val="F97316"/>
                </a:solidFill>
              </a:defRPr>
            </a:pPr>
            <a:r>
              <a:rPr sz="1350" b="1">
                <a:solidFill>
                  <a:srgbClr val="F97316"/>
                </a:solidFill>
              </a:rPr>
              <a:t>high = varied</a:t>
            </a:r>
            <a:endParaRPr/>
          </a:p>
        </p:txBody>
      </p:sp>
      <p:sp>
        <p:nvSpPr>
          <p:cNvPr id="2091289709" name="Rectangle: Rounded Corners 1990101030"/>
          <p:cNvSpPr>
            <a:spLocks noGrp="1"/>
          </p:cNvSpPr>
          <p:nvPr/>
        </p:nvSpPr>
        <p:spPr bwMode="auto">
          <a:xfrm>
            <a:off x="1524000" y="2609850"/>
            <a:ext cx="209550" cy="1066800"/>
          </a:xfrm>
          <a:prstGeom prst="roundRect">
            <a:avLst>
              <a:gd name="adj" fmla="val 50000"/>
            </a:avLst>
          </a:prstGeom>
          <a:solidFill>
            <a:srgbClr val="2563EB"/>
          </a:solidFill>
          <a:ln w="0">
            <a:solidFill>
              <a:srgbClr val="2563EB"/>
            </a:solidFill>
            <a:prstDash val="solid"/>
          </a:ln>
        </p:spPr>
        <p:txBody>
          <a:bodyPr/>
          <a:lstStyle/>
          <a:p>
            <a:pPr>
              <a:buNone/>
              <a:defRPr/>
            </a:pPr>
            <a:endParaRPr/>
          </a:p>
        </p:txBody>
      </p:sp>
      <p:sp>
        <p:nvSpPr>
          <p:cNvPr id="1938579217" name="Rectangle 1511392786"/>
          <p:cNvSpPr>
            <a:spLocks noGrp="1"/>
          </p:cNvSpPr>
          <p:nvPr/>
        </p:nvSpPr>
        <p:spPr bwMode="auto">
          <a:xfrm>
            <a:off x="1447800" y="3771900"/>
            <a:ext cx="3619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A</a:t>
            </a:r>
            <a:endParaRPr/>
          </a:p>
        </p:txBody>
      </p:sp>
      <p:sp>
        <p:nvSpPr>
          <p:cNvPr id="2141856937" name="Rectangle: Rounded Corners 768585734"/>
          <p:cNvSpPr>
            <a:spLocks noGrp="1"/>
          </p:cNvSpPr>
          <p:nvPr/>
        </p:nvSpPr>
        <p:spPr bwMode="auto">
          <a:xfrm>
            <a:off x="1847850" y="3181350"/>
            <a:ext cx="209550" cy="495300"/>
          </a:xfrm>
          <a:prstGeom prst="roundRect">
            <a:avLst>
              <a:gd name="adj" fmla="val 50000"/>
            </a:avLst>
          </a:prstGeom>
          <a:solidFill>
            <a:srgbClr val="2563EB"/>
          </a:solidFill>
          <a:ln w="0">
            <a:solidFill>
              <a:srgbClr val="2563EB"/>
            </a:solidFill>
            <a:prstDash val="solid"/>
          </a:ln>
        </p:spPr>
        <p:txBody>
          <a:bodyPr/>
          <a:lstStyle/>
          <a:p>
            <a:pPr>
              <a:buNone/>
              <a:defRPr/>
            </a:pPr>
            <a:endParaRPr/>
          </a:p>
        </p:txBody>
      </p:sp>
      <p:sp>
        <p:nvSpPr>
          <p:cNvPr id="99200539" name="Rectangle 734996419"/>
          <p:cNvSpPr>
            <a:spLocks noGrp="1"/>
          </p:cNvSpPr>
          <p:nvPr/>
        </p:nvSpPr>
        <p:spPr bwMode="auto">
          <a:xfrm>
            <a:off x="1771650" y="3771900"/>
            <a:ext cx="361950" cy="228600"/>
          </a:xfrm>
          <a:prstGeom prst="rect">
            <a:avLst/>
          </a:prstGeom>
          <a:noFill/>
          <a:ln w="0">
            <a:noFill/>
            <a:prstDash val="solid"/>
          </a:ln>
        </p:spPr>
        <p:txBody>
          <a:bodyPr/>
          <a:lstStyle/>
          <a:p>
            <a:pPr>
              <a:buNone/>
              <a:defRPr/>
            </a:pPr>
            <a:endParaRPr/>
          </a:p>
        </p:txBody>
      </p:sp>
      <p:sp>
        <p:nvSpPr>
          <p:cNvPr id="1465024461" name="Rectangle: Rounded Corners 904396018"/>
          <p:cNvSpPr>
            <a:spLocks noGrp="1"/>
          </p:cNvSpPr>
          <p:nvPr/>
        </p:nvSpPr>
        <p:spPr bwMode="auto">
          <a:xfrm>
            <a:off x="2171700" y="3409950"/>
            <a:ext cx="209550" cy="266700"/>
          </a:xfrm>
          <a:prstGeom prst="roundRect">
            <a:avLst>
              <a:gd name="adj" fmla="val 50000"/>
            </a:avLst>
          </a:prstGeom>
          <a:solidFill>
            <a:srgbClr val="2563EB"/>
          </a:solidFill>
          <a:ln w="0">
            <a:solidFill>
              <a:srgbClr val="2563EB"/>
            </a:solidFill>
            <a:prstDash val="solid"/>
          </a:ln>
        </p:spPr>
        <p:txBody>
          <a:bodyPr/>
          <a:lstStyle/>
          <a:p>
            <a:pPr>
              <a:buNone/>
              <a:defRPr/>
            </a:pPr>
            <a:endParaRPr/>
          </a:p>
        </p:txBody>
      </p:sp>
      <p:sp>
        <p:nvSpPr>
          <p:cNvPr id="1926738716" name="Rectangle 1723400869"/>
          <p:cNvSpPr>
            <a:spLocks noGrp="1"/>
          </p:cNvSpPr>
          <p:nvPr/>
        </p:nvSpPr>
        <p:spPr bwMode="auto">
          <a:xfrm>
            <a:off x="2095500" y="3771900"/>
            <a:ext cx="361950" cy="228600"/>
          </a:xfrm>
          <a:prstGeom prst="rect">
            <a:avLst/>
          </a:prstGeom>
          <a:noFill/>
          <a:ln w="0">
            <a:noFill/>
            <a:prstDash val="solid"/>
          </a:ln>
        </p:spPr>
        <p:txBody>
          <a:bodyPr/>
          <a:lstStyle/>
          <a:p>
            <a:pPr>
              <a:buNone/>
              <a:defRPr/>
            </a:pPr>
            <a:endParaRPr/>
          </a:p>
        </p:txBody>
      </p:sp>
      <p:sp>
        <p:nvSpPr>
          <p:cNvPr id="1430132491" name="Rectangle: Rounded Corners 1904735606"/>
          <p:cNvSpPr>
            <a:spLocks noGrp="1"/>
          </p:cNvSpPr>
          <p:nvPr/>
        </p:nvSpPr>
        <p:spPr bwMode="auto">
          <a:xfrm>
            <a:off x="2495550" y="3533775"/>
            <a:ext cx="209550" cy="142875"/>
          </a:xfrm>
          <a:prstGeom prst="roundRect">
            <a:avLst>
              <a:gd name="adj" fmla="val 50000"/>
            </a:avLst>
          </a:prstGeom>
          <a:solidFill>
            <a:srgbClr val="2563EB"/>
          </a:solidFill>
          <a:ln w="0">
            <a:solidFill>
              <a:srgbClr val="2563EB"/>
            </a:solidFill>
            <a:prstDash val="solid"/>
          </a:ln>
        </p:spPr>
        <p:txBody>
          <a:bodyPr/>
          <a:lstStyle/>
          <a:p>
            <a:pPr>
              <a:buNone/>
              <a:defRPr/>
            </a:pPr>
            <a:endParaRPr/>
          </a:p>
        </p:txBody>
      </p:sp>
      <p:sp>
        <p:nvSpPr>
          <p:cNvPr id="1231467880" name="Rectangle 1977779495"/>
          <p:cNvSpPr>
            <a:spLocks noGrp="1"/>
          </p:cNvSpPr>
          <p:nvPr/>
        </p:nvSpPr>
        <p:spPr bwMode="auto">
          <a:xfrm>
            <a:off x="2419350" y="3771900"/>
            <a:ext cx="361950" cy="228600"/>
          </a:xfrm>
          <a:prstGeom prst="rect">
            <a:avLst/>
          </a:prstGeom>
          <a:noFill/>
          <a:ln w="0">
            <a:noFill/>
            <a:prstDash val="solid"/>
          </a:ln>
        </p:spPr>
        <p:txBody>
          <a:bodyPr/>
          <a:lstStyle/>
          <a:p>
            <a:pPr>
              <a:buNone/>
              <a:defRPr/>
            </a:pPr>
            <a:endParaRPr/>
          </a:p>
        </p:txBody>
      </p:sp>
      <p:sp>
        <p:nvSpPr>
          <p:cNvPr id="1793254516" name="Rectangle: Rounded Corners 758909754"/>
          <p:cNvSpPr>
            <a:spLocks noGrp="1"/>
          </p:cNvSpPr>
          <p:nvPr/>
        </p:nvSpPr>
        <p:spPr bwMode="auto">
          <a:xfrm>
            <a:off x="3886200" y="2971800"/>
            <a:ext cx="209550" cy="704850"/>
          </a:xfrm>
          <a:prstGeom prst="roundRect">
            <a:avLst>
              <a:gd name="adj" fmla="val 50000"/>
            </a:avLst>
          </a:prstGeom>
          <a:solidFill>
            <a:srgbClr val="F97316"/>
          </a:solidFill>
          <a:ln w="0">
            <a:solidFill>
              <a:srgbClr val="F97316"/>
            </a:solidFill>
            <a:prstDash val="solid"/>
          </a:ln>
        </p:spPr>
        <p:txBody>
          <a:bodyPr/>
          <a:lstStyle/>
          <a:p>
            <a:pPr>
              <a:buNone/>
              <a:defRPr/>
            </a:pPr>
            <a:endParaRPr/>
          </a:p>
        </p:txBody>
      </p:sp>
      <p:sp>
        <p:nvSpPr>
          <p:cNvPr id="1296528261" name="Rectangle 1103671468"/>
          <p:cNvSpPr>
            <a:spLocks noGrp="1"/>
          </p:cNvSpPr>
          <p:nvPr/>
        </p:nvSpPr>
        <p:spPr bwMode="auto">
          <a:xfrm>
            <a:off x="3810000" y="3771900"/>
            <a:ext cx="3619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A</a:t>
            </a:r>
            <a:endParaRPr/>
          </a:p>
        </p:txBody>
      </p:sp>
      <p:sp>
        <p:nvSpPr>
          <p:cNvPr id="1483998729" name="Rectangle: Rounded Corners 1109785804"/>
          <p:cNvSpPr>
            <a:spLocks noGrp="1"/>
          </p:cNvSpPr>
          <p:nvPr/>
        </p:nvSpPr>
        <p:spPr bwMode="auto">
          <a:xfrm>
            <a:off x="4210050" y="3095625"/>
            <a:ext cx="209550" cy="581025"/>
          </a:xfrm>
          <a:prstGeom prst="roundRect">
            <a:avLst>
              <a:gd name="adj" fmla="val 50000"/>
            </a:avLst>
          </a:prstGeom>
          <a:solidFill>
            <a:srgbClr val="F97316"/>
          </a:solidFill>
          <a:ln w="0">
            <a:solidFill>
              <a:srgbClr val="F97316"/>
            </a:solidFill>
            <a:prstDash val="solid"/>
          </a:ln>
        </p:spPr>
        <p:txBody>
          <a:bodyPr/>
          <a:lstStyle/>
          <a:p>
            <a:pPr>
              <a:buNone/>
              <a:defRPr/>
            </a:pPr>
            <a:endParaRPr/>
          </a:p>
        </p:txBody>
      </p:sp>
      <p:sp>
        <p:nvSpPr>
          <p:cNvPr id="281713947" name="Rectangle 87535763"/>
          <p:cNvSpPr>
            <a:spLocks noGrp="1"/>
          </p:cNvSpPr>
          <p:nvPr/>
        </p:nvSpPr>
        <p:spPr bwMode="auto">
          <a:xfrm>
            <a:off x="4133850" y="3771900"/>
            <a:ext cx="361950" cy="228600"/>
          </a:xfrm>
          <a:prstGeom prst="rect">
            <a:avLst/>
          </a:prstGeom>
          <a:noFill/>
          <a:ln w="0">
            <a:noFill/>
            <a:prstDash val="solid"/>
          </a:ln>
        </p:spPr>
        <p:txBody>
          <a:bodyPr/>
          <a:lstStyle/>
          <a:p>
            <a:pPr>
              <a:buNone/>
              <a:defRPr/>
            </a:pPr>
            <a:endParaRPr/>
          </a:p>
        </p:txBody>
      </p:sp>
      <p:sp>
        <p:nvSpPr>
          <p:cNvPr id="195867240" name="Rectangle: Rounded Corners 395524451"/>
          <p:cNvSpPr>
            <a:spLocks noGrp="1"/>
          </p:cNvSpPr>
          <p:nvPr/>
        </p:nvSpPr>
        <p:spPr bwMode="auto">
          <a:xfrm>
            <a:off x="4533900" y="3219449"/>
            <a:ext cx="209550" cy="457200"/>
          </a:xfrm>
          <a:prstGeom prst="roundRect">
            <a:avLst>
              <a:gd name="adj" fmla="val 50000"/>
            </a:avLst>
          </a:prstGeom>
          <a:solidFill>
            <a:srgbClr val="F97316"/>
          </a:solidFill>
          <a:ln w="0">
            <a:solidFill>
              <a:srgbClr val="F97316"/>
            </a:solidFill>
            <a:prstDash val="solid"/>
          </a:ln>
        </p:spPr>
        <p:txBody>
          <a:bodyPr/>
          <a:lstStyle/>
          <a:p>
            <a:pPr>
              <a:buNone/>
              <a:defRPr/>
            </a:pPr>
            <a:endParaRPr/>
          </a:p>
        </p:txBody>
      </p:sp>
      <p:sp>
        <p:nvSpPr>
          <p:cNvPr id="1859449820" name="Rectangle 752117888"/>
          <p:cNvSpPr>
            <a:spLocks noGrp="1"/>
          </p:cNvSpPr>
          <p:nvPr/>
        </p:nvSpPr>
        <p:spPr bwMode="auto">
          <a:xfrm>
            <a:off x="4457700" y="3771900"/>
            <a:ext cx="361950" cy="228600"/>
          </a:xfrm>
          <a:prstGeom prst="rect">
            <a:avLst/>
          </a:prstGeom>
          <a:noFill/>
          <a:ln w="0">
            <a:noFill/>
            <a:prstDash val="solid"/>
          </a:ln>
        </p:spPr>
        <p:txBody>
          <a:bodyPr/>
          <a:lstStyle/>
          <a:p>
            <a:pPr>
              <a:buNone/>
              <a:defRPr/>
            </a:pPr>
            <a:endParaRPr/>
          </a:p>
        </p:txBody>
      </p:sp>
      <p:sp>
        <p:nvSpPr>
          <p:cNvPr id="212590489" name="Rectangle: Rounded Corners 1187034514"/>
          <p:cNvSpPr>
            <a:spLocks noGrp="1"/>
          </p:cNvSpPr>
          <p:nvPr/>
        </p:nvSpPr>
        <p:spPr bwMode="auto">
          <a:xfrm>
            <a:off x="4857750" y="3352800"/>
            <a:ext cx="209550" cy="323850"/>
          </a:xfrm>
          <a:prstGeom prst="roundRect">
            <a:avLst>
              <a:gd name="adj" fmla="val 50000"/>
            </a:avLst>
          </a:prstGeom>
          <a:solidFill>
            <a:srgbClr val="F97316"/>
          </a:solidFill>
          <a:ln w="0">
            <a:solidFill>
              <a:srgbClr val="F97316"/>
            </a:solidFill>
            <a:prstDash val="solid"/>
          </a:ln>
        </p:spPr>
        <p:txBody>
          <a:bodyPr/>
          <a:lstStyle/>
          <a:p>
            <a:pPr>
              <a:buNone/>
              <a:defRPr/>
            </a:pPr>
            <a:endParaRPr/>
          </a:p>
        </p:txBody>
      </p:sp>
      <p:sp>
        <p:nvSpPr>
          <p:cNvPr id="1168173556" name="Rectangle 1239831952"/>
          <p:cNvSpPr>
            <a:spLocks noGrp="1"/>
          </p:cNvSpPr>
          <p:nvPr/>
        </p:nvSpPr>
        <p:spPr bwMode="auto">
          <a:xfrm>
            <a:off x="4781550" y="3771900"/>
            <a:ext cx="361950" cy="228600"/>
          </a:xfrm>
          <a:prstGeom prst="rect">
            <a:avLst/>
          </a:prstGeom>
          <a:noFill/>
          <a:ln w="0">
            <a:noFill/>
            <a:prstDash val="solid"/>
          </a:ln>
        </p:spPr>
        <p:txBody>
          <a:bodyPr/>
          <a:lstStyle/>
          <a:p>
            <a:pPr>
              <a:buNone/>
              <a:defRPr/>
            </a:pPr>
            <a:endParaRPr/>
          </a:p>
        </p:txBody>
      </p:sp>
      <p:sp>
        <p:nvSpPr>
          <p:cNvPr id="933603914" name="Rectangle: Rounded Corners 1990686703"/>
          <p:cNvSpPr>
            <a:spLocks noGrp="1"/>
          </p:cNvSpPr>
          <p:nvPr/>
        </p:nvSpPr>
        <p:spPr bwMode="auto">
          <a:xfrm>
            <a:off x="6400800" y="1943100"/>
            <a:ext cx="4762500" cy="2667000"/>
          </a:xfrm>
          <a:prstGeom prst="roundRect">
            <a:avLst>
              <a:gd name="adj" fmla="val 4286"/>
            </a:avLst>
          </a:prstGeom>
          <a:solidFill>
            <a:srgbClr val="FFFFFF"/>
          </a:solidFill>
          <a:ln w="14288">
            <a:solidFill>
              <a:srgbClr val="E2E8F0"/>
            </a:solidFill>
            <a:prstDash val="solid"/>
          </a:ln>
        </p:spPr>
        <p:txBody>
          <a:bodyPr/>
          <a:lstStyle/>
          <a:p>
            <a:pPr>
              <a:buNone/>
              <a:defRPr/>
            </a:pPr>
            <a:endParaRPr/>
          </a:p>
        </p:txBody>
      </p:sp>
      <p:sp>
        <p:nvSpPr>
          <p:cNvPr id="1436900651" name="Rectangle 790741738"/>
          <p:cNvSpPr>
            <a:spLocks noGrp="1"/>
          </p:cNvSpPr>
          <p:nvPr/>
        </p:nvSpPr>
        <p:spPr bwMode="auto">
          <a:xfrm>
            <a:off x="6724649" y="2209800"/>
            <a:ext cx="1333500" cy="304800"/>
          </a:xfrm>
          <a:prstGeom prst="rect">
            <a:avLst/>
          </a:prstGeom>
          <a:noFill/>
          <a:ln w="0">
            <a:noFill/>
            <a:prstDash val="solid"/>
          </a:ln>
        </p:spPr>
        <p:txBody>
          <a:bodyPr/>
          <a:lstStyle/>
          <a:p>
            <a:pPr algn="l">
              <a:buNone/>
              <a:defRPr sz="2050" b="1">
                <a:solidFill>
                  <a:srgbClr val="10B981"/>
                </a:solidFill>
              </a:defRPr>
            </a:pPr>
            <a:r>
              <a:rPr sz="2050" b="1">
                <a:solidFill>
                  <a:srgbClr val="10B981"/>
                </a:solidFill>
              </a:rPr>
              <a:t>top-p</a:t>
            </a:r>
            <a:endParaRPr/>
          </a:p>
        </p:txBody>
      </p:sp>
      <p:sp>
        <p:nvSpPr>
          <p:cNvPr id="2131280275" name="Rectangle 1344716697"/>
          <p:cNvSpPr>
            <a:spLocks noGrp="1"/>
          </p:cNvSpPr>
          <p:nvPr/>
        </p:nvSpPr>
        <p:spPr bwMode="auto">
          <a:xfrm>
            <a:off x="6724649" y="2552700"/>
            <a:ext cx="3810000" cy="247650"/>
          </a:xfrm>
          <a:prstGeom prst="rect">
            <a:avLst/>
          </a:prstGeom>
          <a:noFill/>
          <a:ln w="0">
            <a:noFill/>
            <a:prstDash val="solid"/>
          </a:ln>
        </p:spPr>
        <p:txBody>
          <a:bodyPr/>
          <a:lstStyle/>
          <a:p>
            <a:pPr algn="l">
              <a:buNone/>
              <a:defRPr sz="1300" b="0">
                <a:solidFill>
                  <a:srgbClr val="667085"/>
                </a:solidFill>
              </a:defRPr>
            </a:pPr>
            <a:r>
              <a:rPr sz="1300" b="0">
                <a:solidFill>
                  <a:srgbClr val="667085"/>
                </a:solidFill>
              </a:rPr>
              <a:t>keep the smallest set whose probability mass reaches p</a:t>
            </a:r>
            <a:endParaRPr/>
          </a:p>
        </p:txBody>
      </p:sp>
      <p:sp>
        <p:nvSpPr>
          <p:cNvPr id="1454104905" name="Rectangle: Rounded Corners 505587208"/>
          <p:cNvSpPr>
            <a:spLocks noGrp="1"/>
          </p:cNvSpPr>
          <p:nvPr/>
        </p:nvSpPr>
        <p:spPr bwMode="auto">
          <a:xfrm>
            <a:off x="6953250" y="2952750"/>
            <a:ext cx="323850" cy="838200"/>
          </a:xfrm>
          <a:prstGeom prst="roundRect">
            <a:avLst>
              <a:gd name="adj" fmla="val 35294"/>
            </a:avLst>
          </a:prstGeom>
          <a:solidFill>
            <a:srgbClr val="10B981"/>
          </a:solidFill>
          <a:ln w="0">
            <a:solidFill>
              <a:srgbClr val="10B981"/>
            </a:solidFill>
            <a:prstDash val="solid"/>
          </a:ln>
        </p:spPr>
        <p:txBody>
          <a:bodyPr/>
          <a:lstStyle/>
          <a:p>
            <a:pPr>
              <a:buNone/>
              <a:defRPr/>
            </a:pPr>
            <a:endParaRPr/>
          </a:p>
        </p:txBody>
      </p:sp>
      <p:sp>
        <p:nvSpPr>
          <p:cNvPr id="979525285" name="Rectangle 1817540189"/>
          <p:cNvSpPr>
            <a:spLocks noGrp="1"/>
          </p:cNvSpPr>
          <p:nvPr/>
        </p:nvSpPr>
        <p:spPr bwMode="auto">
          <a:xfrm>
            <a:off x="6877050" y="3886200"/>
            <a:ext cx="4762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A</a:t>
            </a:r>
            <a:endParaRPr/>
          </a:p>
        </p:txBody>
      </p:sp>
      <p:sp>
        <p:nvSpPr>
          <p:cNvPr id="1020281711" name="Rectangle: Rounded Corners 1412774459"/>
          <p:cNvSpPr>
            <a:spLocks noGrp="1"/>
          </p:cNvSpPr>
          <p:nvPr/>
        </p:nvSpPr>
        <p:spPr bwMode="auto">
          <a:xfrm>
            <a:off x="7477125" y="3143250"/>
            <a:ext cx="323850" cy="647700"/>
          </a:xfrm>
          <a:prstGeom prst="roundRect">
            <a:avLst>
              <a:gd name="adj" fmla="val 35294"/>
            </a:avLst>
          </a:prstGeom>
          <a:solidFill>
            <a:srgbClr val="10B981"/>
          </a:solidFill>
          <a:ln w="0">
            <a:solidFill>
              <a:srgbClr val="10B981"/>
            </a:solidFill>
            <a:prstDash val="solid"/>
          </a:ln>
        </p:spPr>
        <p:txBody>
          <a:bodyPr/>
          <a:lstStyle/>
          <a:p>
            <a:pPr>
              <a:buNone/>
              <a:defRPr/>
            </a:pPr>
            <a:endParaRPr/>
          </a:p>
        </p:txBody>
      </p:sp>
      <p:sp>
        <p:nvSpPr>
          <p:cNvPr id="24265938" name="Rectangle 842999192"/>
          <p:cNvSpPr>
            <a:spLocks noGrp="1"/>
          </p:cNvSpPr>
          <p:nvPr/>
        </p:nvSpPr>
        <p:spPr bwMode="auto">
          <a:xfrm>
            <a:off x="7400925" y="3886200"/>
            <a:ext cx="4762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B</a:t>
            </a:r>
            <a:endParaRPr/>
          </a:p>
        </p:txBody>
      </p:sp>
      <p:sp>
        <p:nvSpPr>
          <p:cNvPr id="2019530381" name="Rectangle: Rounded Corners 1720875966"/>
          <p:cNvSpPr>
            <a:spLocks noGrp="1"/>
          </p:cNvSpPr>
          <p:nvPr/>
        </p:nvSpPr>
        <p:spPr bwMode="auto">
          <a:xfrm>
            <a:off x="8001000" y="3314700"/>
            <a:ext cx="323850" cy="476250"/>
          </a:xfrm>
          <a:prstGeom prst="roundRect">
            <a:avLst>
              <a:gd name="adj" fmla="val 35294"/>
            </a:avLst>
          </a:prstGeom>
          <a:solidFill>
            <a:srgbClr val="10B981"/>
          </a:solidFill>
          <a:ln w="0">
            <a:solidFill>
              <a:srgbClr val="10B981"/>
            </a:solidFill>
            <a:prstDash val="solid"/>
          </a:ln>
        </p:spPr>
        <p:txBody>
          <a:bodyPr/>
          <a:lstStyle/>
          <a:p>
            <a:pPr>
              <a:buNone/>
              <a:defRPr/>
            </a:pPr>
            <a:endParaRPr/>
          </a:p>
        </p:txBody>
      </p:sp>
      <p:sp>
        <p:nvSpPr>
          <p:cNvPr id="1696133862" name="Rectangle 66502239"/>
          <p:cNvSpPr>
            <a:spLocks noGrp="1"/>
          </p:cNvSpPr>
          <p:nvPr/>
        </p:nvSpPr>
        <p:spPr bwMode="auto">
          <a:xfrm>
            <a:off x="7924800" y="3886200"/>
            <a:ext cx="4762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C</a:t>
            </a:r>
            <a:endParaRPr/>
          </a:p>
        </p:txBody>
      </p:sp>
      <p:sp>
        <p:nvSpPr>
          <p:cNvPr id="532473035" name="Rectangle: Rounded Corners 2118371450"/>
          <p:cNvSpPr>
            <a:spLocks noGrp="1"/>
          </p:cNvSpPr>
          <p:nvPr/>
        </p:nvSpPr>
        <p:spPr bwMode="auto">
          <a:xfrm>
            <a:off x="8524875" y="3486150"/>
            <a:ext cx="323850" cy="304800"/>
          </a:xfrm>
          <a:prstGeom prst="roundRect">
            <a:avLst>
              <a:gd name="adj" fmla="val 37500"/>
            </a:avLst>
          </a:prstGeom>
          <a:solidFill>
            <a:srgbClr val="E5E7EB"/>
          </a:solidFill>
          <a:ln w="0">
            <a:solidFill>
              <a:srgbClr val="E5E7EB"/>
            </a:solidFill>
            <a:prstDash val="solid"/>
          </a:ln>
        </p:spPr>
        <p:txBody>
          <a:bodyPr/>
          <a:lstStyle/>
          <a:p>
            <a:pPr>
              <a:buNone/>
              <a:defRPr/>
            </a:pPr>
            <a:endParaRPr/>
          </a:p>
        </p:txBody>
      </p:sp>
      <p:sp>
        <p:nvSpPr>
          <p:cNvPr id="1654392815" name="Rectangle 1265886563"/>
          <p:cNvSpPr>
            <a:spLocks noGrp="1"/>
          </p:cNvSpPr>
          <p:nvPr/>
        </p:nvSpPr>
        <p:spPr bwMode="auto">
          <a:xfrm>
            <a:off x="8448675" y="3886200"/>
            <a:ext cx="4762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D</a:t>
            </a:r>
            <a:endParaRPr/>
          </a:p>
        </p:txBody>
      </p:sp>
      <p:sp>
        <p:nvSpPr>
          <p:cNvPr id="1908925085" name="Rectangle: Rounded Corners 2042608732"/>
          <p:cNvSpPr>
            <a:spLocks noGrp="1"/>
          </p:cNvSpPr>
          <p:nvPr/>
        </p:nvSpPr>
        <p:spPr bwMode="auto">
          <a:xfrm>
            <a:off x="9048750" y="3600450"/>
            <a:ext cx="323850" cy="190500"/>
          </a:xfrm>
          <a:prstGeom prst="roundRect">
            <a:avLst>
              <a:gd name="adj" fmla="val 50000"/>
            </a:avLst>
          </a:prstGeom>
          <a:solidFill>
            <a:srgbClr val="E5E7EB"/>
          </a:solidFill>
          <a:ln w="0">
            <a:solidFill>
              <a:srgbClr val="E5E7EB"/>
            </a:solidFill>
            <a:prstDash val="solid"/>
          </a:ln>
        </p:spPr>
        <p:txBody>
          <a:bodyPr/>
          <a:lstStyle/>
          <a:p>
            <a:pPr>
              <a:buNone/>
              <a:defRPr/>
            </a:pPr>
            <a:endParaRPr/>
          </a:p>
        </p:txBody>
      </p:sp>
      <p:sp>
        <p:nvSpPr>
          <p:cNvPr id="2034648885" name="Rectangle 661207096"/>
          <p:cNvSpPr>
            <a:spLocks noGrp="1"/>
          </p:cNvSpPr>
          <p:nvPr/>
        </p:nvSpPr>
        <p:spPr bwMode="auto">
          <a:xfrm>
            <a:off x="8972550" y="3886200"/>
            <a:ext cx="4762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E</a:t>
            </a:r>
            <a:endParaRPr/>
          </a:p>
        </p:txBody>
      </p:sp>
      <p:sp>
        <p:nvSpPr>
          <p:cNvPr id="1762895340" name="Rectangle: Rounded Corners 1098391783"/>
          <p:cNvSpPr>
            <a:spLocks noGrp="1"/>
          </p:cNvSpPr>
          <p:nvPr/>
        </p:nvSpPr>
        <p:spPr bwMode="auto">
          <a:xfrm>
            <a:off x="9572625" y="3676650"/>
            <a:ext cx="323850" cy="114300"/>
          </a:xfrm>
          <a:prstGeom prst="roundRect">
            <a:avLst>
              <a:gd name="adj" fmla="val 50000"/>
            </a:avLst>
          </a:prstGeom>
          <a:solidFill>
            <a:srgbClr val="E5E7EB"/>
          </a:solidFill>
          <a:ln w="0">
            <a:solidFill>
              <a:srgbClr val="E5E7EB"/>
            </a:solidFill>
            <a:prstDash val="solid"/>
          </a:ln>
        </p:spPr>
        <p:txBody>
          <a:bodyPr/>
          <a:lstStyle/>
          <a:p>
            <a:pPr>
              <a:buNone/>
              <a:defRPr/>
            </a:pPr>
            <a:endParaRPr/>
          </a:p>
        </p:txBody>
      </p:sp>
      <p:sp>
        <p:nvSpPr>
          <p:cNvPr id="332673291" name="Rectangle 1867510340"/>
          <p:cNvSpPr>
            <a:spLocks noGrp="1"/>
          </p:cNvSpPr>
          <p:nvPr/>
        </p:nvSpPr>
        <p:spPr bwMode="auto">
          <a:xfrm>
            <a:off x="9496425" y="3886200"/>
            <a:ext cx="4762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F</a:t>
            </a:r>
            <a:endParaRPr/>
          </a:p>
        </p:txBody>
      </p:sp>
      <p:sp>
        <p:nvSpPr>
          <p:cNvPr id="1154153935" name="Rectangle 610821016"/>
          <p:cNvSpPr>
            <a:spLocks noGrp="1"/>
          </p:cNvSpPr>
          <p:nvPr/>
        </p:nvSpPr>
        <p:spPr bwMode="auto">
          <a:xfrm>
            <a:off x="7239000" y="4095750"/>
            <a:ext cx="2667000" cy="247650"/>
          </a:xfrm>
          <a:prstGeom prst="rect">
            <a:avLst/>
          </a:prstGeom>
          <a:noFill/>
          <a:ln w="0">
            <a:noFill/>
            <a:prstDash val="solid"/>
          </a:ln>
        </p:spPr>
        <p:txBody>
          <a:bodyPr/>
          <a:lstStyle/>
          <a:p>
            <a:pPr algn="ctr">
              <a:buNone/>
              <a:defRPr sz="1350" b="1">
                <a:solidFill>
                  <a:srgbClr val="10B981"/>
                </a:solidFill>
              </a:defRPr>
            </a:pPr>
            <a:r>
              <a:rPr sz="1350" b="1">
                <a:solidFill>
                  <a:srgbClr val="10B981"/>
                </a:solidFill>
              </a:rPr>
              <a:t>sample only inside nucleus</a:t>
            </a:r>
            <a:endParaRPr/>
          </a:p>
        </p:txBody>
      </p:sp>
      <p:sp>
        <p:nvSpPr>
          <p:cNvPr id="750690368" name="Rectangle: Rounded Corners 1846748793"/>
          <p:cNvSpPr>
            <a:spLocks noGrp="1"/>
          </p:cNvSpPr>
          <p:nvPr/>
        </p:nvSpPr>
        <p:spPr bwMode="auto">
          <a:xfrm>
            <a:off x="1600200" y="4953000"/>
            <a:ext cx="2286000" cy="552450"/>
          </a:xfrm>
          <a:prstGeom prst="roundRect">
            <a:avLst>
              <a:gd name="adj" fmla="val 20690"/>
            </a:avLst>
          </a:prstGeom>
          <a:solidFill>
            <a:srgbClr val="FFFFFF"/>
          </a:solidFill>
          <a:ln w="19050">
            <a:solidFill>
              <a:srgbClr val="2563EB"/>
            </a:solidFill>
            <a:prstDash val="solid"/>
          </a:ln>
        </p:spPr>
        <p:txBody>
          <a:bodyPr/>
          <a:lstStyle/>
          <a:p>
            <a:pPr algn="ctr">
              <a:buNone/>
              <a:defRPr sz="1650" b="1">
                <a:solidFill>
                  <a:srgbClr val="2563EB"/>
                </a:solidFill>
              </a:defRPr>
            </a:pPr>
            <a:r>
              <a:rPr sz="1650" b="1">
                <a:solidFill>
                  <a:srgbClr val="2563EB"/>
                </a:solidFill>
              </a:rPr>
              <a:t>max tokens</a:t>
            </a:r>
            <a:endParaRPr/>
          </a:p>
        </p:txBody>
      </p:sp>
      <p:sp>
        <p:nvSpPr>
          <p:cNvPr id="1764957722" name="Rectangle 569626175"/>
          <p:cNvSpPr>
            <a:spLocks noGrp="1"/>
          </p:cNvSpPr>
          <p:nvPr/>
        </p:nvSpPr>
        <p:spPr bwMode="auto">
          <a:xfrm>
            <a:off x="1600200" y="5581649"/>
            <a:ext cx="228600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how long to continue</a:t>
            </a:r>
            <a:endParaRPr/>
          </a:p>
        </p:txBody>
      </p:sp>
      <p:sp>
        <p:nvSpPr>
          <p:cNvPr id="116757779" name="Rectangle: Rounded Corners 43298065"/>
          <p:cNvSpPr>
            <a:spLocks noGrp="1"/>
          </p:cNvSpPr>
          <p:nvPr/>
        </p:nvSpPr>
        <p:spPr bwMode="auto">
          <a:xfrm>
            <a:off x="4953000" y="4953000"/>
            <a:ext cx="2286000" cy="552450"/>
          </a:xfrm>
          <a:prstGeom prst="roundRect">
            <a:avLst>
              <a:gd name="adj" fmla="val 20690"/>
            </a:avLst>
          </a:prstGeom>
          <a:solidFill>
            <a:srgbClr val="FFFFFF"/>
          </a:solidFill>
          <a:ln w="19050">
            <a:solidFill>
              <a:srgbClr val="7C3AED"/>
            </a:solidFill>
            <a:prstDash val="solid"/>
          </a:ln>
        </p:spPr>
        <p:txBody>
          <a:bodyPr/>
          <a:lstStyle/>
          <a:p>
            <a:pPr algn="ctr">
              <a:buNone/>
              <a:defRPr sz="1650" b="1">
                <a:solidFill>
                  <a:srgbClr val="7C3AED"/>
                </a:solidFill>
              </a:defRPr>
            </a:pPr>
            <a:r>
              <a:rPr sz="1650" b="1">
                <a:solidFill>
                  <a:srgbClr val="7C3AED"/>
                </a:solidFill>
              </a:rPr>
              <a:t>penalties</a:t>
            </a:r>
            <a:endParaRPr/>
          </a:p>
        </p:txBody>
      </p:sp>
      <p:sp>
        <p:nvSpPr>
          <p:cNvPr id="991859771" name="Rectangle 114239354"/>
          <p:cNvSpPr>
            <a:spLocks noGrp="1"/>
          </p:cNvSpPr>
          <p:nvPr/>
        </p:nvSpPr>
        <p:spPr bwMode="auto">
          <a:xfrm>
            <a:off x="4953000" y="5581649"/>
            <a:ext cx="228600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reduce repetition</a:t>
            </a:r>
            <a:endParaRPr/>
          </a:p>
        </p:txBody>
      </p:sp>
      <p:sp>
        <p:nvSpPr>
          <p:cNvPr id="706243773" name="Rectangle: Rounded Corners 1589723464"/>
          <p:cNvSpPr>
            <a:spLocks noGrp="1"/>
          </p:cNvSpPr>
          <p:nvPr/>
        </p:nvSpPr>
        <p:spPr bwMode="auto">
          <a:xfrm>
            <a:off x="8305800" y="4953000"/>
            <a:ext cx="2286000" cy="552450"/>
          </a:xfrm>
          <a:prstGeom prst="roundRect">
            <a:avLst>
              <a:gd name="adj" fmla="val 20690"/>
            </a:avLst>
          </a:prstGeom>
          <a:solidFill>
            <a:srgbClr val="FFFFFF"/>
          </a:solidFill>
          <a:ln w="19050">
            <a:solidFill>
              <a:srgbClr val="EF4444"/>
            </a:solidFill>
            <a:prstDash val="solid"/>
          </a:ln>
        </p:spPr>
        <p:txBody>
          <a:bodyPr/>
          <a:lstStyle/>
          <a:p>
            <a:pPr algn="ctr">
              <a:buNone/>
              <a:defRPr sz="1650" b="1">
                <a:solidFill>
                  <a:srgbClr val="EF4444"/>
                </a:solidFill>
              </a:defRPr>
            </a:pPr>
            <a:r>
              <a:rPr sz="1650" b="1">
                <a:solidFill>
                  <a:srgbClr val="EF4444"/>
                </a:solidFill>
              </a:rPr>
              <a:t>stop</a:t>
            </a:r>
            <a:endParaRPr/>
          </a:p>
        </p:txBody>
      </p:sp>
      <p:sp>
        <p:nvSpPr>
          <p:cNvPr id="1742347236" name="Rectangle 127230098"/>
          <p:cNvSpPr>
            <a:spLocks noGrp="1"/>
          </p:cNvSpPr>
          <p:nvPr/>
        </p:nvSpPr>
        <p:spPr bwMode="auto">
          <a:xfrm>
            <a:off x="8305800" y="5581649"/>
            <a:ext cx="228600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where to end</a:t>
            </a:r>
            <a:endParaRPr/>
          </a:p>
        </p:txBody>
      </p:sp>
      <p:sp>
        <p:nvSpPr>
          <p:cNvPr id="1825973397" name="Rectangle 760303360"/>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62</a:t>
            </a:r>
            <a:endParaRPr/>
          </a:p>
        </p:txBody>
      </p:sp>
      <p:pic>
        <p:nvPicPr>
          <p:cNvPr id="974430113" name="Graphic 2118371498"/>
          <p:cNvPicPr>
            <a:picLocks noChangeAspect="1"/>
          </p:cNvPicPr>
          <p:nvPr/>
        </p:nvPicPr>
        <p:blipFill rotWithShape="1">
          <a:blip r:embed="rId3">
            <a:extLst>
              <a:ext uri="{96DAC541-7B7A-43D3-8B79-37D633B846F1}">
                <asvg:svgBlip xmlns:asvg="http://schemas.microsoft.com/office/drawing/2016/SVG/main" r:embed="rId4"/>
              </a:ext>
            </a:extLst>
          </a:blip>
          <a:stretch/>
        </p:blipFill>
        <p:spPr bwMode="auto">
          <a:xfrm>
            <a:off x="0" y="0"/>
            <a:ext cx="12192000"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55603355" name="Rectangle 1109576543"/>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Recap</a:t>
            </a:r>
            <a:endParaRPr/>
          </a:p>
        </p:txBody>
      </p:sp>
      <p:sp>
        <p:nvSpPr>
          <p:cNvPr id="757493673" name="Rectangle 165357682"/>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The whole path is one learning story</a:t>
            </a:r>
            <a:endParaRPr/>
          </a:p>
        </p:txBody>
      </p:sp>
      <p:sp>
        <p:nvSpPr>
          <p:cNvPr id="1253554711" name="Rectangle: Rounded Corners 1373434995"/>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216841621" name="Straight Connector 247695513"/>
          <p:cNvSpPr>
            <a:spLocks noGrp="1"/>
          </p:cNvSpPr>
          <p:nvPr/>
        </p:nvSpPr>
        <p:spPr bwMode="auto">
          <a:xfrm>
            <a:off x="1428750" y="3619500"/>
            <a:ext cx="8858250" cy="9525"/>
          </a:xfrm>
          <a:prstGeom prst="line">
            <a:avLst/>
          </a:prstGeom>
          <a:noFill/>
          <a:ln w="38100">
            <a:solidFill>
              <a:srgbClr val="CBD5E1"/>
            </a:solidFill>
            <a:prstDash val="solid"/>
          </a:ln>
        </p:spPr>
        <p:txBody>
          <a:bodyPr/>
          <a:lstStyle/>
          <a:p>
            <a:pPr>
              <a:buNone/>
              <a:defRPr/>
            </a:pPr>
            <a:endParaRPr/>
          </a:p>
        </p:txBody>
      </p:sp>
      <p:sp>
        <p:nvSpPr>
          <p:cNvPr id="766576049" name="Oval 628746849"/>
          <p:cNvSpPr>
            <a:spLocks noGrp="1"/>
          </p:cNvSpPr>
          <p:nvPr/>
        </p:nvSpPr>
        <p:spPr bwMode="auto">
          <a:xfrm>
            <a:off x="1285875" y="3286125"/>
            <a:ext cx="666750" cy="66675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1</a:t>
            </a:r>
            <a:endParaRPr/>
          </a:p>
        </p:txBody>
      </p:sp>
      <p:sp>
        <p:nvSpPr>
          <p:cNvPr id="1038145411" name="Rectangle 1898660202"/>
          <p:cNvSpPr>
            <a:spLocks noGrp="1"/>
          </p:cNvSpPr>
          <p:nvPr/>
        </p:nvSpPr>
        <p:spPr bwMode="auto">
          <a:xfrm>
            <a:off x="904875" y="4238625"/>
            <a:ext cx="1428750" cy="285750"/>
          </a:xfrm>
          <a:prstGeom prst="rect">
            <a:avLst/>
          </a:prstGeom>
          <a:noFill/>
          <a:ln w="0">
            <a:noFill/>
            <a:prstDash val="solid"/>
          </a:ln>
        </p:spPr>
        <p:txBody>
          <a:bodyPr/>
          <a:lstStyle/>
          <a:p>
            <a:pPr algn="ctr">
              <a:buNone/>
              <a:defRPr sz="1600" b="1">
                <a:solidFill>
                  <a:srgbClr val="0B0F19"/>
                </a:solidFill>
              </a:defRPr>
            </a:pPr>
            <a:r>
              <a:rPr sz="1600" b="1">
                <a:solidFill>
                  <a:srgbClr val="0B0F19"/>
                </a:solidFill>
              </a:rPr>
              <a:t>line</a:t>
            </a:r>
            <a:endParaRPr/>
          </a:p>
        </p:txBody>
      </p:sp>
      <p:sp>
        <p:nvSpPr>
          <p:cNvPr id="1647365568" name="Oval 901053968"/>
          <p:cNvSpPr>
            <a:spLocks noGrp="1"/>
          </p:cNvSpPr>
          <p:nvPr/>
        </p:nvSpPr>
        <p:spPr bwMode="auto">
          <a:xfrm>
            <a:off x="2809875" y="3286125"/>
            <a:ext cx="666750" cy="66675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2</a:t>
            </a:r>
            <a:endParaRPr/>
          </a:p>
        </p:txBody>
      </p:sp>
      <p:sp>
        <p:nvSpPr>
          <p:cNvPr id="866115283" name="Rectangle 2049675483"/>
          <p:cNvSpPr>
            <a:spLocks noGrp="1"/>
          </p:cNvSpPr>
          <p:nvPr/>
        </p:nvSpPr>
        <p:spPr bwMode="auto">
          <a:xfrm>
            <a:off x="2428875" y="4238625"/>
            <a:ext cx="1428750" cy="285750"/>
          </a:xfrm>
          <a:prstGeom prst="rect">
            <a:avLst/>
          </a:prstGeom>
          <a:noFill/>
          <a:ln w="0">
            <a:noFill/>
            <a:prstDash val="solid"/>
          </a:ln>
        </p:spPr>
        <p:txBody>
          <a:bodyPr/>
          <a:lstStyle/>
          <a:p>
            <a:pPr algn="ctr">
              <a:buNone/>
              <a:defRPr sz="1600" b="1">
                <a:solidFill>
                  <a:srgbClr val="0B0F19"/>
                </a:solidFill>
              </a:defRPr>
            </a:pPr>
            <a:r>
              <a:rPr sz="1600" b="1">
                <a:solidFill>
                  <a:srgbClr val="0B0F19"/>
                </a:solidFill>
              </a:rPr>
              <a:t>network</a:t>
            </a:r>
            <a:endParaRPr/>
          </a:p>
        </p:txBody>
      </p:sp>
      <p:sp>
        <p:nvSpPr>
          <p:cNvPr id="1836212044" name="Oval 80204406"/>
          <p:cNvSpPr>
            <a:spLocks noGrp="1"/>
          </p:cNvSpPr>
          <p:nvPr/>
        </p:nvSpPr>
        <p:spPr bwMode="auto">
          <a:xfrm>
            <a:off x="4429125" y="3286125"/>
            <a:ext cx="666750" cy="66675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3</a:t>
            </a:r>
            <a:endParaRPr/>
          </a:p>
        </p:txBody>
      </p:sp>
      <p:sp>
        <p:nvSpPr>
          <p:cNvPr id="664173926" name="Rectangle 1419699716"/>
          <p:cNvSpPr>
            <a:spLocks noGrp="1"/>
          </p:cNvSpPr>
          <p:nvPr/>
        </p:nvSpPr>
        <p:spPr bwMode="auto">
          <a:xfrm>
            <a:off x="4048125" y="4238625"/>
            <a:ext cx="1428750" cy="285750"/>
          </a:xfrm>
          <a:prstGeom prst="rect">
            <a:avLst/>
          </a:prstGeom>
          <a:noFill/>
          <a:ln w="0">
            <a:noFill/>
            <a:prstDash val="solid"/>
          </a:ln>
        </p:spPr>
        <p:txBody>
          <a:bodyPr/>
          <a:lstStyle/>
          <a:p>
            <a:pPr algn="ctr">
              <a:buNone/>
              <a:defRPr sz="1600" b="1">
                <a:solidFill>
                  <a:srgbClr val="0B0F19"/>
                </a:solidFill>
              </a:defRPr>
            </a:pPr>
            <a:r>
              <a:rPr sz="1600" b="1">
                <a:solidFill>
                  <a:srgbClr val="0B0F19"/>
                </a:solidFill>
              </a:rPr>
              <a:t>backprop</a:t>
            </a:r>
            <a:endParaRPr/>
          </a:p>
        </p:txBody>
      </p:sp>
      <p:sp>
        <p:nvSpPr>
          <p:cNvPr id="192608654" name="Oval 1824188964"/>
          <p:cNvSpPr>
            <a:spLocks noGrp="1"/>
          </p:cNvSpPr>
          <p:nvPr/>
        </p:nvSpPr>
        <p:spPr bwMode="auto">
          <a:xfrm>
            <a:off x="6238875" y="3286125"/>
            <a:ext cx="666750" cy="66675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4</a:t>
            </a:r>
            <a:endParaRPr/>
          </a:p>
        </p:txBody>
      </p:sp>
      <p:sp>
        <p:nvSpPr>
          <p:cNvPr id="1123658904" name="Rectangle 1161191516"/>
          <p:cNvSpPr>
            <a:spLocks noGrp="1"/>
          </p:cNvSpPr>
          <p:nvPr/>
        </p:nvSpPr>
        <p:spPr bwMode="auto">
          <a:xfrm>
            <a:off x="5857875" y="4238625"/>
            <a:ext cx="1428750" cy="285750"/>
          </a:xfrm>
          <a:prstGeom prst="rect">
            <a:avLst/>
          </a:prstGeom>
          <a:noFill/>
          <a:ln w="0">
            <a:noFill/>
            <a:prstDash val="solid"/>
          </a:ln>
        </p:spPr>
        <p:txBody>
          <a:bodyPr/>
          <a:lstStyle/>
          <a:p>
            <a:pPr algn="ctr">
              <a:buNone/>
              <a:defRPr sz="1600" b="1">
                <a:solidFill>
                  <a:srgbClr val="0B0F19"/>
                </a:solidFill>
              </a:defRPr>
            </a:pPr>
            <a:r>
              <a:rPr sz="1600" b="1">
                <a:solidFill>
                  <a:srgbClr val="0B0F19"/>
                </a:solidFill>
              </a:rPr>
              <a:t>attention</a:t>
            </a:r>
            <a:endParaRPr/>
          </a:p>
        </p:txBody>
      </p:sp>
      <p:sp>
        <p:nvSpPr>
          <p:cNvPr id="1273718747" name="Oval 506955708"/>
          <p:cNvSpPr>
            <a:spLocks noGrp="1"/>
          </p:cNvSpPr>
          <p:nvPr/>
        </p:nvSpPr>
        <p:spPr bwMode="auto">
          <a:xfrm>
            <a:off x="8143875" y="3286125"/>
            <a:ext cx="666750" cy="66675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5</a:t>
            </a:r>
            <a:endParaRPr/>
          </a:p>
        </p:txBody>
      </p:sp>
      <p:sp>
        <p:nvSpPr>
          <p:cNvPr id="1065604062" name="Rectangle 1606354811"/>
          <p:cNvSpPr>
            <a:spLocks noGrp="1"/>
          </p:cNvSpPr>
          <p:nvPr/>
        </p:nvSpPr>
        <p:spPr bwMode="auto">
          <a:xfrm>
            <a:off x="7762875" y="4238625"/>
            <a:ext cx="1428750" cy="285750"/>
          </a:xfrm>
          <a:prstGeom prst="rect">
            <a:avLst/>
          </a:prstGeom>
          <a:noFill/>
          <a:ln w="0">
            <a:noFill/>
            <a:prstDash val="solid"/>
          </a:ln>
        </p:spPr>
        <p:txBody>
          <a:bodyPr/>
          <a:lstStyle/>
          <a:p>
            <a:pPr algn="ctr">
              <a:buNone/>
              <a:defRPr sz="1600" b="1">
                <a:solidFill>
                  <a:srgbClr val="0B0F19"/>
                </a:solidFill>
              </a:defRPr>
            </a:pPr>
            <a:r>
              <a:rPr sz="1600" b="1">
                <a:solidFill>
                  <a:srgbClr val="0B0F19"/>
                </a:solidFill>
              </a:rPr>
              <a:t>Transformer</a:t>
            </a:r>
            <a:endParaRPr/>
          </a:p>
        </p:txBody>
      </p:sp>
      <p:sp>
        <p:nvSpPr>
          <p:cNvPr id="787529920" name="Oval 759270822"/>
          <p:cNvSpPr>
            <a:spLocks noGrp="1"/>
          </p:cNvSpPr>
          <p:nvPr/>
        </p:nvSpPr>
        <p:spPr bwMode="auto">
          <a:xfrm>
            <a:off x="9763125" y="3286125"/>
            <a:ext cx="666750" cy="666750"/>
          </a:xfrm>
          <a:prstGeom prst="ellipse">
            <a:avLst/>
          </a:prstGeom>
          <a:solidFill>
            <a:srgbClr val="E0F2FE"/>
          </a:solidFill>
          <a:ln w="19050">
            <a:solidFill>
              <a:srgbClr val="10B981"/>
            </a:solidFill>
            <a:prstDash val="solid"/>
          </a:ln>
        </p:spPr>
        <p:txBody>
          <a:bodyPr/>
          <a:lstStyle/>
          <a:p>
            <a:pPr algn="ctr">
              <a:buNone/>
              <a:defRPr sz="1500" b="1">
                <a:solidFill>
                  <a:srgbClr val="0B0F19"/>
                </a:solidFill>
              </a:defRPr>
            </a:pPr>
            <a:r>
              <a:rPr sz="1500" b="1">
                <a:solidFill>
                  <a:srgbClr val="0B0F19"/>
                </a:solidFill>
              </a:rPr>
              <a:t>6</a:t>
            </a:r>
            <a:endParaRPr/>
          </a:p>
        </p:txBody>
      </p:sp>
      <p:sp>
        <p:nvSpPr>
          <p:cNvPr id="394489360" name="Rectangle 2044500735"/>
          <p:cNvSpPr>
            <a:spLocks noGrp="1"/>
          </p:cNvSpPr>
          <p:nvPr/>
        </p:nvSpPr>
        <p:spPr bwMode="auto">
          <a:xfrm>
            <a:off x="9382125" y="4238625"/>
            <a:ext cx="1428750" cy="285750"/>
          </a:xfrm>
          <a:prstGeom prst="rect">
            <a:avLst/>
          </a:prstGeom>
          <a:noFill/>
          <a:ln w="0">
            <a:noFill/>
            <a:prstDash val="solid"/>
          </a:ln>
        </p:spPr>
        <p:txBody>
          <a:bodyPr/>
          <a:lstStyle/>
          <a:p>
            <a:pPr algn="ctr">
              <a:buNone/>
              <a:defRPr sz="1600" b="1">
                <a:solidFill>
                  <a:srgbClr val="0B0F19"/>
                </a:solidFill>
              </a:defRPr>
            </a:pPr>
            <a:r>
              <a:rPr sz="1600" b="1">
                <a:solidFill>
                  <a:srgbClr val="0B0F19"/>
                </a:solidFill>
              </a:rPr>
              <a:t>GPT</a:t>
            </a:r>
            <a:endParaRPr/>
          </a:p>
        </p:txBody>
      </p:sp>
      <p:sp>
        <p:nvSpPr>
          <p:cNvPr id="2015250742" name="Rectangle 421878984"/>
          <p:cNvSpPr>
            <a:spLocks noGrp="1"/>
          </p:cNvSpPr>
          <p:nvPr/>
        </p:nvSpPr>
        <p:spPr bwMode="auto">
          <a:xfrm>
            <a:off x="2047875" y="2333625"/>
            <a:ext cx="8096250" cy="419100"/>
          </a:xfrm>
          <a:prstGeom prst="rect">
            <a:avLst/>
          </a:prstGeom>
          <a:noFill/>
          <a:ln w="0">
            <a:noFill/>
            <a:prstDash val="solid"/>
          </a:ln>
        </p:spPr>
        <p:txBody>
          <a:bodyPr/>
          <a:lstStyle/>
          <a:p>
            <a:pPr algn="ctr">
              <a:buNone/>
              <a:defRPr sz="2400" b="1">
                <a:solidFill>
                  <a:srgbClr val="2563EB"/>
                </a:solidFill>
              </a:defRPr>
            </a:pPr>
            <a:r>
              <a:rPr sz="2400" b="1">
                <a:solidFill>
                  <a:srgbClr val="2563EB"/>
                </a:solidFill>
              </a:rPr>
              <a:t>learn from error -&gt; compare tokens -&gt; predict the next token</a:t>
            </a:r>
            <a:endParaRPr/>
          </a:p>
        </p:txBody>
      </p:sp>
      <p:sp>
        <p:nvSpPr>
          <p:cNvPr id="678647046" name="Rectangle 865122751"/>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63</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68628905" name="Rectangle 72014441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GPT</a:t>
            </a:r>
            <a:endParaRPr/>
          </a:p>
        </p:txBody>
      </p:sp>
      <p:sp>
        <p:nvSpPr>
          <p:cNvPr id="1433022780" name="Rectangle 1225833152"/>
          <p:cNvSpPr>
            <a:spLocks noGrp="1"/>
          </p:cNvSpPr>
          <p:nvPr/>
        </p:nvSpPr>
        <p:spPr bwMode="auto">
          <a:xfrm>
            <a:off x="609600" y="590549"/>
            <a:ext cx="9525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Special tokens can change behavior</a:t>
            </a:r>
            <a:endParaRPr/>
          </a:p>
        </p:txBody>
      </p:sp>
      <p:sp>
        <p:nvSpPr>
          <p:cNvPr id="982492937" name="Rectangle: Rounded Corners 259784900"/>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049695767" name="Rectangle: Rounded Corners 590363604"/>
          <p:cNvSpPr>
            <a:spLocks noGrp="1"/>
          </p:cNvSpPr>
          <p:nvPr/>
        </p:nvSpPr>
        <p:spPr bwMode="auto">
          <a:xfrm>
            <a:off x="1285875" y="2905125"/>
            <a:ext cx="1381125" cy="685800"/>
          </a:xfrm>
          <a:prstGeom prst="roundRect">
            <a:avLst>
              <a:gd name="adj" fmla="val 16667"/>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The</a:t>
            </a:r>
            <a:endParaRPr/>
          </a:p>
        </p:txBody>
      </p:sp>
      <p:sp>
        <p:nvSpPr>
          <p:cNvPr id="1724917514" name="Rectangle: Rounded Corners 646256513"/>
          <p:cNvSpPr>
            <a:spLocks noGrp="1"/>
          </p:cNvSpPr>
          <p:nvPr/>
        </p:nvSpPr>
        <p:spPr bwMode="auto">
          <a:xfrm>
            <a:off x="3238500" y="2905125"/>
            <a:ext cx="1381125" cy="685800"/>
          </a:xfrm>
          <a:prstGeom prst="roundRect">
            <a:avLst>
              <a:gd name="adj" fmla="val 16667"/>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answer</a:t>
            </a:r>
            <a:endParaRPr/>
          </a:p>
        </p:txBody>
      </p:sp>
      <p:sp>
        <p:nvSpPr>
          <p:cNvPr id="2055554835" name="Rectangle: Rounded Corners 904291872"/>
          <p:cNvSpPr>
            <a:spLocks noGrp="1"/>
          </p:cNvSpPr>
          <p:nvPr/>
        </p:nvSpPr>
        <p:spPr bwMode="auto">
          <a:xfrm>
            <a:off x="5191125" y="2905125"/>
            <a:ext cx="1381125" cy="685800"/>
          </a:xfrm>
          <a:prstGeom prst="roundRect">
            <a:avLst>
              <a:gd name="adj" fmla="val 16667"/>
            </a:avLst>
          </a:prstGeom>
          <a:solidFill>
            <a:srgbClr val="FEF3C7"/>
          </a:solidFill>
          <a:ln w="14288">
            <a:solidFill>
              <a:srgbClr val="F97316"/>
            </a:solidFill>
            <a:prstDash val="solid"/>
          </a:ln>
        </p:spPr>
        <p:txBody>
          <a:bodyPr/>
          <a:lstStyle/>
          <a:p>
            <a:pPr algn="ctr">
              <a:buNone/>
              <a:defRPr sz="1800" b="1">
                <a:solidFill>
                  <a:srgbClr val="F97316"/>
                </a:solidFill>
              </a:defRPr>
            </a:pPr>
            <a:r>
              <a:rPr sz="1800" b="1">
                <a:solidFill>
                  <a:srgbClr val="F97316"/>
                </a:solidFill>
              </a:rPr>
              <a:t>&lt;end&gt;</a:t>
            </a:r>
            <a:endParaRPr/>
          </a:p>
        </p:txBody>
      </p:sp>
      <p:sp>
        <p:nvSpPr>
          <p:cNvPr id="506023918" name="Rectangle: Rounded Corners 1609756684"/>
          <p:cNvSpPr>
            <a:spLocks noGrp="1"/>
          </p:cNvSpPr>
          <p:nvPr/>
        </p:nvSpPr>
        <p:spPr bwMode="auto">
          <a:xfrm>
            <a:off x="7143750" y="2905125"/>
            <a:ext cx="1381125" cy="685800"/>
          </a:xfrm>
          <a:prstGeom prst="roundRect">
            <a:avLst>
              <a:gd name="adj" fmla="val 16667"/>
            </a:avLst>
          </a:prstGeom>
          <a:solidFill>
            <a:srgbClr val="FEF3C7"/>
          </a:solidFill>
          <a:ln w="14288">
            <a:solidFill>
              <a:srgbClr val="F97316"/>
            </a:solidFill>
            <a:prstDash val="solid"/>
          </a:ln>
        </p:spPr>
        <p:txBody>
          <a:bodyPr/>
          <a:lstStyle/>
          <a:p>
            <a:pPr algn="ctr">
              <a:buNone/>
              <a:defRPr sz="1800" b="1">
                <a:solidFill>
                  <a:srgbClr val="F97316"/>
                </a:solidFill>
              </a:defRPr>
            </a:pPr>
            <a:r>
              <a:rPr sz="1800" b="1">
                <a:solidFill>
                  <a:srgbClr val="F97316"/>
                </a:solidFill>
              </a:rPr>
              <a:t>&lt;tool_call&gt;</a:t>
            </a:r>
            <a:endParaRPr/>
          </a:p>
        </p:txBody>
      </p:sp>
      <p:sp>
        <p:nvSpPr>
          <p:cNvPr id="1958911216" name="Rectangle: Rounded Corners 855592258"/>
          <p:cNvSpPr>
            <a:spLocks noGrp="1"/>
          </p:cNvSpPr>
          <p:nvPr/>
        </p:nvSpPr>
        <p:spPr bwMode="auto">
          <a:xfrm>
            <a:off x="9096375" y="2905125"/>
            <a:ext cx="1381125" cy="685800"/>
          </a:xfrm>
          <a:prstGeom prst="roundRect">
            <a:avLst>
              <a:gd name="adj" fmla="val 16667"/>
            </a:avLst>
          </a:prstGeom>
          <a:solidFill>
            <a:srgbClr val="FEF3C7"/>
          </a:solidFill>
          <a:ln w="14288">
            <a:solidFill>
              <a:srgbClr val="F97316"/>
            </a:solidFill>
            <a:prstDash val="solid"/>
          </a:ln>
        </p:spPr>
        <p:txBody>
          <a:bodyPr/>
          <a:lstStyle/>
          <a:p>
            <a:pPr algn="ctr">
              <a:buNone/>
              <a:defRPr sz="1800" b="1">
                <a:solidFill>
                  <a:srgbClr val="F97316"/>
                </a:solidFill>
              </a:defRPr>
            </a:pPr>
            <a:r>
              <a:rPr sz="1800" b="1">
                <a:solidFill>
                  <a:srgbClr val="F97316"/>
                </a:solidFill>
              </a:rPr>
              <a:t>&lt;image&gt;</a:t>
            </a:r>
            <a:endParaRPr/>
          </a:p>
        </p:txBody>
      </p:sp>
      <p:sp>
        <p:nvSpPr>
          <p:cNvPr id="883892445" name="Straight Connector 607889825"/>
          <p:cNvSpPr>
            <a:spLocks noGrp="1"/>
          </p:cNvSpPr>
          <p:nvPr/>
        </p:nvSpPr>
        <p:spPr bwMode="auto">
          <a:xfrm>
            <a:off x="1428750" y="4143375"/>
            <a:ext cx="8858250" cy="9525"/>
          </a:xfrm>
          <a:prstGeom prst="line">
            <a:avLst/>
          </a:prstGeom>
          <a:noFill/>
          <a:ln w="28575">
            <a:solidFill>
              <a:srgbClr val="CBD5E1"/>
            </a:solidFill>
            <a:prstDash val="solid"/>
          </a:ln>
        </p:spPr>
        <p:txBody>
          <a:bodyPr/>
          <a:lstStyle/>
          <a:p>
            <a:pPr>
              <a:buNone/>
              <a:defRPr/>
            </a:pPr>
            <a:endParaRPr/>
          </a:p>
        </p:txBody>
      </p:sp>
      <p:sp>
        <p:nvSpPr>
          <p:cNvPr id="1520389529" name="Rectangle 1601584250"/>
          <p:cNvSpPr>
            <a:spLocks noGrp="1"/>
          </p:cNvSpPr>
          <p:nvPr/>
        </p:nvSpPr>
        <p:spPr bwMode="auto">
          <a:xfrm>
            <a:off x="1143000" y="4333875"/>
            <a:ext cx="3429000" cy="285750"/>
          </a:xfrm>
          <a:prstGeom prst="rect">
            <a:avLst/>
          </a:prstGeom>
          <a:noFill/>
          <a:ln w="0">
            <a:noFill/>
            <a:prstDash val="solid"/>
          </a:ln>
        </p:spPr>
        <p:txBody>
          <a:bodyPr/>
          <a:lstStyle/>
          <a:p>
            <a:pPr algn="ctr">
              <a:buNone/>
              <a:defRPr sz="1800" b="1">
                <a:solidFill>
                  <a:srgbClr val="667085"/>
                </a:solidFill>
              </a:defRPr>
            </a:pPr>
            <a:r>
              <a:rPr sz="1800" b="1">
                <a:solidFill>
                  <a:srgbClr val="667085"/>
                </a:solidFill>
              </a:rPr>
              <a:t>normal text tokens</a:t>
            </a:r>
            <a:endParaRPr/>
          </a:p>
        </p:txBody>
      </p:sp>
      <p:sp>
        <p:nvSpPr>
          <p:cNvPr id="1462553208" name="Rectangle 734795484"/>
          <p:cNvSpPr>
            <a:spLocks noGrp="1"/>
          </p:cNvSpPr>
          <p:nvPr/>
        </p:nvSpPr>
        <p:spPr bwMode="auto">
          <a:xfrm>
            <a:off x="5905500" y="4333875"/>
            <a:ext cx="4095750" cy="285750"/>
          </a:xfrm>
          <a:prstGeom prst="rect">
            <a:avLst/>
          </a:prstGeom>
          <a:noFill/>
          <a:ln w="0">
            <a:noFill/>
            <a:prstDash val="solid"/>
          </a:ln>
        </p:spPr>
        <p:txBody>
          <a:bodyPr/>
          <a:lstStyle/>
          <a:p>
            <a:pPr algn="ctr">
              <a:buNone/>
              <a:defRPr sz="1800" b="1">
                <a:solidFill>
                  <a:srgbClr val="F97316"/>
                </a:solidFill>
              </a:defRPr>
            </a:pPr>
            <a:r>
              <a:rPr sz="1800" b="1">
                <a:solidFill>
                  <a:srgbClr val="F97316"/>
                </a:solidFill>
              </a:rPr>
              <a:t>control tokens</a:t>
            </a:r>
            <a:endParaRPr/>
          </a:p>
        </p:txBody>
      </p:sp>
      <p:sp>
        <p:nvSpPr>
          <p:cNvPr id="717215729" name="Rectangle 28239208"/>
          <p:cNvSpPr>
            <a:spLocks noGrp="1"/>
          </p:cNvSpPr>
          <p:nvPr/>
        </p:nvSpPr>
        <p:spPr bwMode="auto">
          <a:xfrm>
            <a:off x="1809750" y="5143500"/>
            <a:ext cx="8572500" cy="342900"/>
          </a:xfrm>
          <a:prstGeom prst="rect">
            <a:avLst/>
          </a:prstGeom>
          <a:noFill/>
          <a:ln w="0">
            <a:noFill/>
            <a:prstDash val="solid"/>
          </a:ln>
        </p:spPr>
        <p:txBody>
          <a:bodyPr/>
          <a:lstStyle/>
          <a:p>
            <a:pPr algn="ctr">
              <a:buNone/>
              <a:defRPr sz="2050" b="1">
                <a:solidFill>
                  <a:srgbClr val="2563EB"/>
                </a:solidFill>
              </a:defRPr>
            </a:pPr>
            <a:r>
              <a:rPr sz="2050" b="1">
                <a:solidFill>
                  <a:srgbClr val="2563EB"/>
                </a:solidFill>
              </a:rPr>
              <a:t>Some tokens are instructions to the system, not words for the user.</a:t>
            </a:r>
            <a:endParaRPr/>
          </a:p>
        </p:txBody>
      </p:sp>
      <p:sp>
        <p:nvSpPr>
          <p:cNvPr id="169629509" name="Rectangle 1250386903"/>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64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123908186" name="Rectangle 166713552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GPT</a:t>
            </a:r>
            <a:endParaRPr/>
          </a:p>
        </p:txBody>
      </p:sp>
      <p:sp>
        <p:nvSpPr>
          <p:cNvPr id="203826240" name="Rectangle 753528189"/>
          <p:cNvSpPr>
            <a:spLocks noGrp="1"/>
          </p:cNvSpPr>
          <p:nvPr/>
        </p:nvSpPr>
        <p:spPr bwMode="auto">
          <a:xfrm>
            <a:off x="609600" y="590549"/>
            <a:ext cx="9525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A special token can trigger an external tool</a:t>
            </a:r>
            <a:endParaRPr/>
          </a:p>
        </p:txBody>
      </p:sp>
      <p:sp>
        <p:nvSpPr>
          <p:cNvPr id="609101527" name="Rectangle: Rounded Corners 87095143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buNone/>
              <a:defRPr/>
            </a:pPr>
            <a:endParaRPr/>
          </a:p>
        </p:txBody>
      </p:sp>
      <p:sp>
        <p:nvSpPr>
          <p:cNvPr id="11261226" name="Rectangle: Rounded Corners 1803074334"/>
          <p:cNvSpPr>
            <a:spLocks noGrp="1"/>
          </p:cNvSpPr>
          <p:nvPr/>
        </p:nvSpPr>
        <p:spPr bwMode="auto">
          <a:xfrm>
            <a:off x="1190625" y="3143250"/>
            <a:ext cx="1381125" cy="666750"/>
          </a:xfrm>
          <a:prstGeom prst="roundRect">
            <a:avLst>
              <a:gd name="adj" fmla="val 17143"/>
            </a:avLst>
          </a:prstGeom>
          <a:solidFill>
            <a:srgbClr val="FFFFFF"/>
          </a:solidFill>
          <a:ln w="14288">
            <a:solidFill>
              <a:srgbClr val="CBD5E1"/>
            </a:solidFill>
            <a:prstDash val="solid"/>
          </a:ln>
        </p:spPr>
        <p:txBody>
          <a:bodyPr/>
          <a:lstStyle/>
          <a:p>
            <a:pPr algn="ctr">
              <a:buNone/>
              <a:defRPr sz="1800" b="1">
                <a:solidFill>
                  <a:srgbClr val="0B0F19"/>
                </a:solidFill>
              </a:defRPr>
            </a:pPr>
            <a:r>
              <a:rPr sz="1800" b="1">
                <a:solidFill>
                  <a:srgbClr val="0B0F19"/>
                </a:solidFill>
              </a:rPr>
              <a:t>prompt</a:t>
            </a:r>
            <a:endParaRPr/>
          </a:p>
        </p:txBody>
      </p:sp>
      <p:sp>
        <p:nvSpPr>
          <p:cNvPr id="1635770984" name="Arrow: Right 2018184415"/>
          <p:cNvSpPr>
            <a:spLocks noGrp="1"/>
          </p:cNvSpPr>
          <p:nvPr/>
        </p:nvSpPr>
        <p:spPr bwMode="auto">
          <a:xfrm>
            <a:off x="2809875" y="3286125"/>
            <a:ext cx="1000125" cy="400050"/>
          </a:xfrm>
          <a:prstGeom prst="rightArrow">
            <a:avLst>
              <a:gd name="adj1" fmla="val 50000"/>
              <a:gd name="adj2" fmla="val 50000"/>
            </a:avLst>
          </a:prstGeom>
          <a:solidFill>
            <a:srgbClr val="E0F2FE"/>
          </a:solidFill>
          <a:ln w="14288">
            <a:solidFill>
              <a:srgbClr val="2563EB"/>
            </a:solidFill>
            <a:prstDash val="solid"/>
          </a:ln>
        </p:spPr>
        <p:txBody>
          <a:bodyPr/>
          <a:lstStyle/>
          <a:p>
            <a:pPr>
              <a:buNone/>
              <a:defRPr/>
            </a:pPr>
            <a:endParaRPr/>
          </a:p>
        </p:txBody>
      </p:sp>
      <p:sp>
        <p:nvSpPr>
          <p:cNvPr id="1734866708" name="Rectangle: Rounded Corners 850855695"/>
          <p:cNvSpPr>
            <a:spLocks noGrp="1"/>
          </p:cNvSpPr>
          <p:nvPr/>
        </p:nvSpPr>
        <p:spPr bwMode="auto">
          <a:xfrm>
            <a:off x="4095750" y="2857500"/>
            <a:ext cx="1619250" cy="1238250"/>
          </a:xfrm>
          <a:prstGeom prst="roundRect">
            <a:avLst>
              <a:gd name="adj" fmla="val 9231"/>
            </a:avLst>
          </a:prstGeom>
          <a:solidFill>
            <a:srgbClr val="E0F2FE"/>
          </a:solidFill>
          <a:ln w="14288">
            <a:solidFill>
              <a:srgbClr val="2563EB"/>
            </a:solidFill>
            <a:prstDash val="solid"/>
          </a:ln>
        </p:spPr>
        <p:txBody>
          <a:bodyPr/>
          <a:lstStyle/>
          <a:p>
            <a:pPr algn="ctr">
              <a:buNone/>
              <a:defRPr sz="2250" b="1">
                <a:solidFill>
                  <a:srgbClr val="2563EB"/>
                </a:solidFill>
              </a:defRPr>
            </a:pPr>
            <a:r>
              <a:rPr sz="2250" b="1">
                <a:solidFill>
                  <a:srgbClr val="2563EB"/>
                </a:solidFill>
              </a:rPr>
              <a:t>model</a:t>
            </a:r>
            <a:endParaRPr/>
          </a:p>
        </p:txBody>
      </p:sp>
      <p:sp>
        <p:nvSpPr>
          <p:cNvPr id="1419718626" name="Arrow: Right 1111035308"/>
          <p:cNvSpPr>
            <a:spLocks noGrp="1"/>
          </p:cNvSpPr>
          <p:nvPr/>
        </p:nvSpPr>
        <p:spPr bwMode="auto">
          <a:xfrm>
            <a:off x="6000750" y="3286125"/>
            <a:ext cx="1095375" cy="400050"/>
          </a:xfrm>
          <a:prstGeom prst="rightArrow">
            <a:avLst>
              <a:gd name="adj1" fmla="val 50000"/>
              <a:gd name="adj2" fmla="val 50000"/>
            </a:avLst>
          </a:prstGeom>
          <a:solidFill>
            <a:srgbClr val="E0F2FE"/>
          </a:solidFill>
          <a:ln w="14288">
            <a:solidFill>
              <a:srgbClr val="2563EB"/>
            </a:solidFill>
            <a:prstDash val="solid"/>
          </a:ln>
        </p:spPr>
        <p:txBody>
          <a:bodyPr/>
          <a:lstStyle/>
          <a:p>
            <a:pPr>
              <a:buNone/>
              <a:defRPr/>
            </a:pPr>
            <a:endParaRPr/>
          </a:p>
        </p:txBody>
      </p:sp>
      <p:sp>
        <p:nvSpPr>
          <p:cNvPr id="879323360" name="Rectangle: Rounded Corners 360549355"/>
          <p:cNvSpPr>
            <a:spLocks noGrp="1"/>
          </p:cNvSpPr>
          <p:nvPr/>
        </p:nvSpPr>
        <p:spPr bwMode="auto">
          <a:xfrm>
            <a:off x="7381875" y="3048000"/>
            <a:ext cx="1619250" cy="838200"/>
          </a:xfrm>
          <a:prstGeom prst="roundRect">
            <a:avLst>
              <a:gd name="adj" fmla="val 13636"/>
            </a:avLst>
          </a:prstGeom>
          <a:solidFill>
            <a:srgbClr val="FEF3C7"/>
          </a:solidFill>
          <a:ln w="14288">
            <a:solidFill>
              <a:srgbClr val="F97316"/>
            </a:solidFill>
            <a:prstDash val="solid"/>
          </a:ln>
        </p:spPr>
        <p:txBody>
          <a:bodyPr/>
          <a:lstStyle/>
          <a:p>
            <a:pPr algn="ctr">
              <a:buNone/>
              <a:defRPr sz="1900" b="1">
                <a:solidFill>
                  <a:srgbClr val="F97316"/>
                </a:solidFill>
              </a:defRPr>
            </a:pPr>
            <a:r>
              <a:rPr sz="1900" b="1">
                <a:solidFill>
                  <a:srgbClr val="F97316"/>
                </a:solidFill>
              </a:rPr>
              <a:t>&lt;tool_call&gt;</a:t>
            </a:r>
            <a:endParaRPr/>
          </a:p>
        </p:txBody>
      </p:sp>
      <p:sp>
        <p:nvSpPr>
          <p:cNvPr id="1390760896" name="Arrow: Right 1294665978"/>
          <p:cNvSpPr>
            <a:spLocks noGrp="1"/>
          </p:cNvSpPr>
          <p:nvPr/>
        </p:nvSpPr>
        <p:spPr bwMode="auto">
          <a:xfrm>
            <a:off x="9239250" y="3286125"/>
            <a:ext cx="1000125" cy="400050"/>
          </a:xfrm>
          <a:prstGeom prst="rightArrow">
            <a:avLst>
              <a:gd name="adj1" fmla="val 50000"/>
              <a:gd name="adj2" fmla="val 50000"/>
            </a:avLst>
          </a:prstGeom>
          <a:solidFill>
            <a:srgbClr val="E0F2FE"/>
          </a:solidFill>
          <a:ln w="14288">
            <a:solidFill>
              <a:srgbClr val="2563EB"/>
            </a:solidFill>
            <a:prstDash val="solid"/>
          </a:ln>
        </p:spPr>
        <p:txBody>
          <a:bodyPr/>
          <a:lstStyle/>
          <a:p>
            <a:pPr>
              <a:buNone/>
              <a:defRPr/>
            </a:pPr>
            <a:endParaRPr/>
          </a:p>
        </p:txBody>
      </p:sp>
      <p:sp>
        <p:nvSpPr>
          <p:cNvPr id="1426918752" name="Rectangle: Rounded Corners 1581615348"/>
          <p:cNvSpPr>
            <a:spLocks noGrp="1"/>
          </p:cNvSpPr>
          <p:nvPr/>
        </p:nvSpPr>
        <p:spPr bwMode="auto">
          <a:xfrm>
            <a:off x="10477500" y="3143250"/>
            <a:ext cx="857250" cy="666750"/>
          </a:xfrm>
          <a:prstGeom prst="roundRect">
            <a:avLst>
              <a:gd name="adj" fmla="val 17143"/>
            </a:avLst>
          </a:prstGeom>
          <a:solidFill>
            <a:srgbClr val="DCFCE7"/>
          </a:solidFill>
          <a:ln w="14288">
            <a:solidFill>
              <a:srgbClr val="10B981"/>
            </a:solidFill>
            <a:prstDash val="solid"/>
          </a:ln>
        </p:spPr>
        <p:txBody>
          <a:bodyPr/>
          <a:lstStyle/>
          <a:p>
            <a:pPr algn="ctr">
              <a:buNone/>
              <a:defRPr sz="1800" b="1">
                <a:solidFill>
                  <a:srgbClr val="10B981"/>
                </a:solidFill>
              </a:defRPr>
            </a:pPr>
            <a:r>
              <a:rPr sz="1800" b="1">
                <a:solidFill>
                  <a:srgbClr val="10B981"/>
                </a:solidFill>
              </a:rPr>
              <a:t>tool</a:t>
            </a:r>
            <a:endParaRPr/>
          </a:p>
        </p:txBody>
      </p:sp>
      <p:sp>
        <p:nvSpPr>
          <p:cNvPr id="437297143" name="Rectangle: Rounded Corners 143885393"/>
          <p:cNvSpPr>
            <a:spLocks noGrp="1"/>
          </p:cNvSpPr>
          <p:nvPr/>
        </p:nvSpPr>
        <p:spPr bwMode="auto">
          <a:xfrm>
            <a:off x="4762500" y="4810125"/>
            <a:ext cx="1381125" cy="590549"/>
          </a:xfrm>
          <a:prstGeom prst="roundRect">
            <a:avLst>
              <a:gd name="adj" fmla="val 19355"/>
            </a:avLst>
          </a:prstGeom>
          <a:solidFill>
            <a:srgbClr val="FEF2F2"/>
          </a:solidFill>
          <a:ln w="14288">
            <a:solidFill>
              <a:srgbClr val="EF4444"/>
            </a:solidFill>
            <a:prstDash val="solid"/>
          </a:ln>
        </p:spPr>
        <p:txBody>
          <a:bodyPr/>
          <a:lstStyle/>
          <a:p>
            <a:pPr algn="ctr">
              <a:buNone/>
              <a:defRPr sz="1950" b="1">
                <a:solidFill>
                  <a:srgbClr val="EF4444"/>
                </a:solidFill>
              </a:defRPr>
            </a:pPr>
            <a:r>
              <a:rPr sz="1950" b="1">
                <a:solidFill>
                  <a:srgbClr val="EF4444"/>
                </a:solidFill>
              </a:rPr>
              <a:t>&lt;end&gt;</a:t>
            </a:r>
            <a:endParaRPr/>
          </a:p>
        </p:txBody>
      </p:sp>
      <p:sp>
        <p:nvSpPr>
          <p:cNvPr id="515089014" name="Rectangle 310012483"/>
          <p:cNvSpPr>
            <a:spLocks noGrp="1"/>
          </p:cNvSpPr>
          <p:nvPr/>
        </p:nvSpPr>
        <p:spPr bwMode="auto">
          <a:xfrm>
            <a:off x="6381750" y="4953000"/>
            <a:ext cx="2286000" cy="323850"/>
          </a:xfrm>
          <a:prstGeom prst="rect">
            <a:avLst/>
          </a:prstGeom>
          <a:noFill/>
          <a:ln w="0">
            <a:noFill/>
            <a:prstDash val="solid"/>
          </a:ln>
        </p:spPr>
        <p:txBody>
          <a:bodyPr/>
          <a:lstStyle/>
          <a:p>
            <a:pPr algn="l">
              <a:buNone/>
              <a:defRPr sz="1950" b="1">
                <a:solidFill>
                  <a:srgbClr val="EF4444"/>
                </a:solidFill>
              </a:defRPr>
            </a:pPr>
            <a:r>
              <a:rPr sz="1950" b="1">
                <a:solidFill>
                  <a:srgbClr val="EF4444"/>
                </a:solidFill>
              </a:rPr>
              <a:t>stop generation</a:t>
            </a:r>
            <a:endParaRPr/>
          </a:p>
        </p:txBody>
      </p:sp>
      <p:sp>
        <p:nvSpPr>
          <p:cNvPr id="1528582546" name="Rectangle 131870986"/>
          <p:cNvSpPr>
            <a:spLocks noGrp="1"/>
          </p:cNvSpPr>
          <p:nvPr/>
        </p:nvSpPr>
        <p:spPr bwMode="auto">
          <a:xfrm>
            <a:off x="1952625" y="1857375"/>
            <a:ext cx="8096250" cy="323850"/>
          </a:xfrm>
          <a:prstGeom prst="rect">
            <a:avLst/>
          </a:prstGeom>
          <a:noFill/>
          <a:ln w="0">
            <a:noFill/>
            <a:prstDash val="solid"/>
          </a:ln>
        </p:spPr>
        <p:txBody>
          <a:bodyPr/>
          <a:lstStyle/>
          <a:p>
            <a:pPr algn="ctr">
              <a:buNone/>
              <a:defRPr sz="2050" b="1">
                <a:solidFill>
                  <a:srgbClr val="2563EB"/>
                </a:solidFill>
              </a:defRPr>
            </a:pPr>
            <a:r>
              <a:rPr sz="2050" b="1">
                <a:solidFill>
                  <a:srgbClr val="2563EB"/>
                </a:solidFill>
              </a:rPr>
              <a:t>The model may emit a control token instead of ordinary text.</a:t>
            </a:r>
            <a:endParaRPr/>
          </a:p>
        </p:txBody>
      </p:sp>
      <p:sp>
        <p:nvSpPr>
          <p:cNvPr id="2065187266" name="Rectangle 20420905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65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80038810" name="Rectangle 174762547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Transformer</a:t>
            </a:r>
            <a:endParaRPr/>
          </a:p>
        </p:txBody>
      </p:sp>
      <p:sp>
        <p:nvSpPr>
          <p:cNvPr id="904306493" name="Rectangle 1692741899"/>
          <p:cNvSpPr>
            <a:spLocks noGrp="1"/>
          </p:cNvSpPr>
          <p:nvPr/>
        </p:nvSpPr>
        <p:spPr bwMode="auto">
          <a:xfrm>
            <a:off x="609600" y="590549"/>
            <a:ext cx="9906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Why FFNs help is still not fully settled</a:t>
            </a:r>
            <a:endParaRPr/>
          </a:p>
        </p:txBody>
      </p:sp>
      <p:sp>
        <p:nvSpPr>
          <p:cNvPr id="1345940870" name="Rectangle: Rounded Corners 258575892"/>
          <p:cNvSpPr>
            <a:spLocks noGrp="1"/>
          </p:cNvSpPr>
          <p:nvPr/>
        </p:nvSpPr>
        <p:spPr bwMode="auto">
          <a:xfrm>
            <a:off x="609600" y="1352550"/>
            <a:ext cx="10972800" cy="4762500"/>
          </a:xfrm>
          <a:prstGeom prst="roundRect">
            <a:avLst>
              <a:gd name="adj" fmla="val 2400"/>
            </a:avLst>
          </a:prstGeom>
          <a:solidFill>
            <a:srgbClr val="F8FAFC"/>
          </a:solidFill>
          <a:ln w="14288">
            <a:solidFill>
              <a:srgbClr val="E2E8F0"/>
            </a:solidFill>
            <a:prstDash val="solid"/>
          </a:ln>
        </p:spPr>
        <p:txBody>
          <a:bodyPr/>
          <a:lstStyle/>
          <a:p>
            <a:pPr>
              <a:buNone/>
              <a:defRPr/>
            </a:pPr>
            <a:endParaRPr/>
          </a:p>
        </p:txBody>
      </p:sp>
      <p:sp>
        <p:nvSpPr>
          <p:cNvPr id="1926026905" name="Rectangle: Rounded Corners 1069258196"/>
          <p:cNvSpPr>
            <a:spLocks noGrp="1"/>
          </p:cNvSpPr>
          <p:nvPr/>
        </p:nvSpPr>
        <p:spPr bwMode="auto">
          <a:xfrm>
            <a:off x="1000125" y="2457450"/>
            <a:ext cx="4953000" cy="647700"/>
          </a:xfrm>
          <a:prstGeom prst="roundRect">
            <a:avLst>
              <a:gd name="adj" fmla="val 17647"/>
            </a:avLst>
          </a:prstGeom>
          <a:solidFill>
            <a:srgbClr val="FFFFFF"/>
          </a:solidFill>
          <a:ln w="14288">
            <a:solidFill>
              <a:srgbClr val="CBD5E1"/>
            </a:solidFill>
            <a:prstDash val="solid"/>
          </a:ln>
        </p:spPr>
        <p:txBody>
          <a:bodyPr anchor="ctr"/>
          <a:lstStyle/>
          <a:p>
            <a:pPr algn="l">
              <a:buNone/>
              <a:defRPr sz="1600" b="1">
                <a:solidFill>
                  <a:srgbClr val="0B0F19"/>
                </a:solidFill>
              </a:defRPr>
            </a:pPr>
            <a:r>
              <a:rPr sz="1600" b="1">
                <a:solidFill>
                  <a:srgbClr val="0B0F19"/>
                </a:solidFill>
              </a:rPr>
              <a:t>Known: FFNs detect and combine learned features.</a:t>
            </a:r>
            <a:endParaRPr/>
          </a:p>
        </p:txBody>
      </p:sp>
      <p:sp>
        <p:nvSpPr>
          <p:cNvPr id="1373115267" name="Rectangle: Rounded Corners 1837153769"/>
          <p:cNvSpPr>
            <a:spLocks noGrp="1"/>
          </p:cNvSpPr>
          <p:nvPr/>
        </p:nvSpPr>
        <p:spPr bwMode="auto">
          <a:xfrm>
            <a:off x="1000125" y="3314700"/>
            <a:ext cx="4953000" cy="685800"/>
          </a:xfrm>
          <a:prstGeom prst="roundRect">
            <a:avLst>
              <a:gd name="adj" fmla="val 17647"/>
            </a:avLst>
          </a:prstGeom>
          <a:solidFill>
            <a:srgbClr val="FFFFFF"/>
          </a:solidFill>
          <a:ln w="14288">
            <a:solidFill>
              <a:srgbClr val="CBD5E1"/>
            </a:solidFill>
            <a:prstDash val="solid"/>
          </a:ln>
        </p:spPr>
        <p:txBody>
          <a:bodyPr anchor="ctr"/>
          <a:lstStyle/>
          <a:p>
            <a:pPr algn="l">
              <a:buNone/>
              <a:defRPr sz="1450" b="1">
                <a:solidFill>
                  <a:srgbClr val="0B0F19"/>
                </a:solidFill>
              </a:defRPr>
            </a:pPr>
            <a:r>
              <a:rPr sz="1450" b="1">
                <a:solidFill>
                  <a:srgbClr val="0B0F19"/>
                </a:solidFill>
              </a:rPr>
              <a:t>Evidence: FFN weights can act like key–value parameter memory.</a:t>
            </a:r>
            <a:endParaRPr/>
          </a:p>
        </p:txBody>
      </p:sp>
      <p:sp>
        <p:nvSpPr>
          <p:cNvPr id="1325123561" name="Rectangle: Rounded Corners 744058578"/>
          <p:cNvSpPr>
            <a:spLocks noGrp="1"/>
          </p:cNvSpPr>
          <p:nvPr/>
        </p:nvSpPr>
        <p:spPr bwMode="auto">
          <a:xfrm>
            <a:off x="1000125" y="4210050"/>
            <a:ext cx="4953000" cy="704850"/>
          </a:xfrm>
          <a:prstGeom prst="roundRect">
            <a:avLst>
              <a:gd name="adj" fmla="val 17647"/>
            </a:avLst>
          </a:prstGeom>
          <a:solidFill>
            <a:srgbClr val="FEF2F2"/>
          </a:solidFill>
          <a:ln w="14288">
            <a:solidFill>
              <a:srgbClr val="EF4444"/>
            </a:solidFill>
            <a:prstDash val="solid"/>
          </a:ln>
        </p:spPr>
        <p:txBody>
          <a:bodyPr anchor="ctr"/>
          <a:lstStyle/>
          <a:p>
            <a:pPr algn="l">
              <a:buNone/>
              <a:defRPr sz="1450" b="1">
                <a:solidFill>
                  <a:srgbClr val="FF4D4F"/>
                </a:solidFill>
              </a:defRPr>
            </a:pPr>
            <a:r>
              <a:rPr sz="1450" b="1">
                <a:solidFill>
                  <a:srgbClr val="FF4D4F"/>
                </a:solidFill>
              </a:rPr>
              <a:t>Ablations: reducing FFN capacity shifts work elsewhere and can cost more compute.</a:t>
            </a:r>
            <a:endParaRPr/>
          </a:p>
        </p:txBody>
      </p:sp>
      <p:sp>
        <p:nvSpPr>
          <p:cNvPr id="1098428747" name="Rectangle 1294874812"/>
          <p:cNvSpPr>
            <a:spLocks noGrp="1"/>
          </p:cNvSpPr>
          <p:nvPr/>
        </p:nvSpPr>
        <p:spPr bwMode="auto">
          <a:xfrm>
            <a:off x="1000125" y="1657350"/>
            <a:ext cx="4953000" cy="609600"/>
          </a:xfrm>
          <a:prstGeom prst="rect">
            <a:avLst/>
          </a:prstGeom>
          <a:noFill/>
          <a:ln w="0">
            <a:noFill/>
            <a:prstDash val="solid"/>
          </a:ln>
        </p:spPr>
        <p:txBody>
          <a:bodyPr anchor="ctr"/>
          <a:lstStyle/>
          <a:p>
            <a:pPr algn="l">
              <a:buNone/>
              <a:defRPr sz="1600" b="1">
                <a:solidFill>
                  <a:srgbClr val="2563EB"/>
                </a:solidFill>
              </a:defRPr>
            </a:pPr>
            <a:r>
              <a:rPr sz="1600" b="1">
                <a:solidFill>
                  <a:srgbClr val="2563EB"/>
                </a:solidFill>
              </a:rPr>
              <a:t>Attention mixes tokens; the FFN transforms each token nonlinearly.</a:t>
            </a:r>
            <a:endParaRPr/>
          </a:p>
        </p:txBody>
      </p:sp>
      <p:sp>
        <p:nvSpPr>
          <p:cNvPr id="832496994" name="Rectangle 1106276676"/>
          <p:cNvSpPr>
            <a:spLocks noGrp="1"/>
          </p:cNvSpPr>
          <p:nvPr/>
        </p:nvSpPr>
        <p:spPr bwMode="auto">
          <a:xfrm>
            <a:off x="1000125" y="5124450"/>
            <a:ext cx="4953000" cy="590549"/>
          </a:xfrm>
          <a:prstGeom prst="rect">
            <a:avLst/>
          </a:prstGeom>
          <a:noFill/>
          <a:ln w="0">
            <a:noFill/>
            <a:prstDash val="solid"/>
          </a:ln>
        </p:spPr>
        <p:txBody>
          <a:bodyPr anchor="ctr"/>
          <a:lstStyle/>
          <a:p>
            <a:pPr algn="l">
              <a:buNone/>
              <a:defRPr sz="1350" b="1">
                <a:solidFill>
                  <a:srgbClr val="FF4D4F"/>
                </a:solidFill>
              </a:defRPr>
            </a:pPr>
            <a:r>
              <a:rPr sz="1350" b="1">
                <a:solidFill>
                  <a:srgbClr val="FF4D4F"/>
                </a:solidFill>
              </a:rPr>
              <a:t>Conclusion: the mechanism is clearer than the single cause of the performance gain.</a:t>
            </a:r>
            <a:endParaRPr/>
          </a:p>
        </p:txBody>
      </p:sp>
      <p:sp>
        <p:nvSpPr>
          <p:cNvPr id="582772547" name="Rectangle 1479918333"/>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66</a:t>
            </a:r>
            <a:endParaRPr/>
          </a:p>
        </p:txBody>
      </p:sp>
      <p:pic>
        <p:nvPicPr>
          <p:cNvPr id="1541630390" name="Picture 1837153780"/>
          <p:cNvPicPr>
            <a:picLocks noChangeAspect="1"/>
          </p:cNvPicPr>
          <p:nvPr/>
        </p:nvPicPr>
        <p:blipFill rotWithShape="1">
          <a:blip r:embed="rId3"/>
          <a:stretch/>
        </p:blipFill>
        <p:spPr bwMode="auto">
          <a:xfrm>
            <a:off x="7084067" y="1543050"/>
            <a:ext cx="3310241" cy="43815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969347640"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Diffusion</a:t>
            </a:r>
            <a:endParaRPr/>
          </a:p>
        </p:txBody>
      </p:sp>
      <p:sp>
        <p:nvSpPr>
          <p:cNvPr id="1479590747" name="Rectangle 251777344"/>
          <p:cNvSpPr>
            <a:spLocks noGrp="1"/>
          </p:cNvSpPr>
          <p:nvPr/>
        </p:nvSpPr>
        <p:spPr bwMode="auto">
          <a:xfrm>
            <a:off x="609600" y="590549"/>
            <a:ext cx="10287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Diffusion learns to reverse noise</a:t>
            </a:r>
            <a:endParaRPr/>
          </a:p>
        </p:txBody>
      </p:sp>
      <p:sp>
        <p:nvSpPr>
          <p:cNvPr id="1046760875" name="Rectangle: Rounded Corners 1456392341"/>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buNone/>
              <a:defRPr/>
            </a:pPr>
            <a:endParaRPr/>
          </a:p>
        </p:txBody>
      </p:sp>
      <p:sp>
        <p:nvSpPr>
          <p:cNvPr id="639164335"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67</a:t>
            </a:r>
            <a:endParaRPr/>
          </a:p>
        </p:txBody>
      </p:sp>
      <p:pic>
        <p:nvPicPr>
          <p:cNvPr id="2135818721" name="Picture 1495975738"/>
          <p:cNvPicPr>
            <a:picLocks noChangeAspect="1"/>
          </p:cNvPicPr>
          <p:nvPr/>
        </p:nvPicPr>
        <p:blipFill rotWithShape="1">
          <a:blip r:embed="rId3"/>
          <a:srcRect l="0" t="15961" r="0" b="15960"/>
          <a:stretch>
            <a:fillRect l="0" t="0" r="0" b="0"/>
          </a:stretch>
        </p:blipFill>
        <p:spPr bwMode="auto">
          <a:xfrm>
            <a:off x="1000125" y="1695450"/>
            <a:ext cx="10191750" cy="3905250"/>
          </a:xfrm>
          <a:prstGeom prst="rect">
            <a:avLst/>
          </a:prstGeom>
        </p:spPr>
      </p:pic>
      <p:sp>
        <p:nvSpPr>
          <p:cNvPr id="1121468609" name="diffusion-forward-label"/>
          <p:cNvSpPr>
            <a:spLocks noGrp="1"/>
          </p:cNvSpPr>
          <p:nvPr/>
        </p:nvSpPr>
        <p:spPr bwMode="auto">
          <a:xfrm>
            <a:off x="1571625" y="1600200"/>
            <a:ext cx="3429000" cy="342900"/>
          </a:xfrm>
          <a:prstGeom prst="rect">
            <a:avLst/>
          </a:prstGeom>
          <a:noFill/>
          <a:ln w="0">
            <a:noFill/>
            <a:prstDash val="solid"/>
          </a:ln>
        </p:spPr>
        <p:txBody>
          <a:bodyPr/>
          <a:lstStyle/>
          <a:p>
            <a:pPr algn="l">
              <a:buNone/>
              <a:defRPr sz="1500" b="1">
                <a:solidFill>
                  <a:srgbClr val="667085"/>
                </a:solidFill>
              </a:defRPr>
            </a:pPr>
            <a:r>
              <a:rPr sz="1500" b="1">
                <a:solidFill>
                  <a:srgbClr val="667085"/>
                </a:solidFill>
              </a:rPr>
              <a:t>Forward: gradually add noise →</a:t>
            </a:r>
            <a:endParaRPr/>
          </a:p>
        </p:txBody>
      </p:sp>
      <p:sp>
        <p:nvSpPr>
          <p:cNvPr id="1256707019" name="diffusion-reverse-label"/>
          <p:cNvSpPr>
            <a:spLocks noGrp="1"/>
          </p:cNvSpPr>
          <p:nvPr/>
        </p:nvSpPr>
        <p:spPr bwMode="auto">
          <a:xfrm>
            <a:off x="6381750" y="5467350"/>
            <a:ext cx="4381500" cy="381000"/>
          </a:xfrm>
          <a:prstGeom prst="rect">
            <a:avLst/>
          </a:prstGeom>
          <a:noFill/>
          <a:ln w="0">
            <a:noFill/>
            <a:prstDash val="solid"/>
          </a:ln>
        </p:spPr>
        <p:txBody>
          <a:bodyPr/>
          <a:lstStyle/>
          <a:p>
            <a:pPr algn="r">
              <a:buNone/>
              <a:defRPr sz="1500" b="1">
                <a:solidFill>
                  <a:srgbClr val="2563EB"/>
                </a:solidFill>
              </a:defRPr>
            </a:pPr>
            <a:r>
              <a:rPr sz="1500" b="1">
                <a:solidFill>
                  <a:srgbClr val="2563EB"/>
                </a:solidFill>
              </a:rPr>
              <a:t>← Generation: predict and remove noise step by step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9163863" name="Rectangle 55039960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Alternative generation</a:t>
            </a:r>
            <a:endParaRPr/>
          </a:p>
        </p:txBody>
      </p:sp>
      <p:sp>
        <p:nvSpPr>
          <p:cNvPr id="525119099" name="Rectangle 882538346"/>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dLLMs refine many token positions in parallel</a:t>
            </a:r>
            <a:endParaRPr/>
          </a:p>
        </p:txBody>
      </p:sp>
      <p:sp>
        <p:nvSpPr>
          <p:cNvPr id="616537973" name="Rectangle: Rounded Corners 1990867235"/>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buNone/>
              <a:defRPr/>
            </a:pPr>
            <a:endParaRPr/>
          </a:p>
        </p:txBody>
      </p:sp>
      <p:sp>
        <p:nvSpPr>
          <p:cNvPr id="1003719460" name="Rectangle 9623160"/>
          <p:cNvSpPr>
            <a:spLocks noGrp="1"/>
          </p:cNvSpPr>
          <p:nvPr/>
        </p:nvSpPr>
        <p:spPr bwMode="auto">
          <a:xfrm>
            <a:off x="1123950" y="2286000"/>
            <a:ext cx="1143000" cy="285750"/>
          </a:xfrm>
          <a:prstGeom prst="rect">
            <a:avLst/>
          </a:prstGeom>
          <a:noFill/>
          <a:ln w="0">
            <a:noFill/>
            <a:prstDash val="solid"/>
          </a:ln>
        </p:spPr>
        <p:txBody>
          <a:bodyPr/>
          <a:lstStyle/>
          <a:p>
            <a:pPr algn="r">
              <a:buNone/>
              <a:defRPr sz="1650" b="1">
                <a:solidFill>
                  <a:srgbClr val="667085"/>
                </a:solidFill>
              </a:defRPr>
            </a:pPr>
            <a:r>
              <a:rPr sz="1650" b="1">
                <a:solidFill>
                  <a:srgbClr val="667085"/>
                </a:solidFill>
              </a:rPr>
              <a:t>noise</a:t>
            </a:r>
            <a:endParaRPr/>
          </a:p>
        </p:txBody>
      </p:sp>
      <p:sp>
        <p:nvSpPr>
          <p:cNvPr id="1628042027" name="Rectangle: Rounded Corners 114855872"/>
          <p:cNvSpPr>
            <a:spLocks noGrp="1"/>
          </p:cNvSpPr>
          <p:nvPr/>
        </p:nvSpPr>
        <p:spPr bwMode="auto">
          <a:xfrm>
            <a:off x="2619375" y="2190750"/>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837013708" name="Rectangle: Rounded Corners 734158913"/>
          <p:cNvSpPr>
            <a:spLocks noGrp="1"/>
          </p:cNvSpPr>
          <p:nvPr/>
        </p:nvSpPr>
        <p:spPr bwMode="auto">
          <a:xfrm>
            <a:off x="3619500" y="2190750"/>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921969584" name="Rectangle: Rounded Corners 1596678256"/>
          <p:cNvSpPr>
            <a:spLocks noGrp="1"/>
          </p:cNvSpPr>
          <p:nvPr/>
        </p:nvSpPr>
        <p:spPr bwMode="auto">
          <a:xfrm>
            <a:off x="4619625" y="2190750"/>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188282078" name="Rectangle: Rounded Corners 2059288131"/>
          <p:cNvSpPr>
            <a:spLocks noGrp="1"/>
          </p:cNvSpPr>
          <p:nvPr/>
        </p:nvSpPr>
        <p:spPr bwMode="auto">
          <a:xfrm>
            <a:off x="5619750" y="2190750"/>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1001300351" name="Rectangle: Rounded Corners 1010991302"/>
          <p:cNvSpPr>
            <a:spLocks noGrp="1"/>
          </p:cNvSpPr>
          <p:nvPr/>
        </p:nvSpPr>
        <p:spPr bwMode="auto">
          <a:xfrm>
            <a:off x="6619875" y="2190750"/>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1406982898" name="Rectangle: Rounded Corners 1730168992"/>
          <p:cNvSpPr>
            <a:spLocks noGrp="1"/>
          </p:cNvSpPr>
          <p:nvPr/>
        </p:nvSpPr>
        <p:spPr bwMode="auto">
          <a:xfrm>
            <a:off x="7620000" y="2190750"/>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425689611" name="Straight Connector 427538637"/>
          <p:cNvSpPr>
            <a:spLocks noGrp="1"/>
          </p:cNvSpPr>
          <p:nvPr/>
        </p:nvSpPr>
        <p:spPr bwMode="auto">
          <a:xfrm>
            <a:off x="5524500" y="2819400"/>
            <a:ext cx="9525" cy="285750"/>
          </a:xfrm>
          <a:prstGeom prst="line">
            <a:avLst/>
          </a:prstGeom>
          <a:noFill/>
          <a:ln w="23813">
            <a:solidFill>
              <a:srgbClr val="CBD5E1"/>
            </a:solidFill>
            <a:prstDash val="solid"/>
          </a:ln>
        </p:spPr>
        <p:txBody>
          <a:bodyPr/>
          <a:lstStyle/>
          <a:p>
            <a:pPr>
              <a:buNone/>
              <a:defRPr/>
            </a:pPr>
            <a:endParaRPr/>
          </a:p>
        </p:txBody>
      </p:sp>
      <p:sp>
        <p:nvSpPr>
          <p:cNvPr id="1022006013" name="Rectangle 317775176"/>
          <p:cNvSpPr>
            <a:spLocks noGrp="1"/>
          </p:cNvSpPr>
          <p:nvPr/>
        </p:nvSpPr>
        <p:spPr bwMode="auto">
          <a:xfrm>
            <a:off x="1123950" y="3314700"/>
            <a:ext cx="1143000" cy="285750"/>
          </a:xfrm>
          <a:prstGeom prst="rect">
            <a:avLst/>
          </a:prstGeom>
          <a:noFill/>
          <a:ln w="0">
            <a:noFill/>
            <a:prstDash val="solid"/>
          </a:ln>
        </p:spPr>
        <p:txBody>
          <a:bodyPr/>
          <a:lstStyle/>
          <a:p>
            <a:pPr algn="r">
              <a:buNone/>
              <a:defRPr sz="1650" b="1">
                <a:solidFill>
                  <a:srgbClr val="F97316"/>
                </a:solidFill>
              </a:defRPr>
            </a:pPr>
            <a:r>
              <a:rPr sz="1650" b="1">
                <a:solidFill>
                  <a:srgbClr val="F97316"/>
                </a:solidFill>
              </a:rPr>
              <a:t>step 1</a:t>
            </a:r>
            <a:endParaRPr/>
          </a:p>
        </p:txBody>
      </p:sp>
      <p:sp>
        <p:nvSpPr>
          <p:cNvPr id="1878268209" name="Rectangle: Rounded Corners 947755655"/>
          <p:cNvSpPr>
            <a:spLocks noGrp="1"/>
          </p:cNvSpPr>
          <p:nvPr/>
        </p:nvSpPr>
        <p:spPr bwMode="auto">
          <a:xfrm>
            <a:off x="2619375" y="3219449"/>
            <a:ext cx="819150" cy="514350"/>
          </a:xfrm>
          <a:prstGeom prst="roundRect">
            <a:avLst>
              <a:gd name="adj" fmla="val 22222"/>
            </a:avLst>
          </a:prstGeom>
          <a:solidFill>
            <a:srgbClr val="FFFFFF"/>
          </a:solidFill>
          <a:ln w="14288">
            <a:solidFill>
              <a:srgbClr val="F97316"/>
            </a:solidFill>
            <a:prstDash val="solid"/>
          </a:ln>
        </p:spPr>
        <p:txBody>
          <a:bodyPr/>
          <a:lstStyle/>
          <a:p>
            <a:pPr algn="ctr">
              <a:buNone/>
              <a:defRPr sz="1500" b="1">
                <a:solidFill>
                  <a:srgbClr val="0B0F19"/>
                </a:solidFill>
              </a:defRPr>
            </a:pPr>
            <a:r>
              <a:rPr sz="1500" b="1">
                <a:solidFill>
                  <a:srgbClr val="0B0F19"/>
                </a:solidFill>
              </a:rPr>
              <a:t>The</a:t>
            </a:r>
            <a:endParaRPr/>
          </a:p>
        </p:txBody>
      </p:sp>
      <p:sp>
        <p:nvSpPr>
          <p:cNvPr id="404393407" name="Rectangle: Rounded Corners 1310797679"/>
          <p:cNvSpPr>
            <a:spLocks noGrp="1"/>
          </p:cNvSpPr>
          <p:nvPr/>
        </p:nvSpPr>
        <p:spPr bwMode="auto">
          <a:xfrm>
            <a:off x="3619500" y="3219449"/>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952941388" name="Rectangle: Rounded Corners 1996140323"/>
          <p:cNvSpPr>
            <a:spLocks noGrp="1"/>
          </p:cNvSpPr>
          <p:nvPr/>
        </p:nvSpPr>
        <p:spPr bwMode="auto">
          <a:xfrm>
            <a:off x="4619625" y="3219449"/>
            <a:ext cx="819150" cy="514350"/>
          </a:xfrm>
          <a:prstGeom prst="roundRect">
            <a:avLst>
              <a:gd name="adj" fmla="val 22222"/>
            </a:avLst>
          </a:prstGeom>
          <a:solidFill>
            <a:srgbClr val="FFFFFF"/>
          </a:solidFill>
          <a:ln w="14288">
            <a:solidFill>
              <a:srgbClr val="F97316"/>
            </a:solidFill>
            <a:prstDash val="solid"/>
          </a:ln>
        </p:spPr>
        <p:txBody>
          <a:bodyPr/>
          <a:lstStyle/>
          <a:p>
            <a:pPr algn="ctr">
              <a:buNone/>
              <a:defRPr sz="1500" b="1">
                <a:solidFill>
                  <a:srgbClr val="0B0F19"/>
                </a:solidFill>
              </a:defRPr>
            </a:pPr>
            <a:r>
              <a:rPr sz="1500" b="1">
                <a:solidFill>
                  <a:srgbClr val="0B0F19"/>
                </a:solidFill>
              </a:rPr>
              <a:t>learns</a:t>
            </a:r>
            <a:endParaRPr/>
          </a:p>
        </p:txBody>
      </p:sp>
      <p:sp>
        <p:nvSpPr>
          <p:cNvPr id="1894230769" name="Rectangle: Rounded Corners 242163070"/>
          <p:cNvSpPr>
            <a:spLocks noGrp="1"/>
          </p:cNvSpPr>
          <p:nvPr/>
        </p:nvSpPr>
        <p:spPr bwMode="auto">
          <a:xfrm>
            <a:off x="5619750" y="3219449"/>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1218267499" name="Rectangle: Rounded Corners 787924439"/>
          <p:cNvSpPr>
            <a:spLocks noGrp="1"/>
          </p:cNvSpPr>
          <p:nvPr/>
        </p:nvSpPr>
        <p:spPr bwMode="auto">
          <a:xfrm>
            <a:off x="6619875" y="3219449"/>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345737195" name="Rectangle: Rounded Corners 2036973233"/>
          <p:cNvSpPr>
            <a:spLocks noGrp="1"/>
          </p:cNvSpPr>
          <p:nvPr/>
        </p:nvSpPr>
        <p:spPr bwMode="auto">
          <a:xfrm>
            <a:off x="7620000" y="3219449"/>
            <a:ext cx="819150" cy="514350"/>
          </a:xfrm>
          <a:prstGeom prst="roundRect">
            <a:avLst>
              <a:gd name="adj" fmla="val 22222"/>
            </a:avLst>
          </a:prstGeom>
          <a:solidFill>
            <a:srgbClr val="FFFFFF"/>
          </a:solidFill>
          <a:ln w="14288">
            <a:solidFill>
              <a:srgbClr val="F97316"/>
            </a:solidFill>
            <a:prstDash val="solid"/>
          </a:ln>
        </p:spPr>
        <p:txBody>
          <a:bodyPr/>
          <a:lstStyle/>
          <a:p>
            <a:pPr algn="ctr">
              <a:buNone/>
              <a:defRPr sz="1500" b="1">
                <a:solidFill>
                  <a:srgbClr val="0B0F19"/>
                </a:solidFill>
              </a:defRPr>
            </a:pPr>
            <a:r>
              <a:rPr sz="1500" b="1">
                <a:solidFill>
                  <a:srgbClr val="0B0F19"/>
                </a:solidFill>
              </a:rPr>
              <a:t>.</a:t>
            </a:r>
            <a:endParaRPr/>
          </a:p>
        </p:txBody>
      </p:sp>
      <p:sp>
        <p:nvSpPr>
          <p:cNvPr id="1318905465" name="Straight Connector 2017847098"/>
          <p:cNvSpPr>
            <a:spLocks noGrp="1"/>
          </p:cNvSpPr>
          <p:nvPr/>
        </p:nvSpPr>
        <p:spPr bwMode="auto">
          <a:xfrm>
            <a:off x="5524500" y="3848100"/>
            <a:ext cx="9525" cy="285750"/>
          </a:xfrm>
          <a:prstGeom prst="line">
            <a:avLst/>
          </a:prstGeom>
          <a:noFill/>
          <a:ln w="23813">
            <a:solidFill>
              <a:srgbClr val="CBD5E1"/>
            </a:solidFill>
            <a:prstDash val="solid"/>
          </a:ln>
        </p:spPr>
        <p:txBody>
          <a:bodyPr/>
          <a:lstStyle/>
          <a:p>
            <a:pPr>
              <a:buNone/>
              <a:defRPr/>
            </a:pPr>
            <a:endParaRPr/>
          </a:p>
        </p:txBody>
      </p:sp>
      <p:sp>
        <p:nvSpPr>
          <p:cNvPr id="626414713" name="Rectangle 420069148"/>
          <p:cNvSpPr>
            <a:spLocks noGrp="1"/>
          </p:cNvSpPr>
          <p:nvPr/>
        </p:nvSpPr>
        <p:spPr bwMode="auto">
          <a:xfrm>
            <a:off x="1123950" y="4343400"/>
            <a:ext cx="1143000" cy="285750"/>
          </a:xfrm>
          <a:prstGeom prst="rect">
            <a:avLst/>
          </a:prstGeom>
          <a:noFill/>
          <a:ln w="0">
            <a:noFill/>
            <a:prstDash val="solid"/>
          </a:ln>
        </p:spPr>
        <p:txBody>
          <a:bodyPr/>
          <a:lstStyle/>
          <a:p>
            <a:pPr algn="r">
              <a:buNone/>
              <a:defRPr sz="1650" b="1">
                <a:solidFill>
                  <a:srgbClr val="10B981"/>
                </a:solidFill>
              </a:defRPr>
            </a:pPr>
            <a:r>
              <a:rPr sz="1650" b="1">
                <a:solidFill>
                  <a:srgbClr val="10B981"/>
                </a:solidFill>
              </a:rPr>
              <a:t>step 2</a:t>
            </a:r>
            <a:endParaRPr/>
          </a:p>
        </p:txBody>
      </p:sp>
      <p:sp>
        <p:nvSpPr>
          <p:cNvPr id="2074382474" name="Rectangle: Rounded Corners 1532010383"/>
          <p:cNvSpPr>
            <a:spLocks noGrp="1"/>
          </p:cNvSpPr>
          <p:nvPr/>
        </p:nvSpPr>
        <p:spPr bwMode="auto">
          <a:xfrm>
            <a:off x="2619375" y="424815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The</a:t>
            </a:r>
            <a:endParaRPr/>
          </a:p>
        </p:txBody>
      </p:sp>
      <p:sp>
        <p:nvSpPr>
          <p:cNvPr id="391636711" name="Rectangle: Rounded Corners 1983276117"/>
          <p:cNvSpPr>
            <a:spLocks noGrp="1"/>
          </p:cNvSpPr>
          <p:nvPr/>
        </p:nvSpPr>
        <p:spPr bwMode="auto">
          <a:xfrm>
            <a:off x="3619500" y="424815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model</a:t>
            </a:r>
            <a:endParaRPr/>
          </a:p>
        </p:txBody>
      </p:sp>
      <p:sp>
        <p:nvSpPr>
          <p:cNvPr id="1394711689" name="Rectangle: Rounded Corners 1047163946"/>
          <p:cNvSpPr>
            <a:spLocks noGrp="1"/>
          </p:cNvSpPr>
          <p:nvPr/>
        </p:nvSpPr>
        <p:spPr bwMode="auto">
          <a:xfrm>
            <a:off x="4619625" y="424815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learns</a:t>
            </a:r>
            <a:endParaRPr/>
          </a:p>
        </p:txBody>
      </p:sp>
      <p:sp>
        <p:nvSpPr>
          <p:cNvPr id="1201703795" name="Rectangle: Rounded Corners 523171807"/>
          <p:cNvSpPr>
            <a:spLocks noGrp="1"/>
          </p:cNvSpPr>
          <p:nvPr/>
        </p:nvSpPr>
        <p:spPr bwMode="auto">
          <a:xfrm>
            <a:off x="5619750" y="424815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from</a:t>
            </a:r>
            <a:endParaRPr/>
          </a:p>
        </p:txBody>
      </p:sp>
      <p:sp>
        <p:nvSpPr>
          <p:cNvPr id="1096377570" name="Rectangle: Rounded Corners 752356456"/>
          <p:cNvSpPr>
            <a:spLocks noGrp="1"/>
          </p:cNvSpPr>
          <p:nvPr/>
        </p:nvSpPr>
        <p:spPr bwMode="auto">
          <a:xfrm>
            <a:off x="6619875" y="4248150"/>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1841968452" name="Rectangle: Rounded Corners 816374805"/>
          <p:cNvSpPr>
            <a:spLocks noGrp="1"/>
          </p:cNvSpPr>
          <p:nvPr/>
        </p:nvSpPr>
        <p:spPr bwMode="auto">
          <a:xfrm>
            <a:off x="7620000" y="424815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a:t>
            </a:r>
            <a:endParaRPr/>
          </a:p>
        </p:txBody>
      </p:sp>
      <p:sp>
        <p:nvSpPr>
          <p:cNvPr id="820319488" name="Straight Connector 1386166301"/>
          <p:cNvSpPr>
            <a:spLocks noGrp="1"/>
          </p:cNvSpPr>
          <p:nvPr/>
        </p:nvSpPr>
        <p:spPr bwMode="auto">
          <a:xfrm>
            <a:off x="5524500" y="4876800"/>
            <a:ext cx="9525" cy="285750"/>
          </a:xfrm>
          <a:prstGeom prst="line">
            <a:avLst/>
          </a:prstGeom>
          <a:noFill/>
          <a:ln w="23813">
            <a:solidFill>
              <a:srgbClr val="CBD5E1"/>
            </a:solidFill>
            <a:prstDash val="solid"/>
          </a:ln>
        </p:spPr>
        <p:txBody>
          <a:bodyPr/>
          <a:lstStyle/>
          <a:p>
            <a:pPr>
              <a:buNone/>
              <a:defRPr/>
            </a:pPr>
            <a:endParaRPr/>
          </a:p>
        </p:txBody>
      </p:sp>
      <p:sp>
        <p:nvSpPr>
          <p:cNvPr id="185340651" name="Rectangle 1180679312"/>
          <p:cNvSpPr>
            <a:spLocks noGrp="1"/>
          </p:cNvSpPr>
          <p:nvPr/>
        </p:nvSpPr>
        <p:spPr bwMode="auto">
          <a:xfrm>
            <a:off x="1123950" y="5372100"/>
            <a:ext cx="1143000" cy="285750"/>
          </a:xfrm>
          <a:prstGeom prst="rect">
            <a:avLst/>
          </a:prstGeom>
          <a:noFill/>
          <a:ln w="0">
            <a:noFill/>
            <a:prstDash val="solid"/>
          </a:ln>
        </p:spPr>
        <p:txBody>
          <a:bodyPr/>
          <a:lstStyle/>
          <a:p>
            <a:pPr algn="r">
              <a:buNone/>
              <a:defRPr sz="1650" b="1">
                <a:solidFill>
                  <a:srgbClr val="2563EB"/>
                </a:solidFill>
              </a:defRPr>
            </a:pPr>
            <a:r>
              <a:rPr sz="1650" b="1">
                <a:solidFill>
                  <a:srgbClr val="2563EB"/>
                </a:solidFill>
              </a:rPr>
              <a:t>text</a:t>
            </a:r>
            <a:endParaRPr/>
          </a:p>
        </p:txBody>
      </p:sp>
      <p:sp>
        <p:nvSpPr>
          <p:cNvPr id="429861208" name="Rectangle: Rounded Corners 1119801345"/>
          <p:cNvSpPr>
            <a:spLocks noGrp="1"/>
          </p:cNvSpPr>
          <p:nvPr/>
        </p:nvSpPr>
        <p:spPr bwMode="auto">
          <a:xfrm>
            <a:off x="2619375" y="5276850"/>
            <a:ext cx="819150" cy="514350"/>
          </a:xfrm>
          <a:prstGeom prst="roundRect">
            <a:avLst>
              <a:gd name="adj" fmla="val 22222"/>
            </a:avLst>
          </a:prstGeom>
          <a:solidFill>
            <a:srgbClr val="FFFFFF"/>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The</a:t>
            </a:r>
            <a:endParaRPr/>
          </a:p>
        </p:txBody>
      </p:sp>
      <p:sp>
        <p:nvSpPr>
          <p:cNvPr id="1891622090" name="Rectangle: Rounded Corners 563472098"/>
          <p:cNvSpPr>
            <a:spLocks noGrp="1"/>
          </p:cNvSpPr>
          <p:nvPr/>
        </p:nvSpPr>
        <p:spPr bwMode="auto">
          <a:xfrm>
            <a:off x="3619500" y="5276850"/>
            <a:ext cx="819150" cy="514350"/>
          </a:xfrm>
          <a:prstGeom prst="roundRect">
            <a:avLst>
              <a:gd name="adj" fmla="val 22222"/>
            </a:avLst>
          </a:prstGeom>
          <a:solidFill>
            <a:srgbClr val="FFFFFF"/>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model</a:t>
            </a:r>
            <a:endParaRPr/>
          </a:p>
        </p:txBody>
      </p:sp>
      <p:sp>
        <p:nvSpPr>
          <p:cNvPr id="616916629" name="Rectangle: Rounded Corners 1869507790"/>
          <p:cNvSpPr>
            <a:spLocks noGrp="1"/>
          </p:cNvSpPr>
          <p:nvPr/>
        </p:nvSpPr>
        <p:spPr bwMode="auto">
          <a:xfrm>
            <a:off x="4619625" y="5276850"/>
            <a:ext cx="819150" cy="514350"/>
          </a:xfrm>
          <a:prstGeom prst="roundRect">
            <a:avLst>
              <a:gd name="adj" fmla="val 22222"/>
            </a:avLst>
          </a:prstGeom>
          <a:solidFill>
            <a:srgbClr val="FFFFFF"/>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learns</a:t>
            </a:r>
            <a:endParaRPr/>
          </a:p>
        </p:txBody>
      </p:sp>
      <p:sp>
        <p:nvSpPr>
          <p:cNvPr id="952434794" name="Rectangle: Rounded Corners 2113559938"/>
          <p:cNvSpPr>
            <a:spLocks noGrp="1"/>
          </p:cNvSpPr>
          <p:nvPr/>
        </p:nvSpPr>
        <p:spPr bwMode="auto">
          <a:xfrm>
            <a:off x="5619750" y="5276850"/>
            <a:ext cx="819150" cy="514350"/>
          </a:xfrm>
          <a:prstGeom prst="roundRect">
            <a:avLst>
              <a:gd name="adj" fmla="val 22222"/>
            </a:avLst>
          </a:prstGeom>
          <a:solidFill>
            <a:srgbClr val="FFFFFF"/>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from</a:t>
            </a:r>
            <a:endParaRPr/>
          </a:p>
        </p:txBody>
      </p:sp>
      <p:sp>
        <p:nvSpPr>
          <p:cNvPr id="1189430609" name="Rectangle: Rounded Corners 274418513"/>
          <p:cNvSpPr>
            <a:spLocks noGrp="1"/>
          </p:cNvSpPr>
          <p:nvPr/>
        </p:nvSpPr>
        <p:spPr bwMode="auto">
          <a:xfrm>
            <a:off x="6619875" y="5276850"/>
            <a:ext cx="819150" cy="514350"/>
          </a:xfrm>
          <a:prstGeom prst="roundRect">
            <a:avLst>
              <a:gd name="adj" fmla="val 22222"/>
            </a:avLst>
          </a:prstGeom>
          <a:solidFill>
            <a:srgbClr val="FFFFFF"/>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data</a:t>
            </a:r>
            <a:endParaRPr/>
          </a:p>
        </p:txBody>
      </p:sp>
      <p:sp>
        <p:nvSpPr>
          <p:cNvPr id="951118806" name="Rectangle: Rounded Corners 1941550636"/>
          <p:cNvSpPr>
            <a:spLocks noGrp="1"/>
          </p:cNvSpPr>
          <p:nvPr/>
        </p:nvSpPr>
        <p:spPr bwMode="auto">
          <a:xfrm>
            <a:off x="7620000" y="5276850"/>
            <a:ext cx="819150" cy="514350"/>
          </a:xfrm>
          <a:prstGeom prst="roundRect">
            <a:avLst>
              <a:gd name="adj" fmla="val 22222"/>
            </a:avLst>
          </a:prstGeom>
          <a:solidFill>
            <a:srgbClr val="FFFFFF"/>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a:t>
            </a:r>
            <a:endParaRPr/>
          </a:p>
        </p:txBody>
      </p:sp>
      <p:sp>
        <p:nvSpPr>
          <p:cNvPr id="2001048845" name="Rectangle 1798355039"/>
          <p:cNvSpPr>
            <a:spLocks noGrp="1"/>
          </p:cNvSpPr>
          <p:nvPr/>
        </p:nvSpPr>
        <p:spPr bwMode="auto">
          <a:xfrm>
            <a:off x="7562850" y="1704975"/>
            <a:ext cx="2857500" cy="285750"/>
          </a:xfrm>
          <a:prstGeom prst="rect">
            <a:avLst/>
          </a:prstGeom>
          <a:noFill/>
          <a:ln w="0">
            <a:noFill/>
            <a:prstDash val="solid"/>
          </a:ln>
        </p:spPr>
        <p:txBody>
          <a:bodyPr/>
          <a:lstStyle/>
          <a:p>
            <a:pPr algn="ctr">
              <a:buNone/>
              <a:defRPr sz="1800" b="1">
                <a:solidFill>
                  <a:srgbClr val="7C3AED"/>
                </a:solidFill>
              </a:defRPr>
            </a:pPr>
            <a:r>
              <a:rPr sz="1800" b="1">
                <a:solidFill>
                  <a:srgbClr val="7C3AED"/>
                </a:solidFill>
              </a:rPr>
              <a:t>not always left-to-right</a:t>
            </a:r>
            <a:endParaRPr/>
          </a:p>
        </p:txBody>
      </p:sp>
      <p:sp>
        <p:nvSpPr>
          <p:cNvPr id="1331086018" name="Rectangle 116188698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68</a:t>
            </a:r>
            <a:endParaRPr/>
          </a:p>
        </p:txBody>
      </p:sp>
      <p:sp>
        <p:nvSpPr>
          <p:cNvPr id="231935932" name="mercury-example-divider"/>
          <p:cNvSpPr>
            <a:spLocks noGrp="1"/>
          </p:cNvSpPr>
          <p:nvPr/>
        </p:nvSpPr>
        <p:spPr bwMode="auto">
          <a:xfrm>
            <a:off x="8763000" y="2266950"/>
            <a:ext cx="9525" cy="2857500"/>
          </a:xfrm>
          <a:prstGeom prst="line">
            <a:avLst/>
          </a:prstGeom>
          <a:noFill/>
          <a:ln w="14288">
            <a:solidFill>
              <a:srgbClr val="CBD5E1"/>
            </a:solidFill>
            <a:prstDash val="solid"/>
          </a:ln>
        </p:spPr>
        <p:txBody>
          <a:bodyPr/>
          <a:lstStyle/>
          <a:p>
            <a:pPr>
              <a:buNone/>
              <a:defRPr/>
            </a:pPr>
            <a:endParaRPr/>
          </a:p>
        </p:txBody>
      </p:sp>
      <p:sp>
        <p:nvSpPr>
          <p:cNvPr id="225498600" name="mercury-example-label"/>
          <p:cNvSpPr>
            <a:spLocks noGrp="1"/>
          </p:cNvSpPr>
          <p:nvPr/>
        </p:nvSpPr>
        <p:spPr bwMode="auto">
          <a:xfrm>
            <a:off x="9067800" y="2362199"/>
            <a:ext cx="2000250" cy="228600"/>
          </a:xfrm>
          <a:prstGeom prst="rect">
            <a:avLst/>
          </a:prstGeom>
          <a:noFill/>
          <a:ln w="0">
            <a:noFill/>
            <a:prstDash val="solid"/>
          </a:ln>
        </p:spPr>
        <p:txBody>
          <a:bodyPr/>
          <a:lstStyle/>
          <a:p>
            <a:pPr algn="l">
              <a:buNone/>
              <a:defRPr sz="1050" b="1">
                <a:solidFill>
                  <a:srgbClr val="667085"/>
                </a:solidFill>
              </a:defRPr>
            </a:pPr>
            <a:r>
              <a:rPr sz="1050" b="1">
                <a:solidFill>
                  <a:srgbClr val="667085"/>
                </a:solidFill>
              </a:rPr>
              <a:t>MERCURY 2</a:t>
            </a:r>
            <a:endParaRPr/>
          </a:p>
        </p:txBody>
      </p:sp>
      <p:sp>
        <p:nvSpPr>
          <p:cNvPr id="105845506" name="mercury-2-link"/>
          <p:cNvSpPr>
            <a:spLocks noGrp="1"/>
          </p:cNvSpPr>
          <p:nvPr/>
        </p:nvSpPr>
        <p:spPr bwMode="auto">
          <a:xfrm>
            <a:off x="9067800" y="2705100"/>
            <a:ext cx="2095500" cy="342900"/>
          </a:xfrm>
          <a:prstGeom prst="rect">
            <a:avLst/>
          </a:prstGeom>
          <a:noFill/>
          <a:ln w="0">
            <a:noFill/>
            <a:prstDash val="solid"/>
          </a:ln>
        </p:spPr>
        <p:txBody>
          <a:bodyPr/>
          <a:lstStyle/>
          <a:p>
            <a:pPr algn="l">
              <a:buNone/>
              <a:defRPr sz="1950" b="1">
                <a:solidFill>
                  <a:srgbClr val="7C3AED"/>
                </a:solidFill>
              </a:defRPr>
            </a:pPr>
            <a:r>
              <a:rPr sz="1950" b="1" u="sng">
                <a:solidFill>
                  <a:srgbClr val="7C3AED"/>
                </a:solidFill>
                <a:hlinkClick r:id="rId3" tooltip=""/>
              </a:rPr>
              <a:t>Transformer dLLM</a:t>
            </a:r>
            <a:endParaRPr/>
          </a:p>
        </p:txBody>
      </p:sp>
      <p:sp>
        <p:nvSpPr>
          <p:cNvPr id="1934553458" name="mercury-example-description"/>
          <p:cNvSpPr>
            <a:spLocks noGrp="1"/>
          </p:cNvSpPr>
          <p:nvPr/>
        </p:nvSpPr>
        <p:spPr bwMode="auto">
          <a:xfrm>
            <a:off x="9067800" y="3200400"/>
            <a:ext cx="2000250" cy="55245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noisy sequence</a:t>
            </a:r>
            <a:endParaRPr/>
          </a:p>
          <a:p>
            <a:pPr algn="l">
              <a:buNone/>
              <a:defRPr sz="1350" b="0">
                <a:solidFill>
                  <a:srgbClr val="0B0F19"/>
                </a:solidFill>
              </a:defRPr>
            </a:pPr>
            <a:r>
              <a:rPr sz="1350" b="0">
                <a:solidFill>
                  <a:srgbClr val="0B0F19"/>
                </a:solidFill>
              </a:rPr>
              <a:t>→ parallel predictions</a:t>
            </a:r>
            <a:endParaRPr/>
          </a:p>
        </p:txBody>
      </p:sp>
      <p:sp>
        <p:nvSpPr>
          <p:cNvPr id="1792713982" name="mercury-example-contrast"/>
          <p:cNvSpPr>
            <a:spLocks noGrp="1"/>
          </p:cNvSpPr>
          <p:nvPr/>
        </p:nvSpPr>
        <p:spPr bwMode="auto">
          <a:xfrm>
            <a:off x="9067800" y="4000500"/>
            <a:ext cx="2000250" cy="552450"/>
          </a:xfrm>
          <a:prstGeom prst="rect">
            <a:avLst/>
          </a:prstGeom>
          <a:noFill/>
          <a:ln w="0">
            <a:noFill/>
            <a:prstDash val="solid"/>
          </a:ln>
        </p:spPr>
        <p:txBody>
          <a:bodyPr/>
          <a:lstStyle/>
          <a:p>
            <a:pPr algn="l">
              <a:buNone/>
              <a:defRPr sz="1350" b="1">
                <a:solidFill>
                  <a:srgbClr val="2563EB"/>
                </a:solidFill>
              </a:defRPr>
            </a:pPr>
            <a:r>
              <a:rPr sz="1350" b="1">
                <a:solidFill>
                  <a:srgbClr val="2563EB"/>
                </a:solidFill>
              </a:rPr>
              <a:t>repeat refinement</a:t>
            </a:r>
            <a:endParaRPr/>
          </a:p>
          <a:p>
            <a:pPr algn="l">
              <a:buNone/>
              <a:defRPr sz="1350" b="1">
                <a:solidFill>
                  <a:srgbClr val="2563EB"/>
                </a:solidFill>
              </a:defRPr>
            </a:pPr>
            <a:r>
              <a:rPr sz="1350" b="1">
                <a:solidFill>
                  <a:srgbClr val="2563EB"/>
                </a:solidFill>
              </a:rPr>
              <a:t>→ final text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27690927" name="Rectangle 1487198538"/>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Faster inference</a:t>
            </a:r>
            <a:endParaRPr/>
          </a:p>
        </p:txBody>
      </p:sp>
      <p:sp>
        <p:nvSpPr>
          <p:cNvPr id="1221890003" name="Rectangle 1518038747"/>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Speculative decoding uses a draft-and-verify loop</a:t>
            </a:r>
            <a:endParaRPr/>
          </a:p>
        </p:txBody>
      </p:sp>
      <p:sp>
        <p:nvSpPr>
          <p:cNvPr id="1036816252" name="Rectangle: Rounded Corners 1531743003"/>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buNone/>
              <a:defRPr/>
            </a:pPr>
            <a:endParaRPr/>
          </a:p>
        </p:txBody>
      </p:sp>
      <p:sp>
        <p:nvSpPr>
          <p:cNvPr id="1013703346" name="Rectangle: Rounded Corners 369702881"/>
          <p:cNvSpPr>
            <a:spLocks noGrp="1"/>
          </p:cNvSpPr>
          <p:nvPr/>
        </p:nvSpPr>
        <p:spPr bwMode="auto">
          <a:xfrm>
            <a:off x="1162050" y="2133600"/>
            <a:ext cx="2381250" cy="819150"/>
          </a:xfrm>
          <a:prstGeom prst="roundRect">
            <a:avLst>
              <a:gd name="adj" fmla="val 13953"/>
            </a:avLst>
          </a:prstGeom>
          <a:solidFill>
            <a:srgbClr val="FFFFFF"/>
          </a:solidFill>
          <a:ln w="20955">
            <a:solidFill>
              <a:srgbClr val="10B981"/>
            </a:solidFill>
            <a:prstDash val="solid"/>
          </a:ln>
        </p:spPr>
        <p:txBody>
          <a:bodyPr/>
          <a:lstStyle/>
          <a:p>
            <a:pPr algn="ctr">
              <a:buNone/>
              <a:defRPr sz="1900" b="1">
                <a:solidFill>
                  <a:srgbClr val="10B981"/>
                </a:solidFill>
              </a:defRPr>
            </a:pPr>
            <a:r>
              <a:rPr sz="1900" b="1">
                <a:solidFill>
                  <a:srgbClr val="10B981"/>
                </a:solidFill>
              </a:rPr>
              <a:t>1  small draft model</a:t>
            </a:r>
            <a:endParaRPr/>
          </a:p>
        </p:txBody>
      </p:sp>
      <p:sp>
        <p:nvSpPr>
          <p:cNvPr id="1865625426" name="Rectangle 1197178350"/>
          <p:cNvSpPr>
            <a:spLocks noGrp="1"/>
          </p:cNvSpPr>
          <p:nvPr/>
        </p:nvSpPr>
        <p:spPr bwMode="auto">
          <a:xfrm>
            <a:off x="1162050" y="3028950"/>
            <a:ext cx="238125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cheap guesses</a:t>
            </a:r>
            <a:endParaRPr/>
          </a:p>
        </p:txBody>
      </p:sp>
      <p:sp>
        <p:nvSpPr>
          <p:cNvPr id="911878377" name="Rectangle: Rounded Corners 1914676260"/>
          <p:cNvSpPr>
            <a:spLocks noGrp="1"/>
          </p:cNvSpPr>
          <p:nvPr/>
        </p:nvSpPr>
        <p:spPr bwMode="auto">
          <a:xfrm>
            <a:off x="4400550" y="228600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The</a:t>
            </a:r>
            <a:endParaRPr/>
          </a:p>
        </p:txBody>
      </p:sp>
      <p:sp>
        <p:nvSpPr>
          <p:cNvPr id="1130447951" name="Rectangle: Rounded Corners 58582831"/>
          <p:cNvSpPr>
            <a:spLocks noGrp="1"/>
          </p:cNvSpPr>
          <p:nvPr/>
        </p:nvSpPr>
        <p:spPr bwMode="auto">
          <a:xfrm>
            <a:off x="5286375" y="228600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cat</a:t>
            </a:r>
            <a:endParaRPr/>
          </a:p>
        </p:txBody>
      </p:sp>
      <p:sp>
        <p:nvSpPr>
          <p:cNvPr id="1930984361" name="Rectangle: Rounded Corners 1580617481"/>
          <p:cNvSpPr>
            <a:spLocks noGrp="1"/>
          </p:cNvSpPr>
          <p:nvPr/>
        </p:nvSpPr>
        <p:spPr bwMode="auto">
          <a:xfrm>
            <a:off x="6172200" y="228600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sat</a:t>
            </a:r>
            <a:endParaRPr/>
          </a:p>
        </p:txBody>
      </p:sp>
      <p:sp>
        <p:nvSpPr>
          <p:cNvPr id="966565855" name="Rectangle: Rounded Corners 1783142644"/>
          <p:cNvSpPr>
            <a:spLocks noGrp="1"/>
          </p:cNvSpPr>
          <p:nvPr/>
        </p:nvSpPr>
        <p:spPr bwMode="auto">
          <a:xfrm>
            <a:off x="7058025" y="228600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on</a:t>
            </a:r>
            <a:endParaRPr/>
          </a:p>
        </p:txBody>
      </p:sp>
      <p:sp>
        <p:nvSpPr>
          <p:cNvPr id="694421686" name="Rectangle 1697788859"/>
          <p:cNvSpPr>
            <a:spLocks noGrp="1"/>
          </p:cNvSpPr>
          <p:nvPr/>
        </p:nvSpPr>
        <p:spPr bwMode="auto">
          <a:xfrm>
            <a:off x="4686300" y="3028950"/>
            <a:ext cx="295275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2  propose token block</a:t>
            </a:r>
            <a:endParaRPr/>
          </a:p>
        </p:txBody>
      </p:sp>
      <p:sp>
        <p:nvSpPr>
          <p:cNvPr id="1843363831" name="Rectangle: Rounded Corners 1686198037"/>
          <p:cNvSpPr>
            <a:spLocks noGrp="1"/>
          </p:cNvSpPr>
          <p:nvPr/>
        </p:nvSpPr>
        <p:spPr bwMode="auto">
          <a:xfrm>
            <a:off x="8429625" y="2133600"/>
            <a:ext cx="2381250" cy="819150"/>
          </a:xfrm>
          <a:prstGeom prst="roundRect">
            <a:avLst>
              <a:gd name="adj" fmla="val 13953"/>
            </a:avLst>
          </a:prstGeom>
          <a:solidFill>
            <a:srgbClr val="FFFFFF"/>
          </a:solidFill>
          <a:ln w="20955">
            <a:solidFill>
              <a:srgbClr val="2563EB"/>
            </a:solidFill>
            <a:prstDash val="solid"/>
          </a:ln>
        </p:spPr>
        <p:txBody>
          <a:bodyPr/>
          <a:lstStyle/>
          <a:p>
            <a:pPr algn="ctr">
              <a:buNone/>
              <a:defRPr sz="1900" b="1">
                <a:solidFill>
                  <a:srgbClr val="2563EB"/>
                </a:solidFill>
              </a:defRPr>
            </a:pPr>
            <a:r>
              <a:rPr sz="1900" b="1">
                <a:solidFill>
                  <a:srgbClr val="2563EB"/>
                </a:solidFill>
              </a:rPr>
              <a:t>3  large target model</a:t>
            </a:r>
            <a:endParaRPr/>
          </a:p>
        </p:txBody>
      </p:sp>
      <p:sp>
        <p:nvSpPr>
          <p:cNvPr id="1178797681" name="Rectangle 1556928439"/>
          <p:cNvSpPr>
            <a:spLocks noGrp="1"/>
          </p:cNvSpPr>
          <p:nvPr/>
        </p:nvSpPr>
        <p:spPr bwMode="auto">
          <a:xfrm>
            <a:off x="8429625" y="3028950"/>
            <a:ext cx="238125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verify block in one pass</a:t>
            </a:r>
            <a:endParaRPr/>
          </a:p>
        </p:txBody>
      </p:sp>
      <p:sp>
        <p:nvSpPr>
          <p:cNvPr id="327659926" name="Straight Connector 170693198"/>
          <p:cNvSpPr>
            <a:spLocks noGrp="1"/>
          </p:cNvSpPr>
          <p:nvPr/>
        </p:nvSpPr>
        <p:spPr bwMode="auto">
          <a:xfrm>
            <a:off x="3714750" y="2543175"/>
            <a:ext cx="495300" cy="9525"/>
          </a:xfrm>
          <a:prstGeom prst="line">
            <a:avLst/>
          </a:prstGeom>
          <a:noFill/>
          <a:ln w="28575">
            <a:solidFill>
              <a:srgbClr val="CBD5E1"/>
            </a:solidFill>
            <a:prstDash val="solid"/>
          </a:ln>
        </p:spPr>
        <p:txBody>
          <a:bodyPr/>
          <a:lstStyle/>
          <a:p>
            <a:pPr>
              <a:buNone/>
              <a:defRPr/>
            </a:pPr>
            <a:endParaRPr/>
          </a:p>
        </p:txBody>
      </p:sp>
      <p:sp>
        <p:nvSpPr>
          <p:cNvPr id="2034401411" name="Straight Connector 2021615088"/>
          <p:cNvSpPr>
            <a:spLocks noGrp="1"/>
          </p:cNvSpPr>
          <p:nvPr/>
        </p:nvSpPr>
        <p:spPr bwMode="auto">
          <a:xfrm>
            <a:off x="8001000" y="2543175"/>
            <a:ext cx="400050" cy="9525"/>
          </a:xfrm>
          <a:prstGeom prst="line">
            <a:avLst/>
          </a:prstGeom>
          <a:noFill/>
          <a:ln w="28575">
            <a:solidFill>
              <a:srgbClr val="CBD5E1"/>
            </a:solidFill>
            <a:prstDash val="solid"/>
          </a:ln>
        </p:spPr>
        <p:txBody>
          <a:bodyPr/>
          <a:lstStyle/>
          <a:p>
            <a:pPr>
              <a:buNone/>
              <a:defRPr/>
            </a:pPr>
            <a:endParaRPr/>
          </a:p>
        </p:txBody>
      </p:sp>
      <p:sp>
        <p:nvSpPr>
          <p:cNvPr id="1022667671" name="Rectangle 1396476378"/>
          <p:cNvSpPr>
            <a:spLocks noGrp="1"/>
          </p:cNvSpPr>
          <p:nvPr/>
        </p:nvSpPr>
        <p:spPr bwMode="auto">
          <a:xfrm>
            <a:off x="2038349" y="3657600"/>
            <a:ext cx="2095500" cy="285750"/>
          </a:xfrm>
          <a:prstGeom prst="rect">
            <a:avLst/>
          </a:prstGeom>
          <a:noFill/>
          <a:ln w="0">
            <a:noFill/>
            <a:prstDash val="solid"/>
          </a:ln>
        </p:spPr>
        <p:txBody>
          <a:bodyPr/>
          <a:lstStyle/>
          <a:p>
            <a:pPr algn="ctr">
              <a:buNone/>
              <a:defRPr sz="1800" b="1">
                <a:solidFill>
                  <a:srgbClr val="10B981"/>
                </a:solidFill>
              </a:defRPr>
            </a:pPr>
            <a:r>
              <a:rPr sz="1800" b="1">
                <a:solidFill>
                  <a:srgbClr val="10B981"/>
                </a:solidFill>
              </a:rPr>
              <a:t>4a  accept prefix</a:t>
            </a:r>
            <a:endParaRPr/>
          </a:p>
        </p:txBody>
      </p:sp>
      <p:sp>
        <p:nvSpPr>
          <p:cNvPr id="1929105827" name="Rectangle: Rounded Corners 910307424"/>
          <p:cNvSpPr>
            <a:spLocks noGrp="1"/>
          </p:cNvSpPr>
          <p:nvPr/>
        </p:nvSpPr>
        <p:spPr bwMode="auto">
          <a:xfrm>
            <a:off x="2095500" y="419100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The</a:t>
            </a:r>
            <a:endParaRPr/>
          </a:p>
        </p:txBody>
      </p:sp>
      <p:sp>
        <p:nvSpPr>
          <p:cNvPr id="878349438" name="Rectangle: Rounded Corners 760188915"/>
          <p:cNvSpPr>
            <a:spLocks noGrp="1"/>
          </p:cNvSpPr>
          <p:nvPr/>
        </p:nvSpPr>
        <p:spPr bwMode="auto">
          <a:xfrm>
            <a:off x="2981325" y="419100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cat</a:t>
            </a:r>
            <a:endParaRPr/>
          </a:p>
        </p:txBody>
      </p:sp>
      <p:sp>
        <p:nvSpPr>
          <p:cNvPr id="560887334" name="Rectangle: Rounded Corners 1604029254"/>
          <p:cNvSpPr>
            <a:spLocks noGrp="1"/>
          </p:cNvSpPr>
          <p:nvPr/>
        </p:nvSpPr>
        <p:spPr bwMode="auto">
          <a:xfrm>
            <a:off x="3867150" y="419100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sat</a:t>
            </a:r>
            <a:endParaRPr/>
          </a:p>
        </p:txBody>
      </p:sp>
      <p:sp>
        <p:nvSpPr>
          <p:cNvPr id="1765739884" name="Rectangle 583346847"/>
          <p:cNvSpPr>
            <a:spLocks noGrp="1"/>
          </p:cNvSpPr>
          <p:nvPr/>
        </p:nvSpPr>
        <p:spPr bwMode="auto">
          <a:xfrm>
            <a:off x="6610350" y="3657600"/>
            <a:ext cx="2381250" cy="285750"/>
          </a:xfrm>
          <a:prstGeom prst="rect">
            <a:avLst/>
          </a:prstGeom>
          <a:noFill/>
          <a:ln w="0">
            <a:noFill/>
            <a:prstDash val="solid"/>
          </a:ln>
        </p:spPr>
        <p:txBody>
          <a:bodyPr/>
          <a:lstStyle/>
          <a:p>
            <a:pPr algn="ctr">
              <a:buNone/>
              <a:defRPr sz="1800" b="1">
                <a:solidFill>
                  <a:srgbClr val="F97316"/>
                </a:solidFill>
              </a:defRPr>
            </a:pPr>
            <a:r>
              <a:rPr sz="1800" b="1">
                <a:solidFill>
                  <a:srgbClr val="F97316"/>
                </a:solidFill>
              </a:rPr>
              <a:t>4b  reject + resample</a:t>
            </a:r>
            <a:endParaRPr/>
          </a:p>
        </p:txBody>
      </p:sp>
      <p:sp>
        <p:nvSpPr>
          <p:cNvPr id="1787101100" name="Rectangle: Rounded Corners 5957980"/>
          <p:cNvSpPr>
            <a:spLocks noGrp="1"/>
          </p:cNvSpPr>
          <p:nvPr/>
        </p:nvSpPr>
        <p:spPr bwMode="auto">
          <a:xfrm>
            <a:off x="7277100" y="4191000"/>
            <a:ext cx="819150" cy="514350"/>
          </a:xfrm>
          <a:prstGeom prst="roundRect">
            <a:avLst>
              <a:gd name="adj" fmla="val 22222"/>
            </a:avLst>
          </a:prstGeom>
          <a:solidFill>
            <a:srgbClr val="FFFFFF"/>
          </a:solidFill>
          <a:ln w="14288">
            <a:solidFill>
              <a:srgbClr val="F97316"/>
            </a:solidFill>
            <a:prstDash val="solid"/>
          </a:ln>
        </p:spPr>
        <p:txBody>
          <a:bodyPr/>
          <a:lstStyle/>
          <a:p>
            <a:pPr algn="ctr">
              <a:buNone/>
              <a:defRPr sz="1500" b="1">
                <a:solidFill>
                  <a:srgbClr val="0B0F19"/>
                </a:solidFill>
              </a:defRPr>
            </a:pPr>
            <a:r>
              <a:rPr sz="1500" b="1">
                <a:solidFill>
                  <a:srgbClr val="0B0F19"/>
                </a:solidFill>
              </a:rPr>
              <a:t>on</a:t>
            </a:r>
            <a:endParaRPr/>
          </a:p>
        </p:txBody>
      </p:sp>
      <p:sp>
        <p:nvSpPr>
          <p:cNvPr id="1889624531" name="Rectangle: Rounded Corners 410294816"/>
          <p:cNvSpPr>
            <a:spLocks noGrp="1"/>
          </p:cNvSpPr>
          <p:nvPr/>
        </p:nvSpPr>
        <p:spPr bwMode="auto">
          <a:xfrm>
            <a:off x="8162925" y="4191000"/>
            <a:ext cx="819150" cy="514350"/>
          </a:xfrm>
          <a:prstGeom prst="roundRect">
            <a:avLst>
              <a:gd name="adj" fmla="val 22222"/>
            </a:avLst>
          </a:prstGeom>
          <a:solidFill>
            <a:srgbClr val="FFFFFF"/>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mat</a:t>
            </a:r>
            <a:endParaRPr/>
          </a:p>
        </p:txBody>
      </p:sp>
      <p:sp>
        <p:nvSpPr>
          <p:cNvPr id="1278393840" name="Straight Connector 1668590987"/>
          <p:cNvSpPr>
            <a:spLocks noGrp="1"/>
          </p:cNvSpPr>
          <p:nvPr/>
        </p:nvSpPr>
        <p:spPr bwMode="auto">
          <a:xfrm>
            <a:off x="7981950" y="4448175"/>
            <a:ext cx="133350" cy="9525"/>
          </a:xfrm>
          <a:prstGeom prst="line">
            <a:avLst/>
          </a:prstGeom>
          <a:noFill/>
          <a:ln w="23813">
            <a:solidFill>
              <a:srgbClr val="F97316"/>
            </a:solidFill>
            <a:prstDash val="solid"/>
          </a:ln>
        </p:spPr>
        <p:txBody>
          <a:bodyPr/>
          <a:lstStyle/>
          <a:p>
            <a:pPr>
              <a:buNone/>
              <a:defRPr/>
            </a:pPr>
            <a:endParaRPr/>
          </a:p>
        </p:txBody>
      </p:sp>
      <p:sp>
        <p:nvSpPr>
          <p:cNvPr id="1869179507" name="Rectangle 1956440405"/>
          <p:cNvSpPr>
            <a:spLocks noGrp="1"/>
          </p:cNvSpPr>
          <p:nvPr/>
        </p:nvSpPr>
        <p:spPr bwMode="auto">
          <a:xfrm>
            <a:off x="2857500" y="5162550"/>
            <a:ext cx="6477000" cy="666750"/>
          </a:xfrm>
          <a:prstGeom prst="rect">
            <a:avLst/>
          </a:prstGeom>
          <a:noFill/>
          <a:ln w="0">
            <a:noFill/>
            <a:prstDash val="solid"/>
          </a:ln>
        </p:spPr>
        <p:txBody>
          <a:bodyPr anchor="ctr"/>
          <a:lstStyle/>
          <a:p>
            <a:pPr algn="ctr">
              <a:buNone/>
              <a:defRPr sz="1450" b="1">
                <a:solidFill>
                  <a:srgbClr val="0B0F19"/>
                </a:solidFill>
              </a:defRPr>
            </a:pPr>
            <a:r>
              <a:rPr sz="1450" b="1">
                <a:solidFill>
                  <a:srgbClr val="0B0F19"/>
                </a:solidFill>
              </a:rPr>
              <a:t>draft → verify → accept / resample → repeat</a:t>
            </a:r>
            <a:endParaRPr/>
          </a:p>
          <a:p>
            <a:pPr algn="ctr">
              <a:buNone/>
              <a:defRPr sz="1450" b="1">
                <a:solidFill>
                  <a:srgbClr val="0B0F19"/>
                </a:solidFill>
              </a:defRPr>
            </a:pPr>
            <a:r>
              <a:rPr sz="1450" b="1">
                <a:solidFill>
                  <a:srgbClr val="0B0F19"/>
                </a:solidFill>
              </a:rPr>
              <a:t>same target distribution, fewer serial waits</a:t>
            </a:r>
            <a:endParaRPr/>
          </a:p>
        </p:txBody>
      </p:sp>
      <p:sp>
        <p:nvSpPr>
          <p:cNvPr id="1134408430" name="Rectangle 91891999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69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98322325" name="Rectangle 1682307419"/>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Scaling trend</a:t>
            </a:r>
            <a:endParaRPr/>
          </a:p>
        </p:txBody>
      </p:sp>
      <p:sp>
        <p:nvSpPr>
          <p:cNvPr id="1284477206" name="Rectangle 1048423222"/>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Frontier models scale total compute</a:t>
            </a:r>
            <a:endParaRPr/>
          </a:p>
        </p:txBody>
      </p:sp>
      <p:sp>
        <p:nvSpPr>
          <p:cNvPr id="1607363792" name="Rectangle 1821451500"/>
          <p:cNvSpPr>
            <a:spLocks noGrp="1"/>
          </p:cNvSpPr>
          <p:nvPr/>
        </p:nvSpPr>
        <p:spPr bwMode="auto">
          <a:xfrm>
            <a:off x="7829550" y="1028700"/>
            <a:ext cx="2952750" cy="285750"/>
          </a:xfrm>
          <a:prstGeom prst="rect">
            <a:avLst/>
          </a:prstGeom>
          <a:noFill/>
          <a:ln w="0">
            <a:noFill/>
            <a:prstDash val="solid"/>
          </a:ln>
        </p:spPr>
        <p:txBody>
          <a:bodyPr/>
          <a:lstStyle/>
          <a:p>
            <a:pPr algn="r">
              <a:buNone/>
              <a:defRPr sz="1750" b="1">
                <a:solidFill>
                  <a:srgbClr val="EF4444"/>
                </a:solidFill>
              </a:defRPr>
            </a:pPr>
            <a:r>
              <a:rPr sz="1750" b="1">
                <a:solidFill>
                  <a:srgbClr val="EF4444"/>
                </a:solidFill>
              </a:rPr>
              <a:t>not just parameter count</a:t>
            </a:r>
            <a:endParaRPr/>
          </a:p>
        </p:txBody>
      </p:sp>
      <p:sp>
        <p:nvSpPr>
          <p:cNvPr id="1022764636" name="Rectangle: Rounded Corners 1912787708"/>
          <p:cNvSpPr>
            <a:spLocks noGrp="1"/>
          </p:cNvSpPr>
          <p:nvPr/>
        </p:nvSpPr>
        <p:spPr bwMode="auto">
          <a:xfrm>
            <a:off x="704850" y="1562100"/>
            <a:ext cx="10782300" cy="4343400"/>
          </a:xfrm>
          <a:prstGeom prst="roundRect">
            <a:avLst>
              <a:gd name="adj" fmla="val 2632"/>
            </a:avLst>
          </a:prstGeom>
          <a:solidFill>
            <a:srgbClr val="F8FAFC"/>
          </a:solidFill>
          <a:ln w="14288">
            <a:solidFill>
              <a:srgbClr val="E2E8F0"/>
            </a:solidFill>
            <a:prstDash val="solid"/>
          </a:ln>
        </p:spPr>
        <p:txBody>
          <a:bodyPr/>
          <a:lstStyle/>
          <a:p>
            <a:pPr>
              <a:buNone/>
              <a:defRPr/>
            </a:pPr>
            <a:endParaRPr/>
          </a:p>
        </p:txBody>
      </p:sp>
      <p:sp>
        <p:nvSpPr>
          <p:cNvPr id="1884683617" name="Rectangle 698160899"/>
          <p:cNvSpPr>
            <a:spLocks noGrp="1"/>
          </p:cNvSpPr>
          <p:nvPr/>
        </p:nvSpPr>
        <p:spPr bwMode="auto">
          <a:xfrm>
            <a:off x="3771900" y="1752599"/>
            <a:ext cx="4648200" cy="323850"/>
          </a:xfrm>
          <a:prstGeom prst="rect">
            <a:avLst/>
          </a:prstGeom>
          <a:noFill/>
          <a:ln w="0">
            <a:noFill/>
            <a:prstDash val="solid"/>
          </a:ln>
        </p:spPr>
        <p:txBody>
          <a:bodyPr/>
          <a:lstStyle/>
          <a:p>
            <a:pPr algn="ctr">
              <a:buNone/>
              <a:defRPr sz="2050" b="1">
                <a:solidFill>
                  <a:srgbClr val="0B0F19"/>
                </a:solidFill>
              </a:defRPr>
            </a:pPr>
            <a:r>
              <a:rPr sz="2050" b="1">
                <a:solidFill>
                  <a:srgbClr val="0B0F19"/>
                </a:solidFill>
              </a:rPr>
              <a:t>more useful computation</a:t>
            </a:r>
            <a:endParaRPr/>
          </a:p>
        </p:txBody>
      </p:sp>
      <p:sp>
        <p:nvSpPr>
          <p:cNvPr id="532222041" name="Straight Connector 820052219"/>
          <p:cNvSpPr>
            <a:spLocks noGrp="1"/>
          </p:cNvSpPr>
          <p:nvPr/>
        </p:nvSpPr>
        <p:spPr bwMode="auto">
          <a:xfrm>
            <a:off x="2609850" y="2152650"/>
            <a:ext cx="6972300" cy="9525"/>
          </a:xfrm>
          <a:prstGeom prst="line">
            <a:avLst/>
          </a:prstGeom>
          <a:noFill/>
          <a:ln w="38100">
            <a:solidFill>
              <a:srgbClr val="CBD5E1"/>
            </a:solidFill>
            <a:prstDash val="solid"/>
          </a:ln>
        </p:spPr>
        <p:txBody>
          <a:bodyPr/>
          <a:lstStyle/>
          <a:p>
            <a:pPr>
              <a:buNone/>
              <a:defRPr/>
            </a:pPr>
            <a:endParaRPr/>
          </a:p>
        </p:txBody>
      </p:sp>
      <p:sp>
        <p:nvSpPr>
          <p:cNvPr id="116021814" name="Rectangle: Rounded Corners 1977383084"/>
          <p:cNvSpPr>
            <a:spLocks noGrp="1"/>
          </p:cNvSpPr>
          <p:nvPr/>
        </p:nvSpPr>
        <p:spPr bwMode="auto">
          <a:xfrm>
            <a:off x="1066800" y="2400300"/>
            <a:ext cx="2333625" cy="2819400"/>
          </a:xfrm>
          <a:prstGeom prst="roundRect">
            <a:avLst>
              <a:gd name="adj" fmla="val 4898"/>
            </a:avLst>
          </a:prstGeom>
          <a:solidFill>
            <a:srgbClr val="FFFFFF"/>
          </a:solidFill>
          <a:ln w="14288">
            <a:solidFill>
              <a:srgbClr val="E2E8F0"/>
            </a:solidFill>
            <a:prstDash val="solid"/>
          </a:ln>
        </p:spPr>
        <p:txBody>
          <a:bodyPr/>
          <a:lstStyle/>
          <a:p>
            <a:pPr>
              <a:buNone/>
              <a:defRPr/>
            </a:pPr>
            <a:endParaRPr/>
          </a:p>
        </p:txBody>
      </p:sp>
      <p:sp>
        <p:nvSpPr>
          <p:cNvPr id="188561242" name="Rectangle: Rounded Corners 1598161198"/>
          <p:cNvSpPr>
            <a:spLocks noGrp="1"/>
          </p:cNvSpPr>
          <p:nvPr/>
        </p:nvSpPr>
        <p:spPr bwMode="auto">
          <a:xfrm>
            <a:off x="1714500" y="3105150"/>
            <a:ext cx="114300" cy="171450"/>
          </a:xfrm>
          <a:prstGeom prst="roundRect">
            <a:avLst>
              <a:gd name="adj" fmla="val 50000"/>
            </a:avLst>
          </a:prstGeom>
          <a:solidFill>
            <a:srgbClr val="2563EB"/>
          </a:solidFill>
          <a:ln w="0">
            <a:solidFill>
              <a:srgbClr val="2563EB"/>
            </a:solidFill>
            <a:prstDash val="solid"/>
          </a:ln>
        </p:spPr>
        <p:txBody>
          <a:bodyPr/>
          <a:lstStyle/>
          <a:p>
            <a:pPr>
              <a:buNone/>
              <a:defRPr/>
            </a:pPr>
            <a:endParaRPr/>
          </a:p>
        </p:txBody>
      </p:sp>
      <p:sp>
        <p:nvSpPr>
          <p:cNvPr id="1169652633" name="Rectangle: Rounded Corners 1558195880"/>
          <p:cNvSpPr>
            <a:spLocks noGrp="1"/>
          </p:cNvSpPr>
          <p:nvPr/>
        </p:nvSpPr>
        <p:spPr bwMode="auto">
          <a:xfrm>
            <a:off x="1885950" y="2990850"/>
            <a:ext cx="114300" cy="285750"/>
          </a:xfrm>
          <a:prstGeom prst="roundRect">
            <a:avLst>
              <a:gd name="adj" fmla="val 50000"/>
            </a:avLst>
          </a:prstGeom>
          <a:solidFill>
            <a:srgbClr val="2563EB"/>
          </a:solidFill>
          <a:ln w="0">
            <a:solidFill>
              <a:srgbClr val="2563EB"/>
            </a:solidFill>
            <a:prstDash val="solid"/>
          </a:ln>
        </p:spPr>
        <p:txBody>
          <a:bodyPr/>
          <a:lstStyle/>
          <a:p>
            <a:pPr>
              <a:buNone/>
              <a:defRPr/>
            </a:pPr>
            <a:endParaRPr/>
          </a:p>
        </p:txBody>
      </p:sp>
      <p:sp>
        <p:nvSpPr>
          <p:cNvPr id="960702112" name="Rectangle: Rounded Corners 521701979"/>
          <p:cNvSpPr>
            <a:spLocks noGrp="1"/>
          </p:cNvSpPr>
          <p:nvPr/>
        </p:nvSpPr>
        <p:spPr bwMode="auto">
          <a:xfrm>
            <a:off x="2057400" y="2876550"/>
            <a:ext cx="114300" cy="400050"/>
          </a:xfrm>
          <a:prstGeom prst="roundRect">
            <a:avLst>
              <a:gd name="adj" fmla="val 50000"/>
            </a:avLst>
          </a:prstGeom>
          <a:solidFill>
            <a:srgbClr val="2563EB"/>
          </a:solidFill>
          <a:ln w="0">
            <a:solidFill>
              <a:srgbClr val="2563EB"/>
            </a:solidFill>
            <a:prstDash val="solid"/>
          </a:ln>
        </p:spPr>
        <p:txBody>
          <a:bodyPr/>
          <a:lstStyle/>
          <a:p>
            <a:pPr>
              <a:buNone/>
              <a:defRPr/>
            </a:pPr>
            <a:endParaRPr/>
          </a:p>
        </p:txBody>
      </p:sp>
      <p:sp>
        <p:nvSpPr>
          <p:cNvPr id="1937323781" name="Rectangle: Rounded Corners 1995606132"/>
          <p:cNvSpPr>
            <a:spLocks noGrp="1"/>
          </p:cNvSpPr>
          <p:nvPr/>
        </p:nvSpPr>
        <p:spPr bwMode="auto">
          <a:xfrm>
            <a:off x="2228850" y="2762250"/>
            <a:ext cx="114300" cy="514350"/>
          </a:xfrm>
          <a:prstGeom prst="roundRect">
            <a:avLst>
              <a:gd name="adj" fmla="val 50000"/>
            </a:avLst>
          </a:prstGeom>
          <a:solidFill>
            <a:srgbClr val="2563EB"/>
          </a:solidFill>
          <a:ln w="0">
            <a:solidFill>
              <a:srgbClr val="2563EB"/>
            </a:solidFill>
            <a:prstDash val="solid"/>
          </a:ln>
        </p:spPr>
        <p:txBody>
          <a:bodyPr/>
          <a:lstStyle/>
          <a:p>
            <a:pPr>
              <a:buNone/>
              <a:defRPr/>
            </a:pPr>
            <a:endParaRPr/>
          </a:p>
        </p:txBody>
      </p:sp>
      <p:sp>
        <p:nvSpPr>
          <p:cNvPr id="463775744" name="Rectangle 1524836487"/>
          <p:cNvSpPr>
            <a:spLocks noGrp="1"/>
          </p:cNvSpPr>
          <p:nvPr/>
        </p:nvSpPr>
        <p:spPr bwMode="auto">
          <a:xfrm>
            <a:off x="1257300" y="3600450"/>
            <a:ext cx="1952625" cy="323850"/>
          </a:xfrm>
          <a:prstGeom prst="rect">
            <a:avLst/>
          </a:prstGeom>
          <a:noFill/>
          <a:ln w="0">
            <a:noFill/>
            <a:prstDash val="solid"/>
          </a:ln>
        </p:spPr>
        <p:txBody>
          <a:bodyPr/>
          <a:lstStyle/>
          <a:p>
            <a:pPr algn="ctr">
              <a:buNone/>
              <a:defRPr sz="1900" b="1">
                <a:solidFill>
                  <a:srgbClr val="2563EB"/>
                </a:solidFill>
              </a:defRPr>
            </a:pPr>
            <a:r>
              <a:rPr sz="1900" b="1">
                <a:solidFill>
                  <a:srgbClr val="2563EB"/>
                </a:solidFill>
              </a:rPr>
              <a:t>pretraining</a:t>
            </a:r>
            <a:endParaRPr/>
          </a:p>
        </p:txBody>
      </p:sp>
      <p:sp>
        <p:nvSpPr>
          <p:cNvPr id="1034272026" name="Rectangle 2124862657"/>
          <p:cNvSpPr>
            <a:spLocks noGrp="1"/>
          </p:cNvSpPr>
          <p:nvPr/>
        </p:nvSpPr>
        <p:spPr bwMode="auto">
          <a:xfrm>
            <a:off x="1276350" y="4019550"/>
            <a:ext cx="1914525" cy="533400"/>
          </a:xfrm>
          <a:prstGeom prst="rect">
            <a:avLst/>
          </a:prstGeom>
          <a:noFill/>
          <a:ln w="0">
            <a:noFill/>
            <a:prstDash val="solid"/>
          </a:ln>
        </p:spPr>
        <p:txBody>
          <a:bodyPr/>
          <a:lstStyle/>
          <a:p>
            <a:pPr algn="ctr">
              <a:buNone/>
              <a:defRPr sz="1450" b="0">
                <a:solidFill>
                  <a:srgbClr val="0B0F19"/>
                </a:solidFill>
              </a:defRPr>
            </a:pPr>
            <a:r>
              <a:rPr sz="1450" b="0">
                <a:solidFill>
                  <a:srgbClr val="0B0F19"/>
                </a:solidFill>
              </a:rPr>
              <a:t>bigger models</a:t>
            </a:r>
            <a:endParaRPr/>
          </a:p>
          <a:p>
            <a:pPr algn="ctr">
              <a:buNone/>
              <a:defRPr sz="1450" b="0">
                <a:solidFill>
                  <a:srgbClr val="0B0F19"/>
                </a:solidFill>
              </a:defRPr>
            </a:pPr>
            <a:r>
              <a:rPr sz="1450" b="0">
                <a:solidFill>
                  <a:srgbClr val="0B0F19"/>
                </a:solidFill>
              </a:rPr>
              <a:t>more data</a:t>
            </a:r>
            <a:endParaRPr/>
          </a:p>
        </p:txBody>
      </p:sp>
      <p:sp>
        <p:nvSpPr>
          <p:cNvPr id="1016419375" name="Rectangle 8219971"/>
          <p:cNvSpPr>
            <a:spLocks noGrp="1"/>
          </p:cNvSpPr>
          <p:nvPr/>
        </p:nvSpPr>
        <p:spPr bwMode="auto">
          <a:xfrm>
            <a:off x="1276350" y="4705350"/>
            <a:ext cx="1914525" cy="304800"/>
          </a:xfrm>
          <a:prstGeom prst="rect">
            <a:avLst/>
          </a:prstGeom>
          <a:noFill/>
          <a:ln w="0">
            <a:noFill/>
            <a:prstDash val="solid"/>
          </a:ln>
        </p:spPr>
        <p:txBody>
          <a:bodyPr/>
          <a:lstStyle/>
          <a:p>
            <a:pPr algn="ctr">
              <a:buNone/>
              <a:defRPr sz="1300" b="0">
                <a:solidFill>
                  <a:srgbClr val="667085"/>
                </a:solidFill>
              </a:defRPr>
            </a:pPr>
            <a:r>
              <a:rPr sz="1300" b="0">
                <a:solidFill>
                  <a:srgbClr val="667085"/>
                </a:solidFill>
              </a:rPr>
              <a:t>train-time compute</a:t>
            </a:r>
            <a:endParaRPr/>
          </a:p>
        </p:txBody>
      </p:sp>
      <p:sp>
        <p:nvSpPr>
          <p:cNvPr id="1916735219" name="Rectangle: Rounded Corners 1401385986"/>
          <p:cNvSpPr>
            <a:spLocks noGrp="1"/>
          </p:cNvSpPr>
          <p:nvPr/>
        </p:nvSpPr>
        <p:spPr bwMode="auto">
          <a:xfrm>
            <a:off x="3676650" y="2400300"/>
            <a:ext cx="2333625" cy="2819400"/>
          </a:xfrm>
          <a:prstGeom prst="roundRect">
            <a:avLst>
              <a:gd name="adj" fmla="val 4898"/>
            </a:avLst>
          </a:prstGeom>
          <a:solidFill>
            <a:srgbClr val="FFFFFF"/>
          </a:solidFill>
          <a:ln w="14288">
            <a:solidFill>
              <a:srgbClr val="E2E8F0"/>
            </a:solidFill>
            <a:prstDash val="solid"/>
          </a:ln>
        </p:spPr>
        <p:txBody>
          <a:bodyPr/>
          <a:lstStyle/>
          <a:p>
            <a:pPr>
              <a:buNone/>
              <a:defRPr/>
            </a:pPr>
            <a:endParaRPr/>
          </a:p>
        </p:txBody>
      </p:sp>
      <p:sp>
        <p:nvSpPr>
          <p:cNvPr id="466400440" name="Oval 2082712540"/>
          <p:cNvSpPr>
            <a:spLocks noGrp="1"/>
          </p:cNvSpPr>
          <p:nvPr/>
        </p:nvSpPr>
        <p:spPr bwMode="auto">
          <a:xfrm>
            <a:off x="4619625" y="2876550"/>
            <a:ext cx="266700" cy="266700"/>
          </a:xfrm>
          <a:prstGeom prst="ellipse">
            <a:avLst/>
          </a:prstGeom>
          <a:solidFill>
            <a:srgbClr val="7C3AED"/>
          </a:solidFill>
          <a:ln w="14288">
            <a:solidFill>
              <a:srgbClr val="7C3AED"/>
            </a:solidFill>
            <a:prstDash val="solid"/>
          </a:ln>
        </p:spPr>
        <p:txBody>
          <a:bodyPr/>
          <a:lstStyle/>
          <a:p>
            <a:pPr>
              <a:buNone/>
              <a:defRPr/>
            </a:pPr>
            <a:endParaRPr/>
          </a:p>
        </p:txBody>
      </p:sp>
      <p:sp>
        <p:nvSpPr>
          <p:cNvPr id="983868594" name="Oval 1800286295"/>
          <p:cNvSpPr>
            <a:spLocks noGrp="1"/>
          </p:cNvSpPr>
          <p:nvPr/>
        </p:nvSpPr>
        <p:spPr bwMode="auto">
          <a:xfrm>
            <a:off x="5067300" y="2905125"/>
            <a:ext cx="209550" cy="209550"/>
          </a:xfrm>
          <a:prstGeom prst="ellipse">
            <a:avLst/>
          </a:prstGeom>
          <a:solidFill>
            <a:srgbClr val="10B981"/>
          </a:solidFill>
          <a:ln w="14288">
            <a:solidFill>
              <a:srgbClr val="10B981"/>
            </a:solidFill>
            <a:prstDash val="solid"/>
          </a:ln>
        </p:spPr>
        <p:txBody>
          <a:bodyPr/>
          <a:lstStyle/>
          <a:p>
            <a:pPr>
              <a:buNone/>
              <a:defRPr/>
            </a:pPr>
            <a:endParaRPr/>
          </a:p>
        </p:txBody>
      </p:sp>
      <p:sp>
        <p:nvSpPr>
          <p:cNvPr id="1503866333" name="Straight Connector 1377652961"/>
          <p:cNvSpPr>
            <a:spLocks noGrp="1"/>
          </p:cNvSpPr>
          <p:nvPr/>
        </p:nvSpPr>
        <p:spPr bwMode="auto">
          <a:xfrm>
            <a:off x="4752975" y="3009900"/>
            <a:ext cx="419100" cy="9525"/>
          </a:xfrm>
          <a:prstGeom prst="line">
            <a:avLst/>
          </a:prstGeom>
          <a:noFill/>
          <a:ln w="19050">
            <a:solidFill>
              <a:srgbClr val="10B981"/>
            </a:solidFill>
            <a:prstDash val="solid"/>
          </a:ln>
        </p:spPr>
        <p:txBody>
          <a:bodyPr/>
          <a:lstStyle/>
          <a:p>
            <a:pPr>
              <a:buNone/>
              <a:defRPr/>
            </a:pPr>
            <a:endParaRPr/>
          </a:p>
        </p:txBody>
      </p:sp>
      <p:sp>
        <p:nvSpPr>
          <p:cNvPr id="1198864002" name="Oval 1129487082"/>
          <p:cNvSpPr>
            <a:spLocks noGrp="1"/>
          </p:cNvSpPr>
          <p:nvPr/>
        </p:nvSpPr>
        <p:spPr bwMode="auto">
          <a:xfrm>
            <a:off x="4857750" y="3185587"/>
            <a:ext cx="209550" cy="209550"/>
          </a:xfrm>
          <a:prstGeom prst="ellipse">
            <a:avLst/>
          </a:prstGeom>
          <a:solidFill>
            <a:srgbClr val="10B981"/>
          </a:solidFill>
          <a:ln w="14288">
            <a:solidFill>
              <a:srgbClr val="10B981"/>
            </a:solidFill>
            <a:prstDash val="solid"/>
          </a:ln>
        </p:spPr>
        <p:txBody>
          <a:bodyPr/>
          <a:lstStyle/>
          <a:p>
            <a:pPr>
              <a:buNone/>
              <a:defRPr/>
            </a:pPr>
            <a:endParaRPr/>
          </a:p>
        </p:txBody>
      </p:sp>
      <p:sp>
        <p:nvSpPr>
          <p:cNvPr id="621061654" name="Straight Connector 1835573147"/>
          <p:cNvSpPr>
            <a:spLocks noGrp="1"/>
          </p:cNvSpPr>
          <p:nvPr/>
        </p:nvSpPr>
        <p:spPr bwMode="auto">
          <a:xfrm>
            <a:off x="4752975" y="3009900"/>
            <a:ext cx="209550" cy="280462"/>
          </a:xfrm>
          <a:prstGeom prst="line">
            <a:avLst/>
          </a:prstGeom>
          <a:noFill/>
          <a:ln w="19050">
            <a:solidFill>
              <a:srgbClr val="10B981"/>
            </a:solidFill>
            <a:prstDash val="solid"/>
          </a:ln>
        </p:spPr>
        <p:txBody>
          <a:bodyPr/>
          <a:lstStyle/>
          <a:p>
            <a:pPr>
              <a:buNone/>
              <a:defRPr/>
            </a:pPr>
            <a:endParaRPr/>
          </a:p>
        </p:txBody>
      </p:sp>
      <p:sp>
        <p:nvSpPr>
          <p:cNvPr id="2054488936" name="Oval 1354002711"/>
          <p:cNvSpPr>
            <a:spLocks noGrp="1"/>
          </p:cNvSpPr>
          <p:nvPr/>
        </p:nvSpPr>
        <p:spPr bwMode="auto">
          <a:xfrm>
            <a:off x="4438650" y="3185587"/>
            <a:ext cx="209550" cy="209550"/>
          </a:xfrm>
          <a:prstGeom prst="ellipse">
            <a:avLst/>
          </a:prstGeom>
          <a:solidFill>
            <a:srgbClr val="E5E7EB"/>
          </a:solidFill>
          <a:ln w="14288">
            <a:solidFill>
              <a:srgbClr val="CBD5E1"/>
            </a:solidFill>
            <a:prstDash val="solid"/>
          </a:ln>
        </p:spPr>
        <p:txBody>
          <a:bodyPr/>
          <a:lstStyle/>
          <a:p>
            <a:pPr>
              <a:buNone/>
              <a:defRPr/>
            </a:pPr>
            <a:endParaRPr/>
          </a:p>
        </p:txBody>
      </p:sp>
      <p:sp>
        <p:nvSpPr>
          <p:cNvPr id="1053398619" name="Straight Connector 1642711494"/>
          <p:cNvSpPr>
            <a:spLocks noGrp="1"/>
          </p:cNvSpPr>
          <p:nvPr/>
        </p:nvSpPr>
        <p:spPr bwMode="auto">
          <a:xfrm>
            <a:off x="4543425" y="3009900"/>
            <a:ext cx="209550" cy="280462"/>
          </a:xfrm>
          <a:prstGeom prst="line">
            <a:avLst/>
          </a:prstGeom>
          <a:noFill/>
          <a:ln w="9525">
            <a:solidFill>
              <a:srgbClr val="D8DEE8"/>
            </a:solidFill>
            <a:prstDash val="solid"/>
          </a:ln>
        </p:spPr>
        <p:txBody>
          <a:bodyPr/>
          <a:lstStyle/>
          <a:p>
            <a:pPr>
              <a:buNone/>
              <a:defRPr/>
            </a:pPr>
            <a:endParaRPr/>
          </a:p>
        </p:txBody>
      </p:sp>
      <p:sp>
        <p:nvSpPr>
          <p:cNvPr id="1233081396" name="Oval 1162477815"/>
          <p:cNvSpPr>
            <a:spLocks noGrp="1"/>
          </p:cNvSpPr>
          <p:nvPr/>
        </p:nvSpPr>
        <p:spPr bwMode="auto">
          <a:xfrm>
            <a:off x="4229100" y="2905125"/>
            <a:ext cx="209550" cy="209550"/>
          </a:xfrm>
          <a:prstGeom prst="ellipse">
            <a:avLst/>
          </a:prstGeom>
          <a:solidFill>
            <a:srgbClr val="E5E7EB"/>
          </a:solidFill>
          <a:ln w="14288">
            <a:solidFill>
              <a:srgbClr val="CBD5E1"/>
            </a:solidFill>
            <a:prstDash val="solid"/>
          </a:ln>
        </p:spPr>
        <p:txBody>
          <a:bodyPr/>
          <a:lstStyle/>
          <a:p>
            <a:pPr>
              <a:buNone/>
              <a:defRPr/>
            </a:pPr>
            <a:endParaRPr/>
          </a:p>
        </p:txBody>
      </p:sp>
      <p:sp>
        <p:nvSpPr>
          <p:cNvPr id="1226519960" name="Straight Connector 754093467"/>
          <p:cNvSpPr>
            <a:spLocks noGrp="1"/>
          </p:cNvSpPr>
          <p:nvPr/>
        </p:nvSpPr>
        <p:spPr bwMode="auto">
          <a:xfrm>
            <a:off x="4333875" y="3009900"/>
            <a:ext cx="419100" cy="9525"/>
          </a:xfrm>
          <a:prstGeom prst="line">
            <a:avLst/>
          </a:prstGeom>
          <a:noFill/>
          <a:ln w="9525">
            <a:solidFill>
              <a:srgbClr val="D8DEE8"/>
            </a:solidFill>
            <a:prstDash val="solid"/>
          </a:ln>
        </p:spPr>
        <p:txBody>
          <a:bodyPr/>
          <a:lstStyle/>
          <a:p>
            <a:pPr>
              <a:buNone/>
              <a:defRPr/>
            </a:pPr>
            <a:endParaRPr/>
          </a:p>
        </p:txBody>
      </p:sp>
      <p:sp>
        <p:nvSpPr>
          <p:cNvPr id="1699998018" name="Oval 926903494"/>
          <p:cNvSpPr>
            <a:spLocks noGrp="1"/>
          </p:cNvSpPr>
          <p:nvPr/>
        </p:nvSpPr>
        <p:spPr bwMode="auto">
          <a:xfrm>
            <a:off x="4438650" y="2624663"/>
            <a:ext cx="209550" cy="209550"/>
          </a:xfrm>
          <a:prstGeom prst="ellipse">
            <a:avLst/>
          </a:prstGeom>
          <a:solidFill>
            <a:srgbClr val="E5E7EB"/>
          </a:solidFill>
          <a:ln w="14288">
            <a:solidFill>
              <a:srgbClr val="CBD5E1"/>
            </a:solidFill>
            <a:prstDash val="solid"/>
          </a:ln>
        </p:spPr>
        <p:txBody>
          <a:bodyPr/>
          <a:lstStyle/>
          <a:p>
            <a:pPr>
              <a:buNone/>
              <a:defRPr/>
            </a:pPr>
            <a:endParaRPr/>
          </a:p>
        </p:txBody>
      </p:sp>
      <p:sp>
        <p:nvSpPr>
          <p:cNvPr id="898556682" name="Straight Connector 1314704656"/>
          <p:cNvSpPr>
            <a:spLocks noGrp="1"/>
          </p:cNvSpPr>
          <p:nvPr/>
        </p:nvSpPr>
        <p:spPr bwMode="auto">
          <a:xfrm>
            <a:off x="4543425" y="2729437"/>
            <a:ext cx="209550" cy="280462"/>
          </a:xfrm>
          <a:prstGeom prst="line">
            <a:avLst/>
          </a:prstGeom>
          <a:noFill/>
          <a:ln w="9525">
            <a:solidFill>
              <a:srgbClr val="D8DEE8"/>
            </a:solidFill>
            <a:prstDash val="solid"/>
          </a:ln>
        </p:spPr>
        <p:txBody>
          <a:bodyPr/>
          <a:lstStyle/>
          <a:p>
            <a:pPr>
              <a:buNone/>
              <a:defRPr/>
            </a:pPr>
            <a:endParaRPr/>
          </a:p>
        </p:txBody>
      </p:sp>
      <p:sp>
        <p:nvSpPr>
          <p:cNvPr id="1686768088" name="Oval 297993689"/>
          <p:cNvSpPr>
            <a:spLocks noGrp="1"/>
          </p:cNvSpPr>
          <p:nvPr/>
        </p:nvSpPr>
        <p:spPr bwMode="auto">
          <a:xfrm>
            <a:off x="4857750" y="2624663"/>
            <a:ext cx="209550" cy="209550"/>
          </a:xfrm>
          <a:prstGeom prst="ellipse">
            <a:avLst/>
          </a:prstGeom>
          <a:solidFill>
            <a:srgbClr val="E5E7EB"/>
          </a:solidFill>
          <a:ln w="14288">
            <a:solidFill>
              <a:srgbClr val="CBD5E1"/>
            </a:solidFill>
            <a:prstDash val="solid"/>
          </a:ln>
        </p:spPr>
        <p:txBody>
          <a:bodyPr/>
          <a:lstStyle/>
          <a:p>
            <a:pPr>
              <a:buNone/>
              <a:defRPr/>
            </a:pPr>
            <a:endParaRPr/>
          </a:p>
        </p:txBody>
      </p:sp>
      <p:sp>
        <p:nvSpPr>
          <p:cNvPr id="377082639" name="Straight Connector 1869335124"/>
          <p:cNvSpPr>
            <a:spLocks noGrp="1"/>
          </p:cNvSpPr>
          <p:nvPr/>
        </p:nvSpPr>
        <p:spPr bwMode="auto">
          <a:xfrm>
            <a:off x="4752975" y="2729437"/>
            <a:ext cx="209550" cy="280462"/>
          </a:xfrm>
          <a:prstGeom prst="line">
            <a:avLst/>
          </a:prstGeom>
          <a:noFill/>
          <a:ln w="9525">
            <a:solidFill>
              <a:srgbClr val="D8DEE8"/>
            </a:solidFill>
            <a:prstDash val="solid"/>
          </a:ln>
        </p:spPr>
        <p:txBody>
          <a:bodyPr/>
          <a:lstStyle/>
          <a:p>
            <a:pPr>
              <a:buNone/>
              <a:defRPr/>
            </a:pPr>
            <a:endParaRPr/>
          </a:p>
        </p:txBody>
      </p:sp>
      <p:sp>
        <p:nvSpPr>
          <p:cNvPr id="635395538" name="Rectangle 1902597770"/>
          <p:cNvSpPr>
            <a:spLocks noGrp="1"/>
          </p:cNvSpPr>
          <p:nvPr/>
        </p:nvSpPr>
        <p:spPr bwMode="auto">
          <a:xfrm>
            <a:off x="3867150" y="3600450"/>
            <a:ext cx="1952625" cy="323850"/>
          </a:xfrm>
          <a:prstGeom prst="rect">
            <a:avLst/>
          </a:prstGeom>
          <a:noFill/>
          <a:ln w="0">
            <a:noFill/>
            <a:prstDash val="solid"/>
          </a:ln>
        </p:spPr>
        <p:txBody>
          <a:bodyPr/>
          <a:lstStyle/>
          <a:p>
            <a:pPr algn="ctr">
              <a:buNone/>
              <a:defRPr sz="1900" b="1">
                <a:solidFill>
                  <a:srgbClr val="10B981"/>
                </a:solidFill>
              </a:defRPr>
            </a:pPr>
            <a:r>
              <a:rPr sz="1900" b="1">
                <a:solidFill>
                  <a:srgbClr val="10B981"/>
                </a:solidFill>
              </a:rPr>
              <a:t>MoE</a:t>
            </a:r>
            <a:endParaRPr/>
          </a:p>
        </p:txBody>
      </p:sp>
      <p:sp>
        <p:nvSpPr>
          <p:cNvPr id="1889974174" name="Rectangle 1200483564"/>
          <p:cNvSpPr>
            <a:spLocks noGrp="1"/>
          </p:cNvSpPr>
          <p:nvPr/>
        </p:nvSpPr>
        <p:spPr bwMode="auto">
          <a:xfrm>
            <a:off x="3886200" y="4019550"/>
            <a:ext cx="1914525" cy="533400"/>
          </a:xfrm>
          <a:prstGeom prst="rect">
            <a:avLst/>
          </a:prstGeom>
          <a:noFill/>
          <a:ln w="0">
            <a:noFill/>
            <a:prstDash val="solid"/>
          </a:ln>
        </p:spPr>
        <p:txBody>
          <a:bodyPr/>
          <a:lstStyle/>
          <a:p>
            <a:pPr algn="ctr">
              <a:buNone/>
              <a:defRPr sz="1450" b="0">
                <a:solidFill>
                  <a:srgbClr val="0B0F19"/>
                </a:solidFill>
              </a:defRPr>
            </a:pPr>
            <a:r>
              <a:rPr sz="1450" b="0">
                <a:solidFill>
                  <a:srgbClr val="0B0F19"/>
                </a:solidFill>
              </a:rPr>
              <a:t>many params</a:t>
            </a:r>
            <a:endParaRPr/>
          </a:p>
          <a:p>
            <a:pPr algn="ctr">
              <a:buNone/>
              <a:defRPr sz="1450" b="0">
                <a:solidFill>
                  <a:srgbClr val="0B0F19"/>
                </a:solidFill>
              </a:defRPr>
            </a:pPr>
            <a:r>
              <a:rPr sz="1450" b="0">
                <a:solidFill>
                  <a:srgbClr val="0B0F19"/>
                </a:solidFill>
              </a:rPr>
              <a:t>few active</a:t>
            </a:r>
            <a:endParaRPr/>
          </a:p>
        </p:txBody>
      </p:sp>
      <p:sp>
        <p:nvSpPr>
          <p:cNvPr id="1739997587" name="Rectangle 713949086"/>
          <p:cNvSpPr>
            <a:spLocks noGrp="1"/>
          </p:cNvSpPr>
          <p:nvPr/>
        </p:nvSpPr>
        <p:spPr bwMode="auto">
          <a:xfrm>
            <a:off x="3886200" y="4705350"/>
            <a:ext cx="1914525" cy="304800"/>
          </a:xfrm>
          <a:prstGeom prst="rect">
            <a:avLst/>
          </a:prstGeom>
          <a:noFill/>
          <a:ln w="0">
            <a:noFill/>
            <a:prstDash val="solid"/>
          </a:ln>
        </p:spPr>
        <p:txBody>
          <a:bodyPr/>
          <a:lstStyle/>
          <a:p>
            <a:pPr algn="ctr">
              <a:buNone/>
              <a:defRPr sz="1300" b="0">
                <a:solidFill>
                  <a:srgbClr val="667085"/>
                </a:solidFill>
              </a:defRPr>
            </a:pPr>
            <a:r>
              <a:rPr sz="1300" b="0">
                <a:solidFill>
                  <a:srgbClr val="667085"/>
                </a:solidFill>
              </a:rPr>
              <a:t>sparse compute</a:t>
            </a:r>
            <a:endParaRPr/>
          </a:p>
        </p:txBody>
      </p:sp>
      <p:sp>
        <p:nvSpPr>
          <p:cNvPr id="928006946" name="Rectangle: Rounded Corners 731916211"/>
          <p:cNvSpPr>
            <a:spLocks noGrp="1"/>
          </p:cNvSpPr>
          <p:nvPr/>
        </p:nvSpPr>
        <p:spPr bwMode="auto">
          <a:xfrm>
            <a:off x="6286500" y="2400300"/>
            <a:ext cx="2333625" cy="2819400"/>
          </a:xfrm>
          <a:prstGeom prst="roundRect">
            <a:avLst>
              <a:gd name="adj" fmla="val 4898"/>
            </a:avLst>
          </a:prstGeom>
          <a:solidFill>
            <a:srgbClr val="FFFFFF"/>
          </a:solidFill>
          <a:ln w="14288">
            <a:solidFill>
              <a:srgbClr val="E2E8F0"/>
            </a:solidFill>
            <a:prstDash val="solid"/>
          </a:ln>
        </p:spPr>
        <p:txBody>
          <a:bodyPr/>
          <a:lstStyle/>
          <a:p>
            <a:pPr>
              <a:buNone/>
              <a:defRPr/>
            </a:pPr>
            <a:endParaRPr/>
          </a:p>
        </p:txBody>
      </p:sp>
      <p:sp>
        <p:nvSpPr>
          <p:cNvPr id="1694988758" name="Oval 1174154410"/>
          <p:cNvSpPr>
            <a:spLocks noGrp="1"/>
          </p:cNvSpPr>
          <p:nvPr/>
        </p:nvSpPr>
        <p:spPr bwMode="auto">
          <a:xfrm>
            <a:off x="6991350" y="2971800"/>
            <a:ext cx="228600" cy="228600"/>
          </a:xfrm>
          <a:prstGeom prst="ellipse">
            <a:avLst/>
          </a:prstGeom>
          <a:solidFill>
            <a:srgbClr val="F97316"/>
          </a:solidFill>
          <a:ln w="14288">
            <a:solidFill>
              <a:srgbClr val="F97316"/>
            </a:solidFill>
            <a:prstDash val="solid"/>
          </a:ln>
        </p:spPr>
        <p:txBody>
          <a:bodyPr/>
          <a:lstStyle/>
          <a:p>
            <a:pPr>
              <a:buNone/>
              <a:defRPr/>
            </a:pPr>
            <a:endParaRPr/>
          </a:p>
        </p:txBody>
      </p:sp>
      <p:sp>
        <p:nvSpPr>
          <p:cNvPr id="1848803854" name="Oval 125293162"/>
          <p:cNvSpPr>
            <a:spLocks noGrp="1"/>
          </p:cNvSpPr>
          <p:nvPr/>
        </p:nvSpPr>
        <p:spPr bwMode="auto">
          <a:xfrm>
            <a:off x="7343775" y="2838450"/>
            <a:ext cx="228600" cy="228600"/>
          </a:xfrm>
          <a:prstGeom prst="ellipse">
            <a:avLst/>
          </a:prstGeom>
          <a:solidFill>
            <a:srgbClr val="F97316"/>
          </a:solidFill>
          <a:ln w="14288">
            <a:solidFill>
              <a:srgbClr val="F97316"/>
            </a:solidFill>
            <a:prstDash val="solid"/>
          </a:ln>
        </p:spPr>
        <p:txBody>
          <a:bodyPr/>
          <a:lstStyle/>
          <a:p>
            <a:pPr>
              <a:buNone/>
              <a:defRPr/>
            </a:pPr>
            <a:endParaRPr/>
          </a:p>
        </p:txBody>
      </p:sp>
      <p:sp>
        <p:nvSpPr>
          <p:cNvPr id="1946613359" name="Oval 1712601375"/>
          <p:cNvSpPr>
            <a:spLocks noGrp="1"/>
          </p:cNvSpPr>
          <p:nvPr/>
        </p:nvSpPr>
        <p:spPr bwMode="auto">
          <a:xfrm>
            <a:off x="7696200" y="2971800"/>
            <a:ext cx="228600" cy="228600"/>
          </a:xfrm>
          <a:prstGeom prst="ellipse">
            <a:avLst/>
          </a:prstGeom>
          <a:solidFill>
            <a:srgbClr val="F97316"/>
          </a:solidFill>
          <a:ln w="14288">
            <a:solidFill>
              <a:srgbClr val="F97316"/>
            </a:solidFill>
            <a:prstDash val="solid"/>
          </a:ln>
        </p:spPr>
        <p:txBody>
          <a:bodyPr/>
          <a:lstStyle/>
          <a:p>
            <a:pPr>
              <a:buNone/>
              <a:defRPr/>
            </a:pPr>
            <a:endParaRPr/>
          </a:p>
        </p:txBody>
      </p:sp>
      <p:sp>
        <p:nvSpPr>
          <p:cNvPr id="1824204116" name="Straight Connector 361292721"/>
          <p:cNvSpPr>
            <a:spLocks noGrp="1"/>
          </p:cNvSpPr>
          <p:nvPr/>
        </p:nvSpPr>
        <p:spPr bwMode="auto">
          <a:xfrm>
            <a:off x="7200900" y="2981325"/>
            <a:ext cx="161925" cy="66675"/>
          </a:xfrm>
          <a:prstGeom prst="line">
            <a:avLst/>
          </a:prstGeom>
          <a:noFill/>
          <a:ln w="19050">
            <a:solidFill>
              <a:srgbClr val="F97316"/>
            </a:solidFill>
            <a:prstDash val="solid"/>
          </a:ln>
        </p:spPr>
        <p:txBody>
          <a:bodyPr/>
          <a:lstStyle/>
          <a:p>
            <a:pPr>
              <a:buNone/>
              <a:defRPr/>
            </a:pPr>
            <a:endParaRPr/>
          </a:p>
        </p:txBody>
      </p:sp>
      <p:sp>
        <p:nvSpPr>
          <p:cNvPr id="1220699668" name="Straight Connector 1216392229"/>
          <p:cNvSpPr>
            <a:spLocks noGrp="1"/>
          </p:cNvSpPr>
          <p:nvPr/>
        </p:nvSpPr>
        <p:spPr bwMode="auto">
          <a:xfrm>
            <a:off x="7553325" y="2981325"/>
            <a:ext cx="161925" cy="66675"/>
          </a:xfrm>
          <a:prstGeom prst="line">
            <a:avLst/>
          </a:prstGeom>
          <a:noFill/>
          <a:ln w="19050">
            <a:solidFill>
              <a:srgbClr val="F97316"/>
            </a:solidFill>
            <a:prstDash val="solid"/>
          </a:ln>
        </p:spPr>
        <p:txBody>
          <a:bodyPr/>
          <a:lstStyle/>
          <a:p>
            <a:pPr>
              <a:buNone/>
              <a:defRPr/>
            </a:pPr>
            <a:endParaRPr/>
          </a:p>
        </p:txBody>
      </p:sp>
      <p:sp>
        <p:nvSpPr>
          <p:cNvPr id="786842844" name="Rectangle 1760216901"/>
          <p:cNvSpPr>
            <a:spLocks noGrp="1"/>
          </p:cNvSpPr>
          <p:nvPr/>
        </p:nvSpPr>
        <p:spPr bwMode="auto">
          <a:xfrm>
            <a:off x="6477000" y="3600450"/>
            <a:ext cx="1952625" cy="323850"/>
          </a:xfrm>
          <a:prstGeom prst="rect">
            <a:avLst/>
          </a:prstGeom>
          <a:noFill/>
          <a:ln w="0">
            <a:noFill/>
            <a:prstDash val="solid"/>
          </a:ln>
        </p:spPr>
        <p:txBody>
          <a:bodyPr/>
          <a:lstStyle/>
          <a:p>
            <a:pPr algn="ctr">
              <a:buNone/>
              <a:defRPr sz="1900" b="1">
                <a:solidFill>
                  <a:srgbClr val="F97316"/>
                </a:solidFill>
              </a:defRPr>
            </a:pPr>
            <a:r>
              <a:rPr sz="1900" b="1">
                <a:solidFill>
                  <a:srgbClr val="F97316"/>
                </a:solidFill>
              </a:rPr>
              <a:t>post-training</a:t>
            </a:r>
            <a:endParaRPr/>
          </a:p>
        </p:txBody>
      </p:sp>
      <p:sp>
        <p:nvSpPr>
          <p:cNvPr id="75052124" name="Rectangle 1432423854"/>
          <p:cNvSpPr>
            <a:spLocks noGrp="1"/>
          </p:cNvSpPr>
          <p:nvPr/>
        </p:nvSpPr>
        <p:spPr bwMode="auto">
          <a:xfrm>
            <a:off x="6496050" y="4019550"/>
            <a:ext cx="1914525" cy="533400"/>
          </a:xfrm>
          <a:prstGeom prst="rect">
            <a:avLst/>
          </a:prstGeom>
          <a:noFill/>
          <a:ln w="0">
            <a:noFill/>
            <a:prstDash val="solid"/>
          </a:ln>
        </p:spPr>
        <p:txBody>
          <a:bodyPr/>
          <a:lstStyle/>
          <a:p>
            <a:pPr algn="ctr">
              <a:buNone/>
              <a:defRPr sz="1450" b="0">
                <a:solidFill>
                  <a:srgbClr val="0B0F19"/>
                </a:solidFill>
              </a:defRPr>
            </a:pPr>
            <a:r>
              <a:rPr sz="1450" b="0">
                <a:solidFill>
                  <a:srgbClr val="0B0F19"/>
                </a:solidFill>
              </a:rPr>
              <a:t>SFT + RL</a:t>
            </a:r>
            <a:endParaRPr/>
          </a:p>
          <a:p>
            <a:pPr algn="ctr">
              <a:buNone/>
              <a:defRPr sz="1450" b="0">
                <a:solidFill>
                  <a:srgbClr val="0B0F19"/>
                </a:solidFill>
              </a:defRPr>
            </a:pPr>
            <a:r>
              <a:rPr sz="1450" b="0">
                <a:solidFill>
                  <a:srgbClr val="0B0F19"/>
                </a:solidFill>
              </a:rPr>
              <a:t>feedback loops</a:t>
            </a:r>
            <a:endParaRPr/>
          </a:p>
        </p:txBody>
      </p:sp>
      <p:sp>
        <p:nvSpPr>
          <p:cNvPr id="1958720962" name="Rectangle 1426602610"/>
          <p:cNvSpPr>
            <a:spLocks noGrp="1"/>
          </p:cNvSpPr>
          <p:nvPr/>
        </p:nvSpPr>
        <p:spPr bwMode="auto">
          <a:xfrm>
            <a:off x="6496050" y="4705350"/>
            <a:ext cx="1914525" cy="304800"/>
          </a:xfrm>
          <a:prstGeom prst="rect">
            <a:avLst/>
          </a:prstGeom>
          <a:noFill/>
          <a:ln w="0">
            <a:noFill/>
            <a:prstDash val="solid"/>
          </a:ln>
        </p:spPr>
        <p:txBody>
          <a:bodyPr/>
          <a:lstStyle/>
          <a:p>
            <a:pPr algn="ctr">
              <a:buNone/>
              <a:defRPr sz="1300" b="0">
                <a:solidFill>
                  <a:srgbClr val="667085"/>
                </a:solidFill>
              </a:defRPr>
            </a:pPr>
            <a:r>
              <a:rPr sz="1300" b="0">
                <a:solidFill>
                  <a:srgbClr val="667085"/>
                </a:solidFill>
              </a:rPr>
              <a:t>alignment compute</a:t>
            </a:r>
            <a:endParaRPr/>
          </a:p>
        </p:txBody>
      </p:sp>
      <p:sp>
        <p:nvSpPr>
          <p:cNvPr id="1919096610" name="Rectangle: Rounded Corners 1132936319"/>
          <p:cNvSpPr>
            <a:spLocks noGrp="1"/>
          </p:cNvSpPr>
          <p:nvPr/>
        </p:nvSpPr>
        <p:spPr bwMode="auto">
          <a:xfrm>
            <a:off x="8896350" y="2400300"/>
            <a:ext cx="2333625" cy="2819400"/>
          </a:xfrm>
          <a:prstGeom prst="roundRect">
            <a:avLst>
              <a:gd name="adj" fmla="val 4898"/>
            </a:avLst>
          </a:prstGeom>
          <a:solidFill>
            <a:srgbClr val="FFFFFF"/>
          </a:solidFill>
          <a:ln w="14288">
            <a:solidFill>
              <a:srgbClr val="E2E8F0"/>
            </a:solidFill>
            <a:prstDash val="solid"/>
          </a:ln>
        </p:spPr>
        <p:txBody>
          <a:bodyPr/>
          <a:lstStyle/>
          <a:p>
            <a:pPr>
              <a:buNone/>
              <a:defRPr/>
            </a:pPr>
            <a:endParaRPr/>
          </a:p>
        </p:txBody>
      </p:sp>
      <p:sp>
        <p:nvSpPr>
          <p:cNvPr id="1828959624" name="Oval 848102302"/>
          <p:cNvSpPr>
            <a:spLocks noGrp="1"/>
          </p:cNvSpPr>
          <p:nvPr/>
        </p:nvSpPr>
        <p:spPr bwMode="auto">
          <a:xfrm>
            <a:off x="9639300" y="2705100"/>
            <a:ext cx="723900" cy="723900"/>
          </a:xfrm>
          <a:prstGeom prst="ellipse">
            <a:avLst/>
          </a:prstGeom>
          <a:solidFill>
            <a:srgbClr val="FFFFFF"/>
          </a:solidFill>
          <a:ln w="14288">
            <a:solidFill>
              <a:srgbClr val="2563EB"/>
            </a:solidFill>
            <a:prstDash val="solid"/>
          </a:ln>
        </p:spPr>
        <p:txBody>
          <a:bodyPr/>
          <a:lstStyle/>
          <a:p>
            <a:pPr>
              <a:buNone/>
              <a:defRPr/>
            </a:pPr>
            <a:endParaRPr/>
          </a:p>
        </p:txBody>
      </p:sp>
      <p:sp>
        <p:nvSpPr>
          <p:cNvPr id="1038891522" name="Straight Connector 2140277386"/>
          <p:cNvSpPr>
            <a:spLocks noGrp="1"/>
          </p:cNvSpPr>
          <p:nvPr/>
        </p:nvSpPr>
        <p:spPr bwMode="auto">
          <a:xfrm>
            <a:off x="10001250" y="2857500"/>
            <a:ext cx="9525" cy="209550"/>
          </a:xfrm>
          <a:prstGeom prst="line">
            <a:avLst/>
          </a:prstGeom>
          <a:noFill/>
          <a:ln w="28575">
            <a:solidFill>
              <a:srgbClr val="2563EB"/>
            </a:solidFill>
            <a:prstDash val="solid"/>
          </a:ln>
        </p:spPr>
        <p:txBody>
          <a:bodyPr/>
          <a:lstStyle/>
          <a:p>
            <a:pPr>
              <a:buNone/>
              <a:defRPr/>
            </a:pPr>
            <a:endParaRPr/>
          </a:p>
        </p:txBody>
      </p:sp>
      <p:sp>
        <p:nvSpPr>
          <p:cNvPr id="10449026" name="Straight Connector 546058830"/>
          <p:cNvSpPr>
            <a:spLocks noGrp="1"/>
          </p:cNvSpPr>
          <p:nvPr/>
        </p:nvSpPr>
        <p:spPr bwMode="auto">
          <a:xfrm>
            <a:off x="10001250" y="3067050"/>
            <a:ext cx="200025" cy="57150"/>
          </a:xfrm>
          <a:prstGeom prst="line">
            <a:avLst/>
          </a:prstGeom>
          <a:noFill/>
          <a:ln w="28575">
            <a:solidFill>
              <a:srgbClr val="2563EB"/>
            </a:solidFill>
            <a:prstDash val="solid"/>
          </a:ln>
        </p:spPr>
        <p:txBody>
          <a:bodyPr/>
          <a:lstStyle/>
          <a:p>
            <a:pPr>
              <a:buNone/>
              <a:defRPr/>
            </a:pPr>
            <a:endParaRPr/>
          </a:p>
        </p:txBody>
      </p:sp>
      <p:sp>
        <p:nvSpPr>
          <p:cNvPr id="2105161411" name="Straight Connector 634911421"/>
          <p:cNvSpPr>
            <a:spLocks noGrp="1"/>
          </p:cNvSpPr>
          <p:nvPr/>
        </p:nvSpPr>
        <p:spPr bwMode="auto">
          <a:xfrm>
            <a:off x="10382250" y="3067050"/>
            <a:ext cx="266700" cy="9525"/>
          </a:xfrm>
          <a:prstGeom prst="line">
            <a:avLst/>
          </a:prstGeom>
          <a:noFill/>
          <a:ln w="23813">
            <a:solidFill>
              <a:srgbClr val="2563EB"/>
            </a:solidFill>
            <a:prstDash val="solid"/>
          </a:ln>
        </p:spPr>
        <p:txBody>
          <a:bodyPr/>
          <a:lstStyle/>
          <a:p>
            <a:pPr>
              <a:buNone/>
              <a:defRPr/>
            </a:pPr>
            <a:endParaRPr/>
          </a:p>
        </p:txBody>
      </p:sp>
      <p:sp>
        <p:nvSpPr>
          <p:cNvPr id="923908997" name="Rectangle 253059330"/>
          <p:cNvSpPr>
            <a:spLocks noGrp="1"/>
          </p:cNvSpPr>
          <p:nvPr/>
        </p:nvSpPr>
        <p:spPr bwMode="auto">
          <a:xfrm>
            <a:off x="9086850" y="3600450"/>
            <a:ext cx="1952625" cy="323850"/>
          </a:xfrm>
          <a:prstGeom prst="rect">
            <a:avLst/>
          </a:prstGeom>
          <a:noFill/>
          <a:ln w="0">
            <a:noFill/>
            <a:prstDash val="solid"/>
          </a:ln>
        </p:spPr>
        <p:txBody>
          <a:bodyPr/>
          <a:lstStyle/>
          <a:p>
            <a:pPr algn="ctr">
              <a:buNone/>
              <a:defRPr sz="1900" b="1">
                <a:solidFill>
                  <a:srgbClr val="7C3AED"/>
                </a:solidFill>
              </a:defRPr>
            </a:pPr>
            <a:r>
              <a:rPr sz="1900" b="1">
                <a:solidFill>
                  <a:srgbClr val="7C3AED"/>
                </a:solidFill>
              </a:rPr>
              <a:t>test-time</a:t>
            </a:r>
            <a:endParaRPr/>
          </a:p>
        </p:txBody>
      </p:sp>
      <p:sp>
        <p:nvSpPr>
          <p:cNvPr id="774668373" name="Rectangle 1961211258"/>
          <p:cNvSpPr>
            <a:spLocks noGrp="1"/>
          </p:cNvSpPr>
          <p:nvPr/>
        </p:nvSpPr>
        <p:spPr bwMode="auto">
          <a:xfrm>
            <a:off x="9105900" y="4019550"/>
            <a:ext cx="1914525" cy="533400"/>
          </a:xfrm>
          <a:prstGeom prst="rect">
            <a:avLst/>
          </a:prstGeom>
          <a:noFill/>
          <a:ln w="0">
            <a:noFill/>
            <a:prstDash val="solid"/>
          </a:ln>
        </p:spPr>
        <p:txBody>
          <a:bodyPr/>
          <a:lstStyle/>
          <a:p>
            <a:pPr algn="ctr">
              <a:buNone/>
              <a:defRPr sz="1450" b="0">
                <a:solidFill>
                  <a:srgbClr val="0B0F19"/>
                </a:solidFill>
              </a:defRPr>
            </a:pPr>
            <a:r>
              <a:rPr sz="1450" b="0">
                <a:solidFill>
                  <a:srgbClr val="0B0F19"/>
                </a:solidFill>
              </a:rPr>
              <a:t>think longer</a:t>
            </a:r>
            <a:endParaRPr/>
          </a:p>
          <a:p>
            <a:pPr algn="ctr">
              <a:buNone/>
              <a:defRPr sz="1450" b="0">
                <a:solidFill>
                  <a:srgbClr val="0B0F19"/>
                </a:solidFill>
              </a:defRPr>
            </a:pPr>
            <a:r>
              <a:rPr sz="1450" b="0">
                <a:solidFill>
                  <a:srgbClr val="0B0F19"/>
                </a:solidFill>
              </a:rPr>
              <a:t>before answer</a:t>
            </a:r>
            <a:endParaRPr/>
          </a:p>
        </p:txBody>
      </p:sp>
      <p:sp>
        <p:nvSpPr>
          <p:cNvPr id="324263850" name="Rectangle 902052220"/>
          <p:cNvSpPr>
            <a:spLocks noGrp="1"/>
          </p:cNvSpPr>
          <p:nvPr/>
        </p:nvSpPr>
        <p:spPr bwMode="auto">
          <a:xfrm>
            <a:off x="9105900" y="4705350"/>
            <a:ext cx="1914525" cy="304800"/>
          </a:xfrm>
          <a:prstGeom prst="rect">
            <a:avLst/>
          </a:prstGeom>
          <a:noFill/>
          <a:ln w="0">
            <a:noFill/>
            <a:prstDash val="solid"/>
          </a:ln>
        </p:spPr>
        <p:txBody>
          <a:bodyPr/>
          <a:lstStyle/>
          <a:p>
            <a:pPr algn="ctr">
              <a:buNone/>
              <a:defRPr sz="1300" b="0">
                <a:solidFill>
                  <a:srgbClr val="667085"/>
                </a:solidFill>
              </a:defRPr>
            </a:pPr>
            <a:r>
              <a:rPr sz="1300" b="0">
                <a:solidFill>
                  <a:srgbClr val="667085"/>
                </a:solidFill>
              </a:rPr>
              <a:t>inference compute</a:t>
            </a:r>
            <a:endParaRPr/>
          </a:p>
        </p:txBody>
      </p:sp>
      <p:sp>
        <p:nvSpPr>
          <p:cNvPr id="1393041445" name="Rectangle 110604859"/>
          <p:cNvSpPr>
            <a:spLocks noGrp="1"/>
          </p:cNvSpPr>
          <p:nvPr/>
        </p:nvSpPr>
        <p:spPr bwMode="auto">
          <a:xfrm>
            <a:off x="3048000" y="5448300"/>
            <a:ext cx="6096000" cy="323850"/>
          </a:xfrm>
          <a:prstGeom prst="rect">
            <a:avLst/>
          </a:prstGeom>
          <a:noFill/>
          <a:ln w="0">
            <a:noFill/>
            <a:prstDash val="solid"/>
          </a:ln>
        </p:spPr>
        <p:txBody>
          <a:bodyPr/>
          <a:lstStyle/>
          <a:p>
            <a:pPr algn="ctr">
              <a:buNone/>
              <a:defRPr sz="2050" b="1">
                <a:solidFill>
                  <a:srgbClr val="0B0F19"/>
                </a:solidFill>
              </a:defRPr>
            </a:pPr>
            <a:r>
              <a:rPr sz="2050" b="1">
                <a:solidFill>
                  <a:srgbClr val="0B0F19"/>
                </a:solidFill>
              </a:rPr>
              <a:t>Trend: scale the whole compute budget</a:t>
            </a:r>
            <a:endParaRPr/>
          </a:p>
        </p:txBody>
      </p:sp>
      <p:sp>
        <p:nvSpPr>
          <p:cNvPr id="1716431276" name="Rectangle 157065908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70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60798696" name="Rectangle 1748329787"/>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Compression</a:t>
            </a:r>
            <a:endParaRPr/>
          </a:p>
        </p:txBody>
      </p:sp>
      <p:sp>
        <p:nvSpPr>
          <p:cNvPr id="1699343582" name="Rectangle 1611343531"/>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Teacher-student distillation transfers behavior</a:t>
            </a:r>
            <a:endParaRPr/>
          </a:p>
        </p:txBody>
      </p:sp>
      <p:sp>
        <p:nvSpPr>
          <p:cNvPr id="275099801" name="Rectangle: Rounded Corners 1015940866"/>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buNone/>
              <a:defRPr/>
            </a:pPr>
            <a:endParaRPr/>
          </a:p>
        </p:txBody>
      </p:sp>
      <p:sp>
        <p:nvSpPr>
          <p:cNvPr id="413122156" name="Rectangle: Rounded Corners 1808652943"/>
          <p:cNvSpPr>
            <a:spLocks noGrp="1"/>
          </p:cNvSpPr>
          <p:nvPr/>
        </p:nvSpPr>
        <p:spPr bwMode="auto">
          <a:xfrm>
            <a:off x="1390650" y="2571750"/>
            <a:ext cx="1562100" cy="533400"/>
          </a:xfrm>
          <a:prstGeom prst="roundRect">
            <a:avLst>
              <a:gd name="adj" fmla="val 21429"/>
            </a:avLst>
          </a:prstGeom>
          <a:solidFill>
            <a:srgbClr val="EEF2F7"/>
          </a:solidFill>
          <a:ln w="11430">
            <a:solidFill>
              <a:srgbClr val="CBD5E1"/>
            </a:solidFill>
            <a:prstDash val="solid"/>
          </a:ln>
        </p:spPr>
        <p:txBody>
          <a:bodyPr/>
          <a:lstStyle/>
          <a:p>
            <a:pPr>
              <a:buNone/>
              <a:defRPr/>
            </a:pPr>
            <a:endParaRPr/>
          </a:p>
        </p:txBody>
      </p:sp>
      <p:sp>
        <p:nvSpPr>
          <p:cNvPr id="1424490315" name="Rectangle: Rounded Corners 1081078089"/>
          <p:cNvSpPr>
            <a:spLocks noGrp="1"/>
          </p:cNvSpPr>
          <p:nvPr/>
        </p:nvSpPr>
        <p:spPr bwMode="auto">
          <a:xfrm>
            <a:off x="1485900" y="2447925"/>
            <a:ext cx="1562100" cy="533400"/>
          </a:xfrm>
          <a:prstGeom prst="roundRect">
            <a:avLst>
              <a:gd name="adj" fmla="val 21429"/>
            </a:avLst>
          </a:prstGeom>
          <a:solidFill>
            <a:srgbClr val="EEF2F7"/>
          </a:solidFill>
          <a:ln w="11430">
            <a:solidFill>
              <a:srgbClr val="CBD5E1"/>
            </a:solidFill>
            <a:prstDash val="solid"/>
          </a:ln>
        </p:spPr>
        <p:txBody>
          <a:bodyPr/>
          <a:lstStyle/>
          <a:p>
            <a:pPr>
              <a:buNone/>
              <a:defRPr/>
            </a:pPr>
            <a:endParaRPr/>
          </a:p>
        </p:txBody>
      </p:sp>
      <p:sp>
        <p:nvSpPr>
          <p:cNvPr id="334607719" name="Rectangle: Rounded Corners 492680344"/>
          <p:cNvSpPr>
            <a:spLocks noGrp="1"/>
          </p:cNvSpPr>
          <p:nvPr/>
        </p:nvSpPr>
        <p:spPr bwMode="auto">
          <a:xfrm>
            <a:off x="1581150" y="2324100"/>
            <a:ext cx="1562100" cy="533400"/>
          </a:xfrm>
          <a:prstGeom prst="roundRect">
            <a:avLst>
              <a:gd name="adj" fmla="val 21429"/>
            </a:avLst>
          </a:prstGeom>
          <a:solidFill>
            <a:srgbClr val="EEF2F7"/>
          </a:solidFill>
          <a:ln w="11430">
            <a:solidFill>
              <a:srgbClr val="CBD5E1"/>
            </a:solidFill>
            <a:prstDash val="solid"/>
          </a:ln>
        </p:spPr>
        <p:txBody>
          <a:bodyPr/>
          <a:lstStyle/>
          <a:p>
            <a:pPr>
              <a:buNone/>
              <a:defRPr/>
            </a:pPr>
            <a:endParaRPr/>
          </a:p>
        </p:txBody>
      </p:sp>
      <p:sp>
        <p:nvSpPr>
          <p:cNvPr id="1051293692" name="Rectangle: Rounded Corners 1482722514"/>
          <p:cNvSpPr>
            <a:spLocks noGrp="1"/>
          </p:cNvSpPr>
          <p:nvPr/>
        </p:nvSpPr>
        <p:spPr bwMode="auto">
          <a:xfrm>
            <a:off x="1676400" y="2200275"/>
            <a:ext cx="1562100" cy="533400"/>
          </a:xfrm>
          <a:prstGeom prst="roundRect">
            <a:avLst>
              <a:gd name="adj" fmla="val 21429"/>
            </a:avLst>
          </a:prstGeom>
          <a:solidFill>
            <a:srgbClr val="EEF2F7"/>
          </a:solidFill>
          <a:ln w="11430">
            <a:solidFill>
              <a:srgbClr val="CBD5E1"/>
            </a:solidFill>
            <a:prstDash val="solid"/>
          </a:ln>
        </p:spPr>
        <p:txBody>
          <a:bodyPr/>
          <a:lstStyle/>
          <a:p>
            <a:pPr>
              <a:buNone/>
              <a:defRPr/>
            </a:pPr>
            <a:endParaRPr/>
          </a:p>
        </p:txBody>
      </p:sp>
      <p:sp>
        <p:nvSpPr>
          <p:cNvPr id="760064785" name="Rectangle: Rounded Corners 121026446"/>
          <p:cNvSpPr>
            <a:spLocks noGrp="1"/>
          </p:cNvSpPr>
          <p:nvPr/>
        </p:nvSpPr>
        <p:spPr bwMode="auto">
          <a:xfrm>
            <a:off x="1771650" y="2076450"/>
            <a:ext cx="1562100" cy="533400"/>
          </a:xfrm>
          <a:prstGeom prst="roundRect">
            <a:avLst>
              <a:gd name="adj" fmla="val 21429"/>
            </a:avLst>
          </a:prstGeom>
          <a:solidFill>
            <a:srgbClr val="FFFFFF"/>
          </a:solidFill>
          <a:ln w="20955">
            <a:solidFill>
              <a:srgbClr val="7C3AED"/>
            </a:solidFill>
            <a:prstDash val="solid"/>
          </a:ln>
        </p:spPr>
        <p:txBody>
          <a:bodyPr/>
          <a:lstStyle/>
          <a:p>
            <a:pPr>
              <a:buNone/>
              <a:defRPr/>
            </a:pPr>
            <a:endParaRPr/>
          </a:p>
        </p:txBody>
      </p:sp>
      <p:sp>
        <p:nvSpPr>
          <p:cNvPr id="744177117" name="Rectangle 163980103"/>
          <p:cNvSpPr>
            <a:spLocks noGrp="1"/>
          </p:cNvSpPr>
          <p:nvPr/>
        </p:nvSpPr>
        <p:spPr bwMode="auto">
          <a:xfrm>
            <a:off x="1181099" y="3467100"/>
            <a:ext cx="2286000" cy="304800"/>
          </a:xfrm>
          <a:prstGeom prst="rect">
            <a:avLst/>
          </a:prstGeom>
          <a:noFill/>
          <a:ln w="0">
            <a:noFill/>
            <a:prstDash val="solid"/>
          </a:ln>
        </p:spPr>
        <p:txBody>
          <a:bodyPr/>
          <a:lstStyle/>
          <a:p>
            <a:pPr algn="ctr">
              <a:buNone/>
              <a:defRPr sz="2050" b="1">
                <a:solidFill>
                  <a:srgbClr val="7C3AED"/>
                </a:solidFill>
              </a:defRPr>
            </a:pPr>
            <a:r>
              <a:rPr sz="2050" b="1">
                <a:solidFill>
                  <a:srgbClr val="7C3AED"/>
                </a:solidFill>
              </a:rPr>
              <a:t>teacher</a:t>
            </a:r>
            <a:endParaRPr/>
          </a:p>
        </p:txBody>
      </p:sp>
      <p:sp>
        <p:nvSpPr>
          <p:cNvPr id="113743909" name="Rectangle 693850306"/>
          <p:cNvSpPr>
            <a:spLocks noGrp="1"/>
          </p:cNvSpPr>
          <p:nvPr/>
        </p:nvSpPr>
        <p:spPr bwMode="auto">
          <a:xfrm>
            <a:off x="1181099" y="3848100"/>
            <a:ext cx="2286000" cy="2857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large, expensive</a:t>
            </a:r>
            <a:endParaRPr/>
          </a:p>
        </p:txBody>
      </p:sp>
      <p:sp>
        <p:nvSpPr>
          <p:cNvPr id="1644522852" name="Straight Connector 1622472842"/>
          <p:cNvSpPr>
            <a:spLocks noGrp="1"/>
          </p:cNvSpPr>
          <p:nvPr/>
        </p:nvSpPr>
        <p:spPr bwMode="auto">
          <a:xfrm>
            <a:off x="3429000" y="2838450"/>
            <a:ext cx="1047750" cy="9525"/>
          </a:xfrm>
          <a:prstGeom prst="line">
            <a:avLst/>
          </a:prstGeom>
          <a:noFill/>
          <a:ln w="28575">
            <a:solidFill>
              <a:srgbClr val="CBD5E1"/>
            </a:solidFill>
            <a:prstDash val="solid"/>
          </a:ln>
        </p:spPr>
        <p:txBody>
          <a:bodyPr/>
          <a:lstStyle/>
          <a:p>
            <a:pPr>
              <a:buNone/>
              <a:defRPr/>
            </a:pPr>
            <a:endParaRPr/>
          </a:p>
        </p:txBody>
      </p:sp>
      <p:sp>
        <p:nvSpPr>
          <p:cNvPr id="289422246" name="Rectangle: Rounded Corners 1311020404"/>
          <p:cNvSpPr>
            <a:spLocks noGrp="1"/>
          </p:cNvSpPr>
          <p:nvPr/>
        </p:nvSpPr>
        <p:spPr bwMode="auto">
          <a:xfrm>
            <a:off x="4629150" y="2000250"/>
            <a:ext cx="2705100" cy="666750"/>
          </a:xfrm>
          <a:prstGeom prst="roundRect">
            <a:avLst>
              <a:gd name="adj" fmla="val 17143"/>
            </a:avLst>
          </a:prstGeom>
          <a:solidFill>
            <a:srgbClr val="FFFFFF"/>
          </a:solidFill>
          <a:ln w="20955">
            <a:solidFill>
              <a:srgbClr val="F97316"/>
            </a:solidFill>
            <a:prstDash val="solid"/>
          </a:ln>
        </p:spPr>
        <p:txBody>
          <a:bodyPr/>
          <a:lstStyle/>
          <a:p>
            <a:pPr algn="ctr">
              <a:buNone/>
              <a:defRPr sz="1900" b="1">
                <a:solidFill>
                  <a:srgbClr val="F97316"/>
                </a:solidFill>
              </a:defRPr>
            </a:pPr>
            <a:r>
              <a:rPr sz="1900" b="1">
                <a:solidFill>
                  <a:srgbClr val="F97316"/>
                </a:solidFill>
              </a:rPr>
              <a:t>soft targets</a:t>
            </a:r>
            <a:endParaRPr/>
          </a:p>
        </p:txBody>
      </p:sp>
      <p:sp>
        <p:nvSpPr>
          <p:cNvPr id="282827599" name="Rectangle 481459380"/>
          <p:cNvSpPr>
            <a:spLocks noGrp="1"/>
          </p:cNvSpPr>
          <p:nvPr/>
        </p:nvSpPr>
        <p:spPr bwMode="auto">
          <a:xfrm>
            <a:off x="4362450" y="2781300"/>
            <a:ext cx="323850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probabilities carry extra signal</a:t>
            </a:r>
            <a:endParaRPr/>
          </a:p>
        </p:txBody>
      </p:sp>
      <p:sp>
        <p:nvSpPr>
          <p:cNvPr id="586063504" name="Rectangle: Rounded Corners 1942037177"/>
          <p:cNvSpPr>
            <a:spLocks noGrp="1"/>
          </p:cNvSpPr>
          <p:nvPr/>
        </p:nvSpPr>
        <p:spPr bwMode="auto">
          <a:xfrm>
            <a:off x="4191000" y="3476625"/>
            <a:ext cx="876299" cy="495300"/>
          </a:xfrm>
          <a:prstGeom prst="roundRect">
            <a:avLst>
              <a:gd name="adj" fmla="val 23077"/>
            </a:avLst>
          </a:prstGeom>
          <a:solidFill>
            <a:srgbClr val="FFFFFF"/>
          </a:solidFill>
          <a:ln w="17145">
            <a:solidFill>
              <a:srgbClr val="F97316"/>
            </a:solidFill>
            <a:prstDash val="solid"/>
          </a:ln>
        </p:spPr>
        <p:txBody>
          <a:bodyPr/>
          <a:lstStyle/>
          <a:p>
            <a:pPr algn="ctr">
              <a:buNone/>
              <a:defRPr sz="1450" b="1">
                <a:solidFill>
                  <a:srgbClr val="0B0F19"/>
                </a:solidFill>
              </a:defRPr>
            </a:pPr>
            <a:r>
              <a:rPr sz="1450" b="1">
                <a:solidFill>
                  <a:srgbClr val="0B0F19"/>
                </a:solidFill>
              </a:rPr>
              <a:t>cat .62</a:t>
            </a:r>
            <a:endParaRPr/>
          </a:p>
        </p:txBody>
      </p:sp>
      <p:sp>
        <p:nvSpPr>
          <p:cNvPr id="1087146843" name="Rectangle: Rounded Corners 75602190"/>
          <p:cNvSpPr>
            <a:spLocks noGrp="1"/>
          </p:cNvSpPr>
          <p:nvPr/>
        </p:nvSpPr>
        <p:spPr bwMode="auto">
          <a:xfrm>
            <a:off x="5219700" y="3476625"/>
            <a:ext cx="876299" cy="495300"/>
          </a:xfrm>
          <a:prstGeom prst="roundRect">
            <a:avLst>
              <a:gd name="adj" fmla="val 23077"/>
            </a:avLst>
          </a:prstGeom>
          <a:solidFill>
            <a:srgbClr val="FFFFFF"/>
          </a:solidFill>
          <a:ln w="17145">
            <a:solidFill>
              <a:srgbClr val="F97316"/>
            </a:solidFill>
            <a:prstDash val="solid"/>
          </a:ln>
        </p:spPr>
        <p:txBody>
          <a:bodyPr/>
          <a:lstStyle/>
          <a:p>
            <a:pPr algn="ctr">
              <a:buNone/>
              <a:defRPr sz="1450" b="1">
                <a:solidFill>
                  <a:srgbClr val="0B0F19"/>
                </a:solidFill>
              </a:defRPr>
            </a:pPr>
            <a:r>
              <a:rPr sz="1450" b="1">
                <a:solidFill>
                  <a:srgbClr val="0B0F19"/>
                </a:solidFill>
              </a:rPr>
              <a:t>dog .21</a:t>
            </a:r>
            <a:endParaRPr/>
          </a:p>
        </p:txBody>
      </p:sp>
      <p:sp>
        <p:nvSpPr>
          <p:cNvPr id="438796010" name="Rectangle: Rounded Corners 1789658254"/>
          <p:cNvSpPr>
            <a:spLocks noGrp="1"/>
          </p:cNvSpPr>
          <p:nvPr/>
        </p:nvSpPr>
        <p:spPr bwMode="auto">
          <a:xfrm>
            <a:off x="6248400" y="3476625"/>
            <a:ext cx="876299" cy="495300"/>
          </a:xfrm>
          <a:prstGeom prst="roundRect">
            <a:avLst>
              <a:gd name="adj" fmla="val 23077"/>
            </a:avLst>
          </a:prstGeom>
          <a:solidFill>
            <a:srgbClr val="FFFFFF"/>
          </a:solidFill>
          <a:ln w="17145">
            <a:solidFill>
              <a:srgbClr val="F97316"/>
            </a:solidFill>
            <a:prstDash val="solid"/>
          </a:ln>
        </p:spPr>
        <p:txBody>
          <a:bodyPr/>
          <a:lstStyle/>
          <a:p>
            <a:pPr algn="ctr">
              <a:buNone/>
              <a:defRPr sz="1450" b="1">
                <a:solidFill>
                  <a:srgbClr val="0B0F19"/>
                </a:solidFill>
              </a:defRPr>
            </a:pPr>
            <a:r>
              <a:rPr sz="1450" b="1">
                <a:solidFill>
                  <a:srgbClr val="0B0F19"/>
                </a:solidFill>
              </a:rPr>
              <a:t>fox .09</a:t>
            </a:r>
            <a:endParaRPr/>
          </a:p>
        </p:txBody>
      </p:sp>
      <p:sp>
        <p:nvSpPr>
          <p:cNvPr id="1926523031" name="Rectangle: Rounded Corners 1953288476"/>
          <p:cNvSpPr>
            <a:spLocks noGrp="1"/>
          </p:cNvSpPr>
          <p:nvPr/>
        </p:nvSpPr>
        <p:spPr bwMode="auto">
          <a:xfrm>
            <a:off x="7277100" y="3476625"/>
            <a:ext cx="876299" cy="495300"/>
          </a:xfrm>
          <a:prstGeom prst="roundRect">
            <a:avLst>
              <a:gd name="adj" fmla="val 23077"/>
            </a:avLst>
          </a:prstGeom>
          <a:solidFill>
            <a:srgbClr val="FFFFFF"/>
          </a:solidFill>
          <a:ln w="17145">
            <a:solidFill>
              <a:srgbClr val="F97316"/>
            </a:solidFill>
            <a:prstDash val="solid"/>
          </a:ln>
        </p:spPr>
        <p:txBody>
          <a:bodyPr/>
          <a:lstStyle/>
          <a:p>
            <a:pPr algn="ctr">
              <a:buNone/>
              <a:defRPr sz="1450" b="1">
                <a:solidFill>
                  <a:srgbClr val="0B0F19"/>
                </a:solidFill>
              </a:defRPr>
            </a:pPr>
            <a:r>
              <a:rPr sz="1450" b="1">
                <a:solidFill>
                  <a:srgbClr val="0B0F19"/>
                </a:solidFill>
              </a:rPr>
              <a:t>...</a:t>
            </a:r>
            <a:endParaRPr/>
          </a:p>
        </p:txBody>
      </p:sp>
      <p:sp>
        <p:nvSpPr>
          <p:cNvPr id="383511455" name="Straight Connector 319643796"/>
          <p:cNvSpPr>
            <a:spLocks noGrp="1"/>
          </p:cNvSpPr>
          <p:nvPr/>
        </p:nvSpPr>
        <p:spPr bwMode="auto">
          <a:xfrm>
            <a:off x="7848600" y="2838450"/>
            <a:ext cx="895350" cy="9525"/>
          </a:xfrm>
          <a:prstGeom prst="line">
            <a:avLst/>
          </a:prstGeom>
          <a:noFill/>
          <a:ln w="28575">
            <a:solidFill>
              <a:srgbClr val="CBD5E1"/>
            </a:solidFill>
            <a:prstDash val="solid"/>
          </a:ln>
        </p:spPr>
        <p:txBody>
          <a:bodyPr/>
          <a:lstStyle/>
          <a:p>
            <a:pPr>
              <a:buNone/>
              <a:defRPr/>
            </a:pPr>
            <a:endParaRPr/>
          </a:p>
        </p:txBody>
      </p:sp>
      <p:sp>
        <p:nvSpPr>
          <p:cNvPr id="735018965" name="Rectangle: Rounded Corners 647942513"/>
          <p:cNvSpPr>
            <a:spLocks noGrp="1"/>
          </p:cNvSpPr>
          <p:nvPr/>
        </p:nvSpPr>
        <p:spPr bwMode="auto">
          <a:xfrm>
            <a:off x="8972550" y="2819400"/>
            <a:ext cx="1562100" cy="533400"/>
          </a:xfrm>
          <a:prstGeom prst="roundRect">
            <a:avLst>
              <a:gd name="adj" fmla="val 21429"/>
            </a:avLst>
          </a:prstGeom>
          <a:solidFill>
            <a:srgbClr val="EEF2F7"/>
          </a:solidFill>
          <a:ln w="11430">
            <a:solidFill>
              <a:srgbClr val="CBD5E1"/>
            </a:solidFill>
            <a:prstDash val="solid"/>
          </a:ln>
        </p:spPr>
        <p:txBody>
          <a:bodyPr/>
          <a:lstStyle/>
          <a:p>
            <a:pPr>
              <a:buNone/>
              <a:defRPr/>
            </a:pPr>
            <a:endParaRPr/>
          </a:p>
        </p:txBody>
      </p:sp>
      <p:sp>
        <p:nvSpPr>
          <p:cNvPr id="325782053" name="Rectangle: Rounded Corners 636131648"/>
          <p:cNvSpPr>
            <a:spLocks noGrp="1"/>
          </p:cNvSpPr>
          <p:nvPr/>
        </p:nvSpPr>
        <p:spPr bwMode="auto">
          <a:xfrm>
            <a:off x="9067800" y="2695575"/>
            <a:ext cx="1562100" cy="533400"/>
          </a:xfrm>
          <a:prstGeom prst="roundRect">
            <a:avLst>
              <a:gd name="adj" fmla="val 21429"/>
            </a:avLst>
          </a:prstGeom>
          <a:solidFill>
            <a:srgbClr val="EEF2F7"/>
          </a:solidFill>
          <a:ln w="11430">
            <a:solidFill>
              <a:srgbClr val="CBD5E1"/>
            </a:solidFill>
            <a:prstDash val="solid"/>
          </a:ln>
        </p:spPr>
        <p:txBody>
          <a:bodyPr/>
          <a:lstStyle/>
          <a:p>
            <a:pPr>
              <a:buNone/>
              <a:defRPr/>
            </a:pPr>
            <a:endParaRPr/>
          </a:p>
        </p:txBody>
      </p:sp>
      <p:sp>
        <p:nvSpPr>
          <p:cNvPr id="1949947506" name="Rectangle: Rounded Corners 261513705"/>
          <p:cNvSpPr>
            <a:spLocks noGrp="1"/>
          </p:cNvSpPr>
          <p:nvPr/>
        </p:nvSpPr>
        <p:spPr bwMode="auto">
          <a:xfrm>
            <a:off x="9163050" y="2571750"/>
            <a:ext cx="1562100" cy="533400"/>
          </a:xfrm>
          <a:prstGeom prst="roundRect">
            <a:avLst>
              <a:gd name="adj" fmla="val 21429"/>
            </a:avLst>
          </a:prstGeom>
          <a:solidFill>
            <a:srgbClr val="FFFFFF"/>
          </a:solidFill>
          <a:ln w="20955">
            <a:solidFill>
              <a:srgbClr val="10B981"/>
            </a:solidFill>
            <a:prstDash val="solid"/>
          </a:ln>
        </p:spPr>
        <p:txBody>
          <a:bodyPr/>
          <a:lstStyle/>
          <a:p>
            <a:pPr>
              <a:buNone/>
              <a:defRPr/>
            </a:pPr>
            <a:endParaRPr/>
          </a:p>
        </p:txBody>
      </p:sp>
      <p:sp>
        <p:nvSpPr>
          <p:cNvPr id="714183739" name="Rectangle 1466779702"/>
          <p:cNvSpPr>
            <a:spLocks noGrp="1"/>
          </p:cNvSpPr>
          <p:nvPr/>
        </p:nvSpPr>
        <p:spPr bwMode="auto">
          <a:xfrm>
            <a:off x="8763000" y="3714750"/>
            <a:ext cx="2286000" cy="304800"/>
          </a:xfrm>
          <a:prstGeom prst="rect">
            <a:avLst/>
          </a:prstGeom>
          <a:noFill/>
          <a:ln w="0">
            <a:noFill/>
            <a:prstDash val="solid"/>
          </a:ln>
        </p:spPr>
        <p:txBody>
          <a:bodyPr/>
          <a:lstStyle/>
          <a:p>
            <a:pPr algn="ctr">
              <a:buNone/>
              <a:defRPr sz="2050" b="1">
                <a:solidFill>
                  <a:srgbClr val="10B981"/>
                </a:solidFill>
              </a:defRPr>
            </a:pPr>
            <a:r>
              <a:rPr sz="2050" b="1">
                <a:solidFill>
                  <a:srgbClr val="10B981"/>
                </a:solidFill>
              </a:rPr>
              <a:t>student</a:t>
            </a:r>
            <a:endParaRPr/>
          </a:p>
        </p:txBody>
      </p:sp>
      <p:sp>
        <p:nvSpPr>
          <p:cNvPr id="535987743" name="Rectangle 2140567318"/>
          <p:cNvSpPr>
            <a:spLocks noGrp="1"/>
          </p:cNvSpPr>
          <p:nvPr/>
        </p:nvSpPr>
        <p:spPr bwMode="auto">
          <a:xfrm>
            <a:off x="8763000" y="4095750"/>
            <a:ext cx="2286000" cy="2857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smaller, faster</a:t>
            </a:r>
            <a:endParaRPr/>
          </a:p>
        </p:txBody>
      </p:sp>
      <p:sp>
        <p:nvSpPr>
          <p:cNvPr id="342984073" name="Rectangle 800090932"/>
          <p:cNvSpPr>
            <a:spLocks noGrp="1"/>
          </p:cNvSpPr>
          <p:nvPr/>
        </p:nvSpPr>
        <p:spPr bwMode="auto">
          <a:xfrm>
            <a:off x="3295650" y="4876800"/>
            <a:ext cx="5619750" cy="323850"/>
          </a:xfrm>
          <a:prstGeom prst="rect">
            <a:avLst/>
          </a:prstGeom>
          <a:noFill/>
          <a:ln w="0">
            <a:noFill/>
            <a:prstDash val="solid"/>
          </a:ln>
        </p:spPr>
        <p:txBody>
          <a:bodyPr/>
          <a:lstStyle/>
          <a:p>
            <a:pPr algn="ctr">
              <a:buNone/>
              <a:defRPr sz="2050" b="1">
                <a:solidFill>
                  <a:srgbClr val="0B0F19"/>
                </a:solidFill>
              </a:defRPr>
            </a:pPr>
            <a:r>
              <a:rPr sz="2050" b="1">
                <a:solidFill>
                  <a:srgbClr val="0B0F19"/>
                </a:solidFill>
              </a:rPr>
              <a:t>learn the teacher's output distribution</a:t>
            </a:r>
            <a:endParaRPr/>
          </a:p>
        </p:txBody>
      </p:sp>
      <p:sp>
        <p:nvSpPr>
          <p:cNvPr id="1056881007" name="Oval 663275864"/>
          <p:cNvSpPr>
            <a:spLocks noGrp="1"/>
          </p:cNvSpPr>
          <p:nvPr/>
        </p:nvSpPr>
        <p:spPr bwMode="auto">
          <a:xfrm>
            <a:off x="9534525" y="2038349"/>
            <a:ext cx="171450" cy="171450"/>
          </a:xfrm>
          <a:prstGeom prst="ellipse">
            <a:avLst/>
          </a:prstGeom>
          <a:solidFill>
            <a:srgbClr val="10B981"/>
          </a:solidFill>
          <a:ln w="13335">
            <a:solidFill>
              <a:srgbClr val="10B981"/>
            </a:solidFill>
            <a:prstDash val="solid"/>
          </a:ln>
        </p:spPr>
        <p:txBody>
          <a:bodyPr/>
          <a:lstStyle/>
          <a:p>
            <a:pPr>
              <a:buNone/>
              <a:defRPr/>
            </a:pPr>
            <a:endParaRPr/>
          </a:p>
        </p:txBody>
      </p:sp>
      <p:sp>
        <p:nvSpPr>
          <p:cNvPr id="219578776" name="Oval 302896655"/>
          <p:cNvSpPr>
            <a:spLocks noGrp="1"/>
          </p:cNvSpPr>
          <p:nvPr/>
        </p:nvSpPr>
        <p:spPr bwMode="auto">
          <a:xfrm>
            <a:off x="9820275" y="2038349"/>
            <a:ext cx="171450" cy="171450"/>
          </a:xfrm>
          <a:prstGeom prst="ellipse">
            <a:avLst/>
          </a:prstGeom>
          <a:solidFill>
            <a:srgbClr val="10B981"/>
          </a:solidFill>
          <a:ln w="13335">
            <a:solidFill>
              <a:srgbClr val="10B981"/>
            </a:solidFill>
            <a:prstDash val="solid"/>
          </a:ln>
        </p:spPr>
        <p:txBody>
          <a:bodyPr/>
          <a:lstStyle/>
          <a:p>
            <a:pPr>
              <a:buNone/>
              <a:defRPr/>
            </a:pPr>
            <a:endParaRPr/>
          </a:p>
        </p:txBody>
      </p:sp>
      <p:sp>
        <p:nvSpPr>
          <p:cNvPr id="636917652" name="Oval 1173073258"/>
          <p:cNvSpPr>
            <a:spLocks noGrp="1"/>
          </p:cNvSpPr>
          <p:nvPr/>
        </p:nvSpPr>
        <p:spPr bwMode="auto">
          <a:xfrm>
            <a:off x="10106025" y="2038349"/>
            <a:ext cx="171450" cy="171450"/>
          </a:xfrm>
          <a:prstGeom prst="ellipse">
            <a:avLst/>
          </a:prstGeom>
          <a:solidFill>
            <a:srgbClr val="10B981"/>
          </a:solidFill>
          <a:ln w="13335">
            <a:solidFill>
              <a:srgbClr val="10B981"/>
            </a:solidFill>
            <a:prstDash val="solid"/>
          </a:ln>
        </p:spPr>
        <p:txBody>
          <a:bodyPr/>
          <a:lstStyle/>
          <a:p>
            <a:pPr>
              <a:buNone/>
              <a:defRPr/>
            </a:pPr>
            <a:endParaRPr/>
          </a:p>
        </p:txBody>
      </p:sp>
      <p:sp>
        <p:nvSpPr>
          <p:cNvPr id="532957875" name="Rectangle 1351287707"/>
          <p:cNvSpPr>
            <a:spLocks noGrp="1"/>
          </p:cNvSpPr>
          <p:nvPr/>
        </p:nvSpPr>
        <p:spPr bwMode="auto">
          <a:xfrm>
            <a:off x="9029700" y="1809750"/>
            <a:ext cx="1809750" cy="2476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deployment</a:t>
            </a:r>
            <a:endParaRPr/>
          </a:p>
        </p:txBody>
      </p:sp>
      <p:sp>
        <p:nvSpPr>
          <p:cNvPr id="595383111" name="Rectangle 152338538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latin typeface="Calibri"/>
                <a:ea typeface="Calibri"/>
                <a:cs typeface="Calibri"/>
              </a:defRPr>
            </a:pPr>
            <a:r>
              <a:rPr sz="1000" b="0">
                <a:solidFill>
                  <a:srgbClr val="667085"/>
                </a:solidFill>
                <a:latin typeface="Calibri"/>
                <a:ea typeface="Calibri"/>
                <a:cs typeface="Calibri"/>
              </a:rPr>
              <a:t>71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Thesis">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Times New Roman"/>
        <a:ea typeface="SimSun"/>
        <a:cs typeface="Times New Roman"/>
      </a:majorFont>
      <a:minorFont>
        <a:latin typeface="Times New Roman"/>
        <a:ea typeface="SimSun"/>
        <a:cs typeface="Times New Roman"/>
      </a:minorFont>
    </a:fontScheme>
    <a:fmtScheme name="New Offi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Thesis">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Times New Roman"/>
        <a:ea typeface="SimSun"/>
        <a:cs typeface="Times New Roman"/>
      </a:majorFont>
      <a:minorFont>
        <a:latin typeface="Times New Roman"/>
        <a:ea typeface="SimSun"/>
        <a:cs typeface="Times New Roman"/>
      </a:minorFont>
    </a:fontScheme>
    <a:fmtScheme name="New Offi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71</Slides>
  <Notes>71</Notes>
  <HiddenSlides>0</HiddenSlides>
  <MMClips>2</MMClips>
  <ScaleCrop>0</ScaleCrop>
  <HeadingPairs>
    <vt:vector size="4" baseType="variant">
      <vt:variant>
        <vt:lpstr>Theme</vt:lpstr>
      </vt:variant>
      <vt:variant>
        <vt:i4>1</vt:i4>
      </vt:variant>
      <vt:variant>
        <vt:lpstr>Slide Titles</vt:lpstr>
      </vt:variant>
      <vt:variant>
        <vt:i4>71</vt:i4>
      </vt:variant>
    </vt:vector>
  </HeadingPairs>
  <TitlesOfParts>
    <vt:vector size="7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1</cp:revision>
  <dcterms:modified xsi:type="dcterms:W3CDTF">2026-07-27T16:55:03Z</dcterms:modified>
</cp:coreProperties>
</file>